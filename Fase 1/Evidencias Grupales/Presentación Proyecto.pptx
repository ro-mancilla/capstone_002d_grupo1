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88825" cy="6858000"/>
  <p:notesSz cx="6858000" cy="12188825"/>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1" roundtripDataSignature="AMtx7mh64EvIk3orI3OzWeb3IGL0gPZ8gA=="/>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E2318"/>
    <a:srgbClr val="D9A441"/>
    <a:srgbClr val="B6D7A8"/>
    <a:srgbClr val="4A2C1A"/>
    <a:srgbClr val="7C6D5F"/>
    <a:srgbClr val="EA9999"/>
    <a:srgbClr val="F6EFE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6" d="100"/>
          <a:sy n="106" d="100"/>
        </p:scale>
        <p:origin x="756"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
        <p:cNvGrpSpPr/>
        <p:nvPr/>
      </p:nvGrpSpPr>
      <p:grpSpPr>
        <a:xfrm>
          <a:off x="0" y="0"/>
          <a:ext cx="0" cy="0"/>
          <a:chOff x="0" y="0"/>
          <a:chExt cx="0" cy="0"/>
        </a:xfrm>
      </p:grpSpPr>
      <p:sp>
        <p:nvSpPr>
          <p:cNvPr id="12" name="Google Shape;12;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 name="Google Shape;13;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 name="Google Shape;14;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
        <p:cNvGrpSpPr/>
        <p:nvPr/>
      </p:nvGrpSpPr>
      <p:grpSpPr>
        <a:xfrm>
          <a:off x="0" y="0"/>
          <a:ext cx="0" cy="0"/>
          <a:chOff x="0" y="0"/>
          <a:chExt cx="0" cy="0"/>
        </a:xfrm>
      </p:grpSpPr>
      <p:sp>
        <p:nvSpPr>
          <p:cNvPr id="25" name="Google Shape;25;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 name="Google Shape;26;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 name="Google Shape;27;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 name="Google Shape;81;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2" name="Google Shape;82;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 name="Google Shape;104;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5" name="Google Shape;105;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7" name="Google Shape;147;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8" name="Google Shape;148;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3" name="Google Shape;173;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4" name="Google Shape;174;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0" name="Google Shape;200;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1" name="Google Shape;201;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3" name="Google Shape;213;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4" name="Google Shape;214;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7" name="Google Shape;247;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8" name="Google Shape;248;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5" name="Google Shape;255;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6" name="Google Shape;256;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8" name="Google Shape;288;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9" name="Google Shape;289;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
        <p:cNvGrpSpPr/>
        <p:nvPr/>
      </p:nvGrpSpPr>
      <p:grpSpPr>
        <a:xfrm>
          <a:off x="0" y="0"/>
          <a:ext cx="0" cy="0"/>
          <a:chOff x="0" y="0"/>
          <a:chExt cx="0" cy="0"/>
        </a:xfrm>
      </p:grpSpPr>
      <p:sp>
        <p:nvSpPr>
          <p:cNvPr id="349" name="Google Shape;349;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0" name="Google Shape;350;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1" name="Google Shape;351;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5"/>
        <p:cNvGrpSpPr/>
        <p:nvPr/>
      </p:nvGrpSpPr>
      <p:grpSpPr>
        <a:xfrm>
          <a:off x="0" y="0"/>
          <a:ext cx="0" cy="0"/>
          <a:chOff x="0" y="0"/>
          <a:chExt cx="0" cy="0"/>
        </a:xfrm>
      </p:grpSpPr>
      <p:sp>
        <p:nvSpPr>
          <p:cNvPr id="386" name="Google Shape;386;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7" name="Google Shape;387;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8" name="Google Shape;388;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6"/>
        <p:cNvGrpSpPr/>
        <p:nvPr/>
      </p:nvGrpSpPr>
      <p:grpSpPr>
        <a:xfrm>
          <a:off x="0" y="0"/>
          <a:ext cx="0" cy="0"/>
          <a:chOff x="0" y="0"/>
          <a:chExt cx="0" cy="0"/>
        </a:xfrm>
      </p:grpSpPr>
      <p:sp>
        <p:nvSpPr>
          <p:cNvPr id="437" name="Google Shape;437;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38" name="Google Shape;438;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9" name="Google Shape;439;p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0"/>
        <p:cNvGrpSpPr/>
        <p:nvPr/>
      </p:nvGrpSpPr>
      <p:grpSpPr>
        <a:xfrm>
          <a:off x="0" y="0"/>
          <a:ext cx="0" cy="0"/>
          <a:chOff x="0" y="0"/>
          <a:chExt cx="0" cy="0"/>
        </a:xfrm>
      </p:grpSpPr>
      <p:sp>
        <p:nvSpPr>
          <p:cNvPr id="531" name="Google Shape;531;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32" name="Google Shape;532;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33" name="Google Shape;533;p1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7"/>
        <p:cNvGrpSpPr/>
        <p:nvPr/>
      </p:nvGrpSpPr>
      <p:grpSpPr>
        <a:xfrm>
          <a:off x="0" y="0"/>
          <a:ext cx="0" cy="0"/>
          <a:chOff x="0" y="0"/>
          <a:chExt cx="0" cy="0"/>
        </a:xfrm>
      </p:grpSpPr>
      <p:sp>
        <p:nvSpPr>
          <p:cNvPr id="558" name="Google Shape;558;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59" name="Google Shape;559;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60" name="Google Shape;560;p1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 Id="rId9"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7.png"/><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4A2C1A"/>
        </a:solidFill>
        <a:effectLst/>
      </p:bgPr>
    </p:bg>
    <p:spTree>
      <p:nvGrpSpPr>
        <p:cNvPr id="1" name="Shape 15"/>
        <p:cNvGrpSpPr/>
        <p:nvPr/>
      </p:nvGrpSpPr>
      <p:grpSpPr>
        <a:xfrm>
          <a:off x="0" y="0"/>
          <a:ext cx="0" cy="0"/>
          <a:chOff x="0" y="0"/>
          <a:chExt cx="0" cy="0"/>
        </a:xfrm>
      </p:grpSpPr>
      <p:sp>
        <p:nvSpPr>
          <p:cNvPr id="3" name="Google Shape;16;p1">
            <a:extLst>
              <a:ext uri="{FF2B5EF4-FFF2-40B4-BE49-F238E27FC236}">
                <a16:creationId xmlns:a16="http://schemas.microsoft.com/office/drawing/2014/main" id="{DAE5FFC6-2A47-925C-5A2E-D3DA958F77E8}"/>
              </a:ext>
            </a:extLst>
          </p:cNvPr>
          <p:cNvSpPr/>
          <p:nvPr/>
        </p:nvSpPr>
        <p:spPr>
          <a:xfrm>
            <a:off x="5527548" y="1223140"/>
            <a:ext cx="1134000" cy="1134000"/>
          </a:xfrm>
          <a:prstGeom prst="ellipse">
            <a:avLst/>
          </a:prstGeom>
          <a:solidFill>
            <a:srgbClr val="D9A4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 name="Google Shape;17;p1" descr="preencoded.png">
            <a:extLst>
              <a:ext uri="{FF2B5EF4-FFF2-40B4-BE49-F238E27FC236}">
                <a16:creationId xmlns:a16="http://schemas.microsoft.com/office/drawing/2014/main" id="{2D90958B-81C9-ED39-5484-C1E2E18ECD2A}"/>
              </a:ext>
            </a:extLst>
          </p:cNvPr>
          <p:cNvPicPr preferRelativeResize="0"/>
          <p:nvPr/>
        </p:nvPicPr>
        <p:blipFill rotWithShape="1">
          <a:blip r:embed="rId3">
            <a:alphaModFix/>
          </a:blip>
          <a:srcRect/>
          <a:stretch/>
        </p:blipFill>
        <p:spPr>
          <a:xfrm>
            <a:off x="5822351" y="1517943"/>
            <a:ext cx="544251" cy="544251"/>
          </a:xfrm>
          <a:prstGeom prst="rect">
            <a:avLst/>
          </a:prstGeom>
          <a:noFill/>
          <a:ln>
            <a:noFill/>
          </a:ln>
        </p:spPr>
      </p:pic>
      <p:sp>
        <p:nvSpPr>
          <p:cNvPr id="7" name="Google Shape;19;p1">
            <a:extLst>
              <a:ext uri="{FF2B5EF4-FFF2-40B4-BE49-F238E27FC236}">
                <a16:creationId xmlns:a16="http://schemas.microsoft.com/office/drawing/2014/main" id="{02279462-BEF7-8DF0-7C53-82A51AA04A61}"/>
              </a:ext>
            </a:extLst>
          </p:cNvPr>
          <p:cNvSpPr/>
          <p:nvPr/>
        </p:nvSpPr>
        <p:spPr>
          <a:xfrm>
            <a:off x="1371600" y="3326260"/>
            <a:ext cx="9445800" cy="5487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D9A441"/>
              </a:buClr>
              <a:buSzPts val="2100"/>
              <a:buFont typeface="Cambria"/>
              <a:buNone/>
            </a:pPr>
            <a:r>
              <a:rPr lang="en-US" sz="1900" u="none" strike="noStrike" cap="none">
                <a:solidFill>
                  <a:srgbClr val="D9A441"/>
                </a:solidFill>
                <a:latin typeface="Calibri"/>
                <a:ea typeface="Calibri"/>
                <a:cs typeface="Calibri"/>
                <a:sym typeface="Calibri"/>
              </a:rPr>
              <a:t>Sistema de gestión y predicción de demanda para panaderías</a:t>
            </a:r>
            <a:endParaRPr sz="1900" u="none" strike="noStrike" cap="none">
              <a:solidFill>
                <a:schemeClr val="dk1"/>
              </a:solidFill>
              <a:latin typeface="Calibri"/>
              <a:ea typeface="Calibri"/>
              <a:cs typeface="Calibri"/>
              <a:sym typeface="Calibri"/>
            </a:endParaRPr>
          </a:p>
        </p:txBody>
      </p:sp>
      <p:sp>
        <p:nvSpPr>
          <p:cNvPr id="9" name="Google Shape;20;p1">
            <a:extLst>
              <a:ext uri="{FF2B5EF4-FFF2-40B4-BE49-F238E27FC236}">
                <a16:creationId xmlns:a16="http://schemas.microsoft.com/office/drawing/2014/main" id="{5E9E4D51-8CB9-EF8C-9726-06EAD38C90C9}"/>
              </a:ext>
            </a:extLst>
          </p:cNvPr>
          <p:cNvSpPr/>
          <p:nvPr/>
        </p:nvSpPr>
        <p:spPr>
          <a:xfrm>
            <a:off x="1371600" y="4663440"/>
            <a:ext cx="9445752" cy="36576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D9A441"/>
              </a:buClr>
              <a:buSzPts val="1400"/>
              <a:buFont typeface="Calibri"/>
              <a:buNone/>
            </a:pPr>
            <a:r>
              <a:rPr lang="en-US" sz="1600" b="1" i="0" u="none" strike="noStrike" cap="none">
                <a:solidFill>
                  <a:srgbClr val="D9A441"/>
                </a:solidFill>
                <a:latin typeface="Calibri"/>
                <a:ea typeface="Calibri"/>
                <a:cs typeface="Calibri"/>
                <a:sym typeface="Calibri"/>
              </a:rPr>
              <a:t>Integrantes: </a:t>
            </a:r>
            <a:r>
              <a:rPr lang="en-US" sz="1600" b="0" i="0" u="none" strike="noStrike" cap="none">
                <a:solidFill>
                  <a:srgbClr val="FFFFFF"/>
                </a:solidFill>
                <a:latin typeface="Calibri"/>
                <a:ea typeface="Calibri"/>
                <a:cs typeface="Calibri"/>
                <a:sym typeface="Calibri"/>
              </a:rPr>
              <a:t>Fernando Belmar · </a:t>
            </a:r>
            <a:r>
              <a:rPr lang="en-US" sz="1600">
                <a:solidFill>
                  <a:srgbClr val="FFFFFF"/>
                </a:solidFill>
                <a:latin typeface="Calibri"/>
                <a:ea typeface="Calibri"/>
                <a:cs typeface="Calibri"/>
                <a:sym typeface="Calibri"/>
              </a:rPr>
              <a:t>Rodrigo Mancilla</a:t>
            </a:r>
            <a:r>
              <a:rPr lang="en-US" sz="1600" b="0" i="0" u="none" strike="noStrike" cap="none">
                <a:solidFill>
                  <a:srgbClr val="FFFFFF"/>
                </a:solidFill>
                <a:latin typeface="Calibri"/>
                <a:ea typeface="Calibri"/>
                <a:cs typeface="Calibri"/>
                <a:sym typeface="Calibri"/>
              </a:rPr>
              <a:t> · </a:t>
            </a:r>
            <a:r>
              <a:rPr lang="en-US" sz="1600">
                <a:solidFill>
                  <a:srgbClr val="FFFFFF"/>
                </a:solidFill>
                <a:latin typeface="Calibri"/>
                <a:ea typeface="Calibri"/>
                <a:cs typeface="Calibri"/>
                <a:sym typeface="Calibri"/>
              </a:rPr>
              <a:t>Diego Maldonado</a:t>
            </a:r>
            <a:r>
              <a:rPr lang="en-US" sz="1600" b="0" i="0" u="none" strike="noStrike" cap="none">
                <a:solidFill>
                  <a:srgbClr val="FFFFFF"/>
                </a:solidFill>
                <a:latin typeface="Calibri"/>
                <a:ea typeface="Calibri"/>
                <a:cs typeface="Calibri"/>
                <a:sym typeface="Calibri"/>
              </a:rPr>
              <a:t> · </a:t>
            </a:r>
            <a:r>
              <a:rPr lang="en-US" sz="1600">
                <a:solidFill>
                  <a:srgbClr val="FFFFFF"/>
                </a:solidFill>
                <a:latin typeface="Calibri"/>
                <a:ea typeface="Calibri"/>
                <a:cs typeface="Calibri"/>
                <a:sym typeface="Calibri"/>
              </a:rPr>
              <a:t>Juan Pablo Pérez</a:t>
            </a:r>
            <a:endParaRPr sz="1600" b="0" i="0" u="none" strike="noStrike" cap="none">
              <a:solidFill>
                <a:schemeClr val="dk1"/>
              </a:solidFill>
              <a:latin typeface="Calibri"/>
              <a:ea typeface="Calibri"/>
              <a:cs typeface="Calibri"/>
              <a:sym typeface="Calibri"/>
            </a:endParaRPr>
          </a:p>
        </p:txBody>
      </p:sp>
      <p:sp>
        <p:nvSpPr>
          <p:cNvPr id="11" name="Google Shape;21;p1">
            <a:extLst>
              <a:ext uri="{FF2B5EF4-FFF2-40B4-BE49-F238E27FC236}">
                <a16:creationId xmlns:a16="http://schemas.microsoft.com/office/drawing/2014/main" id="{6A46B13E-3DBB-530F-03C2-080F48D8AABD}"/>
              </a:ext>
            </a:extLst>
          </p:cNvPr>
          <p:cNvSpPr/>
          <p:nvPr/>
        </p:nvSpPr>
        <p:spPr>
          <a:xfrm>
            <a:off x="1371600" y="5074920"/>
            <a:ext cx="9445752" cy="36576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D9A441"/>
              </a:buClr>
              <a:buSzPts val="1400"/>
              <a:buFont typeface="Calibri"/>
              <a:buNone/>
            </a:pPr>
            <a:r>
              <a:rPr lang="en-US" sz="1600" b="1" i="0" u="none" strike="noStrike" cap="none">
                <a:solidFill>
                  <a:srgbClr val="D9A441"/>
                </a:solidFill>
                <a:latin typeface="Calibri"/>
                <a:ea typeface="Calibri"/>
                <a:cs typeface="Calibri"/>
                <a:sym typeface="Calibri"/>
              </a:rPr>
              <a:t>Docente: </a:t>
            </a:r>
            <a:r>
              <a:rPr lang="en-US" sz="1600">
                <a:solidFill>
                  <a:srgbClr val="FFFFFF"/>
                </a:solidFill>
                <a:latin typeface="Calibri"/>
                <a:ea typeface="Calibri"/>
                <a:cs typeface="Calibri"/>
                <a:sym typeface="Calibri"/>
              </a:rPr>
              <a:t>Mauricio Figueroa</a:t>
            </a:r>
            <a:r>
              <a:rPr lang="en-US" sz="1600" b="0" i="0" u="none" strike="noStrike" cap="none">
                <a:solidFill>
                  <a:srgbClr val="FFFFFF"/>
                </a:solidFill>
                <a:latin typeface="Calibri"/>
                <a:ea typeface="Calibri"/>
                <a:cs typeface="Calibri"/>
                <a:sym typeface="Calibri"/>
              </a:rPr>
              <a:t>    </a:t>
            </a:r>
            <a:r>
              <a:rPr lang="en-US" sz="1600" b="1" i="0" u="none" strike="noStrike" cap="none">
                <a:solidFill>
                  <a:srgbClr val="D9A441"/>
                </a:solidFill>
                <a:latin typeface="Calibri"/>
                <a:ea typeface="Calibri"/>
                <a:cs typeface="Calibri"/>
                <a:sym typeface="Calibri"/>
              </a:rPr>
              <a:t>Asignatura: </a:t>
            </a:r>
            <a:r>
              <a:rPr lang="en-US" sz="1600" b="0" i="0" u="none" strike="noStrike" cap="none">
                <a:solidFill>
                  <a:srgbClr val="FFFFFF"/>
                </a:solidFill>
                <a:latin typeface="Calibri"/>
                <a:ea typeface="Calibri"/>
                <a:cs typeface="Calibri"/>
                <a:sym typeface="Calibri"/>
              </a:rPr>
              <a:t>Capstone (PTY4614)</a:t>
            </a:r>
            <a:endParaRPr sz="1600" b="0" i="0" u="none" strike="noStrike" cap="none">
              <a:solidFill>
                <a:schemeClr val="dk1"/>
              </a:solidFill>
              <a:latin typeface="Calibri"/>
              <a:ea typeface="Calibri"/>
              <a:cs typeface="Calibri"/>
              <a:sym typeface="Calibri"/>
            </a:endParaRPr>
          </a:p>
        </p:txBody>
      </p:sp>
      <p:sp>
        <p:nvSpPr>
          <p:cNvPr id="13" name="Google Shape;18;p1">
            <a:extLst>
              <a:ext uri="{FF2B5EF4-FFF2-40B4-BE49-F238E27FC236}">
                <a16:creationId xmlns:a16="http://schemas.microsoft.com/office/drawing/2014/main" id="{2738F51B-A351-5A08-4068-9C2A5B7E71AD}"/>
              </a:ext>
            </a:extLst>
          </p:cNvPr>
          <p:cNvSpPr/>
          <p:nvPr/>
        </p:nvSpPr>
        <p:spPr>
          <a:xfrm>
            <a:off x="0" y="2411860"/>
            <a:ext cx="12189000" cy="9144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5800"/>
              <a:buFont typeface="Cambria"/>
              <a:buNone/>
            </a:pPr>
            <a:r>
              <a:rPr lang="en-US" sz="7200" b="1" i="0" u="none" strike="noStrike" cap="none" dirty="0" err="1">
                <a:solidFill>
                  <a:srgbClr val="FFFFFF"/>
                </a:solidFill>
                <a:latin typeface="Calibri"/>
                <a:ea typeface="Calibri"/>
                <a:cs typeface="Calibri"/>
                <a:sym typeface="Calibri"/>
              </a:rPr>
              <a:t>E</a:t>
            </a:r>
            <a:r>
              <a:rPr lang="en-US" sz="7200" b="1" dirty="0" err="1">
                <a:solidFill>
                  <a:srgbClr val="FFFFFF"/>
                </a:solidFill>
                <a:latin typeface="Calibri"/>
                <a:ea typeface="Calibri"/>
                <a:cs typeface="Calibri"/>
                <a:sym typeface="Calibri"/>
              </a:rPr>
              <a:t>co</a:t>
            </a:r>
            <a:r>
              <a:rPr lang="en-US" sz="7200" b="1" i="0" u="none" strike="noStrike" cap="none" dirty="0" err="1">
                <a:solidFill>
                  <a:srgbClr val="FFFFFF"/>
                </a:solidFill>
                <a:latin typeface="Calibri"/>
                <a:ea typeface="Calibri"/>
                <a:cs typeface="Calibri"/>
                <a:sym typeface="Calibri"/>
              </a:rPr>
              <a:t>P</a:t>
            </a:r>
            <a:r>
              <a:rPr lang="en-US" sz="7200" b="1" dirty="0" err="1">
                <a:solidFill>
                  <a:srgbClr val="FFFFFF"/>
                </a:solidFill>
                <a:latin typeface="Calibri"/>
                <a:ea typeface="Calibri"/>
                <a:cs typeface="Calibri"/>
                <a:sym typeface="Calibri"/>
              </a:rPr>
              <a:t>an</a:t>
            </a:r>
            <a:endParaRPr sz="7200" b="1" i="0" u="none" strike="noStrike" cap="none" dirty="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8"/>
        <p:cNvGrpSpPr/>
        <p:nvPr/>
      </p:nvGrpSpPr>
      <p:grpSpPr>
        <a:xfrm>
          <a:off x="0" y="0"/>
          <a:ext cx="0" cy="0"/>
          <a:chOff x="0" y="0"/>
          <a:chExt cx="0" cy="0"/>
        </a:xfrm>
      </p:grpSpPr>
      <p:sp>
        <p:nvSpPr>
          <p:cNvPr id="29" name="Google Shape;29;p2"/>
          <p:cNvSpPr/>
          <p:nvPr/>
        </p:nvSpPr>
        <p:spPr>
          <a:xfrm>
            <a:off x="548640" y="292608"/>
            <a:ext cx="11091672" cy="6583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D9A441"/>
              </a:buClr>
              <a:buSzPts val="2900"/>
              <a:buFont typeface="Cambria"/>
              <a:buNone/>
            </a:pPr>
            <a:r>
              <a:rPr lang="en-US" sz="2900" b="1" dirty="0" err="1">
                <a:solidFill>
                  <a:srgbClr val="D9A441"/>
                </a:solidFill>
                <a:latin typeface="Calibri" panose="020F0502020204030204" pitchFamily="34" charset="0"/>
                <a:ea typeface="Calibri" panose="020F0502020204030204" pitchFamily="34" charset="0"/>
                <a:cs typeface="Calibri" panose="020F0502020204030204" pitchFamily="34" charset="0"/>
                <a:sym typeface="Cambria"/>
              </a:rPr>
              <a:t>T</a:t>
            </a:r>
            <a:r>
              <a:rPr lang="en-US" sz="2900" b="1" dirty="0" err="1">
                <a:solidFill>
                  <a:srgbClr val="2E2318"/>
                </a:solidFill>
                <a:latin typeface="Calibri" panose="020F0502020204030204" pitchFamily="34" charset="0"/>
                <a:ea typeface="Calibri" panose="020F0502020204030204" pitchFamily="34" charset="0"/>
                <a:cs typeface="Calibri" panose="020F0502020204030204" pitchFamily="34" charset="0"/>
                <a:sym typeface="Cambria"/>
              </a:rPr>
              <a:t>abla</a:t>
            </a:r>
            <a:r>
              <a:rPr lang="en-US" sz="2900" b="1" dirty="0">
                <a:solidFill>
                  <a:srgbClr val="D9A441"/>
                </a:solidFill>
                <a:latin typeface="Calibri" panose="020F0502020204030204" pitchFamily="34" charset="0"/>
                <a:ea typeface="Calibri" panose="020F0502020204030204" pitchFamily="34" charset="0"/>
                <a:cs typeface="Calibri" panose="020F0502020204030204" pitchFamily="34" charset="0"/>
                <a:sym typeface="Cambria"/>
              </a:rPr>
              <a:t> </a:t>
            </a:r>
            <a:r>
              <a:rPr lang="en-US" sz="2900" b="1" dirty="0">
                <a:solidFill>
                  <a:srgbClr val="2E2318"/>
                </a:solidFill>
                <a:latin typeface="Calibri" panose="020F0502020204030204" pitchFamily="34" charset="0"/>
                <a:ea typeface="Calibri" panose="020F0502020204030204" pitchFamily="34" charset="0"/>
                <a:cs typeface="Calibri" panose="020F0502020204030204" pitchFamily="34" charset="0"/>
                <a:sym typeface="Cambria"/>
              </a:rPr>
              <a:t>de</a:t>
            </a:r>
            <a:r>
              <a:rPr lang="en-US" sz="2900" b="1" dirty="0">
                <a:solidFill>
                  <a:srgbClr val="D9A441"/>
                </a:solidFill>
                <a:latin typeface="Calibri" panose="020F0502020204030204" pitchFamily="34" charset="0"/>
                <a:ea typeface="Calibri" panose="020F0502020204030204" pitchFamily="34" charset="0"/>
                <a:cs typeface="Calibri" panose="020F0502020204030204" pitchFamily="34" charset="0"/>
                <a:sym typeface="Cambria"/>
              </a:rPr>
              <a:t> </a:t>
            </a:r>
            <a:r>
              <a:rPr lang="en-US" sz="2900" b="1" dirty="0" err="1">
                <a:solidFill>
                  <a:srgbClr val="D9A441"/>
                </a:solidFill>
                <a:latin typeface="Calibri" panose="020F0502020204030204" pitchFamily="34" charset="0"/>
                <a:ea typeface="Calibri" panose="020F0502020204030204" pitchFamily="34" charset="0"/>
                <a:cs typeface="Calibri" panose="020F0502020204030204" pitchFamily="34" charset="0"/>
                <a:sym typeface="Cambria"/>
              </a:rPr>
              <a:t>C</a:t>
            </a:r>
            <a:r>
              <a:rPr lang="en-US" sz="2900" b="1" dirty="0" err="1">
                <a:solidFill>
                  <a:srgbClr val="2E2318"/>
                </a:solidFill>
                <a:latin typeface="Calibri" panose="020F0502020204030204" pitchFamily="34" charset="0"/>
                <a:ea typeface="Calibri" panose="020F0502020204030204" pitchFamily="34" charset="0"/>
                <a:cs typeface="Calibri" panose="020F0502020204030204" pitchFamily="34" charset="0"/>
                <a:sym typeface="Cambria"/>
              </a:rPr>
              <a:t>ontenidos</a:t>
            </a:r>
            <a:endParaRPr sz="29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30" name="Google Shape;30;p2"/>
          <p:cNvSpPr/>
          <p:nvPr/>
        </p:nvSpPr>
        <p:spPr>
          <a:xfrm>
            <a:off x="640080" y="1325880"/>
            <a:ext cx="5212080" cy="713232"/>
          </a:xfrm>
          <a:prstGeom prst="roundRect">
            <a:avLst>
              <a:gd name="adj" fmla="val 12821"/>
            </a:avLst>
          </a:prstGeom>
          <a:solidFill>
            <a:srgbClr val="F6EFE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1" name="Google Shape;31;p2"/>
          <p:cNvSpPr/>
          <p:nvPr/>
        </p:nvSpPr>
        <p:spPr>
          <a:xfrm>
            <a:off x="758952" y="1426464"/>
            <a:ext cx="512064" cy="512064"/>
          </a:xfrm>
          <a:prstGeom prst="roundRect">
            <a:avLst>
              <a:gd name="adj" fmla="val 14286"/>
            </a:avLst>
          </a:prstGeom>
          <a:solidFill>
            <a:srgbClr val="4A2C1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2" name="Google Shape;32;p2"/>
          <p:cNvSpPr/>
          <p:nvPr/>
        </p:nvSpPr>
        <p:spPr>
          <a:xfrm>
            <a:off x="758952" y="1426464"/>
            <a:ext cx="512064" cy="51206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D9A441"/>
              </a:buClr>
              <a:buSzPts val="1400"/>
              <a:buFont typeface="Cambria"/>
              <a:buNone/>
            </a:pPr>
            <a:r>
              <a:rPr lang="en-US" sz="1400" b="1">
                <a:solidFill>
                  <a:srgbClr val="D9A441"/>
                </a:solidFill>
                <a:latin typeface="Cambria"/>
                <a:ea typeface="Cambria"/>
                <a:cs typeface="Cambria"/>
                <a:sym typeface="Cambria"/>
              </a:rPr>
              <a:t>01</a:t>
            </a:r>
            <a:endParaRPr sz="1400">
              <a:solidFill>
                <a:schemeClr val="dk1"/>
              </a:solidFill>
              <a:latin typeface="Calibri"/>
              <a:ea typeface="Calibri"/>
              <a:cs typeface="Calibri"/>
              <a:sym typeface="Calibri"/>
            </a:endParaRPr>
          </a:p>
        </p:txBody>
      </p:sp>
      <p:sp>
        <p:nvSpPr>
          <p:cNvPr id="33" name="Google Shape;33;p2"/>
          <p:cNvSpPr/>
          <p:nvPr/>
        </p:nvSpPr>
        <p:spPr>
          <a:xfrm>
            <a:off x="1417320" y="1426464"/>
            <a:ext cx="4297680" cy="51206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E2318"/>
              </a:buClr>
              <a:buSzPts val="1450"/>
              <a:buFont typeface="Calibri"/>
              <a:buNone/>
            </a:pPr>
            <a:r>
              <a:rPr lang="en-US" sz="1450" b="1">
                <a:solidFill>
                  <a:srgbClr val="2E2318"/>
                </a:solidFill>
                <a:latin typeface="Calibri"/>
                <a:ea typeface="Calibri"/>
                <a:cs typeface="Calibri"/>
                <a:sym typeface="Calibri"/>
              </a:rPr>
              <a:t>Contexto</a:t>
            </a:r>
            <a:endParaRPr sz="1450">
              <a:solidFill>
                <a:schemeClr val="dk1"/>
              </a:solidFill>
              <a:latin typeface="Calibri"/>
              <a:ea typeface="Calibri"/>
              <a:cs typeface="Calibri"/>
              <a:sym typeface="Calibri"/>
            </a:endParaRPr>
          </a:p>
        </p:txBody>
      </p:sp>
      <p:sp>
        <p:nvSpPr>
          <p:cNvPr id="34" name="Google Shape;34;p2"/>
          <p:cNvSpPr/>
          <p:nvPr/>
        </p:nvSpPr>
        <p:spPr>
          <a:xfrm>
            <a:off x="640080" y="2148840"/>
            <a:ext cx="5212080" cy="713232"/>
          </a:xfrm>
          <a:prstGeom prst="roundRect">
            <a:avLst>
              <a:gd name="adj" fmla="val 12821"/>
            </a:avLst>
          </a:prstGeom>
          <a:solidFill>
            <a:srgbClr val="F6EFE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5" name="Google Shape;35;p2"/>
          <p:cNvSpPr/>
          <p:nvPr/>
        </p:nvSpPr>
        <p:spPr>
          <a:xfrm>
            <a:off x="758952" y="2249424"/>
            <a:ext cx="512064" cy="512064"/>
          </a:xfrm>
          <a:prstGeom prst="roundRect">
            <a:avLst>
              <a:gd name="adj" fmla="val 14286"/>
            </a:avLst>
          </a:prstGeom>
          <a:solidFill>
            <a:srgbClr val="4A2C1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6" name="Google Shape;36;p2"/>
          <p:cNvSpPr/>
          <p:nvPr/>
        </p:nvSpPr>
        <p:spPr>
          <a:xfrm>
            <a:off x="758952" y="2249424"/>
            <a:ext cx="512064" cy="51206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D9A441"/>
              </a:buClr>
              <a:buSzPts val="1400"/>
              <a:buFont typeface="Cambria"/>
              <a:buNone/>
            </a:pPr>
            <a:r>
              <a:rPr lang="en-US" sz="1400" b="1">
                <a:solidFill>
                  <a:srgbClr val="D9A441"/>
                </a:solidFill>
                <a:latin typeface="Cambria"/>
                <a:ea typeface="Cambria"/>
                <a:cs typeface="Cambria"/>
                <a:sym typeface="Cambria"/>
              </a:rPr>
              <a:t>02</a:t>
            </a:r>
            <a:endParaRPr sz="1400">
              <a:solidFill>
                <a:schemeClr val="dk1"/>
              </a:solidFill>
              <a:latin typeface="Calibri"/>
              <a:ea typeface="Calibri"/>
              <a:cs typeface="Calibri"/>
              <a:sym typeface="Calibri"/>
            </a:endParaRPr>
          </a:p>
        </p:txBody>
      </p:sp>
      <p:sp>
        <p:nvSpPr>
          <p:cNvPr id="37" name="Google Shape;37;p2"/>
          <p:cNvSpPr/>
          <p:nvPr/>
        </p:nvSpPr>
        <p:spPr>
          <a:xfrm>
            <a:off x="1417320" y="2249424"/>
            <a:ext cx="4297680" cy="51206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E2318"/>
              </a:buClr>
              <a:buSzPts val="1450"/>
              <a:buFont typeface="Calibri"/>
              <a:buNone/>
            </a:pPr>
            <a:r>
              <a:rPr lang="en-US" sz="1450" b="1">
                <a:solidFill>
                  <a:srgbClr val="2E2318"/>
                </a:solidFill>
                <a:latin typeface="Calibri"/>
                <a:ea typeface="Calibri"/>
                <a:cs typeface="Calibri"/>
                <a:sym typeface="Calibri"/>
              </a:rPr>
              <a:t>Problema</a:t>
            </a:r>
            <a:endParaRPr sz="1450">
              <a:solidFill>
                <a:schemeClr val="dk1"/>
              </a:solidFill>
              <a:latin typeface="Calibri"/>
              <a:ea typeface="Calibri"/>
              <a:cs typeface="Calibri"/>
              <a:sym typeface="Calibri"/>
            </a:endParaRPr>
          </a:p>
        </p:txBody>
      </p:sp>
      <p:sp>
        <p:nvSpPr>
          <p:cNvPr id="38" name="Google Shape;38;p2"/>
          <p:cNvSpPr/>
          <p:nvPr/>
        </p:nvSpPr>
        <p:spPr>
          <a:xfrm>
            <a:off x="640080" y="2971800"/>
            <a:ext cx="5212080" cy="713232"/>
          </a:xfrm>
          <a:prstGeom prst="roundRect">
            <a:avLst>
              <a:gd name="adj" fmla="val 12821"/>
            </a:avLst>
          </a:prstGeom>
          <a:solidFill>
            <a:srgbClr val="F6EFE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9" name="Google Shape;39;p2"/>
          <p:cNvSpPr/>
          <p:nvPr/>
        </p:nvSpPr>
        <p:spPr>
          <a:xfrm>
            <a:off x="758952" y="3072384"/>
            <a:ext cx="512064" cy="512064"/>
          </a:xfrm>
          <a:prstGeom prst="roundRect">
            <a:avLst>
              <a:gd name="adj" fmla="val 14286"/>
            </a:avLst>
          </a:prstGeom>
          <a:solidFill>
            <a:srgbClr val="4A2C1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0" name="Google Shape;40;p2"/>
          <p:cNvSpPr/>
          <p:nvPr/>
        </p:nvSpPr>
        <p:spPr>
          <a:xfrm>
            <a:off x="758952" y="3072384"/>
            <a:ext cx="512064" cy="51206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D9A441"/>
              </a:buClr>
              <a:buSzPts val="1400"/>
              <a:buFont typeface="Cambria"/>
              <a:buNone/>
            </a:pPr>
            <a:r>
              <a:rPr lang="en-US" sz="1400" b="1">
                <a:solidFill>
                  <a:srgbClr val="D9A441"/>
                </a:solidFill>
                <a:latin typeface="Cambria"/>
                <a:ea typeface="Cambria"/>
                <a:cs typeface="Cambria"/>
                <a:sym typeface="Cambria"/>
              </a:rPr>
              <a:t>03</a:t>
            </a:r>
            <a:endParaRPr sz="1400">
              <a:solidFill>
                <a:schemeClr val="dk1"/>
              </a:solidFill>
              <a:latin typeface="Calibri"/>
              <a:ea typeface="Calibri"/>
              <a:cs typeface="Calibri"/>
              <a:sym typeface="Calibri"/>
            </a:endParaRPr>
          </a:p>
        </p:txBody>
      </p:sp>
      <p:sp>
        <p:nvSpPr>
          <p:cNvPr id="41" name="Google Shape;41;p2"/>
          <p:cNvSpPr/>
          <p:nvPr/>
        </p:nvSpPr>
        <p:spPr>
          <a:xfrm>
            <a:off x="1417320" y="3072384"/>
            <a:ext cx="4297680" cy="51206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E2318"/>
              </a:buClr>
              <a:buSzPts val="1450"/>
              <a:buFont typeface="Calibri"/>
              <a:buNone/>
            </a:pPr>
            <a:r>
              <a:rPr lang="en-US" sz="1450" b="1">
                <a:solidFill>
                  <a:srgbClr val="2E2318"/>
                </a:solidFill>
                <a:latin typeface="Calibri"/>
                <a:ea typeface="Calibri"/>
                <a:cs typeface="Calibri"/>
                <a:sym typeface="Calibri"/>
              </a:rPr>
              <a:t>Necesidad</a:t>
            </a:r>
            <a:endParaRPr sz="1450">
              <a:solidFill>
                <a:schemeClr val="dk1"/>
              </a:solidFill>
              <a:latin typeface="Calibri"/>
              <a:ea typeface="Calibri"/>
              <a:cs typeface="Calibri"/>
              <a:sym typeface="Calibri"/>
            </a:endParaRPr>
          </a:p>
        </p:txBody>
      </p:sp>
      <p:sp>
        <p:nvSpPr>
          <p:cNvPr id="42" name="Google Shape;42;p2"/>
          <p:cNvSpPr/>
          <p:nvPr/>
        </p:nvSpPr>
        <p:spPr>
          <a:xfrm>
            <a:off x="640080" y="3794760"/>
            <a:ext cx="5212080" cy="713232"/>
          </a:xfrm>
          <a:prstGeom prst="roundRect">
            <a:avLst>
              <a:gd name="adj" fmla="val 12821"/>
            </a:avLst>
          </a:prstGeom>
          <a:solidFill>
            <a:srgbClr val="F6EFE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3" name="Google Shape;43;p2"/>
          <p:cNvSpPr/>
          <p:nvPr/>
        </p:nvSpPr>
        <p:spPr>
          <a:xfrm>
            <a:off x="758952" y="3895344"/>
            <a:ext cx="512064" cy="512064"/>
          </a:xfrm>
          <a:prstGeom prst="roundRect">
            <a:avLst>
              <a:gd name="adj" fmla="val 14286"/>
            </a:avLst>
          </a:prstGeom>
          <a:solidFill>
            <a:srgbClr val="4A2C1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4" name="Google Shape;44;p2"/>
          <p:cNvSpPr/>
          <p:nvPr/>
        </p:nvSpPr>
        <p:spPr>
          <a:xfrm>
            <a:off x="758952" y="3895344"/>
            <a:ext cx="512064" cy="51206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D9A441"/>
              </a:buClr>
              <a:buSzPts val="1400"/>
              <a:buFont typeface="Cambria"/>
              <a:buNone/>
            </a:pPr>
            <a:r>
              <a:rPr lang="en-US" sz="1400" b="1">
                <a:solidFill>
                  <a:srgbClr val="D9A441"/>
                </a:solidFill>
                <a:latin typeface="Cambria"/>
                <a:ea typeface="Cambria"/>
                <a:cs typeface="Cambria"/>
                <a:sym typeface="Cambria"/>
              </a:rPr>
              <a:t>04</a:t>
            </a:r>
            <a:endParaRPr sz="1400">
              <a:solidFill>
                <a:schemeClr val="dk1"/>
              </a:solidFill>
              <a:latin typeface="Calibri"/>
              <a:ea typeface="Calibri"/>
              <a:cs typeface="Calibri"/>
              <a:sym typeface="Calibri"/>
            </a:endParaRPr>
          </a:p>
        </p:txBody>
      </p:sp>
      <p:sp>
        <p:nvSpPr>
          <p:cNvPr id="45" name="Google Shape;45;p2"/>
          <p:cNvSpPr/>
          <p:nvPr/>
        </p:nvSpPr>
        <p:spPr>
          <a:xfrm>
            <a:off x="1417320" y="3895344"/>
            <a:ext cx="4297680" cy="51206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E2318"/>
              </a:buClr>
              <a:buSzPts val="1450"/>
              <a:buFont typeface="Calibri"/>
              <a:buNone/>
            </a:pPr>
            <a:r>
              <a:rPr lang="en-US" sz="1450" b="1">
                <a:solidFill>
                  <a:srgbClr val="2E2318"/>
                </a:solidFill>
                <a:latin typeface="Calibri"/>
                <a:ea typeface="Calibri"/>
                <a:cs typeface="Calibri"/>
                <a:sym typeface="Calibri"/>
              </a:rPr>
              <a:t>Solución</a:t>
            </a:r>
            <a:endParaRPr sz="1450">
              <a:solidFill>
                <a:schemeClr val="dk1"/>
              </a:solidFill>
              <a:latin typeface="Calibri"/>
              <a:ea typeface="Calibri"/>
              <a:cs typeface="Calibri"/>
              <a:sym typeface="Calibri"/>
            </a:endParaRPr>
          </a:p>
        </p:txBody>
      </p:sp>
      <p:sp>
        <p:nvSpPr>
          <p:cNvPr id="46" name="Google Shape;46;p2"/>
          <p:cNvSpPr/>
          <p:nvPr/>
        </p:nvSpPr>
        <p:spPr>
          <a:xfrm>
            <a:off x="640080" y="4617720"/>
            <a:ext cx="5212080" cy="713232"/>
          </a:xfrm>
          <a:prstGeom prst="roundRect">
            <a:avLst>
              <a:gd name="adj" fmla="val 12821"/>
            </a:avLst>
          </a:prstGeom>
          <a:solidFill>
            <a:srgbClr val="F6EFE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7" name="Google Shape;47;p2"/>
          <p:cNvSpPr/>
          <p:nvPr/>
        </p:nvSpPr>
        <p:spPr>
          <a:xfrm>
            <a:off x="758952" y="4718304"/>
            <a:ext cx="512064" cy="512064"/>
          </a:xfrm>
          <a:prstGeom prst="roundRect">
            <a:avLst>
              <a:gd name="adj" fmla="val 14286"/>
            </a:avLst>
          </a:prstGeom>
          <a:solidFill>
            <a:srgbClr val="4A2C1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8" name="Google Shape;48;p2"/>
          <p:cNvSpPr/>
          <p:nvPr/>
        </p:nvSpPr>
        <p:spPr>
          <a:xfrm>
            <a:off x="758952" y="4718304"/>
            <a:ext cx="512064" cy="51206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D9A441"/>
              </a:buClr>
              <a:buSzPts val="1400"/>
              <a:buFont typeface="Cambria"/>
              <a:buNone/>
            </a:pPr>
            <a:r>
              <a:rPr lang="en-US" sz="1400" b="1">
                <a:solidFill>
                  <a:srgbClr val="D9A441"/>
                </a:solidFill>
                <a:latin typeface="Cambria"/>
                <a:ea typeface="Cambria"/>
                <a:cs typeface="Cambria"/>
                <a:sym typeface="Cambria"/>
              </a:rPr>
              <a:t>05</a:t>
            </a:r>
            <a:endParaRPr sz="1400">
              <a:solidFill>
                <a:schemeClr val="dk1"/>
              </a:solidFill>
              <a:latin typeface="Calibri"/>
              <a:ea typeface="Calibri"/>
              <a:cs typeface="Calibri"/>
              <a:sym typeface="Calibri"/>
            </a:endParaRPr>
          </a:p>
        </p:txBody>
      </p:sp>
      <p:sp>
        <p:nvSpPr>
          <p:cNvPr id="49" name="Google Shape;49;p2"/>
          <p:cNvSpPr/>
          <p:nvPr/>
        </p:nvSpPr>
        <p:spPr>
          <a:xfrm>
            <a:off x="1417320" y="4718304"/>
            <a:ext cx="4297680" cy="51206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E2318"/>
              </a:buClr>
              <a:buSzPts val="1450"/>
              <a:buFont typeface="Calibri"/>
              <a:buNone/>
            </a:pPr>
            <a:r>
              <a:rPr lang="es-ES" sz="1450" b="1" dirty="0">
                <a:solidFill>
                  <a:srgbClr val="2E2318"/>
                </a:solidFill>
                <a:latin typeface="Calibri"/>
                <a:ea typeface="Calibri"/>
                <a:cs typeface="Calibri"/>
                <a:sym typeface="Calibri"/>
              </a:rPr>
              <a:t>Requerimientos</a:t>
            </a:r>
            <a:endParaRPr lang="es-ES" sz="1450" dirty="0">
              <a:solidFill>
                <a:schemeClr val="dk1"/>
              </a:solidFill>
              <a:latin typeface="Calibri"/>
              <a:ea typeface="Calibri"/>
              <a:cs typeface="Calibri"/>
              <a:sym typeface="Calibri"/>
            </a:endParaRPr>
          </a:p>
        </p:txBody>
      </p:sp>
      <p:sp>
        <p:nvSpPr>
          <p:cNvPr id="50" name="Google Shape;50;p2"/>
          <p:cNvSpPr/>
          <p:nvPr/>
        </p:nvSpPr>
        <p:spPr>
          <a:xfrm>
            <a:off x="640080" y="5440680"/>
            <a:ext cx="5212080" cy="713232"/>
          </a:xfrm>
          <a:prstGeom prst="roundRect">
            <a:avLst>
              <a:gd name="adj" fmla="val 12821"/>
            </a:avLst>
          </a:prstGeom>
          <a:solidFill>
            <a:srgbClr val="F6EFE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1" name="Google Shape;51;p2"/>
          <p:cNvSpPr/>
          <p:nvPr/>
        </p:nvSpPr>
        <p:spPr>
          <a:xfrm>
            <a:off x="758952" y="5541264"/>
            <a:ext cx="512064" cy="512064"/>
          </a:xfrm>
          <a:prstGeom prst="roundRect">
            <a:avLst>
              <a:gd name="adj" fmla="val 14286"/>
            </a:avLst>
          </a:prstGeom>
          <a:solidFill>
            <a:srgbClr val="4A2C1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2" name="Google Shape;52;p2"/>
          <p:cNvSpPr/>
          <p:nvPr/>
        </p:nvSpPr>
        <p:spPr>
          <a:xfrm>
            <a:off x="758952" y="5541264"/>
            <a:ext cx="512064" cy="51206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D9A441"/>
              </a:buClr>
              <a:buSzPts val="1400"/>
              <a:buFont typeface="Cambria"/>
              <a:buNone/>
            </a:pPr>
            <a:r>
              <a:rPr lang="en-US" sz="1400" b="1">
                <a:solidFill>
                  <a:srgbClr val="D9A441"/>
                </a:solidFill>
                <a:latin typeface="Cambria"/>
                <a:ea typeface="Cambria"/>
                <a:cs typeface="Cambria"/>
                <a:sym typeface="Cambria"/>
              </a:rPr>
              <a:t>06</a:t>
            </a:r>
            <a:endParaRPr sz="1400">
              <a:solidFill>
                <a:schemeClr val="dk1"/>
              </a:solidFill>
              <a:latin typeface="Calibri"/>
              <a:ea typeface="Calibri"/>
              <a:cs typeface="Calibri"/>
              <a:sym typeface="Calibri"/>
            </a:endParaRPr>
          </a:p>
        </p:txBody>
      </p:sp>
      <p:sp>
        <p:nvSpPr>
          <p:cNvPr id="53" name="Google Shape;53;p2"/>
          <p:cNvSpPr/>
          <p:nvPr/>
        </p:nvSpPr>
        <p:spPr>
          <a:xfrm>
            <a:off x="1417320" y="5541264"/>
            <a:ext cx="4297680" cy="51206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E2318"/>
              </a:buClr>
              <a:buSzPts val="1450"/>
              <a:buFont typeface="Calibri"/>
              <a:buNone/>
            </a:pPr>
            <a:r>
              <a:rPr lang="en-US" sz="1450" b="1">
                <a:solidFill>
                  <a:srgbClr val="2E2318"/>
                </a:solidFill>
                <a:latin typeface="Calibri"/>
                <a:ea typeface="Calibri"/>
                <a:cs typeface="Calibri"/>
                <a:sym typeface="Calibri"/>
              </a:rPr>
              <a:t>Épicas e historias de usuario</a:t>
            </a:r>
            <a:endParaRPr sz="1450">
              <a:solidFill>
                <a:schemeClr val="dk1"/>
              </a:solidFill>
              <a:latin typeface="Calibri"/>
              <a:ea typeface="Calibri"/>
              <a:cs typeface="Calibri"/>
              <a:sym typeface="Calibri"/>
            </a:endParaRPr>
          </a:p>
        </p:txBody>
      </p:sp>
      <p:sp>
        <p:nvSpPr>
          <p:cNvPr id="54" name="Google Shape;54;p2"/>
          <p:cNvSpPr/>
          <p:nvPr/>
        </p:nvSpPr>
        <p:spPr>
          <a:xfrm>
            <a:off x="6309360" y="1325880"/>
            <a:ext cx="5212080" cy="713232"/>
          </a:xfrm>
          <a:prstGeom prst="roundRect">
            <a:avLst>
              <a:gd name="adj" fmla="val 12821"/>
            </a:avLst>
          </a:prstGeom>
          <a:solidFill>
            <a:srgbClr val="F6EFE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5" name="Google Shape;55;p2"/>
          <p:cNvSpPr/>
          <p:nvPr/>
        </p:nvSpPr>
        <p:spPr>
          <a:xfrm>
            <a:off x="6428232" y="1426464"/>
            <a:ext cx="512064" cy="512064"/>
          </a:xfrm>
          <a:prstGeom prst="roundRect">
            <a:avLst>
              <a:gd name="adj" fmla="val 14286"/>
            </a:avLst>
          </a:prstGeom>
          <a:solidFill>
            <a:srgbClr val="4A2C1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6" name="Google Shape;56;p2"/>
          <p:cNvSpPr/>
          <p:nvPr/>
        </p:nvSpPr>
        <p:spPr>
          <a:xfrm>
            <a:off x="6428232" y="1426464"/>
            <a:ext cx="512064" cy="51206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D9A441"/>
              </a:buClr>
              <a:buSzPts val="1400"/>
              <a:buFont typeface="Cambria"/>
              <a:buNone/>
            </a:pPr>
            <a:r>
              <a:rPr lang="en-US" sz="1400" b="1">
                <a:solidFill>
                  <a:srgbClr val="D9A441"/>
                </a:solidFill>
                <a:latin typeface="Cambria"/>
                <a:ea typeface="Cambria"/>
                <a:cs typeface="Cambria"/>
                <a:sym typeface="Cambria"/>
              </a:rPr>
              <a:t>07</a:t>
            </a:r>
            <a:endParaRPr sz="1400">
              <a:solidFill>
                <a:schemeClr val="dk1"/>
              </a:solidFill>
              <a:latin typeface="Calibri"/>
              <a:ea typeface="Calibri"/>
              <a:cs typeface="Calibri"/>
              <a:sym typeface="Calibri"/>
            </a:endParaRPr>
          </a:p>
        </p:txBody>
      </p:sp>
      <p:sp>
        <p:nvSpPr>
          <p:cNvPr id="57" name="Google Shape;57;p2"/>
          <p:cNvSpPr/>
          <p:nvPr/>
        </p:nvSpPr>
        <p:spPr>
          <a:xfrm>
            <a:off x="7086600" y="1426464"/>
            <a:ext cx="4297680" cy="51206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E2318"/>
              </a:buClr>
              <a:buSzPts val="1450"/>
              <a:buFont typeface="Calibri"/>
              <a:buNone/>
            </a:pPr>
            <a:r>
              <a:rPr lang="en-US" sz="1450" b="1">
                <a:solidFill>
                  <a:srgbClr val="2E2318"/>
                </a:solidFill>
                <a:latin typeface="Calibri"/>
                <a:ea typeface="Calibri"/>
                <a:cs typeface="Calibri"/>
                <a:sym typeface="Calibri"/>
              </a:rPr>
              <a:t>Arquitectura</a:t>
            </a:r>
            <a:endParaRPr sz="1450">
              <a:solidFill>
                <a:schemeClr val="dk1"/>
              </a:solidFill>
              <a:latin typeface="Calibri"/>
              <a:ea typeface="Calibri"/>
              <a:cs typeface="Calibri"/>
              <a:sym typeface="Calibri"/>
            </a:endParaRPr>
          </a:p>
        </p:txBody>
      </p:sp>
      <p:sp>
        <p:nvSpPr>
          <p:cNvPr id="58" name="Google Shape;58;p2"/>
          <p:cNvSpPr/>
          <p:nvPr/>
        </p:nvSpPr>
        <p:spPr>
          <a:xfrm>
            <a:off x="6309360" y="2148840"/>
            <a:ext cx="5212080" cy="713232"/>
          </a:xfrm>
          <a:prstGeom prst="roundRect">
            <a:avLst>
              <a:gd name="adj" fmla="val 12821"/>
            </a:avLst>
          </a:prstGeom>
          <a:solidFill>
            <a:srgbClr val="F6EFE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9" name="Google Shape;59;p2"/>
          <p:cNvSpPr/>
          <p:nvPr/>
        </p:nvSpPr>
        <p:spPr>
          <a:xfrm>
            <a:off x="6428232" y="2249424"/>
            <a:ext cx="512064" cy="512064"/>
          </a:xfrm>
          <a:prstGeom prst="roundRect">
            <a:avLst>
              <a:gd name="adj" fmla="val 14286"/>
            </a:avLst>
          </a:prstGeom>
          <a:solidFill>
            <a:srgbClr val="4A2C1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0" name="Google Shape;60;p2"/>
          <p:cNvSpPr/>
          <p:nvPr/>
        </p:nvSpPr>
        <p:spPr>
          <a:xfrm>
            <a:off x="6428232" y="2249424"/>
            <a:ext cx="512064" cy="51206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D9A441"/>
              </a:buClr>
              <a:buSzPts val="1400"/>
              <a:buFont typeface="Cambria"/>
              <a:buNone/>
            </a:pPr>
            <a:r>
              <a:rPr lang="en-US" sz="1400" b="1">
                <a:solidFill>
                  <a:srgbClr val="D9A441"/>
                </a:solidFill>
                <a:latin typeface="Cambria"/>
                <a:ea typeface="Cambria"/>
                <a:cs typeface="Cambria"/>
                <a:sym typeface="Cambria"/>
              </a:rPr>
              <a:t>08</a:t>
            </a:r>
            <a:endParaRPr sz="1400">
              <a:solidFill>
                <a:schemeClr val="dk1"/>
              </a:solidFill>
              <a:latin typeface="Calibri"/>
              <a:ea typeface="Calibri"/>
              <a:cs typeface="Calibri"/>
              <a:sym typeface="Calibri"/>
            </a:endParaRPr>
          </a:p>
        </p:txBody>
      </p:sp>
      <p:sp>
        <p:nvSpPr>
          <p:cNvPr id="61" name="Google Shape;61;p2"/>
          <p:cNvSpPr/>
          <p:nvPr/>
        </p:nvSpPr>
        <p:spPr>
          <a:xfrm>
            <a:off x="7086600" y="2249424"/>
            <a:ext cx="4297680" cy="51206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E2318"/>
              </a:buClr>
              <a:buSzPts val="1450"/>
              <a:buFont typeface="Calibri"/>
              <a:buNone/>
            </a:pPr>
            <a:r>
              <a:rPr lang="en-US" sz="1450" b="1">
                <a:solidFill>
                  <a:srgbClr val="2E2318"/>
                </a:solidFill>
                <a:latin typeface="Calibri"/>
                <a:ea typeface="Calibri"/>
                <a:cs typeface="Calibri"/>
                <a:sym typeface="Calibri"/>
              </a:rPr>
              <a:t>Metodología</a:t>
            </a:r>
            <a:endParaRPr sz="1450">
              <a:solidFill>
                <a:schemeClr val="dk1"/>
              </a:solidFill>
              <a:latin typeface="Calibri"/>
              <a:ea typeface="Calibri"/>
              <a:cs typeface="Calibri"/>
              <a:sym typeface="Calibri"/>
            </a:endParaRPr>
          </a:p>
        </p:txBody>
      </p:sp>
      <p:sp>
        <p:nvSpPr>
          <p:cNvPr id="62" name="Google Shape;62;p2"/>
          <p:cNvSpPr/>
          <p:nvPr/>
        </p:nvSpPr>
        <p:spPr>
          <a:xfrm>
            <a:off x="6309360" y="2971800"/>
            <a:ext cx="5212080" cy="713232"/>
          </a:xfrm>
          <a:prstGeom prst="roundRect">
            <a:avLst>
              <a:gd name="adj" fmla="val 12821"/>
            </a:avLst>
          </a:prstGeom>
          <a:solidFill>
            <a:srgbClr val="F6EFE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3" name="Google Shape;63;p2"/>
          <p:cNvSpPr/>
          <p:nvPr/>
        </p:nvSpPr>
        <p:spPr>
          <a:xfrm>
            <a:off x="6428232" y="3072384"/>
            <a:ext cx="512064" cy="512064"/>
          </a:xfrm>
          <a:prstGeom prst="roundRect">
            <a:avLst>
              <a:gd name="adj" fmla="val 14286"/>
            </a:avLst>
          </a:prstGeom>
          <a:solidFill>
            <a:srgbClr val="4A2C1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4" name="Google Shape;64;p2"/>
          <p:cNvSpPr/>
          <p:nvPr/>
        </p:nvSpPr>
        <p:spPr>
          <a:xfrm>
            <a:off x="6428232" y="3072384"/>
            <a:ext cx="512064" cy="51206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D9A441"/>
              </a:buClr>
              <a:buSzPts val="1400"/>
              <a:buFont typeface="Cambria"/>
              <a:buNone/>
            </a:pPr>
            <a:r>
              <a:rPr lang="en-US" sz="1400" b="1">
                <a:solidFill>
                  <a:srgbClr val="D9A441"/>
                </a:solidFill>
                <a:latin typeface="Cambria"/>
                <a:ea typeface="Cambria"/>
                <a:cs typeface="Cambria"/>
                <a:sym typeface="Cambria"/>
              </a:rPr>
              <a:t>09</a:t>
            </a:r>
            <a:endParaRPr sz="1400">
              <a:solidFill>
                <a:schemeClr val="dk1"/>
              </a:solidFill>
              <a:latin typeface="Calibri"/>
              <a:ea typeface="Calibri"/>
              <a:cs typeface="Calibri"/>
              <a:sym typeface="Calibri"/>
            </a:endParaRPr>
          </a:p>
        </p:txBody>
      </p:sp>
      <p:sp>
        <p:nvSpPr>
          <p:cNvPr id="65" name="Google Shape;65;p2"/>
          <p:cNvSpPr/>
          <p:nvPr/>
        </p:nvSpPr>
        <p:spPr>
          <a:xfrm>
            <a:off x="7086600" y="3072384"/>
            <a:ext cx="4297680" cy="51206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E2318"/>
              </a:buClr>
              <a:buSzPts val="1450"/>
              <a:buFont typeface="Calibri"/>
              <a:buNone/>
            </a:pPr>
            <a:r>
              <a:rPr lang="en-US" sz="1450" b="1" dirty="0" err="1">
                <a:solidFill>
                  <a:srgbClr val="2E2318"/>
                </a:solidFill>
                <a:latin typeface="Calibri"/>
                <a:ea typeface="Calibri"/>
                <a:cs typeface="Calibri"/>
                <a:sym typeface="Calibri"/>
              </a:rPr>
              <a:t>Definición</a:t>
            </a:r>
            <a:r>
              <a:rPr lang="en-US" sz="1450" b="1" dirty="0">
                <a:solidFill>
                  <a:srgbClr val="2E2318"/>
                </a:solidFill>
                <a:latin typeface="Calibri"/>
                <a:ea typeface="Calibri"/>
                <a:cs typeface="Calibri"/>
                <a:sym typeface="Calibri"/>
              </a:rPr>
              <a:t> de sprints</a:t>
            </a:r>
            <a:endParaRPr sz="1450" dirty="0">
              <a:solidFill>
                <a:schemeClr val="dk1"/>
              </a:solidFill>
              <a:latin typeface="Calibri"/>
              <a:ea typeface="Calibri"/>
              <a:cs typeface="Calibri"/>
              <a:sym typeface="Calibri"/>
            </a:endParaRPr>
          </a:p>
        </p:txBody>
      </p:sp>
      <p:sp>
        <p:nvSpPr>
          <p:cNvPr id="66" name="Google Shape;66;p2"/>
          <p:cNvSpPr/>
          <p:nvPr/>
        </p:nvSpPr>
        <p:spPr>
          <a:xfrm>
            <a:off x="6309360" y="3794760"/>
            <a:ext cx="5212080" cy="713232"/>
          </a:xfrm>
          <a:prstGeom prst="roundRect">
            <a:avLst>
              <a:gd name="adj" fmla="val 12821"/>
            </a:avLst>
          </a:prstGeom>
          <a:solidFill>
            <a:srgbClr val="F6EFE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7" name="Google Shape;67;p2"/>
          <p:cNvSpPr/>
          <p:nvPr/>
        </p:nvSpPr>
        <p:spPr>
          <a:xfrm>
            <a:off x="6428232" y="3895344"/>
            <a:ext cx="512064" cy="512064"/>
          </a:xfrm>
          <a:prstGeom prst="roundRect">
            <a:avLst>
              <a:gd name="adj" fmla="val 14286"/>
            </a:avLst>
          </a:prstGeom>
          <a:solidFill>
            <a:srgbClr val="4A2C1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8" name="Google Shape;68;p2"/>
          <p:cNvSpPr/>
          <p:nvPr/>
        </p:nvSpPr>
        <p:spPr>
          <a:xfrm>
            <a:off x="6428232" y="3895344"/>
            <a:ext cx="512064" cy="51206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D9A441"/>
              </a:buClr>
              <a:buSzPts val="1400"/>
              <a:buFont typeface="Cambria"/>
              <a:buNone/>
            </a:pPr>
            <a:r>
              <a:rPr lang="en-US" sz="1400" b="1">
                <a:solidFill>
                  <a:srgbClr val="D9A441"/>
                </a:solidFill>
                <a:latin typeface="Cambria"/>
                <a:ea typeface="Cambria"/>
                <a:cs typeface="Cambria"/>
                <a:sym typeface="Cambria"/>
              </a:rPr>
              <a:t>10</a:t>
            </a:r>
            <a:endParaRPr sz="1400">
              <a:solidFill>
                <a:schemeClr val="dk1"/>
              </a:solidFill>
              <a:latin typeface="Calibri"/>
              <a:ea typeface="Calibri"/>
              <a:cs typeface="Calibri"/>
              <a:sym typeface="Calibri"/>
            </a:endParaRPr>
          </a:p>
        </p:txBody>
      </p:sp>
      <p:sp>
        <p:nvSpPr>
          <p:cNvPr id="69" name="Google Shape;69;p2"/>
          <p:cNvSpPr/>
          <p:nvPr/>
        </p:nvSpPr>
        <p:spPr>
          <a:xfrm>
            <a:off x="7086600" y="3895344"/>
            <a:ext cx="4297680" cy="51206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E2318"/>
              </a:buClr>
              <a:buSzPts val="1450"/>
              <a:buFont typeface="Calibri"/>
              <a:buNone/>
            </a:pPr>
            <a:r>
              <a:rPr lang="en-US" sz="1450" b="1">
                <a:solidFill>
                  <a:srgbClr val="2E2318"/>
                </a:solidFill>
                <a:latin typeface="Calibri"/>
                <a:ea typeface="Calibri"/>
                <a:cs typeface="Calibri"/>
                <a:sym typeface="Calibri"/>
              </a:rPr>
              <a:t>Evidencias por sprint</a:t>
            </a:r>
            <a:endParaRPr sz="1450">
              <a:solidFill>
                <a:schemeClr val="dk1"/>
              </a:solidFill>
              <a:latin typeface="Calibri"/>
              <a:ea typeface="Calibri"/>
              <a:cs typeface="Calibri"/>
              <a:sym typeface="Calibri"/>
            </a:endParaRPr>
          </a:p>
        </p:txBody>
      </p:sp>
      <p:sp>
        <p:nvSpPr>
          <p:cNvPr id="70" name="Google Shape;70;p2"/>
          <p:cNvSpPr/>
          <p:nvPr/>
        </p:nvSpPr>
        <p:spPr>
          <a:xfrm>
            <a:off x="6309360" y="4617720"/>
            <a:ext cx="5212080" cy="713232"/>
          </a:xfrm>
          <a:prstGeom prst="roundRect">
            <a:avLst>
              <a:gd name="adj" fmla="val 12821"/>
            </a:avLst>
          </a:prstGeom>
          <a:solidFill>
            <a:srgbClr val="F6EFE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1" name="Google Shape;71;p2"/>
          <p:cNvSpPr/>
          <p:nvPr/>
        </p:nvSpPr>
        <p:spPr>
          <a:xfrm>
            <a:off x="6428232" y="4718304"/>
            <a:ext cx="512064" cy="512064"/>
          </a:xfrm>
          <a:prstGeom prst="roundRect">
            <a:avLst>
              <a:gd name="adj" fmla="val 14286"/>
            </a:avLst>
          </a:prstGeom>
          <a:solidFill>
            <a:srgbClr val="4A2C1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2" name="Google Shape;72;p2"/>
          <p:cNvSpPr/>
          <p:nvPr/>
        </p:nvSpPr>
        <p:spPr>
          <a:xfrm>
            <a:off x="6428232" y="4718304"/>
            <a:ext cx="512064" cy="51206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D9A441"/>
              </a:buClr>
              <a:buSzPts val="1400"/>
              <a:buFont typeface="Cambria"/>
              <a:buNone/>
            </a:pPr>
            <a:r>
              <a:rPr lang="en-US" sz="1400" b="1">
                <a:solidFill>
                  <a:srgbClr val="D9A441"/>
                </a:solidFill>
                <a:latin typeface="Cambria"/>
                <a:ea typeface="Cambria"/>
                <a:cs typeface="Cambria"/>
                <a:sym typeface="Cambria"/>
              </a:rPr>
              <a:t>11</a:t>
            </a:r>
            <a:endParaRPr sz="1400">
              <a:solidFill>
                <a:schemeClr val="dk1"/>
              </a:solidFill>
              <a:latin typeface="Calibri"/>
              <a:ea typeface="Calibri"/>
              <a:cs typeface="Calibri"/>
              <a:sym typeface="Calibri"/>
            </a:endParaRPr>
          </a:p>
        </p:txBody>
      </p:sp>
      <p:sp>
        <p:nvSpPr>
          <p:cNvPr id="73" name="Google Shape;73;p2"/>
          <p:cNvSpPr/>
          <p:nvPr/>
        </p:nvSpPr>
        <p:spPr>
          <a:xfrm>
            <a:off x="7086600" y="4718304"/>
            <a:ext cx="4297680" cy="51206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E2318"/>
              </a:buClr>
              <a:buSzPts val="1450"/>
              <a:buFont typeface="Calibri"/>
              <a:buNone/>
            </a:pPr>
            <a:r>
              <a:rPr lang="en-US" sz="1450" b="1">
                <a:solidFill>
                  <a:srgbClr val="2E2318"/>
                </a:solidFill>
                <a:latin typeface="Calibri"/>
                <a:ea typeface="Calibri"/>
                <a:cs typeface="Calibri"/>
                <a:sym typeface="Calibri"/>
              </a:rPr>
              <a:t>Carta Gantt</a:t>
            </a:r>
            <a:endParaRPr sz="1450">
              <a:solidFill>
                <a:schemeClr val="dk1"/>
              </a:solidFill>
              <a:latin typeface="Calibri"/>
              <a:ea typeface="Calibri"/>
              <a:cs typeface="Calibri"/>
              <a:sym typeface="Calibri"/>
            </a:endParaRPr>
          </a:p>
        </p:txBody>
      </p:sp>
      <p:sp>
        <p:nvSpPr>
          <p:cNvPr id="74" name="Google Shape;74;p2"/>
          <p:cNvSpPr/>
          <p:nvPr/>
        </p:nvSpPr>
        <p:spPr>
          <a:xfrm>
            <a:off x="6309360" y="5440680"/>
            <a:ext cx="5212080" cy="713232"/>
          </a:xfrm>
          <a:prstGeom prst="roundRect">
            <a:avLst>
              <a:gd name="adj" fmla="val 12821"/>
            </a:avLst>
          </a:prstGeom>
          <a:solidFill>
            <a:srgbClr val="F6EFE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5" name="Google Shape;75;p2"/>
          <p:cNvSpPr/>
          <p:nvPr/>
        </p:nvSpPr>
        <p:spPr>
          <a:xfrm>
            <a:off x="6428232" y="5541264"/>
            <a:ext cx="512064" cy="512064"/>
          </a:xfrm>
          <a:prstGeom prst="roundRect">
            <a:avLst>
              <a:gd name="adj" fmla="val 14286"/>
            </a:avLst>
          </a:prstGeom>
          <a:solidFill>
            <a:srgbClr val="4A2C1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6" name="Google Shape;76;p2"/>
          <p:cNvSpPr/>
          <p:nvPr/>
        </p:nvSpPr>
        <p:spPr>
          <a:xfrm>
            <a:off x="6428232" y="5541264"/>
            <a:ext cx="512064" cy="51206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D9A441"/>
              </a:buClr>
              <a:buSzPts val="1400"/>
              <a:buFont typeface="Cambria"/>
              <a:buNone/>
            </a:pPr>
            <a:r>
              <a:rPr lang="en-US" sz="1400" b="1">
                <a:solidFill>
                  <a:srgbClr val="D9A441"/>
                </a:solidFill>
                <a:latin typeface="Cambria"/>
                <a:ea typeface="Cambria"/>
                <a:cs typeface="Cambria"/>
                <a:sym typeface="Cambria"/>
              </a:rPr>
              <a:t>12</a:t>
            </a:r>
            <a:endParaRPr sz="1400">
              <a:solidFill>
                <a:schemeClr val="dk1"/>
              </a:solidFill>
              <a:latin typeface="Calibri"/>
              <a:ea typeface="Calibri"/>
              <a:cs typeface="Calibri"/>
              <a:sym typeface="Calibri"/>
            </a:endParaRPr>
          </a:p>
        </p:txBody>
      </p:sp>
      <p:sp>
        <p:nvSpPr>
          <p:cNvPr id="77" name="Google Shape;77;p2"/>
          <p:cNvSpPr/>
          <p:nvPr/>
        </p:nvSpPr>
        <p:spPr>
          <a:xfrm>
            <a:off x="7086600" y="5541264"/>
            <a:ext cx="4297680" cy="51206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E2318"/>
              </a:buClr>
              <a:buSzPts val="1450"/>
              <a:buFont typeface="Calibri"/>
              <a:buNone/>
            </a:pPr>
            <a:r>
              <a:rPr lang="en-US" sz="1450" b="1">
                <a:solidFill>
                  <a:srgbClr val="2E2318"/>
                </a:solidFill>
                <a:latin typeface="Calibri"/>
                <a:ea typeface="Calibri"/>
                <a:cs typeface="Calibri"/>
                <a:sym typeface="Calibri"/>
              </a:rPr>
              <a:t>Conclusiones y reflexiones</a:t>
            </a:r>
            <a:endParaRPr sz="1450">
              <a:solidFill>
                <a:schemeClr val="dk1"/>
              </a:solidFill>
              <a:latin typeface="Calibri"/>
              <a:ea typeface="Calibri"/>
              <a:cs typeface="Calibri"/>
              <a:sym typeface="Calibri"/>
            </a:endParaRPr>
          </a:p>
        </p:txBody>
      </p:sp>
      <p:sp>
        <p:nvSpPr>
          <p:cNvPr id="78" name="Google Shape;78;p2"/>
          <p:cNvSpPr/>
          <p:nvPr/>
        </p:nvSpPr>
        <p:spPr>
          <a:xfrm>
            <a:off x="11457432" y="6419088"/>
            <a:ext cx="45720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6E5F50"/>
              </a:buClr>
              <a:buSzPts val="1000"/>
              <a:buFont typeface="Calibri"/>
              <a:buNone/>
            </a:pPr>
            <a:r>
              <a:rPr lang="en-US" sz="1000">
                <a:solidFill>
                  <a:srgbClr val="6E5F50"/>
                </a:solidFill>
                <a:latin typeface="Calibri"/>
                <a:ea typeface="Calibri"/>
                <a:cs typeface="Calibri"/>
                <a:sym typeface="Calibri"/>
              </a:rPr>
              <a:t>2</a:t>
            </a:r>
            <a:endParaRPr sz="10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83"/>
        <p:cNvGrpSpPr/>
        <p:nvPr/>
      </p:nvGrpSpPr>
      <p:grpSpPr>
        <a:xfrm>
          <a:off x="0" y="0"/>
          <a:ext cx="0" cy="0"/>
          <a:chOff x="0" y="0"/>
          <a:chExt cx="0" cy="0"/>
        </a:xfrm>
      </p:grpSpPr>
      <p:sp>
        <p:nvSpPr>
          <p:cNvPr id="101" name="Google Shape;101;p3"/>
          <p:cNvSpPr/>
          <p:nvPr/>
        </p:nvSpPr>
        <p:spPr>
          <a:xfrm>
            <a:off x="11457432" y="6419088"/>
            <a:ext cx="45720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6E5F50"/>
              </a:buClr>
              <a:buSzPts val="1000"/>
              <a:buFont typeface="Calibri"/>
              <a:buNone/>
            </a:pPr>
            <a:r>
              <a:rPr lang="en-US" sz="1000">
                <a:solidFill>
                  <a:srgbClr val="6E5F50"/>
                </a:solidFill>
                <a:latin typeface="Calibri"/>
                <a:ea typeface="Calibri"/>
                <a:cs typeface="Calibri"/>
                <a:sym typeface="Calibri"/>
              </a:rPr>
              <a:t>3</a:t>
            </a:r>
            <a:endParaRPr sz="1000">
              <a:solidFill>
                <a:schemeClr val="dk1"/>
              </a:solidFill>
              <a:latin typeface="Calibri"/>
              <a:ea typeface="Calibri"/>
              <a:cs typeface="Calibri"/>
              <a:sym typeface="Calibri"/>
            </a:endParaRPr>
          </a:p>
        </p:txBody>
      </p:sp>
      <p:sp>
        <p:nvSpPr>
          <p:cNvPr id="3" name="Google Shape;74;p3">
            <a:extLst>
              <a:ext uri="{FF2B5EF4-FFF2-40B4-BE49-F238E27FC236}">
                <a16:creationId xmlns:a16="http://schemas.microsoft.com/office/drawing/2014/main" id="{7949ED4F-CAA4-EA71-8B06-EDCAAFDA619B}"/>
              </a:ext>
            </a:extLst>
          </p:cNvPr>
          <p:cNvSpPr/>
          <p:nvPr/>
        </p:nvSpPr>
        <p:spPr>
          <a:xfrm>
            <a:off x="548640" y="320040"/>
            <a:ext cx="11091672" cy="6858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D9A441"/>
              </a:buClr>
              <a:buSzPts val="3000"/>
              <a:buFont typeface="Cambria"/>
              <a:buNone/>
            </a:pPr>
            <a:r>
              <a:rPr lang="en-US" sz="3000" b="1" i="0" u="none" strike="noStrike" cap="none">
                <a:solidFill>
                  <a:srgbClr val="D9A441"/>
                </a:solidFill>
                <a:latin typeface="Calibri"/>
                <a:ea typeface="Calibri"/>
                <a:cs typeface="Calibri"/>
                <a:sym typeface="Calibri"/>
              </a:rPr>
              <a:t>C</a:t>
            </a:r>
            <a:r>
              <a:rPr lang="en-US" sz="3000" b="1" i="0" u="none" strike="noStrike" cap="none">
                <a:solidFill>
                  <a:srgbClr val="4A2C1A"/>
                </a:solidFill>
                <a:latin typeface="Calibri"/>
                <a:ea typeface="Calibri"/>
                <a:cs typeface="Calibri"/>
                <a:sym typeface="Calibri"/>
              </a:rPr>
              <a:t>ontexto</a:t>
            </a:r>
            <a:endParaRPr sz="3000" i="0" u="none" strike="noStrike" cap="none">
              <a:solidFill>
                <a:schemeClr val="dk1"/>
              </a:solidFill>
              <a:latin typeface="Calibri"/>
              <a:ea typeface="Calibri"/>
              <a:cs typeface="Calibri"/>
              <a:sym typeface="Calibri"/>
            </a:endParaRPr>
          </a:p>
        </p:txBody>
      </p:sp>
      <p:sp>
        <p:nvSpPr>
          <p:cNvPr id="5" name="Google Shape;75;p3">
            <a:extLst>
              <a:ext uri="{FF2B5EF4-FFF2-40B4-BE49-F238E27FC236}">
                <a16:creationId xmlns:a16="http://schemas.microsoft.com/office/drawing/2014/main" id="{AA4D7C41-80E0-B8EA-34E9-43B17FD0F55F}"/>
              </a:ext>
            </a:extLst>
          </p:cNvPr>
          <p:cNvSpPr/>
          <p:nvPr/>
        </p:nvSpPr>
        <p:spPr>
          <a:xfrm>
            <a:off x="548640" y="1371600"/>
            <a:ext cx="5120640" cy="4846320"/>
          </a:xfrm>
          <a:prstGeom prst="roundRect">
            <a:avLst>
              <a:gd name="adj" fmla="val 2264"/>
            </a:avLst>
          </a:prstGeom>
          <a:solidFill>
            <a:srgbClr val="4A2C1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76;p3">
            <a:extLst>
              <a:ext uri="{FF2B5EF4-FFF2-40B4-BE49-F238E27FC236}">
                <a16:creationId xmlns:a16="http://schemas.microsoft.com/office/drawing/2014/main" id="{0141B6DE-F6C0-596B-9A90-3F8ECB2CD89B}"/>
              </a:ext>
            </a:extLst>
          </p:cNvPr>
          <p:cNvSpPr/>
          <p:nvPr/>
        </p:nvSpPr>
        <p:spPr>
          <a:xfrm>
            <a:off x="868680" y="1691640"/>
            <a:ext cx="448056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D9A441"/>
              </a:buClr>
              <a:buSzPts val="1700"/>
              <a:buFont typeface="Cambria"/>
              <a:buNone/>
            </a:pPr>
            <a:r>
              <a:rPr lang="en-US" sz="2000" b="1" i="0" u="none" strike="noStrike" cap="none">
                <a:solidFill>
                  <a:srgbClr val="D9A441"/>
                </a:solidFill>
                <a:latin typeface="Calibri"/>
                <a:ea typeface="Calibri"/>
                <a:cs typeface="Calibri"/>
                <a:sym typeface="Calibri"/>
              </a:rPr>
              <a:t>El caso que origina el proyecto</a:t>
            </a:r>
            <a:endParaRPr sz="2000" i="0" u="none" strike="noStrike" cap="none">
              <a:solidFill>
                <a:schemeClr val="dk1"/>
              </a:solidFill>
              <a:latin typeface="Calibri"/>
              <a:ea typeface="Calibri"/>
              <a:cs typeface="Calibri"/>
              <a:sym typeface="Calibri"/>
            </a:endParaRPr>
          </a:p>
        </p:txBody>
      </p:sp>
      <p:sp>
        <p:nvSpPr>
          <p:cNvPr id="9" name="Google Shape;77;p3">
            <a:extLst>
              <a:ext uri="{FF2B5EF4-FFF2-40B4-BE49-F238E27FC236}">
                <a16:creationId xmlns:a16="http://schemas.microsoft.com/office/drawing/2014/main" id="{31CB5292-BA5B-D1F5-77B4-5FF9F3B9F2CB}"/>
              </a:ext>
            </a:extLst>
          </p:cNvPr>
          <p:cNvSpPr/>
          <p:nvPr/>
        </p:nvSpPr>
        <p:spPr>
          <a:xfrm>
            <a:off x="868680" y="2194560"/>
            <a:ext cx="4480560" cy="2743200"/>
          </a:xfrm>
          <a:prstGeom prst="rect">
            <a:avLst/>
          </a:prstGeom>
          <a:noFill/>
          <a:ln>
            <a:noFill/>
          </a:ln>
        </p:spPr>
        <p:txBody>
          <a:bodyPr spcFirstLastPara="1" wrap="square" lIns="0" tIns="0" rIns="0" bIns="0" anchor="ctr" anchorCtr="0">
            <a:noAutofit/>
          </a:bodyPr>
          <a:lstStyle/>
          <a:p>
            <a:pPr marL="342900" marR="0" lvl="0" indent="-361950" algn="l" rtl="0">
              <a:spcBef>
                <a:spcPts val="0"/>
              </a:spcBef>
              <a:spcAft>
                <a:spcPts val="0"/>
              </a:spcAft>
              <a:buClr>
                <a:srgbClr val="F3EADC"/>
              </a:buClr>
              <a:buSzPts val="1750"/>
              <a:buFont typeface="Calibri"/>
              <a:buChar char="•"/>
            </a:pPr>
            <a:r>
              <a:rPr lang="en-US" sz="1750" i="0" u="none" strike="noStrike" cap="none">
                <a:solidFill>
                  <a:srgbClr val="F3EADC"/>
                </a:solidFill>
                <a:latin typeface="Calibri"/>
                <a:ea typeface="Calibri"/>
                <a:cs typeface="Calibri"/>
                <a:sym typeface="Calibri"/>
              </a:rPr>
              <a:t>Panadería urbana de la zona central de Chile.</a:t>
            </a:r>
            <a:endParaRPr sz="1750" i="0" u="none" strike="noStrike" cap="none">
              <a:solidFill>
                <a:schemeClr val="dk1"/>
              </a:solidFill>
              <a:latin typeface="Calibri"/>
              <a:ea typeface="Calibri"/>
              <a:cs typeface="Calibri"/>
              <a:sym typeface="Calibri"/>
            </a:endParaRPr>
          </a:p>
          <a:p>
            <a:pPr marL="342900" marR="0" lvl="0" indent="-361950" algn="l" rtl="0">
              <a:spcBef>
                <a:spcPts val="1000"/>
              </a:spcBef>
              <a:spcAft>
                <a:spcPts val="0"/>
              </a:spcAft>
              <a:buClr>
                <a:srgbClr val="F3EADC"/>
              </a:buClr>
              <a:buSzPts val="1750"/>
              <a:buFont typeface="Calibri"/>
              <a:buChar char="•"/>
            </a:pPr>
            <a:r>
              <a:rPr lang="en-US" sz="1750" i="0" u="none" strike="noStrike" cap="none">
                <a:solidFill>
                  <a:srgbClr val="F3EADC"/>
                </a:solidFill>
                <a:latin typeface="Calibri"/>
                <a:ea typeface="Calibri"/>
                <a:cs typeface="Calibri"/>
                <a:sym typeface="Calibri"/>
              </a:rPr>
              <a:t>Vende pan a peso, con balanza e impresora de etiquetas ajenas al software.</a:t>
            </a:r>
            <a:endParaRPr sz="1750" i="0" u="none" strike="noStrike" cap="none">
              <a:solidFill>
                <a:schemeClr val="dk1"/>
              </a:solidFill>
              <a:latin typeface="Calibri"/>
              <a:ea typeface="Calibri"/>
              <a:cs typeface="Calibri"/>
              <a:sym typeface="Calibri"/>
            </a:endParaRPr>
          </a:p>
          <a:p>
            <a:pPr marL="342900" marR="0" lvl="0" indent="-361950" algn="l" rtl="0">
              <a:spcBef>
                <a:spcPts val="1000"/>
              </a:spcBef>
              <a:spcAft>
                <a:spcPts val="0"/>
              </a:spcAft>
              <a:buClr>
                <a:srgbClr val="F3EADC"/>
              </a:buClr>
              <a:buSzPts val="1750"/>
              <a:buFont typeface="Calibri"/>
              <a:buChar char="•"/>
            </a:pPr>
            <a:r>
              <a:rPr lang="en-US" sz="1750" i="0" u="none" strike="noStrike" cap="none">
                <a:solidFill>
                  <a:srgbClr val="F3EADC"/>
                </a:solidFill>
                <a:latin typeface="Calibri"/>
                <a:ea typeface="Calibri"/>
                <a:cs typeface="Calibri"/>
                <a:sym typeface="Calibri"/>
              </a:rPr>
              <a:t>La cocina no tiene conectividad confiable.</a:t>
            </a:r>
            <a:endParaRPr sz="1750" i="0" u="none" strike="noStrike" cap="none">
              <a:solidFill>
                <a:schemeClr val="dk1"/>
              </a:solidFill>
              <a:latin typeface="Calibri"/>
              <a:ea typeface="Calibri"/>
              <a:cs typeface="Calibri"/>
              <a:sym typeface="Calibri"/>
            </a:endParaRPr>
          </a:p>
          <a:p>
            <a:pPr marL="342900" marR="0" lvl="0" indent="-361950" algn="l" rtl="0">
              <a:spcBef>
                <a:spcPts val="1000"/>
              </a:spcBef>
              <a:spcAft>
                <a:spcPts val="0"/>
              </a:spcAft>
              <a:buClr>
                <a:srgbClr val="F3EADC"/>
              </a:buClr>
              <a:buSzPts val="1750"/>
              <a:buFont typeface="Calibri"/>
              <a:buChar char="•"/>
            </a:pPr>
            <a:r>
              <a:rPr lang="en-US" sz="1750" i="0" u="none" strike="noStrike" cap="none">
                <a:solidFill>
                  <a:srgbClr val="F3EADC"/>
                </a:solidFill>
                <a:latin typeface="Calibri"/>
                <a:ea typeface="Calibri"/>
                <a:cs typeface="Calibri"/>
                <a:sym typeface="Calibri"/>
              </a:rPr>
              <a:t>Una misma persona produce y administra el negocio.</a:t>
            </a:r>
            <a:endParaRPr sz="1750" i="0" u="none" strike="noStrike" cap="none">
              <a:solidFill>
                <a:schemeClr val="dk1"/>
              </a:solidFill>
              <a:latin typeface="Calibri"/>
              <a:ea typeface="Calibri"/>
              <a:cs typeface="Calibri"/>
              <a:sym typeface="Calibri"/>
            </a:endParaRPr>
          </a:p>
        </p:txBody>
      </p:sp>
      <p:sp>
        <p:nvSpPr>
          <p:cNvPr id="11" name="Google Shape;78;p3">
            <a:extLst>
              <a:ext uri="{FF2B5EF4-FFF2-40B4-BE49-F238E27FC236}">
                <a16:creationId xmlns:a16="http://schemas.microsoft.com/office/drawing/2014/main" id="{59AFAA5E-1104-D1CB-97DE-3E3FC4FBA92D}"/>
              </a:ext>
            </a:extLst>
          </p:cNvPr>
          <p:cNvSpPr/>
          <p:nvPr/>
        </p:nvSpPr>
        <p:spPr>
          <a:xfrm>
            <a:off x="868680" y="5074920"/>
            <a:ext cx="4480560" cy="9144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D9A441"/>
              </a:buClr>
              <a:buSzPts val="1250"/>
              <a:buFont typeface="Calibri"/>
              <a:buNone/>
            </a:pPr>
            <a:r>
              <a:rPr lang="en-US" sz="1550" b="0" i="1" u="none" strike="noStrike" cap="none">
                <a:solidFill>
                  <a:srgbClr val="D9A441"/>
                </a:solidFill>
                <a:latin typeface="Calibri"/>
                <a:ea typeface="Calibri"/>
                <a:cs typeface="Calibri"/>
                <a:sym typeface="Calibri"/>
              </a:rPr>
              <a:t>El caso se instala como un perfil de configuración: el producto se diseña genérico para panaderías pequeñas y medianas.</a:t>
            </a:r>
            <a:endParaRPr sz="1550" b="0" i="1" u="none" strike="noStrike" cap="none">
              <a:solidFill>
                <a:schemeClr val="dk1"/>
              </a:solidFill>
              <a:latin typeface="Calibri"/>
              <a:ea typeface="Calibri"/>
              <a:cs typeface="Calibri"/>
              <a:sym typeface="Calibri"/>
            </a:endParaRPr>
          </a:p>
        </p:txBody>
      </p:sp>
      <p:sp>
        <p:nvSpPr>
          <p:cNvPr id="13" name="Google Shape;79;p3">
            <a:extLst>
              <a:ext uri="{FF2B5EF4-FFF2-40B4-BE49-F238E27FC236}">
                <a16:creationId xmlns:a16="http://schemas.microsoft.com/office/drawing/2014/main" id="{160AAFD4-ACD6-C1EB-44EB-FB808B8A0658}"/>
              </a:ext>
            </a:extLst>
          </p:cNvPr>
          <p:cNvSpPr/>
          <p:nvPr/>
        </p:nvSpPr>
        <p:spPr>
          <a:xfrm>
            <a:off x="6126480" y="1888230"/>
            <a:ext cx="777300" cy="777300"/>
          </a:xfrm>
          <a:prstGeom prst="ellipse">
            <a:avLst/>
          </a:prstGeom>
          <a:solidFill>
            <a:srgbClr val="D9A4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5" name="Google Shape;80;p3" descr="preencoded.png">
            <a:extLst>
              <a:ext uri="{FF2B5EF4-FFF2-40B4-BE49-F238E27FC236}">
                <a16:creationId xmlns:a16="http://schemas.microsoft.com/office/drawing/2014/main" id="{8485C3C6-A724-A58F-F6DE-A7E3B112C8CB}"/>
              </a:ext>
            </a:extLst>
          </p:cNvPr>
          <p:cNvPicPr preferRelativeResize="0"/>
          <p:nvPr/>
        </p:nvPicPr>
        <p:blipFill rotWithShape="1">
          <a:blip r:embed="rId3">
            <a:alphaModFix/>
          </a:blip>
          <a:srcRect/>
          <a:stretch/>
        </p:blipFill>
        <p:spPr>
          <a:xfrm>
            <a:off x="6328562" y="2090312"/>
            <a:ext cx="373075" cy="373075"/>
          </a:xfrm>
          <a:prstGeom prst="rect">
            <a:avLst/>
          </a:prstGeom>
          <a:noFill/>
          <a:ln>
            <a:noFill/>
          </a:ln>
        </p:spPr>
      </p:pic>
      <p:sp>
        <p:nvSpPr>
          <p:cNvPr id="17" name="Google Shape;81;p3">
            <a:extLst>
              <a:ext uri="{FF2B5EF4-FFF2-40B4-BE49-F238E27FC236}">
                <a16:creationId xmlns:a16="http://schemas.microsoft.com/office/drawing/2014/main" id="{24D46879-A10C-7B9D-4A27-0681F2018EEF}"/>
              </a:ext>
            </a:extLst>
          </p:cNvPr>
          <p:cNvSpPr/>
          <p:nvPr/>
        </p:nvSpPr>
        <p:spPr>
          <a:xfrm>
            <a:off x="7068300" y="1888217"/>
            <a:ext cx="4572000" cy="3657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E2318"/>
              </a:buClr>
              <a:buSzPts val="1600"/>
              <a:buFont typeface="Calibri"/>
              <a:buNone/>
            </a:pPr>
            <a:r>
              <a:rPr lang="en-US" sz="1600" b="1" i="0" u="none" strike="noStrike" cap="none">
                <a:solidFill>
                  <a:srgbClr val="2E2318"/>
                </a:solidFill>
                <a:latin typeface="Calibri"/>
                <a:ea typeface="Calibri"/>
                <a:cs typeface="Calibri"/>
                <a:sym typeface="Calibri"/>
              </a:rPr>
              <a:t>Operación fragmentada</a:t>
            </a:r>
            <a:endParaRPr sz="1600" b="0" i="0" u="none" strike="noStrike" cap="none">
              <a:solidFill>
                <a:schemeClr val="dk1"/>
              </a:solidFill>
              <a:latin typeface="Calibri"/>
              <a:ea typeface="Calibri"/>
              <a:cs typeface="Calibri"/>
              <a:sym typeface="Calibri"/>
            </a:endParaRPr>
          </a:p>
        </p:txBody>
      </p:sp>
      <p:sp>
        <p:nvSpPr>
          <p:cNvPr id="19" name="Google Shape;82;p3">
            <a:extLst>
              <a:ext uri="{FF2B5EF4-FFF2-40B4-BE49-F238E27FC236}">
                <a16:creationId xmlns:a16="http://schemas.microsoft.com/office/drawing/2014/main" id="{DF32E1AC-0AC0-6C15-F0F0-318956664734}"/>
              </a:ext>
            </a:extLst>
          </p:cNvPr>
          <p:cNvSpPr/>
          <p:nvPr/>
        </p:nvSpPr>
        <p:spPr>
          <a:xfrm>
            <a:off x="7068300" y="2235700"/>
            <a:ext cx="4572000" cy="529200"/>
          </a:xfrm>
          <a:prstGeom prst="rect">
            <a:avLst/>
          </a:prstGeom>
          <a:noFill/>
          <a:ln>
            <a:noFill/>
          </a:ln>
        </p:spPr>
        <p:txBody>
          <a:bodyPr spcFirstLastPara="1" wrap="square" lIns="0" tIns="0" rIns="0" bIns="0" anchor="ctr" anchorCtr="0">
            <a:noAutofit/>
          </a:bodyPr>
          <a:lstStyle/>
          <a:p>
            <a:pPr lvl="0">
              <a:buClr>
                <a:srgbClr val="6E5F50"/>
              </a:buClr>
              <a:buSzPts val="1300"/>
            </a:pPr>
            <a:r>
              <a:rPr lang="es-ES" sz="1300" dirty="0">
                <a:solidFill>
                  <a:srgbClr val="6E5F50"/>
                </a:solidFill>
                <a:latin typeface="Calibri"/>
                <a:ea typeface="Calibri"/>
                <a:cs typeface="Calibri"/>
                <a:sym typeface="Calibri"/>
              </a:rPr>
              <a:t>El sector opera mayoritariamente con procesos manuales y sin sistemas de gestión.</a:t>
            </a:r>
            <a:endParaRPr lang="es-ES" sz="1300" dirty="0">
              <a:solidFill>
                <a:schemeClr val="dk1"/>
              </a:solidFill>
              <a:latin typeface="Calibri"/>
              <a:ea typeface="Calibri"/>
              <a:cs typeface="Calibri"/>
              <a:sym typeface="Calibri"/>
            </a:endParaRPr>
          </a:p>
        </p:txBody>
      </p:sp>
      <p:sp>
        <p:nvSpPr>
          <p:cNvPr id="21" name="Google Shape;83;p3">
            <a:extLst>
              <a:ext uri="{FF2B5EF4-FFF2-40B4-BE49-F238E27FC236}">
                <a16:creationId xmlns:a16="http://schemas.microsoft.com/office/drawing/2014/main" id="{4077B981-56A8-4F9A-E07D-6DBDB533404D}"/>
              </a:ext>
            </a:extLst>
          </p:cNvPr>
          <p:cNvSpPr/>
          <p:nvPr/>
        </p:nvSpPr>
        <p:spPr>
          <a:xfrm>
            <a:off x="6126480" y="3321555"/>
            <a:ext cx="777300" cy="777300"/>
          </a:xfrm>
          <a:prstGeom prst="ellipse">
            <a:avLst/>
          </a:prstGeom>
          <a:solidFill>
            <a:srgbClr val="D9A4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3" name="Google Shape;84;p3" descr="preencoded.png">
            <a:extLst>
              <a:ext uri="{FF2B5EF4-FFF2-40B4-BE49-F238E27FC236}">
                <a16:creationId xmlns:a16="http://schemas.microsoft.com/office/drawing/2014/main" id="{65A95FD3-AAE4-8D2A-27EB-6A6B09C9D24E}"/>
              </a:ext>
            </a:extLst>
          </p:cNvPr>
          <p:cNvPicPr preferRelativeResize="0"/>
          <p:nvPr/>
        </p:nvPicPr>
        <p:blipFill rotWithShape="1">
          <a:blip r:embed="rId4">
            <a:alphaModFix/>
          </a:blip>
          <a:srcRect/>
          <a:stretch/>
        </p:blipFill>
        <p:spPr>
          <a:xfrm>
            <a:off x="6328562" y="3523637"/>
            <a:ext cx="373075" cy="373075"/>
          </a:xfrm>
          <a:prstGeom prst="rect">
            <a:avLst/>
          </a:prstGeom>
          <a:noFill/>
          <a:ln>
            <a:noFill/>
          </a:ln>
        </p:spPr>
      </p:pic>
      <p:sp>
        <p:nvSpPr>
          <p:cNvPr id="25" name="Google Shape;85;p3">
            <a:extLst>
              <a:ext uri="{FF2B5EF4-FFF2-40B4-BE49-F238E27FC236}">
                <a16:creationId xmlns:a16="http://schemas.microsoft.com/office/drawing/2014/main" id="{F4AEB0AC-8C54-9F41-30C5-F3F5102EC546}"/>
              </a:ext>
            </a:extLst>
          </p:cNvPr>
          <p:cNvSpPr/>
          <p:nvPr/>
        </p:nvSpPr>
        <p:spPr>
          <a:xfrm>
            <a:off x="7086600" y="3328412"/>
            <a:ext cx="4572000" cy="365700"/>
          </a:xfrm>
          <a:prstGeom prst="rect">
            <a:avLst/>
          </a:prstGeom>
          <a:noFill/>
          <a:ln>
            <a:noFill/>
          </a:ln>
        </p:spPr>
        <p:txBody>
          <a:bodyPr spcFirstLastPara="1" wrap="square" lIns="0" tIns="0" rIns="0" bIns="0" anchor="ctr" anchorCtr="0">
            <a:noAutofit/>
          </a:bodyPr>
          <a:lstStyle/>
          <a:p>
            <a:pPr lvl="0">
              <a:buClr>
                <a:srgbClr val="2E2318"/>
              </a:buClr>
              <a:buSzPts val="1600"/>
            </a:pPr>
            <a:r>
              <a:rPr lang="en-US" sz="1600" b="1" dirty="0" err="1">
                <a:solidFill>
                  <a:srgbClr val="2E2318"/>
                </a:solidFill>
                <a:latin typeface="Calibri"/>
                <a:ea typeface="Calibri"/>
                <a:cs typeface="Calibri"/>
                <a:sym typeface="Calibri"/>
              </a:rPr>
              <a:t>Ausencia</a:t>
            </a:r>
            <a:r>
              <a:rPr lang="en-US" sz="1600" b="1" dirty="0">
                <a:solidFill>
                  <a:srgbClr val="2E2318"/>
                </a:solidFill>
                <a:latin typeface="Calibri"/>
                <a:ea typeface="Calibri"/>
                <a:cs typeface="Calibri"/>
                <a:sym typeface="Calibri"/>
              </a:rPr>
              <a:t> de </a:t>
            </a:r>
            <a:r>
              <a:rPr lang="en-US" sz="1600" b="1" dirty="0" err="1">
                <a:solidFill>
                  <a:srgbClr val="2E2318"/>
                </a:solidFill>
                <a:latin typeface="Calibri"/>
                <a:ea typeface="Calibri"/>
                <a:cs typeface="Calibri"/>
                <a:sym typeface="Calibri"/>
              </a:rPr>
              <a:t>datos</a:t>
            </a:r>
            <a:r>
              <a:rPr lang="en-US" sz="1600" b="1" dirty="0">
                <a:solidFill>
                  <a:srgbClr val="2E2318"/>
                </a:solidFill>
                <a:latin typeface="Calibri"/>
                <a:ea typeface="Calibri"/>
                <a:cs typeface="Calibri"/>
                <a:sym typeface="Calibri"/>
              </a:rPr>
              <a:t> </a:t>
            </a:r>
            <a:r>
              <a:rPr lang="en-US" sz="1600" b="1" dirty="0" err="1">
                <a:solidFill>
                  <a:srgbClr val="2E2318"/>
                </a:solidFill>
                <a:latin typeface="Calibri"/>
                <a:ea typeface="Calibri"/>
                <a:cs typeface="Calibri"/>
                <a:sym typeface="Calibri"/>
              </a:rPr>
              <a:t>históricos</a:t>
            </a:r>
            <a:endParaRPr lang="en-US" sz="1600" dirty="0">
              <a:solidFill>
                <a:schemeClr val="dk1"/>
              </a:solidFill>
              <a:latin typeface="Calibri"/>
              <a:ea typeface="Calibri"/>
              <a:cs typeface="Calibri"/>
              <a:sym typeface="Calibri"/>
            </a:endParaRPr>
          </a:p>
        </p:txBody>
      </p:sp>
      <p:sp>
        <p:nvSpPr>
          <p:cNvPr id="27" name="Google Shape;86;p3">
            <a:extLst>
              <a:ext uri="{FF2B5EF4-FFF2-40B4-BE49-F238E27FC236}">
                <a16:creationId xmlns:a16="http://schemas.microsoft.com/office/drawing/2014/main" id="{A9536070-66EE-B07A-F79F-7063B0236CA3}"/>
              </a:ext>
            </a:extLst>
          </p:cNvPr>
          <p:cNvSpPr/>
          <p:nvPr/>
        </p:nvSpPr>
        <p:spPr>
          <a:xfrm>
            <a:off x="7086600" y="3669025"/>
            <a:ext cx="4572000" cy="529200"/>
          </a:xfrm>
          <a:prstGeom prst="rect">
            <a:avLst/>
          </a:prstGeom>
          <a:noFill/>
          <a:ln>
            <a:noFill/>
          </a:ln>
        </p:spPr>
        <p:txBody>
          <a:bodyPr spcFirstLastPara="1" wrap="square" lIns="0" tIns="0" rIns="0" bIns="0" anchor="ctr" anchorCtr="0">
            <a:noAutofit/>
          </a:bodyPr>
          <a:lstStyle/>
          <a:p>
            <a:pPr lvl="0">
              <a:buClr>
                <a:srgbClr val="6E5F50"/>
              </a:buClr>
              <a:buSzPts val="1300"/>
            </a:pPr>
            <a:r>
              <a:rPr lang="es-ES" sz="1300" dirty="0">
                <a:solidFill>
                  <a:srgbClr val="6E5F50"/>
                </a:solidFill>
                <a:latin typeface="Calibri"/>
                <a:ea typeface="Calibri"/>
                <a:cs typeface="Calibri"/>
                <a:sym typeface="Calibri"/>
              </a:rPr>
              <a:t>No existe registro de ventas por producto en ningún formato recuperable.</a:t>
            </a:r>
            <a:endParaRPr lang="es-ES" sz="1300" dirty="0">
              <a:solidFill>
                <a:schemeClr val="dk1"/>
              </a:solidFill>
              <a:latin typeface="Calibri"/>
              <a:ea typeface="Calibri"/>
              <a:cs typeface="Calibri"/>
              <a:sym typeface="Calibri"/>
            </a:endParaRPr>
          </a:p>
        </p:txBody>
      </p:sp>
      <p:sp>
        <p:nvSpPr>
          <p:cNvPr id="29" name="Google Shape;87;p3">
            <a:extLst>
              <a:ext uri="{FF2B5EF4-FFF2-40B4-BE49-F238E27FC236}">
                <a16:creationId xmlns:a16="http://schemas.microsoft.com/office/drawing/2014/main" id="{786BC25A-B091-3154-F8A1-3EABEC7B0FA8}"/>
              </a:ext>
            </a:extLst>
          </p:cNvPr>
          <p:cNvSpPr/>
          <p:nvPr/>
        </p:nvSpPr>
        <p:spPr>
          <a:xfrm>
            <a:off x="6126480" y="4754880"/>
            <a:ext cx="777240" cy="777240"/>
          </a:xfrm>
          <a:prstGeom prst="ellipse">
            <a:avLst/>
          </a:prstGeom>
          <a:solidFill>
            <a:srgbClr val="D9A4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1" name="Google Shape;88;p3" descr="preencoded.png">
            <a:extLst>
              <a:ext uri="{FF2B5EF4-FFF2-40B4-BE49-F238E27FC236}">
                <a16:creationId xmlns:a16="http://schemas.microsoft.com/office/drawing/2014/main" id="{76F405D6-A208-F18C-C0FE-3A8AF804B32C}"/>
              </a:ext>
            </a:extLst>
          </p:cNvPr>
          <p:cNvPicPr preferRelativeResize="0"/>
          <p:nvPr/>
        </p:nvPicPr>
        <p:blipFill rotWithShape="1">
          <a:blip r:embed="rId5">
            <a:alphaModFix/>
          </a:blip>
          <a:srcRect/>
          <a:stretch/>
        </p:blipFill>
        <p:spPr>
          <a:xfrm>
            <a:off x="6328562" y="4956962"/>
            <a:ext cx="373075" cy="373075"/>
          </a:xfrm>
          <a:prstGeom prst="rect">
            <a:avLst/>
          </a:prstGeom>
          <a:noFill/>
          <a:ln>
            <a:noFill/>
          </a:ln>
        </p:spPr>
      </p:pic>
      <p:sp>
        <p:nvSpPr>
          <p:cNvPr id="33" name="Google Shape;89;p3">
            <a:extLst>
              <a:ext uri="{FF2B5EF4-FFF2-40B4-BE49-F238E27FC236}">
                <a16:creationId xmlns:a16="http://schemas.microsoft.com/office/drawing/2014/main" id="{CF2ACD22-F1ED-4DFC-EDB6-3E140A0022AA}"/>
              </a:ext>
            </a:extLst>
          </p:cNvPr>
          <p:cNvSpPr/>
          <p:nvPr/>
        </p:nvSpPr>
        <p:spPr>
          <a:xfrm>
            <a:off x="7086600" y="4768592"/>
            <a:ext cx="4572000" cy="365700"/>
          </a:xfrm>
          <a:prstGeom prst="rect">
            <a:avLst/>
          </a:prstGeom>
          <a:noFill/>
          <a:ln>
            <a:noFill/>
          </a:ln>
        </p:spPr>
        <p:txBody>
          <a:bodyPr spcFirstLastPara="1" wrap="square" lIns="0" tIns="0" rIns="0" bIns="0" anchor="ctr" anchorCtr="0">
            <a:noAutofit/>
          </a:bodyPr>
          <a:lstStyle/>
          <a:p>
            <a:pPr lvl="0">
              <a:buClr>
                <a:srgbClr val="2E2318"/>
              </a:buClr>
              <a:buSzPts val="1600"/>
            </a:pPr>
            <a:r>
              <a:rPr lang="en-US" sz="1600" b="1" dirty="0">
                <a:solidFill>
                  <a:srgbClr val="2E2318"/>
                </a:solidFill>
                <a:latin typeface="Calibri"/>
                <a:ea typeface="Calibri"/>
                <a:cs typeface="Calibri"/>
                <a:sym typeface="Calibri"/>
              </a:rPr>
              <a:t>Hardware </a:t>
            </a:r>
            <a:r>
              <a:rPr lang="en-US" sz="1600" b="1" dirty="0" err="1">
                <a:solidFill>
                  <a:srgbClr val="2E2318"/>
                </a:solidFill>
                <a:latin typeface="Calibri"/>
                <a:ea typeface="Calibri"/>
                <a:cs typeface="Calibri"/>
                <a:sym typeface="Calibri"/>
              </a:rPr>
              <a:t>desintegrado</a:t>
            </a:r>
            <a:endParaRPr lang="en-US" sz="1600" dirty="0">
              <a:solidFill>
                <a:schemeClr val="dk1"/>
              </a:solidFill>
              <a:latin typeface="Calibri"/>
              <a:ea typeface="Calibri"/>
              <a:cs typeface="Calibri"/>
              <a:sym typeface="Calibri"/>
            </a:endParaRPr>
          </a:p>
        </p:txBody>
      </p:sp>
      <p:sp>
        <p:nvSpPr>
          <p:cNvPr id="35" name="Google Shape;90;p3">
            <a:extLst>
              <a:ext uri="{FF2B5EF4-FFF2-40B4-BE49-F238E27FC236}">
                <a16:creationId xmlns:a16="http://schemas.microsoft.com/office/drawing/2014/main" id="{43EAC22F-F0F7-50A6-E1DE-A9E7432B6193}"/>
              </a:ext>
            </a:extLst>
          </p:cNvPr>
          <p:cNvSpPr/>
          <p:nvPr/>
        </p:nvSpPr>
        <p:spPr>
          <a:xfrm>
            <a:off x="7086600" y="5102350"/>
            <a:ext cx="4572000" cy="529200"/>
          </a:xfrm>
          <a:prstGeom prst="rect">
            <a:avLst/>
          </a:prstGeom>
          <a:noFill/>
          <a:ln>
            <a:noFill/>
          </a:ln>
        </p:spPr>
        <p:txBody>
          <a:bodyPr spcFirstLastPara="1" wrap="square" lIns="0" tIns="0" rIns="0" bIns="0" anchor="ctr" anchorCtr="0">
            <a:noAutofit/>
          </a:bodyPr>
          <a:lstStyle/>
          <a:p>
            <a:pPr lvl="0">
              <a:buClr>
                <a:srgbClr val="6E5F50"/>
              </a:buClr>
              <a:buSzPts val="1300"/>
            </a:pPr>
            <a:r>
              <a:rPr lang="es-ES" sz="1300" dirty="0">
                <a:solidFill>
                  <a:srgbClr val="6E5F50"/>
                </a:solidFill>
                <a:latin typeface="Calibri"/>
                <a:ea typeface="Calibri"/>
                <a:cs typeface="Calibri"/>
                <a:sym typeface="Calibri"/>
              </a:rPr>
              <a:t>Balanza, impresora y caja operan de forma independiente del software del negocio.</a:t>
            </a:r>
            <a:endParaRPr lang="es-ES" sz="1300" dirty="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06"/>
        <p:cNvGrpSpPr/>
        <p:nvPr/>
      </p:nvGrpSpPr>
      <p:grpSpPr>
        <a:xfrm>
          <a:off x="0" y="0"/>
          <a:ext cx="0" cy="0"/>
          <a:chOff x="0" y="0"/>
          <a:chExt cx="0" cy="0"/>
        </a:xfrm>
      </p:grpSpPr>
      <p:sp>
        <p:nvSpPr>
          <p:cNvPr id="108" name="Google Shape;108;p4"/>
          <p:cNvSpPr/>
          <p:nvPr/>
        </p:nvSpPr>
        <p:spPr>
          <a:xfrm>
            <a:off x="548640" y="1207008"/>
            <a:ext cx="548640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A2C1A"/>
              </a:buClr>
              <a:buSzPts val="1400"/>
              <a:buFont typeface="Calibri"/>
              <a:buNone/>
            </a:pPr>
            <a:r>
              <a:rPr lang="en-US" sz="1400" b="1">
                <a:solidFill>
                  <a:srgbClr val="4A2C1A"/>
                </a:solidFill>
                <a:latin typeface="Calibri"/>
                <a:ea typeface="Calibri"/>
                <a:cs typeface="Calibri"/>
                <a:sym typeface="Calibri"/>
              </a:rPr>
              <a:t>Causas operativas</a:t>
            </a:r>
            <a:endParaRPr sz="1400">
              <a:solidFill>
                <a:schemeClr val="dk1"/>
              </a:solidFill>
              <a:latin typeface="Calibri"/>
              <a:ea typeface="Calibri"/>
              <a:cs typeface="Calibri"/>
              <a:sym typeface="Calibri"/>
            </a:endParaRPr>
          </a:p>
        </p:txBody>
      </p:sp>
      <p:sp>
        <p:nvSpPr>
          <p:cNvPr id="109" name="Google Shape;109;p4"/>
          <p:cNvSpPr/>
          <p:nvPr/>
        </p:nvSpPr>
        <p:spPr>
          <a:xfrm>
            <a:off x="548640" y="1600200"/>
            <a:ext cx="5532120" cy="1060704"/>
          </a:xfrm>
          <a:prstGeom prst="roundRect">
            <a:avLst>
              <a:gd name="adj" fmla="val 8621"/>
            </a:avLst>
          </a:prstGeom>
          <a:solidFill>
            <a:srgbClr val="F6EFE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0" name="Google Shape;110;p4"/>
          <p:cNvSpPr/>
          <p:nvPr/>
        </p:nvSpPr>
        <p:spPr>
          <a:xfrm>
            <a:off x="728685" y="1856231"/>
            <a:ext cx="548640" cy="548640"/>
          </a:xfrm>
          <a:prstGeom prst="ellipse">
            <a:avLst/>
          </a:prstGeom>
          <a:solidFill>
            <a:srgbClr val="D9A44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111" name="Google Shape;111;p4" descr="preencoded.png"/>
          <p:cNvPicPr preferRelativeResize="0"/>
          <p:nvPr/>
        </p:nvPicPr>
        <p:blipFill rotWithShape="1">
          <a:blip r:embed="rId3">
            <a:alphaModFix/>
          </a:blip>
          <a:srcRect/>
          <a:stretch/>
        </p:blipFill>
        <p:spPr>
          <a:xfrm>
            <a:off x="874166" y="1998878"/>
            <a:ext cx="263347" cy="263347"/>
          </a:xfrm>
          <a:prstGeom prst="rect">
            <a:avLst/>
          </a:prstGeom>
          <a:noFill/>
          <a:ln>
            <a:noFill/>
          </a:ln>
        </p:spPr>
      </p:pic>
      <p:sp>
        <p:nvSpPr>
          <p:cNvPr id="112" name="Google Shape;112;p4"/>
          <p:cNvSpPr/>
          <p:nvPr/>
        </p:nvSpPr>
        <p:spPr>
          <a:xfrm>
            <a:off x="1422806" y="1781803"/>
            <a:ext cx="4526280" cy="31089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E2318"/>
              </a:buClr>
              <a:buSzPts val="1300"/>
              <a:buFont typeface="Calibri"/>
              <a:buNone/>
            </a:pPr>
            <a:r>
              <a:rPr lang="en-US" sz="1300" b="1" dirty="0" err="1">
                <a:solidFill>
                  <a:srgbClr val="2E2318"/>
                </a:solidFill>
                <a:latin typeface="Calibri"/>
                <a:ea typeface="Calibri"/>
                <a:cs typeface="Calibri"/>
                <a:sym typeface="Calibri"/>
              </a:rPr>
              <a:t>Ausencia</a:t>
            </a:r>
            <a:r>
              <a:rPr lang="en-US" sz="1300" b="1" dirty="0">
                <a:solidFill>
                  <a:srgbClr val="2E2318"/>
                </a:solidFill>
                <a:latin typeface="Calibri"/>
                <a:ea typeface="Calibri"/>
                <a:cs typeface="Calibri"/>
                <a:sym typeface="Calibri"/>
              </a:rPr>
              <a:t> de </a:t>
            </a:r>
            <a:r>
              <a:rPr lang="en-US" sz="1300" b="1" dirty="0" err="1">
                <a:solidFill>
                  <a:srgbClr val="2E2318"/>
                </a:solidFill>
                <a:latin typeface="Calibri"/>
                <a:ea typeface="Calibri"/>
                <a:cs typeface="Calibri"/>
                <a:sym typeface="Calibri"/>
              </a:rPr>
              <a:t>registro</a:t>
            </a:r>
            <a:r>
              <a:rPr lang="en-US" sz="1300" b="1" dirty="0">
                <a:solidFill>
                  <a:srgbClr val="2E2318"/>
                </a:solidFill>
                <a:latin typeface="Calibri"/>
                <a:ea typeface="Calibri"/>
                <a:cs typeface="Calibri"/>
                <a:sym typeface="Calibri"/>
              </a:rPr>
              <a:t> </a:t>
            </a:r>
            <a:r>
              <a:rPr lang="en-US" sz="1300" b="1" dirty="0" err="1">
                <a:solidFill>
                  <a:srgbClr val="2E2318"/>
                </a:solidFill>
                <a:latin typeface="Calibri"/>
                <a:ea typeface="Calibri"/>
                <a:cs typeface="Calibri"/>
                <a:sym typeface="Calibri"/>
              </a:rPr>
              <a:t>transaccional</a:t>
            </a:r>
            <a:endParaRPr sz="1300" dirty="0">
              <a:solidFill>
                <a:schemeClr val="dk1"/>
              </a:solidFill>
              <a:latin typeface="Calibri"/>
              <a:ea typeface="Calibri"/>
              <a:cs typeface="Calibri"/>
              <a:sym typeface="Calibri"/>
            </a:endParaRPr>
          </a:p>
        </p:txBody>
      </p:sp>
      <p:sp>
        <p:nvSpPr>
          <p:cNvPr id="113" name="Google Shape;113;p4"/>
          <p:cNvSpPr/>
          <p:nvPr/>
        </p:nvSpPr>
        <p:spPr>
          <a:xfrm>
            <a:off x="1422806" y="1947672"/>
            <a:ext cx="4526280" cy="56692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E5F50"/>
              </a:buClr>
              <a:buSzPts val="1060"/>
              <a:buFont typeface="Calibri"/>
              <a:buNone/>
            </a:pPr>
            <a:r>
              <a:rPr lang="en-US" sz="1060" dirty="0">
                <a:solidFill>
                  <a:srgbClr val="6E5F50"/>
                </a:solidFill>
                <a:latin typeface="Calibri"/>
                <a:ea typeface="Calibri"/>
                <a:cs typeface="Calibri"/>
                <a:sym typeface="Calibri"/>
              </a:rPr>
              <a:t>El punto de </a:t>
            </a:r>
            <a:r>
              <a:rPr lang="en-US" sz="1060" dirty="0" err="1">
                <a:solidFill>
                  <a:srgbClr val="6E5F50"/>
                </a:solidFill>
                <a:latin typeface="Calibri"/>
                <a:ea typeface="Calibri"/>
                <a:cs typeface="Calibri"/>
                <a:sym typeface="Calibri"/>
              </a:rPr>
              <a:t>venta</a:t>
            </a:r>
            <a:r>
              <a:rPr lang="en-US" sz="1060" dirty="0">
                <a:solidFill>
                  <a:srgbClr val="6E5F50"/>
                </a:solidFill>
                <a:latin typeface="Calibri"/>
                <a:ea typeface="Calibri"/>
                <a:cs typeface="Calibri"/>
                <a:sym typeface="Calibri"/>
              </a:rPr>
              <a:t> opera </a:t>
            </a:r>
            <a:r>
              <a:rPr lang="en-US" sz="1060" dirty="0" err="1">
                <a:solidFill>
                  <a:srgbClr val="6E5F50"/>
                </a:solidFill>
                <a:latin typeface="Calibri"/>
                <a:ea typeface="Calibri"/>
                <a:cs typeface="Calibri"/>
                <a:sym typeface="Calibri"/>
              </a:rPr>
              <a:t>como</a:t>
            </a:r>
            <a:r>
              <a:rPr lang="en-US" sz="1060" dirty="0">
                <a:solidFill>
                  <a:srgbClr val="6E5F50"/>
                </a:solidFill>
                <a:latin typeface="Calibri"/>
                <a:ea typeface="Calibri"/>
                <a:cs typeface="Calibri"/>
                <a:sym typeface="Calibri"/>
              </a:rPr>
              <a:t> consulta de </a:t>
            </a:r>
            <a:r>
              <a:rPr lang="en-US" sz="1060" dirty="0" err="1">
                <a:solidFill>
                  <a:srgbClr val="6E5F50"/>
                </a:solidFill>
                <a:latin typeface="Calibri"/>
                <a:ea typeface="Calibri"/>
                <a:cs typeface="Calibri"/>
                <a:sym typeface="Calibri"/>
              </a:rPr>
              <a:t>precios</a:t>
            </a:r>
            <a:r>
              <a:rPr lang="en-US" sz="1060" dirty="0">
                <a:solidFill>
                  <a:srgbClr val="6E5F50"/>
                </a:solidFill>
                <a:latin typeface="Calibri"/>
                <a:ea typeface="Calibri"/>
                <a:cs typeface="Calibri"/>
                <a:sym typeface="Calibri"/>
              </a:rPr>
              <a:t>. Las </a:t>
            </a:r>
            <a:r>
              <a:rPr lang="en-US" sz="1060" dirty="0" err="1">
                <a:solidFill>
                  <a:srgbClr val="6E5F50"/>
                </a:solidFill>
                <a:latin typeface="Calibri"/>
                <a:ea typeface="Calibri"/>
                <a:cs typeface="Calibri"/>
                <a:sym typeface="Calibri"/>
              </a:rPr>
              <a:t>ventas</a:t>
            </a:r>
            <a:r>
              <a:rPr lang="en-US" sz="1060" dirty="0">
                <a:solidFill>
                  <a:srgbClr val="6E5F50"/>
                </a:solidFill>
                <a:latin typeface="Calibri"/>
                <a:ea typeface="Calibri"/>
                <a:cs typeface="Calibri"/>
                <a:sym typeface="Calibri"/>
              </a:rPr>
              <a:t> no se </a:t>
            </a:r>
            <a:r>
              <a:rPr lang="en-US" sz="1060" dirty="0" err="1">
                <a:solidFill>
                  <a:srgbClr val="6E5F50"/>
                </a:solidFill>
                <a:latin typeface="Calibri"/>
                <a:ea typeface="Calibri"/>
                <a:cs typeface="Calibri"/>
                <a:sym typeface="Calibri"/>
              </a:rPr>
              <a:t>registran</a:t>
            </a:r>
            <a:r>
              <a:rPr lang="en-US" sz="1060" dirty="0">
                <a:solidFill>
                  <a:srgbClr val="6E5F50"/>
                </a:solidFill>
                <a:latin typeface="Calibri"/>
                <a:ea typeface="Calibri"/>
                <a:cs typeface="Calibri"/>
                <a:sym typeface="Calibri"/>
              </a:rPr>
              <a:t> a </a:t>
            </a:r>
            <a:r>
              <a:rPr lang="en-US" sz="1060" dirty="0" err="1">
                <a:solidFill>
                  <a:srgbClr val="6E5F50"/>
                </a:solidFill>
                <a:latin typeface="Calibri"/>
                <a:ea typeface="Calibri"/>
                <a:cs typeface="Calibri"/>
                <a:sym typeface="Calibri"/>
              </a:rPr>
              <a:t>nivel</a:t>
            </a:r>
            <a:r>
              <a:rPr lang="en-US" sz="1060" dirty="0">
                <a:solidFill>
                  <a:srgbClr val="6E5F50"/>
                </a:solidFill>
                <a:latin typeface="Calibri"/>
                <a:ea typeface="Calibri"/>
                <a:cs typeface="Calibri"/>
                <a:sym typeface="Calibri"/>
              </a:rPr>
              <a:t> de </a:t>
            </a:r>
            <a:r>
              <a:rPr lang="en-US" sz="1060" dirty="0" err="1">
                <a:solidFill>
                  <a:srgbClr val="6E5F50"/>
                </a:solidFill>
                <a:latin typeface="Calibri"/>
                <a:ea typeface="Calibri"/>
                <a:cs typeface="Calibri"/>
                <a:sym typeface="Calibri"/>
              </a:rPr>
              <a:t>producto</a:t>
            </a:r>
            <a:r>
              <a:rPr lang="en-US" sz="1060" dirty="0">
                <a:solidFill>
                  <a:srgbClr val="6E5F50"/>
                </a:solidFill>
                <a:latin typeface="Calibri"/>
                <a:ea typeface="Calibri"/>
                <a:cs typeface="Calibri"/>
                <a:sym typeface="Calibri"/>
              </a:rPr>
              <a:t>.</a:t>
            </a:r>
            <a:endParaRPr sz="1060" dirty="0">
              <a:solidFill>
                <a:schemeClr val="dk1"/>
              </a:solidFill>
              <a:latin typeface="Calibri"/>
              <a:ea typeface="Calibri"/>
              <a:cs typeface="Calibri"/>
              <a:sym typeface="Calibri"/>
            </a:endParaRPr>
          </a:p>
        </p:txBody>
      </p:sp>
      <p:sp>
        <p:nvSpPr>
          <p:cNvPr id="114" name="Google Shape;114;p4"/>
          <p:cNvSpPr/>
          <p:nvPr/>
        </p:nvSpPr>
        <p:spPr>
          <a:xfrm>
            <a:off x="548640" y="2788920"/>
            <a:ext cx="5532120" cy="1060704"/>
          </a:xfrm>
          <a:prstGeom prst="roundRect">
            <a:avLst>
              <a:gd name="adj" fmla="val 8621"/>
            </a:avLst>
          </a:prstGeom>
          <a:solidFill>
            <a:srgbClr val="F6EFE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5" name="Google Shape;115;p4"/>
          <p:cNvSpPr/>
          <p:nvPr/>
        </p:nvSpPr>
        <p:spPr>
          <a:xfrm>
            <a:off x="731520" y="3044951"/>
            <a:ext cx="548640" cy="548640"/>
          </a:xfrm>
          <a:prstGeom prst="ellipse">
            <a:avLst/>
          </a:prstGeom>
          <a:solidFill>
            <a:srgbClr val="D9A44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116" name="Google Shape;116;p4" descr="preencoded.png"/>
          <p:cNvPicPr preferRelativeResize="0"/>
          <p:nvPr/>
        </p:nvPicPr>
        <p:blipFill rotWithShape="1">
          <a:blip r:embed="rId4">
            <a:alphaModFix/>
          </a:blip>
          <a:srcRect/>
          <a:stretch/>
        </p:blipFill>
        <p:spPr>
          <a:xfrm>
            <a:off x="874166" y="3187598"/>
            <a:ext cx="263347" cy="263347"/>
          </a:xfrm>
          <a:prstGeom prst="rect">
            <a:avLst/>
          </a:prstGeom>
          <a:noFill/>
          <a:ln>
            <a:noFill/>
          </a:ln>
        </p:spPr>
      </p:pic>
      <p:sp>
        <p:nvSpPr>
          <p:cNvPr id="117" name="Google Shape;117;p4"/>
          <p:cNvSpPr/>
          <p:nvPr/>
        </p:nvSpPr>
        <p:spPr>
          <a:xfrm>
            <a:off x="1422806" y="2990087"/>
            <a:ext cx="4526280" cy="31089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E2318"/>
              </a:buClr>
              <a:buSzPts val="1300"/>
              <a:buFont typeface="Calibri"/>
              <a:buNone/>
            </a:pPr>
            <a:r>
              <a:rPr lang="en-US" sz="1300" b="1" dirty="0">
                <a:solidFill>
                  <a:srgbClr val="2E2318"/>
                </a:solidFill>
                <a:latin typeface="Calibri"/>
                <a:ea typeface="Calibri"/>
                <a:cs typeface="Calibri"/>
                <a:sym typeface="Calibri"/>
              </a:rPr>
              <a:t>Control de </a:t>
            </a:r>
            <a:r>
              <a:rPr lang="en-US" sz="1300" b="1" dirty="0" err="1">
                <a:solidFill>
                  <a:srgbClr val="2E2318"/>
                </a:solidFill>
                <a:latin typeface="Calibri"/>
                <a:ea typeface="Calibri"/>
                <a:cs typeface="Calibri"/>
                <a:sym typeface="Calibri"/>
              </a:rPr>
              <a:t>inventario</a:t>
            </a:r>
            <a:r>
              <a:rPr lang="en-US" sz="1300" b="1" dirty="0">
                <a:solidFill>
                  <a:srgbClr val="2E2318"/>
                </a:solidFill>
                <a:latin typeface="Calibri"/>
                <a:ea typeface="Calibri"/>
                <a:cs typeface="Calibri"/>
                <a:sym typeface="Calibri"/>
              </a:rPr>
              <a:t> no </a:t>
            </a:r>
            <a:r>
              <a:rPr lang="en-US" sz="1300" b="1" dirty="0" err="1">
                <a:solidFill>
                  <a:srgbClr val="2E2318"/>
                </a:solidFill>
                <a:latin typeface="Calibri"/>
                <a:ea typeface="Calibri"/>
                <a:cs typeface="Calibri"/>
                <a:sym typeface="Calibri"/>
              </a:rPr>
              <a:t>sistematizado</a:t>
            </a:r>
            <a:endParaRPr sz="1300" dirty="0">
              <a:solidFill>
                <a:schemeClr val="dk1"/>
              </a:solidFill>
              <a:latin typeface="Calibri"/>
              <a:ea typeface="Calibri"/>
              <a:cs typeface="Calibri"/>
              <a:sym typeface="Calibri"/>
            </a:endParaRPr>
          </a:p>
        </p:txBody>
      </p:sp>
      <p:sp>
        <p:nvSpPr>
          <p:cNvPr id="118" name="Google Shape;118;p4"/>
          <p:cNvSpPr/>
          <p:nvPr/>
        </p:nvSpPr>
        <p:spPr>
          <a:xfrm>
            <a:off x="1411833" y="3145535"/>
            <a:ext cx="4526280" cy="56692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E5F50"/>
              </a:buClr>
              <a:buSzPts val="1060"/>
              <a:buFont typeface="Calibri"/>
              <a:buNone/>
            </a:pPr>
            <a:r>
              <a:rPr lang="en-US" sz="1060" dirty="0" err="1">
                <a:solidFill>
                  <a:srgbClr val="6E5F50"/>
                </a:solidFill>
                <a:latin typeface="Calibri"/>
                <a:ea typeface="Calibri"/>
                <a:cs typeface="Calibri"/>
                <a:sym typeface="Calibri"/>
              </a:rPr>
              <a:t>Insumos</a:t>
            </a:r>
            <a:r>
              <a:rPr lang="en-US" sz="1060" dirty="0">
                <a:solidFill>
                  <a:srgbClr val="6E5F50"/>
                </a:solidFill>
                <a:latin typeface="Calibri"/>
                <a:ea typeface="Calibri"/>
                <a:cs typeface="Calibri"/>
                <a:sym typeface="Calibri"/>
              </a:rPr>
              <a:t> y </a:t>
            </a:r>
            <a:r>
              <a:rPr lang="en-US" sz="1060" dirty="0" err="1">
                <a:solidFill>
                  <a:srgbClr val="6E5F50"/>
                </a:solidFill>
                <a:latin typeface="Calibri"/>
                <a:ea typeface="Calibri"/>
                <a:cs typeface="Calibri"/>
                <a:sym typeface="Calibri"/>
              </a:rPr>
              <a:t>producto</a:t>
            </a:r>
            <a:r>
              <a:rPr lang="en-US" sz="1060" dirty="0">
                <a:solidFill>
                  <a:srgbClr val="6E5F50"/>
                </a:solidFill>
                <a:latin typeface="Calibri"/>
                <a:ea typeface="Calibri"/>
                <a:cs typeface="Calibri"/>
                <a:sym typeface="Calibri"/>
              </a:rPr>
              <a:t> </a:t>
            </a:r>
            <a:r>
              <a:rPr lang="en-US" sz="1060" dirty="0" err="1">
                <a:solidFill>
                  <a:srgbClr val="6E5F50"/>
                </a:solidFill>
                <a:latin typeface="Calibri"/>
                <a:ea typeface="Calibri"/>
                <a:cs typeface="Calibri"/>
                <a:sym typeface="Calibri"/>
              </a:rPr>
              <a:t>terminado</a:t>
            </a:r>
            <a:r>
              <a:rPr lang="en-US" sz="1060" dirty="0">
                <a:solidFill>
                  <a:srgbClr val="6E5F50"/>
                </a:solidFill>
                <a:latin typeface="Calibri"/>
                <a:ea typeface="Calibri"/>
                <a:cs typeface="Calibri"/>
                <a:sym typeface="Calibri"/>
              </a:rPr>
              <a:t> se </a:t>
            </a:r>
            <a:r>
              <a:rPr lang="en-US" sz="1060" dirty="0" err="1">
                <a:solidFill>
                  <a:srgbClr val="6E5F50"/>
                </a:solidFill>
                <a:latin typeface="Calibri"/>
                <a:ea typeface="Calibri"/>
                <a:cs typeface="Calibri"/>
                <a:sym typeface="Calibri"/>
              </a:rPr>
              <a:t>controlan</a:t>
            </a:r>
            <a:r>
              <a:rPr lang="en-US" sz="1060" dirty="0">
                <a:solidFill>
                  <a:srgbClr val="6E5F50"/>
                </a:solidFill>
                <a:latin typeface="Calibri"/>
                <a:ea typeface="Calibri"/>
                <a:cs typeface="Calibri"/>
                <a:sym typeface="Calibri"/>
              </a:rPr>
              <a:t> </a:t>
            </a:r>
            <a:r>
              <a:rPr lang="en-US" sz="1060" dirty="0" err="1">
                <a:solidFill>
                  <a:srgbClr val="6E5F50"/>
                </a:solidFill>
                <a:latin typeface="Calibri"/>
                <a:ea typeface="Calibri"/>
                <a:cs typeface="Calibri"/>
                <a:sym typeface="Calibri"/>
              </a:rPr>
              <a:t>por</a:t>
            </a:r>
            <a:r>
              <a:rPr lang="en-US" sz="1060" dirty="0">
                <a:solidFill>
                  <a:srgbClr val="6E5F50"/>
                </a:solidFill>
                <a:latin typeface="Calibri"/>
                <a:ea typeface="Calibri"/>
                <a:cs typeface="Calibri"/>
                <a:sym typeface="Calibri"/>
              </a:rPr>
              <a:t> </a:t>
            </a:r>
            <a:r>
              <a:rPr lang="en-US" sz="1060" dirty="0" err="1">
                <a:solidFill>
                  <a:srgbClr val="6E5F50"/>
                </a:solidFill>
                <a:latin typeface="Calibri"/>
                <a:ea typeface="Calibri"/>
                <a:cs typeface="Calibri"/>
                <a:sym typeface="Calibri"/>
              </a:rPr>
              <a:t>estimación</a:t>
            </a:r>
            <a:r>
              <a:rPr lang="en-US" sz="1060" dirty="0">
                <a:solidFill>
                  <a:srgbClr val="6E5F50"/>
                </a:solidFill>
                <a:latin typeface="Calibri"/>
                <a:ea typeface="Calibri"/>
                <a:cs typeface="Calibri"/>
                <a:sym typeface="Calibri"/>
              </a:rPr>
              <a:t> visual, sin </a:t>
            </a:r>
            <a:r>
              <a:rPr lang="en-US" sz="1060" dirty="0" err="1">
                <a:solidFill>
                  <a:srgbClr val="6E5F50"/>
                </a:solidFill>
                <a:latin typeface="Calibri"/>
                <a:ea typeface="Calibri"/>
                <a:cs typeface="Calibri"/>
                <a:sym typeface="Calibri"/>
              </a:rPr>
              <a:t>registro</a:t>
            </a:r>
            <a:r>
              <a:rPr lang="en-US" sz="1060" dirty="0">
                <a:solidFill>
                  <a:srgbClr val="6E5F50"/>
                </a:solidFill>
                <a:latin typeface="Calibri"/>
                <a:ea typeface="Calibri"/>
                <a:cs typeface="Calibri"/>
                <a:sym typeface="Calibri"/>
              </a:rPr>
              <a:t> </a:t>
            </a:r>
            <a:r>
              <a:rPr lang="en-US" sz="1060" dirty="0" err="1">
                <a:solidFill>
                  <a:srgbClr val="6E5F50"/>
                </a:solidFill>
                <a:latin typeface="Calibri"/>
                <a:ea typeface="Calibri"/>
                <a:cs typeface="Calibri"/>
                <a:sym typeface="Calibri"/>
              </a:rPr>
              <a:t>reconciliable</a:t>
            </a:r>
            <a:r>
              <a:rPr lang="en-US" sz="1060" dirty="0">
                <a:solidFill>
                  <a:srgbClr val="6E5F50"/>
                </a:solidFill>
                <a:latin typeface="Calibri"/>
                <a:ea typeface="Calibri"/>
                <a:cs typeface="Calibri"/>
                <a:sym typeface="Calibri"/>
              </a:rPr>
              <a:t>.</a:t>
            </a:r>
            <a:endParaRPr sz="1060" dirty="0">
              <a:solidFill>
                <a:schemeClr val="dk1"/>
              </a:solidFill>
              <a:latin typeface="Calibri"/>
              <a:ea typeface="Calibri"/>
              <a:cs typeface="Calibri"/>
              <a:sym typeface="Calibri"/>
            </a:endParaRPr>
          </a:p>
        </p:txBody>
      </p:sp>
      <p:sp>
        <p:nvSpPr>
          <p:cNvPr id="119" name="Google Shape;119;p4"/>
          <p:cNvSpPr/>
          <p:nvPr/>
        </p:nvSpPr>
        <p:spPr>
          <a:xfrm>
            <a:off x="548640" y="3977640"/>
            <a:ext cx="5532120" cy="1060704"/>
          </a:xfrm>
          <a:prstGeom prst="roundRect">
            <a:avLst>
              <a:gd name="adj" fmla="val 8621"/>
            </a:avLst>
          </a:prstGeom>
          <a:solidFill>
            <a:srgbClr val="F6EFE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0" name="Google Shape;120;p4"/>
          <p:cNvSpPr/>
          <p:nvPr/>
        </p:nvSpPr>
        <p:spPr>
          <a:xfrm>
            <a:off x="731520" y="4233672"/>
            <a:ext cx="548640" cy="548640"/>
          </a:xfrm>
          <a:prstGeom prst="ellipse">
            <a:avLst/>
          </a:prstGeom>
          <a:solidFill>
            <a:srgbClr val="D9A44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121" name="Google Shape;121;p4" descr="preencoded.png"/>
          <p:cNvPicPr preferRelativeResize="0"/>
          <p:nvPr/>
        </p:nvPicPr>
        <p:blipFill rotWithShape="1">
          <a:blip r:embed="rId5">
            <a:alphaModFix/>
          </a:blip>
          <a:srcRect/>
          <a:stretch/>
        </p:blipFill>
        <p:spPr>
          <a:xfrm>
            <a:off x="874166" y="4376318"/>
            <a:ext cx="263347" cy="263347"/>
          </a:xfrm>
          <a:prstGeom prst="rect">
            <a:avLst/>
          </a:prstGeom>
          <a:noFill/>
          <a:ln>
            <a:noFill/>
          </a:ln>
        </p:spPr>
      </p:pic>
      <p:sp>
        <p:nvSpPr>
          <p:cNvPr id="122" name="Google Shape;122;p4"/>
          <p:cNvSpPr/>
          <p:nvPr/>
        </p:nvSpPr>
        <p:spPr>
          <a:xfrm>
            <a:off x="1411833" y="4186176"/>
            <a:ext cx="4526280" cy="31089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E2318"/>
              </a:buClr>
              <a:buSzPts val="1300"/>
              <a:buFont typeface="Calibri"/>
              <a:buNone/>
            </a:pPr>
            <a:r>
              <a:rPr lang="en-US" sz="1300" b="1" dirty="0" err="1">
                <a:solidFill>
                  <a:srgbClr val="2E2318"/>
                </a:solidFill>
                <a:latin typeface="Calibri"/>
                <a:ea typeface="Calibri"/>
                <a:cs typeface="Calibri"/>
                <a:sym typeface="Calibri"/>
              </a:rPr>
              <a:t>Coordinación</a:t>
            </a:r>
            <a:r>
              <a:rPr lang="en-US" sz="1300" b="1" dirty="0">
                <a:solidFill>
                  <a:srgbClr val="2E2318"/>
                </a:solidFill>
                <a:latin typeface="Calibri"/>
                <a:ea typeface="Calibri"/>
                <a:cs typeface="Calibri"/>
                <a:sym typeface="Calibri"/>
              </a:rPr>
              <a:t> manual entre </a:t>
            </a:r>
            <a:r>
              <a:rPr lang="en-US" sz="1300" b="1" dirty="0" err="1">
                <a:solidFill>
                  <a:srgbClr val="2E2318"/>
                </a:solidFill>
                <a:latin typeface="Calibri"/>
                <a:ea typeface="Calibri"/>
                <a:cs typeface="Calibri"/>
                <a:sym typeface="Calibri"/>
              </a:rPr>
              <a:t>producción</a:t>
            </a:r>
            <a:r>
              <a:rPr lang="en-US" sz="1300" b="1" dirty="0">
                <a:solidFill>
                  <a:srgbClr val="2E2318"/>
                </a:solidFill>
                <a:latin typeface="Calibri"/>
                <a:ea typeface="Calibri"/>
                <a:cs typeface="Calibri"/>
                <a:sym typeface="Calibri"/>
              </a:rPr>
              <a:t> y </a:t>
            </a:r>
            <a:r>
              <a:rPr lang="en-US" sz="1300" b="1" dirty="0" err="1">
                <a:solidFill>
                  <a:srgbClr val="2E2318"/>
                </a:solidFill>
                <a:latin typeface="Calibri"/>
                <a:ea typeface="Calibri"/>
                <a:cs typeface="Calibri"/>
                <a:sym typeface="Calibri"/>
              </a:rPr>
              <a:t>venta</a:t>
            </a:r>
            <a:endParaRPr sz="1300" dirty="0">
              <a:solidFill>
                <a:schemeClr val="dk1"/>
              </a:solidFill>
              <a:latin typeface="Calibri"/>
              <a:ea typeface="Calibri"/>
              <a:cs typeface="Calibri"/>
              <a:sym typeface="Calibri"/>
            </a:endParaRPr>
          </a:p>
        </p:txBody>
      </p:sp>
      <p:sp>
        <p:nvSpPr>
          <p:cNvPr id="123" name="Google Shape;123;p4"/>
          <p:cNvSpPr/>
          <p:nvPr/>
        </p:nvSpPr>
        <p:spPr>
          <a:xfrm>
            <a:off x="1411833" y="4339759"/>
            <a:ext cx="4526280" cy="56692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E5F50"/>
              </a:buClr>
              <a:buSzPts val="1060"/>
              <a:buFont typeface="Calibri"/>
              <a:buNone/>
            </a:pPr>
            <a:r>
              <a:rPr lang="en-US" sz="1060" dirty="0">
                <a:solidFill>
                  <a:srgbClr val="6E5F50"/>
                </a:solidFill>
                <a:latin typeface="Calibri"/>
                <a:ea typeface="Calibri"/>
                <a:cs typeface="Calibri"/>
                <a:sym typeface="Calibri"/>
              </a:rPr>
              <a:t>La </a:t>
            </a:r>
            <a:r>
              <a:rPr lang="en-US" sz="1060" dirty="0" err="1">
                <a:solidFill>
                  <a:srgbClr val="6E5F50"/>
                </a:solidFill>
                <a:latin typeface="Calibri"/>
                <a:ea typeface="Calibri"/>
                <a:cs typeface="Calibri"/>
                <a:sym typeface="Calibri"/>
              </a:rPr>
              <a:t>comunicación</a:t>
            </a:r>
            <a:r>
              <a:rPr lang="en-US" sz="1060" dirty="0">
                <a:solidFill>
                  <a:srgbClr val="6E5F50"/>
                </a:solidFill>
                <a:latin typeface="Calibri"/>
                <a:ea typeface="Calibri"/>
                <a:cs typeface="Calibri"/>
                <a:sym typeface="Calibri"/>
              </a:rPr>
              <a:t> entre el </a:t>
            </a:r>
            <a:r>
              <a:rPr lang="en-US" sz="1060" dirty="0" err="1">
                <a:solidFill>
                  <a:srgbClr val="6E5F50"/>
                </a:solidFill>
                <a:latin typeface="Calibri"/>
                <a:ea typeface="Calibri"/>
                <a:cs typeface="Calibri"/>
                <a:sym typeface="Calibri"/>
              </a:rPr>
              <a:t>área</a:t>
            </a:r>
            <a:r>
              <a:rPr lang="en-US" sz="1060" dirty="0">
                <a:solidFill>
                  <a:srgbClr val="6E5F50"/>
                </a:solidFill>
                <a:latin typeface="Calibri"/>
                <a:ea typeface="Calibri"/>
                <a:cs typeface="Calibri"/>
                <a:sym typeface="Calibri"/>
              </a:rPr>
              <a:t> de </a:t>
            </a:r>
            <a:r>
              <a:rPr lang="en-US" sz="1060" dirty="0" err="1">
                <a:solidFill>
                  <a:srgbClr val="6E5F50"/>
                </a:solidFill>
                <a:latin typeface="Calibri"/>
                <a:ea typeface="Calibri"/>
                <a:cs typeface="Calibri"/>
                <a:sym typeface="Calibri"/>
              </a:rPr>
              <a:t>producción</a:t>
            </a:r>
            <a:r>
              <a:rPr lang="en-US" sz="1060" dirty="0">
                <a:solidFill>
                  <a:srgbClr val="6E5F50"/>
                </a:solidFill>
                <a:latin typeface="Calibri"/>
                <a:ea typeface="Calibri"/>
                <a:cs typeface="Calibri"/>
                <a:sym typeface="Calibri"/>
              </a:rPr>
              <a:t> y el </a:t>
            </a:r>
            <a:r>
              <a:rPr lang="en-US" sz="1060" dirty="0" err="1">
                <a:solidFill>
                  <a:srgbClr val="6E5F50"/>
                </a:solidFill>
                <a:latin typeface="Calibri"/>
                <a:ea typeface="Calibri"/>
                <a:cs typeface="Calibri"/>
                <a:sym typeface="Calibri"/>
              </a:rPr>
              <a:t>mostrador</a:t>
            </a:r>
            <a:r>
              <a:rPr lang="en-US" sz="1060" dirty="0">
                <a:solidFill>
                  <a:srgbClr val="6E5F50"/>
                </a:solidFill>
                <a:latin typeface="Calibri"/>
                <a:ea typeface="Calibri"/>
                <a:cs typeface="Calibri"/>
                <a:sym typeface="Calibri"/>
              </a:rPr>
              <a:t> </a:t>
            </a:r>
            <a:r>
              <a:rPr lang="en-US" sz="1060" dirty="0" err="1">
                <a:solidFill>
                  <a:srgbClr val="6E5F50"/>
                </a:solidFill>
                <a:latin typeface="Calibri"/>
                <a:ea typeface="Calibri"/>
                <a:cs typeface="Calibri"/>
                <a:sym typeface="Calibri"/>
              </a:rPr>
              <a:t>depende</a:t>
            </a:r>
            <a:r>
              <a:rPr lang="en-US" sz="1060" dirty="0">
                <a:solidFill>
                  <a:srgbClr val="6E5F50"/>
                </a:solidFill>
                <a:latin typeface="Calibri"/>
                <a:ea typeface="Calibri"/>
                <a:cs typeface="Calibri"/>
                <a:sym typeface="Calibri"/>
              </a:rPr>
              <a:t> de </a:t>
            </a:r>
            <a:r>
              <a:rPr lang="en-US" sz="1060" dirty="0" err="1">
                <a:solidFill>
                  <a:srgbClr val="6E5F50"/>
                </a:solidFill>
                <a:latin typeface="Calibri"/>
                <a:ea typeface="Calibri"/>
                <a:cs typeface="Calibri"/>
                <a:sym typeface="Calibri"/>
              </a:rPr>
              <a:t>desplazamientos</a:t>
            </a:r>
            <a:r>
              <a:rPr lang="en-US" sz="1060" dirty="0">
                <a:solidFill>
                  <a:srgbClr val="6E5F50"/>
                </a:solidFill>
                <a:latin typeface="Calibri"/>
                <a:ea typeface="Calibri"/>
                <a:cs typeface="Calibri"/>
                <a:sym typeface="Calibri"/>
              </a:rPr>
              <a:t> </a:t>
            </a:r>
            <a:r>
              <a:rPr lang="en-US" sz="1060" dirty="0" err="1">
                <a:solidFill>
                  <a:srgbClr val="6E5F50"/>
                </a:solidFill>
                <a:latin typeface="Calibri"/>
                <a:ea typeface="Calibri"/>
                <a:cs typeface="Calibri"/>
                <a:sym typeface="Calibri"/>
              </a:rPr>
              <a:t>físicos</a:t>
            </a:r>
            <a:r>
              <a:rPr lang="en-US" sz="1060" dirty="0">
                <a:solidFill>
                  <a:srgbClr val="6E5F50"/>
                </a:solidFill>
                <a:latin typeface="Calibri"/>
                <a:ea typeface="Calibri"/>
                <a:cs typeface="Calibri"/>
                <a:sym typeface="Calibri"/>
              </a:rPr>
              <a:t>.</a:t>
            </a:r>
            <a:endParaRPr sz="1060" dirty="0">
              <a:solidFill>
                <a:schemeClr val="dk1"/>
              </a:solidFill>
              <a:latin typeface="Calibri"/>
              <a:ea typeface="Calibri"/>
              <a:cs typeface="Calibri"/>
              <a:sym typeface="Calibri"/>
            </a:endParaRPr>
          </a:p>
        </p:txBody>
      </p:sp>
      <p:sp>
        <p:nvSpPr>
          <p:cNvPr id="124" name="Google Shape;124;p4"/>
          <p:cNvSpPr/>
          <p:nvPr/>
        </p:nvSpPr>
        <p:spPr>
          <a:xfrm>
            <a:off x="548640" y="5166360"/>
            <a:ext cx="5532120" cy="1060704"/>
          </a:xfrm>
          <a:prstGeom prst="roundRect">
            <a:avLst>
              <a:gd name="adj" fmla="val 8621"/>
            </a:avLst>
          </a:prstGeom>
          <a:solidFill>
            <a:srgbClr val="F6EFE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5" name="Google Shape;125;p4"/>
          <p:cNvSpPr/>
          <p:nvPr/>
        </p:nvSpPr>
        <p:spPr>
          <a:xfrm>
            <a:off x="731520" y="5422392"/>
            <a:ext cx="548640" cy="548640"/>
          </a:xfrm>
          <a:prstGeom prst="ellipse">
            <a:avLst/>
          </a:prstGeom>
          <a:solidFill>
            <a:srgbClr val="D9A44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126" name="Google Shape;126;p4" descr="preencoded.png"/>
          <p:cNvPicPr preferRelativeResize="0"/>
          <p:nvPr/>
        </p:nvPicPr>
        <p:blipFill rotWithShape="1">
          <a:blip r:embed="rId6">
            <a:alphaModFix/>
          </a:blip>
          <a:srcRect/>
          <a:stretch/>
        </p:blipFill>
        <p:spPr>
          <a:xfrm>
            <a:off x="874166" y="5565038"/>
            <a:ext cx="263347" cy="263347"/>
          </a:xfrm>
          <a:prstGeom prst="rect">
            <a:avLst/>
          </a:prstGeom>
          <a:noFill/>
          <a:ln>
            <a:noFill/>
          </a:ln>
        </p:spPr>
      </p:pic>
      <p:sp>
        <p:nvSpPr>
          <p:cNvPr id="127" name="Google Shape;127;p4"/>
          <p:cNvSpPr/>
          <p:nvPr/>
        </p:nvSpPr>
        <p:spPr>
          <a:xfrm>
            <a:off x="1417320" y="5276088"/>
            <a:ext cx="4526280" cy="31089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E2318"/>
              </a:buClr>
              <a:buSzPts val="1300"/>
              <a:buFont typeface="Calibri"/>
              <a:buNone/>
            </a:pPr>
            <a:r>
              <a:rPr lang="en-US" sz="1300" b="1">
                <a:solidFill>
                  <a:srgbClr val="2E2318"/>
                </a:solidFill>
                <a:latin typeface="Calibri"/>
                <a:ea typeface="Calibri"/>
                <a:cs typeface="Calibri"/>
                <a:sym typeface="Calibri"/>
              </a:rPr>
              <a:t>Planificación sin base histórica</a:t>
            </a:r>
            <a:endParaRPr sz="1300">
              <a:solidFill>
                <a:schemeClr val="dk1"/>
              </a:solidFill>
              <a:latin typeface="Calibri"/>
              <a:ea typeface="Calibri"/>
              <a:cs typeface="Calibri"/>
              <a:sym typeface="Calibri"/>
            </a:endParaRPr>
          </a:p>
        </p:txBody>
      </p:sp>
      <p:sp>
        <p:nvSpPr>
          <p:cNvPr id="128" name="Google Shape;128;p4"/>
          <p:cNvSpPr/>
          <p:nvPr/>
        </p:nvSpPr>
        <p:spPr>
          <a:xfrm>
            <a:off x="1417320" y="5577840"/>
            <a:ext cx="4526280" cy="56692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E5F50"/>
              </a:buClr>
              <a:buSzPts val="1060"/>
              <a:buFont typeface="Calibri"/>
              <a:buNone/>
            </a:pPr>
            <a:r>
              <a:rPr lang="en-US" sz="1060">
                <a:solidFill>
                  <a:srgbClr val="6E5F50"/>
                </a:solidFill>
                <a:latin typeface="Calibri"/>
                <a:ea typeface="Calibri"/>
                <a:cs typeface="Calibri"/>
                <a:sym typeface="Calibri"/>
              </a:rPr>
              <a:t>El volumen a producir se define por criterio del operador, sin respaldo cuantitativo.</a:t>
            </a:r>
            <a:endParaRPr sz="1060">
              <a:solidFill>
                <a:schemeClr val="dk1"/>
              </a:solidFill>
              <a:latin typeface="Calibri"/>
              <a:ea typeface="Calibri"/>
              <a:cs typeface="Calibri"/>
              <a:sym typeface="Calibri"/>
            </a:endParaRPr>
          </a:p>
        </p:txBody>
      </p:sp>
      <p:sp>
        <p:nvSpPr>
          <p:cNvPr id="129" name="Google Shape;129;p4"/>
          <p:cNvSpPr/>
          <p:nvPr/>
        </p:nvSpPr>
        <p:spPr>
          <a:xfrm>
            <a:off x="6355080" y="1600200"/>
            <a:ext cx="5285232" cy="4617720"/>
          </a:xfrm>
          <a:prstGeom prst="roundRect">
            <a:avLst>
              <a:gd name="adj" fmla="val 2376"/>
            </a:avLst>
          </a:prstGeom>
          <a:solidFill>
            <a:srgbClr val="F6EFE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0" name="Google Shape;130;p4"/>
          <p:cNvSpPr/>
          <p:nvPr/>
        </p:nvSpPr>
        <p:spPr>
          <a:xfrm>
            <a:off x="6355080" y="1207008"/>
            <a:ext cx="5285232"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A2C1A"/>
              </a:buClr>
              <a:buSzPts val="1400"/>
              <a:buFont typeface="Calibri"/>
              <a:buNone/>
            </a:pPr>
            <a:r>
              <a:rPr lang="en-US" sz="1400" b="1">
                <a:solidFill>
                  <a:srgbClr val="4A2C1A"/>
                </a:solidFill>
                <a:latin typeface="Calibri"/>
                <a:ea typeface="Calibri"/>
                <a:cs typeface="Calibri"/>
                <a:sym typeface="Calibri"/>
              </a:rPr>
              <a:t>Impacto en el negocio</a:t>
            </a:r>
            <a:endParaRPr sz="1400">
              <a:solidFill>
                <a:schemeClr val="dk1"/>
              </a:solidFill>
              <a:latin typeface="Calibri"/>
              <a:ea typeface="Calibri"/>
              <a:cs typeface="Calibri"/>
              <a:sym typeface="Calibri"/>
            </a:endParaRPr>
          </a:p>
        </p:txBody>
      </p:sp>
      <p:sp>
        <p:nvSpPr>
          <p:cNvPr id="131" name="Google Shape;131;p4"/>
          <p:cNvSpPr/>
          <p:nvPr/>
        </p:nvSpPr>
        <p:spPr>
          <a:xfrm>
            <a:off x="6610985" y="2114644"/>
            <a:ext cx="594360" cy="594360"/>
          </a:xfrm>
          <a:prstGeom prst="ellipse">
            <a:avLst/>
          </a:prstGeom>
          <a:solidFill>
            <a:srgbClr val="EA999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3" name="Google Shape;133;p4"/>
          <p:cNvSpPr/>
          <p:nvPr/>
        </p:nvSpPr>
        <p:spPr>
          <a:xfrm>
            <a:off x="7388225" y="2092699"/>
            <a:ext cx="4023360" cy="23317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D9A441"/>
              </a:buClr>
              <a:buSzPts val="1350"/>
              <a:buFont typeface="Calibri"/>
              <a:buNone/>
            </a:pPr>
            <a:r>
              <a:rPr lang="en-US" sz="1350" b="1" dirty="0" err="1">
                <a:solidFill>
                  <a:srgbClr val="4A2C1A"/>
                </a:solidFill>
                <a:latin typeface="Calibri"/>
                <a:ea typeface="Calibri"/>
                <a:cs typeface="Calibri"/>
                <a:sym typeface="Calibri"/>
              </a:rPr>
              <a:t>Sobreproducción</a:t>
            </a:r>
            <a:r>
              <a:rPr lang="en-US" sz="1350" b="1" dirty="0">
                <a:solidFill>
                  <a:srgbClr val="4A2C1A"/>
                </a:solidFill>
                <a:latin typeface="Calibri"/>
                <a:ea typeface="Calibri"/>
                <a:cs typeface="Calibri"/>
                <a:sym typeface="Calibri"/>
              </a:rPr>
              <a:t> y </a:t>
            </a:r>
            <a:r>
              <a:rPr lang="en-US" sz="1350" b="1" dirty="0" err="1">
                <a:solidFill>
                  <a:srgbClr val="4A2C1A"/>
                </a:solidFill>
                <a:latin typeface="Calibri"/>
                <a:ea typeface="Calibri"/>
                <a:cs typeface="Calibri"/>
                <a:sym typeface="Calibri"/>
              </a:rPr>
              <a:t>merma</a:t>
            </a:r>
            <a:endParaRPr sz="1350" dirty="0">
              <a:solidFill>
                <a:srgbClr val="4A2C1A"/>
              </a:solidFill>
              <a:latin typeface="Calibri"/>
              <a:ea typeface="Calibri"/>
              <a:cs typeface="Calibri"/>
              <a:sym typeface="Calibri"/>
            </a:endParaRPr>
          </a:p>
        </p:txBody>
      </p:sp>
      <p:sp>
        <p:nvSpPr>
          <p:cNvPr id="134" name="Google Shape;134;p4"/>
          <p:cNvSpPr/>
          <p:nvPr/>
        </p:nvSpPr>
        <p:spPr>
          <a:xfrm>
            <a:off x="7388225" y="2325871"/>
            <a:ext cx="4069080" cy="40233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3EADC"/>
              </a:buClr>
              <a:buSzPts val="1080"/>
              <a:buFont typeface="Calibri"/>
              <a:buNone/>
            </a:pPr>
            <a:r>
              <a:rPr lang="en-US" sz="1080" dirty="0">
                <a:solidFill>
                  <a:srgbClr val="7C6D5F"/>
                </a:solidFill>
                <a:latin typeface="Calibri"/>
                <a:ea typeface="Calibri"/>
                <a:cs typeface="Calibri"/>
                <a:sym typeface="Calibri"/>
              </a:rPr>
              <a:t>Se </a:t>
            </a:r>
            <a:r>
              <a:rPr lang="en-US" sz="1080" dirty="0" err="1">
                <a:solidFill>
                  <a:srgbClr val="7C6D5F"/>
                </a:solidFill>
                <a:latin typeface="Calibri"/>
                <a:ea typeface="Calibri"/>
                <a:cs typeface="Calibri"/>
                <a:sym typeface="Calibri"/>
              </a:rPr>
              <a:t>hornea</a:t>
            </a:r>
            <a:r>
              <a:rPr lang="en-US" sz="1080" dirty="0">
                <a:solidFill>
                  <a:srgbClr val="7C6D5F"/>
                </a:solidFill>
                <a:latin typeface="Calibri"/>
                <a:ea typeface="Calibri"/>
                <a:cs typeface="Calibri"/>
                <a:sym typeface="Calibri"/>
              </a:rPr>
              <a:t> </a:t>
            </a:r>
            <a:r>
              <a:rPr lang="en-US" sz="1080" dirty="0" err="1">
                <a:solidFill>
                  <a:srgbClr val="7C6D5F"/>
                </a:solidFill>
                <a:latin typeface="Calibri"/>
                <a:ea typeface="Calibri"/>
                <a:cs typeface="Calibri"/>
                <a:sym typeface="Calibri"/>
              </a:rPr>
              <a:t>más</a:t>
            </a:r>
            <a:r>
              <a:rPr lang="en-US" sz="1080" dirty="0">
                <a:solidFill>
                  <a:srgbClr val="7C6D5F"/>
                </a:solidFill>
                <a:latin typeface="Calibri"/>
                <a:ea typeface="Calibri"/>
                <a:cs typeface="Calibri"/>
                <a:sym typeface="Calibri"/>
              </a:rPr>
              <a:t> de lo </a:t>
            </a:r>
            <a:r>
              <a:rPr lang="en-US" sz="1080" dirty="0" err="1">
                <a:solidFill>
                  <a:srgbClr val="7C6D5F"/>
                </a:solidFill>
                <a:latin typeface="Calibri"/>
                <a:ea typeface="Calibri"/>
                <a:cs typeface="Calibri"/>
                <a:sym typeface="Calibri"/>
              </a:rPr>
              <a:t>que</a:t>
            </a:r>
            <a:r>
              <a:rPr lang="en-US" sz="1080" dirty="0">
                <a:solidFill>
                  <a:srgbClr val="7C6D5F"/>
                </a:solidFill>
                <a:latin typeface="Calibri"/>
                <a:ea typeface="Calibri"/>
                <a:cs typeface="Calibri"/>
                <a:sym typeface="Calibri"/>
              </a:rPr>
              <a:t> el día </a:t>
            </a:r>
            <a:r>
              <a:rPr lang="en-US" sz="1080" dirty="0" err="1">
                <a:solidFill>
                  <a:srgbClr val="7C6D5F"/>
                </a:solidFill>
                <a:latin typeface="Calibri"/>
                <a:ea typeface="Calibri"/>
                <a:cs typeface="Calibri"/>
                <a:sym typeface="Calibri"/>
              </a:rPr>
              <a:t>requiere</a:t>
            </a:r>
            <a:r>
              <a:rPr lang="en-US" sz="1080" dirty="0">
                <a:solidFill>
                  <a:srgbClr val="7C6D5F"/>
                </a:solidFill>
                <a:latin typeface="Calibri"/>
                <a:ea typeface="Calibri"/>
                <a:cs typeface="Calibri"/>
                <a:sym typeface="Calibri"/>
              </a:rPr>
              <a:t>: el </a:t>
            </a:r>
            <a:r>
              <a:rPr lang="en-US" sz="1080" dirty="0" err="1">
                <a:solidFill>
                  <a:srgbClr val="7C6D5F"/>
                </a:solidFill>
                <a:latin typeface="Calibri"/>
                <a:ea typeface="Calibri"/>
                <a:cs typeface="Calibri"/>
                <a:sym typeface="Calibri"/>
              </a:rPr>
              <a:t>excedente</a:t>
            </a:r>
            <a:r>
              <a:rPr lang="en-US" sz="1080" dirty="0">
                <a:solidFill>
                  <a:srgbClr val="7C6D5F"/>
                </a:solidFill>
                <a:latin typeface="Calibri"/>
                <a:ea typeface="Calibri"/>
                <a:cs typeface="Calibri"/>
                <a:sym typeface="Calibri"/>
              </a:rPr>
              <a:t> se </a:t>
            </a:r>
            <a:r>
              <a:rPr lang="en-US" sz="1080" dirty="0" err="1">
                <a:solidFill>
                  <a:srgbClr val="7C6D5F"/>
                </a:solidFill>
                <a:latin typeface="Calibri"/>
                <a:ea typeface="Calibri"/>
                <a:cs typeface="Calibri"/>
                <a:sym typeface="Calibri"/>
              </a:rPr>
              <a:t>vende</a:t>
            </a:r>
            <a:r>
              <a:rPr lang="en-US" sz="1080" dirty="0">
                <a:solidFill>
                  <a:srgbClr val="7C6D5F"/>
                </a:solidFill>
                <a:latin typeface="Calibri"/>
                <a:ea typeface="Calibri"/>
                <a:cs typeface="Calibri"/>
                <a:sym typeface="Calibri"/>
              </a:rPr>
              <a:t> con </a:t>
            </a:r>
            <a:r>
              <a:rPr lang="en-US" sz="1080" dirty="0" err="1">
                <a:solidFill>
                  <a:srgbClr val="7C6D5F"/>
                </a:solidFill>
                <a:latin typeface="Calibri"/>
                <a:ea typeface="Calibri"/>
                <a:cs typeface="Calibri"/>
                <a:sym typeface="Calibri"/>
              </a:rPr>
              <a:t>descuento</a:t>
            </a:r>
            <a:r>
              <a:rPr lang="en-US" sz="1080" dirty="0">
                <a:solidFill>
                  <a:srgbClr val="7C6D5F"/>
                </a:solidFill>
                <a:latin typeface="Calibri"/>
                <a:ea typeface="Calibri"/>
                <a:cs typeface="Calibri"/>
                <a:sym typeface="Calibri"/>
              </a:rPr>
              <a:t> o se </a:t>
            </a:r>
            <a:r>
              <a:rPr lang="en-US" sz="1080" dirty="0" err="1">
                <a:solidFill>
                  <a:srgbClr val="7C6D5F"/>
                </a:solidFill>
                <a:latin typeface="Calibri"/>
                <a:ea typeface="Calibri"/>
                <a:cs typeface="Calibri"/>
                <a:sym typeface="Calibri"/>
              </a:rPr>
              <a:t>pierde</a:t>
            </a:r>
            <a:r>
              <a:rPr lang="en-US" sz="1080" dirty="0">
                <a:solidFill>
                  <a:srgbClr val="7C6D5F"/>
                </a:solidFill>
                <a:latin typeface="Calibri"/>
                <a:ea typeface="Calibri"/>
                <a:cs typeface="Calibri"/>
                <a:sym typeface="Calibri"/>
              </a:rPr>
              <a:t>, junto con la harina y la mano de </a:t>
            </a:r>
            <a:r>
              <a:rPr lang="en-US" sz="1080" dirty="0" err="1">
                <a:solidFill>
                  <a:srgbClr val="7C6D5F"/>
                </a:solidFill>
                <a:latin typeface="Calibri"/>
                <a:ea typeface="Calibri"/>
                <a:cs typeface="Calibri"/>
                <a:sym typeface="Calibri"/>
              </a:rPr>
              <a:t>obra</a:t>
            </a:r>
            <a:r>
              <a:rPr lang="en-US" sz="1080" dirty="0">
                <a:solidFill>
                  <a:srgbClr val="7C6D5F"/>
                </a:solidFill>
                <a:latin typeface="Calibri"/>
                <a:ea typeface="Calibri"/>
                <a:cs typeface="Calibri"/>
                <a:sym typeface="Calibri"/>
              </a:rPr>
              <a:t> </a:t>
            </a:r>
            <a:r>
              <a:rPr lang="en-US" sz="1080" dirty="0" err="1">
                <a:solidFill>
                  <a:srgbClr val="7C6D5F"/>
                </a:solidFill>
                <a:latin typeface="Calibri"/>
                <a:ea typeface="Calibri"/>
                <a:cs typeface="Calibri"/>
                <a:sym typeface="Calibri"/>
              </a:rPr>
              <a:t>invertidas</a:t>
            </a:r>
            <a:r>
              <a:rPr lang="en-US" sz="1080" dirty="0">
                <a:solidFill>
                  <a:srgbClr val="7C6D5F"/>
                </a:solidFill>
                <a:latin typeface="Calibri"/>
                <a:ea typeface="Calibri"/>
                <a:cs typeface="Calibri"/>
                <a:sym typeface="Calibri"/>
              </a:rPr>
              <a:t>.</a:t>
            </a:r>
            <a:endParaRPr sz="1080" dirty="0">
              <a:solidFill>
                <a:srgbClr val="7C6D5F"/>
              </a:solidFill>
              <a:latin typeface="Calibri"/>
              <a:ea typeface="Calibri"/>
              <a:cs typeface="Calibri"/>
              <a:sym typeface="Calibri"/>
            </a:endParaRPr>
          </a:p>
        </p:txBody>
      </p:sp>
      <p:sp>
        <p:nvSpPr>
          <p:cNvPr id="135" name="Google Shape;135;p4"/>
          <p:cNvSpPr/>
          <p:nvPr/>
        </p:nvSpPr>
        <p:spPr>
          <a:xfrm>
            <a:off x="6609192" y="3615513"/>
            <a:ext cx="594360" cy="594360"/>
          </a:xfrm>
          <a:prstGeom prst="ellipse">
            <a:avLst/>
          </a:prstGeom>
          <a:solidFill>
            <a:srgbClr val="EA999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136" name="Google Shape;136;p4" descr="preencoded.png"/>
          <p:cNvPicPr preferRelativeResize="0"/>
          <p:nvPr/>
        </p:nvPicPr>
        <p:blipFill rotWithShape="1">
          <a:blip r:embed="rId7">
            <a:alphaModFix/>
            <a:biLevel thresh="75000"/>
          </a:blip>
          <a:srcRect/>
          <a:stretch/>
        </p:blipFill>
        <p:spPr>
          <a:xfrm>
            <a:off x="6765519" y="3766413"/>
            <a:ext cx="285293" cy="285293"/>
          </a:xfrm>
          <a:prstGeom prst="rect">
            <a:avLst/>
          </a:prstGeom>
          <a:noFill/>
          <a:ln>
            <a:noFill/>
          </a:ln>
        </p:spPr>
      </p:pic>
      <p:sp>
        <p:nvSpPr>
          <p:cNvPr id="137" name="Google Shape;137;p4"/>
          <p:cNvSpPr/>
          <p:nvPr/>
        </p:nvSpPr>
        <p:spPr>
          <a:xfrm>
            <a:off x="7388225" y="3593591"/>
            <a:ext cx="402336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D9A441"/>
              </a:buClr>
              <a:buSzPts val="1350"/>
              <a:buFont typeface="Calibri"/>
              <a:buNone/>
            </a:pPr>
            <a:r>
              <a:rPr lang="en-US" sz="1350" b="1" dirty="0" err="1">
                <a:solidFill>
                  <a:srgbClr val="4A2C1A"/>
                </a:solidFill>
                <a:latin typeface="Calibri"/>
                <a:ea typeface="Calibri"/>
                <a:cs typeface="Calibri"/>
                <a:sym typeface="Calibri"/>
              </a:rPr>
              <a:t>Quiebre</a:t>
            </a:r>
            <a:r>
              <a:rPr lang="en-US" sz="1350" b="1" dirty="0">
                <a:solidFill>
                  <a:srgbClr val="4A2C1A"/>
                </a:solidFill>
                <a:latin typeface="Calibri"/>
                <a:ea typeface="Calibri"/>
                <a:cs typeface="Calibri"/>
                <a:sym typeface="Calibri"/>
              </a:rPr>
              <a:t> de stock y </a:t>
            </a:r>
            <a:r>
              <a:rPr lang="en-US" sz="1350" b="1" dirty="0" err="1">
                <a:solidFill>
                  <a:srgbClr val="4A2C1A"/>
                </a:solidFill>
                <a:latin typeface="Calibri"/>
                <a:ea typeface="Calibri"/>
                <a:cs typeface="Calibri"/>
                <a:sym typeface="Calibri"/>
              </a:rPr>
              <a:t>venta</a:t>
            </a:r>
            <a:r>
              <a:rPr lang="en-US" sz="1350" b="1" dirty="0">
                <a:solidFill>
                  <a:srgbClr val="4A2C1A"/>
                </a:solidFill>
                <a:latin typeface="Calibri"/>
                <a:ea typeface="Calibri"/>
                <a:cs typeface="Calibri"/>
                <a:sym typeface="Calibri"/>
              </a:rPr>
              <a:t> </a:t>
            </a:r>
            <a:r>
              <a:rPr lang="en-US" sz="1350" b="1" dirty="0" err="1">
                <a:solidFill>
                  <a:srgbClr val="4A2C1A"/>
                </a:solidFill>
                <a:latin typeface="Calibri"/>
                <a:ea typeface="Calibri"/>
                <a:cs typeface="Calibri"/>
                <a:sym typeface="Calibri"/>
              </a:rPr>
              <a:t>perdida</a:t>
            </a:r>
            <a:endParaRPr sz="1350" dirty="0">
              <a:solidFill>
                <a:srgbClr val="4A2C1A"/>
              </a:solidFill>
              <a:latin typeface="Calibri"/>
              <a:ea typeface="Calibri"/>
              <a:cs typeface="Calibri"/>
              <a:sym typeface="Calibri"/>
            </a:endParaRPr>
          </a:p>
        </p:txBody>
      </p:sp>
      <p:sp>
        <p:nvSpPr>
          <p:cNvPr id="138" name="Google Shape;138;p4"/>
          <p:cNvSpPr/>
          <p:nvPr/>
        </p:nvSpPr>
        <p:spPr>
          <a:xfrm>
            <a:off x="7388225" y="3895343"/>
            <a:ext cx="406908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3EADC"/>
              </a:buClr>
              <a:buSzPts val="1080"/>
              <a:buFont typeface="Calibri"/>
              <a:buNone/>
            </a:pPr>
            <a:r>
              <a:rPr lang="en-US" sz="1080" dirty="0">
                <a:solidFill>
                  <a:srgbClr val="7C6D5F"/>
                </a:solidFill>
                <a:latin typeface="Calibri"/>
                <a:ea typeface="Calibri"/>
                <a:cs typeface="Calibri"/>
                <a:sym typeface="Calibri"/>
              </a:rPr>
              <a:t>En </a:t>
            </a:r>
            <a:r>
              <a:rPr lang="en-US" sz="1080" dirty="0" err="1">
                <a:solidFill>
                  <a:srgbClr val="7C6D5F"/>
                </a:solidFill>
                <a:latin typeface="Calibri"/>
                <a:ea typeface="Calibri"/>
                <a:cs typeface="Calibri"/>
                <a:sym typeface="Calibri"/>
              </a:rPr>
              <a:t>horario</a:t>
            </a:r>
            <a:r>
              <a:rPr lang="en-US" sz="1080" dirty="0">
                <a:solidFill>
                  <a:srgbClr val="7C6D5F"/>
                </a:solidFill>
                <a:latin typeface="Calibri"/>
                <a:ea typeface="Calibri"/>
                <a:cs typeface="Calibri"/>
                <a:sym typeface="Calibri"/>
              </a:rPr>
              <a:t> </a:t>
            </a:r>
            <a:r>
              <a:rPr lang="en-US" sz="1080" dirty="0" err="1">
                <a:solidFill>
                  <a:srgbClr val="7C6D5F"/>
                </a:solidFill>
                <a:latin typeface="Calibri"/>
                <a:ea typeface="Calibri"/>
                <a:cs typeface="Calibri"/>
                <a:sym typeface="Calibri"/>
              </a:rPr>
              <a:t>punta</a:t>
            </a:r>
            <a:r>
              <a:rPr lang="en-US" sz="1080" dirty="0">
                <a:solidFill>
                  <a:srgbClr val="7C6D5F"/>
                </a:solidFill>
                <a:latin typeface="Calibri"/>
                <a:ea typeface="Calibri"/>
                <a:cs typeface="Calibri"/>
                <a:sym typeface="Calibri"/>
              </a:rPr>
              <a:t> </a:t>
            </a:r>
            <a:r>
              <a:rPr lang="en-US" sz="1080" dirty="0" err="1">
                <a:solidFill>
                  <a:srgbClr val="7C6D5F"/>
                </a:solidFill>
                <a:latin typeface="Calibri"/>
                <a:ea typeface="Calibri"/>
                <a:cs typeface="Calibri"/>
                <a:sym typeface="Calibri"/>
              </a:rPr>
              <a:t>faltan</a:t>
            </a:r>
            <a:r>
              <a:rPr lang="en-US" sz="1080" dirty="0">
                <a:solidFill>
                  <a:srgbClr val="7C6D5F"/>
                </a:solidFill>
                <a:latin typeface="Calibri"/>
                <a:ea typeface="Calibri"/>
                <a:cs typeface="Calibri"/>
                <a:sym typeface="Calibri"/>
              </a:rPr>
              <a:t> </a:t>
            </a:r>
            <a:r>
              <a:rPr lang="en-US" sz="1080" dirty="0" err="1">
                <a:solidFill>
                  <a:srgbClr val="7C6D5F"/>
                </a:solidFill>
                <a:latin typeface="Calibri"/>
                <a:ea typeface="Calibri"/>
                <a:cs typeface="Calibri"/>
                <a:sym typeface="Calibri"/>
              </a:rPr>
              <a:t>los</a:t>
            </a:r>
            <a:r>
              <a:rPr lang="en-US" sz="1080" dirty="0">
                <a:solidFill>
                  <a:srgbClr val="7C6D5F"/>
                </a:solidFill>
                <a:latin typeface="Calibri"/>
                <a:ea typeface="Calibri"/>
                <a:cs typeface="Calibri"/>
                <a:sym typeface="Calibri"/>
              </a:rPr>
              <a:t> </a:t>
            </a:r>
            <a:r>
              <a:rPr lang="en-US" sz="1080" dirty="0" err="1">
                <a:solidFill>
                  <a:srgbClr val="7C6D5F"/>
                </a:solidFill>
                <a:latin typeface="Calibri"/>
                <a:ea typeface="Calibri"/>
                <a:cs typeface="Calibri"/>
                <a:sym typeface="Calibri"/>
              </a:rPr>
              <a:t>productos</a:t>
            </a:r>
            <a:r>
              <a:rPr lang="en-US" sz="1080" dirty="0">
                <a:solidFill>
                  <a:srgbClr val="7C6D5F"/>
                </a:solidFill>
                <a:latin typeface="Calibri"/>
                <a:ea typeface="Calibri"/>
                <a:cs typeface="Calibri"/>
                <a:sym typeface="Calibri"/>
              </a:rPr>
              <a:t> de mayor </a:t>
            </a:r>
            <a:r>
              <a:rPr lang="en-US" sz="1080" dirty="0" err="1">
                <a:solidFill>
                  <a:srgbClr val="7C6D5F"/>
                </a:solidFill>
                <a:latin typeface="Calibri"/>
                <a:ea typeface="Calibri"/>
                <a:cs typeface="Calibri"/>
                <a:sym typeface="Calibri"/>
              </a:rPr>
              <a:t>rotación</a:t>
            </a:r>
            <a:r>
              <a:rPr lang="en-US" sz="1080" dirty="0">
                <a:solidFill>
                  <a:srgbClr val="7C6D5F"/>
                </a:solidFill>
                <a:latin typeface="Calibri"/>
                <a:ea typeface="Calibri"/>
                <a:cs typeface="Calibri"/>
                <a:sym typeface="Calibri"/>
              </a:rPr>
              <a:t>. El </a:t>
            </a:r>
            <a:r>
              <a:rPr lang="en-US" sz="1080" dirty="0" err="1">
                <a:solidFill>
                  <a:srgbClr val="7C6D5F"/>
                </a:solidFill>
                <a:latin typeface="Calibri"/>
                <a:ea typeface="Calibri"/>
                <a:cs typeface="Calibri"/>
                <a:sym typeface="Calibri"/>
              </a:rPr>
              <a:t>cliente</a:t>
            </a:r>
            <a:r>
              <a:rPr lang="en-US" sz="1080" dirty="0">
                <a:solidFill>
                  <a:srgbClr val="7C6D5F"/>
                </a:solidFill>
                <a:latin typeface="Calibri"/>
                <a:ea typeface="Calibri"/>
                <a:cs typeface="Calibri"/>
                <a:sym typeface="Calibri"/>
              </a:rPr>
              <a:t> no </a:t>
            </a:r>
            <a:r>
              <a:rPr lang="en-US" sz="1080" dirty="0" err="1">
                <a:solidFill>
                  <a:srgbClr val="7C6D5F"/>
                </a:solidFill>
                <a:latin typeface="Calibri"/>
                <a:ea typeface="Calibri"/>
                <a:cs typeface="Calibri"/>
                <a:sym typeface="Calibri"/>
              </a:rPr>
              <a:t>encuentra</a:t>
            </a:r>
            <a:r>
              <a:rPr lang="en-US" sz="1080" dirty="0">
                <a:solidFill>
                  <a:srgbClr val="7C6D5F"/>
                </a:solidFill>
                <a:latin typeface="Calibri"/>
                <a:ea typeface="Calibri"/>
                <a:cs typeface="Calibri"/>
                <a:sym typeface="Calibri"/>
              </a:rPr>
              <a:t> lo </a:t>
            </a:r>
            <a:r>
              <a:rPr lang="en-US" sz="1080" dirty="0" err="1">
                <a:solidFill>
                  <a:srgbClr val="7C6D5F"/>
                </a:solidFill>
                <a:latin typeface="Calibri"/>
                <a:ea typeface="Calibri"/>
                <a:cs typeface="Calibri"/>
                <a:sym typeface="Calibri"/>
              </a:rPr>
              <a:t>que</a:t>
            </a:r>
            <a:r>
              <a:rPr lang="en-US" sz="1080" dirty="0">
                <a:solidFill>
                  <a:srgbClr val="7C6D5F"/>
                </a:solidFill>
                <a:latin typeface="Calibri"/>
                <a:ea typeface="Calibri"/>
                <a:cs typeface="Calibri"/>
                <a:sym typeface="Calibri"/>
              </a:rPr>
              <a:t> </a:t>
            </a:r>
            <a:r>
              <a:rPr lang="en-US" sz="1080" dirty="0" err="1">
                <a:solidFill>
                  <a:srgbClr val="7C6D5F"/>
                </a:solidFill>
                <a:latin typeface="Calibri"/>
                <a:ea typeface="Calibri"/>
                <a:cs typeface="Calibri"/>
                <a:sym typeface="Calibri"/>
              </a:rPr>
              <a:t>busca</a:t>
            </a:r>
            <a:r>
              <a:rPr lang="en-US" sz="1080" dirty="0">
                <a:solidFill>
                  <a:srgbClr val="7C6D5F"/>
                </a:solidFill>
                <a:latin typeface="Calibri"/>
                <a:ea typeface="Calibri"/>
                <a:cs typeface="Calibri"/>
                <a:sym typeface="Calibri"/>
              </a:rPr>
              <a:t> y la </a:t>
            </a:r>
            <a:r>
              <a:rPr lang="en-US" sz="1080" dirty="0" err="1">
                <a:solidFill>
                  <a:srgbClr val="7C6D5F"/>
                </a:solidFill>
                <a:latin typeface="Calibri"/>
                <a:ea typeface="Calibri"/>
                <a:cs typeface="Calibri"/>
                <a:sym typeface="Calibri"/>
              </a:rPr>
              <a:t>venta</a:t>
            </a:r>
            <a:r>
              <a:rPr lang="en-US" sz="1080" dirty="0">
                <a:solidFill>
                  <a:srgbClr val="7C6D5F"/>
                </a:solidFill>
                <a:latin typeface="Calibri"/>
                <a:ea typeface="Calibri"/>
                <a:cs typeface="Calibri"/>
                <a:sym typeface="Calibri"/>
              </a:rPr>
              <a:t> se </a:t>
            </a:r>
            <a:r>
              <a:rPr lang="en-US" sz="1080" dirty="0" err="1">
                <a:solidFill>
                  <a:srgbClr val="7C6D5F"/>
                </a:solidFill>
                <a:latin typeface="Calibri"/>
                <a:ea typeface="Calibri"/>
                <a:cs typeface="Calibri"/>
                <a:sym typeface="Calibri"/>
              </a:rPr>
              <a:t>pierde</a:t>
            </a:r>
            <a:r>
              <a:rPr lang="en-US" sz="1080" dirty="0">
                <a:solidFill>
                  <a:srgbClr val="7C6D5F"/>
                </a:solidFill>
                <a:latin typeface="Calibri"/>
                <a:ea typeface="Calibri"/>
                <a:cs typeface="Calibri"/>
                <a:sym typeface="Calibri"/>
              </a:rPr>
              <a:t> ese día y el </a:t>
            </a:r>
            <a:r>
              <a:rPr lang="en-US" sz="1080" dirty="0" err="1">
                <a:solidFill>
                  <a:srgbClr val="7C6D5F"/>
                </a:solidFill>
                <a:latin typeface="Calibri"/>
                <a:ea typeface="Calibri"/>
                <a:cs typeface="Calibri"/>
                <a:sym typeface="Calibri"/>
              </a:rPr>
              <a:t>siguiente</a:t>
            </a:r>
            <a:r>
              <a:rPr lang="en-US" sz="1080" dirty="0">
                <a:solidFill>
                  <a:srgbClr val="7C6D5F"/>
                </a:solidFill>
                <a:latin typeface="Calibri"/>
                <a:ea typeface="Calibri"/>
                <a:cs typeface="Calibri"/>
                <a:sym typeface="Calibri"/>
              </a:rPr>
              <a:t>.</a:t>
            </a:r>
            <a:endParaRPr sz="1080" dirty="0">
              <a:solidFill>
                <a:srgbClr val="7C6D5F"/>
              </a:solidFill>
              <a:latin typeface="Calibri"/>
              <a:ea typeface="Calibri"/>
              <a:cs typeface="Calibri"/>
              <a:sym typeface="Calibri"/>
            </a:endParaRPr>
          </a:p>
        </p:txBody>
      </p:sp>
      <p:sp>
        <p:nvSpPr>
          <p:cNvPr id="139" name="Google Shape;139;p4"/>
          <p:cNvSpPr/>
          <p:nvPr/>
        </p:nvSpPr>
        <p:spPr>
          <a:xfrm>
            <a:off x="6609192" y="5102351"/>
            <a:ext cx="594360" cy="594360"/>
          </a:xfrm>
          <a:prstGeom prst="ellipse">
            <a:avLst/>
          </a:prstGeom>
          <a:solidFill>
            <a:srgbClr val="EA999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140" name="Google Shape;140;p4" descr="preencoded.png"/>
          <p:cNvPicPr preferRelativeResize="0"/>
          <p:nvPr/>
        </p:nvPicPr>
        <p:blipFill rotWithShape="1">
          <a:blip r:embed="rId8">
            <a:alphaModFix/>
            <a:biLevel thresh="75000"/>
          </a:blip>
          <a:srcRect/>
          <a:stretch/>
        </p:blipFill>
        <p:spPr>
          <a:xfrm>
            <a:off x="6765519" y="5259266"/>
            <a:ext cx="285293" cy="285293"/>
          </a:xfrm>
          <a:prstGeom prst="rect">
            <a:avLst/>
          </a:prstGeom>
          <a:noFill/>
          <a:ln>
            <a:noFill/>
          </a:ln>
        </p:spPr>
      </p:pic>
      <p:sp>
        <p:nvSpPr>
          <p:cNvPr id="141" name="Google Shape;141;p4"/>
          <p:cNvSpPr/>
          <p:nvPr/>
        </p:nvSpPr>
        <p:spPr>
          <a:xfrm>
            <a:off x="7388225" y="4968487"/>
            <a:ext cx="402336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D9A441"/>
              </a:buClr>
              <a:buSzPts val="1350"/>
              <a:buFont typeface="Calibri"/>
              <a:buNone/>
            </a:pPr>
            <a:r>
              <a:rPr lang="en-US" sz="1350" b="1" dirty="0">
                <a:solidFill>
                  <a:srgbClr val="4A2C1A"/>
                </a:solidFill>
                <a:latin typeface="Calibri"/>
                <a:ea typeface="Calibri"/>
                <a:cs typeface="Calibri"/>
                <a:sym typeface="Calibri"/>
              </a:rPr>
              <a:t>Demora </a:t>
            </a:r>
            <a:r>
              <a:rPr lang="en-US" sz="1350" b="1" dirty="0" err="1">
                <a:solidFill>
                  <a:srgbClr val="4A2C1A"/>
                </a:solidFill>
                <a:latin typeface="Calibri"/>
                <a:ea typeface="Calibri"/>
                <a:cs typeface="Calibri"/>
                <a:sym typeface="Calibri"/>
              </a:rPr>
              <a:t>en</a:t>
            </a:r>
            <a:r>
              <a:rPr lang="en-US" sz="1350" b="1" dirty="0">
                <a:solidFill>
                  <a:srgbClr val="4A2C1A"/>
                </a:solidFill>
                <a:latin typeface="Calibri"/>
                <a:ea typeface="Calibri"/>
                <a:cs typeface="Calibri"/>
                <a:sym typeface="Calibri"/>
              </a:rPr>
              <a:t> la </a:t>
            </a:r>
            <a:r>
              <a:rPr lang="en-US" sz="1350" b="1" dirty="0" err="1">
                <a:solidFill>
                  <a:srgbClr val="4A2C1A"/>
                </a:solidFill>
                <a:latin typeface="Calibri"/>
                <a:ea typeface="Calibri"/>
                <a:cs typeface="Calibri"/>
                <a:sym typeface="Calibri"/>
              </a:rPr>
              <a:t>reposición</a:t>
            </a:r>
            <a:r>
              <a:rPr lang="en-US" sz="1350" b="1" dirty="0">
                <a:solidFill>
                  <a:srgbClr val="4A2C1A"/>
                </a:solidFill>
                <a:latin typeface="Calibri"/>
                <a:ea typeface="Calibri"/>
                <a:cs typeface="Calibri"/>
                <a:sym typeface="Calibri"/>
              </a:rPr>
              <a:t> de vitrina</a:t>
            </a:r>
            <a:endParaRPr sz="1350" dirty="0">
              <a:solidFill>
                <a:srgbClr val="4A2C1A"/>
              </a:solidFill>
              <a:latin typeface="Calibri"/>
              <a:ea typeface="Calibri"/>
              <a:cs typeface="Calibri"/>
              <a:sym typeface="Calibri"/>
            </a:endParaRPr>
          </a:p>
        </p:txBody>
      </p:sp>
      <p:sp>
        <p:nvSpPr>
          <p:cNvPr id="142" name="Google Shape;142;p4"/>
          <p:cNvSpPr/>
          <p:nvPr/>
        </p:nvSpPr>
        <p:spPr>
          <a:xfrm>
            <a:off x="7388225" y="5288527"/>
            <a:ext cx="4069080" cy="51206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3EADC"/>
              </a:buClr>
              <a:buSzPts val="1080"/>
              <a:buFont typeface="Calibri"/>
              <a:buNone/>
            </a:pPr>
            <a:r>
              <a:rPr lang="en-US" sz="1080" dirty="0">
                <a:solidFill>
                  <a:srgbClr val="7C6D5F"/>
                </a:solidFill>
                <a:latin typeface="Calibri"/>
                <a:ea typeface="Calibri"/>
                <a:cs typeface="Calibri"/>
                <a:sym typeface="Calibri"/>
              </a:rPr>
              <a:t>El </a:t>
            </a:r>
            <a:r>
              <a:rPr lang="en-US" sz="1080" dirty="0" err="1">
                <a:solidFill>
                  <a:srgbClr val="7C6D5F"/>
                </a:solidFill>
                <a:latin typeface="Calibri"/>
                <a:ea typeface="Calibri"/>
                <a:cs typeface="Calibri"/>
                <a:sym typeface="Calibri"/>
              </a:rPr>
              <a:t>mostrador</a:t>
            </a:r>
            <a:r>
              <a:rPr lang="en-US" sz="1080" dirty="0">
                <a:solidFill>
                  <a:srgbClr val="7C6D5F"/>
                </a:solidFill>
                <a:latin typeface="Calibri"/>
                <a:ea typeface="Calibri"/>
                <a:cs typeface="Calibri"/>
                <a:sym typeface="Calibri"/>
              </a:rPr>
              <a:t> no sabe </a:t>
            </a:r>
            <a:r>
              <a:rPr lang="en-US" sz="1080" dirty="0" err="1">
                <a:solidFill>
                  <a:srgbClr val="7C6D5F"/>
                </a:solidFill>
                <a:latin typeface="Calibri"/>
                <a:ea typeface="Calibri"/>
                <a:cs typeface="Calibri"/>
                <a:sym typeface="Calibri"/>
              </a:rPr>
              <a:t>qué</a:t>
            </a:r>
            <a:r>
              <a:rPr lang="en-US" sz="1080" dirty="0">
                <a:solidFill>
                  <a:srgbClr val="7C6D5F"/>
                </a:solidFill>
                <a:latin typeface="Calibri"/>
                <a:ea typeface="Calibri"/>
                <a:cs typeface="Calibri"/>
                <a:sym typeface="Calibri"/>
              </a:rPr>
              <a:t> hay </a:t>
            </a:r>
            <a:r>
              <a:rPr lang="en-US" sz="1080" dirty="0" err="1">
                <a:solidFill>
                  <a:srgbClr val="7C6D5F"/>
                </a:solidFill>
                <a:latin typeface="Calibri"/>
                <a:ea typeface="Calibri"/>
                <a:cs typeface="Calibri"/>
                <a:sym typeface="Calibri"/>
              </a:rPr>
              <a:t>en</a:t>
            </a:r>
            <a:r>
              <a:rPr lang="en-US" sz="1080" dirty="0">
                <a:solidFill>
                  <a:srgbClr val="7C6D5F"/>
                </a:solidFill>
                <a:latin typeface="Calibri"/>
                <a:ea typeface="Calibri"/>
                <a:cs typeface="Calibri"/>
                <a:sym typeface="Calibri"/>
              </a:rPr>
              <a:t> </a:t>
            </a:r>
            <a:r>
              <a:rPr lang="en-US" sz="1080" dirty="0" err="1">
                <a:solidFill>
                  <a:srgbClr val="7C6D5F"/>
                </a:solidFill>
                <a:latin typeface="Calibri"/>
                <a:ea typeface="Calibri"/>
                <a:cs typeface="Calibri"/>
                <a:sym typeface="Calibri"/>
              </a:rPr>
              <a:t>horno</a:t>
            </a:r>
            <a:r>
              <a:rPr lang="en-US" sz="1080" dirty="0">
                <a:solidFill>
                  <a:srgbClr val="7C6D5F"/>
                </a:solidFill>
                <a:latin typeface="Calibri"/>
                <a:ea typeface="Calibri"/>
                <a:cs typeface="Calibri"/>
                <a:sym typeface="Calibri"/>
              </a:rPr>
              <a:t> </a:t>
            </a:r>
            <a:r>
              <a:rPr lang="en-US" sz="1080" dirty="0" err="1">
                <a:solidFill>
                  <a:srgbClr val="7C6D5F"/>
                </a:solidFill>
                <a:latin typeface="Calibri"/>
                <a:ea typeface="Calibri"/>
                <a:cs typeface="Calibri"/>
                <a:sym typeface="Calibri"/>
              </a:rPr>
              <a:t>ni</a:t>
            </a:r>
            <a:r>
              <a:rPr lang="en-US" sz="1080" dirty="0">
                <a:solidFill>
                  <a:srgbClr val="7C6D5F"/>
                </a:solidFill>
                <a:latin typeface="Calibri"/>
                <a:ea typeface="Calibri"/>
                <a:cs typeface="Calibri"/>
                <a:sym typeface="Calibri"/>
              </a:rPr>
              <a:t> </a:t>
            </a:r>
            <a:r>
              <a:rPr lang="en-US" sz="1080" dirty="0" err="1">
                <a:solidFill>
                  <a:srgbClr val="7C6D5F"/>
                </a:solidFill>
                <a:latin typeface="Calibri"/>
                <a:ea typeface="Calibri"/>
                <a:cs typeface="Calibri"/>
                <a:sym typeface="Calibri"/>
              </a:rPr>
              <a:t>cuándo</a:t>
            </a:r>
            <a:r>
              <a:rPr lang="en-US" sz="1080" dirty="0">
                <a:solidFill>
                  <a:srgbClr val="7C6D5F"/>
                </a:solidFill>
                <a:latin typeface="Calibri"/>
                <a:ea typeface="Calibri"/>
                <a:cs typeface="Calibri"/>
                <a:sym typeface="Calibri"/>
              </a:rPr>
              <a:t> sale, de modo </a:t>
            </a:r>
            <a:r>
              <a:rPr lang="en-US" sz="1080" dirty="0" err="1">
                <a:solidFill>
                  <a:srgbClr val="7C6D5F"/>
                </a:solidFill>
                <a:latin typeface="Calibri"/>
                <a:ea typeface="Calibri"/>
                <a:cs typeface="Calibri"/>
                <a:sym typeface="Calibri"/>
              </a:rPr>
              <a:t>que</a:t>
            </a:r>
            <a:r>
              <a:rPr lang="en-US" sz="1080" dirty="0">
                <a:solidFill>
                  <a:srgbClr val="7C6D5F"/>
                </a:solidFill>
                <a:latin typeface="Calibri"/>
                <a:ea typeface="Calibri"/>
                <a:cs typeface="Calibri"/>
                <a:sym typeface="Calibri"/>
              </a:rPr>
              <a:t> el </a:t>
            </a:r>
            <a:r>
              <a:rPr lang="en-US" sz="1080" dirty="0" err="1">
                <a:solidFill>
                  <a:srgbClr val="7C6D5F"/>
                </a:solidFill>
                <a:latin typeface="Calibri"/>
                <a:ea typeface="Calibri"/>
                <a:cs typeface="Calibri"/>
                <a:sym typeface="Calibri"/>
              </a:rPr>
              <a:t>producto</a:t>
            </a:r>
            <a:r>
              <a:rPr lang="en-US" sz="1080" dirty="0">
                <a:solidFill>
                  <a:srgbClr val="7C6D5F"/>
                </a:solidFill>
                <a:latin typeface="Calibri"/>
                <a:ea typeface="Calibri"/>
                <a:cs typeface="Calibri"/>
                <a:sym typeface="Calibri"/>
              </a:rPr>
              <a:t> </a:t>
            </a:r>
            <a:r>
              <a:rPr lang="en-US" sz="1080" dirty="0" err="1">
                <a:solidFill>
                  <a:srgbClr val="7C6D5F"/>
                </a:solidFill>
                <a:latin typeface="Calibri"/>
                <a:ea typeface="Calibri"/>
                <a:cs typeface="Calibri"/>
                <a:sym typeface="Calibri"/>
              </a:rPr>
              <a:t>llega</a:t>
            </a:r>
            <a:r>
              <a:rPr lang="en-US" sz="1080" dirty="0">
                <a:solidFill>
                  <a:srgbClr val="7C6D5F"/>
                </a:solidFill>
                <a:latin typeface="Calibri"/>
                <a:ea typeface="Calibri"/>
                <a:cs typeface="Calibri"/>
                <a:sym typeface="Calibri"/>
              </a:rPr>
              <a:t> </a:t>
            </a:r>
            <a:r>
              <a:rPr lang="en-US" sz="1080" dirty="0" err="1">
                <a:solidFill>
                  <a:srgbClr val="7C6D5F"/>
                </a:solidFill>
                <a:latin typeface="Calibri"/>
                <a:ea typeface="Calibri"/>
                <a:cs typeface="Calibri"/>
                <a:sym typeface="Calibri"/>
              </a:rPr>
              <a:t>tarde</a:t>
            </a:r>
            <a:r>
              <a:rPr lang="en-US" sz="1080" dirty="0">
                <a:solidFill>
                  <a:srgbClr val="7C6D5F"/>
                </a:solidFill>
                <a:latin typeface="Calibri"/>
                <a:ea typeface="Calibri"/>
                <a:cs typeface="Calibri"/>
                <a:sym typeface="Calibri"/>
              </a:rPr>
              <a:t> a la vitrina y se </a:t>
            </a:r>
            <a:r>
              <a:rPr lang="en-US" sz="1080" dirty="0" err="1">
                <a:solidFill>
                  <a:srgbClr val="7C6D5F"/>
                </a:solidFill>
                <a:latin typeface="Calibri"/>
                <a:ea typeface="Calibri"/>
                <a:cs typeface="Calibri"/>
                <a:sym typeface="Calibri"/>
              </a:rPr>
              <a:t>vende</a:t>
            </a:r>
            <a:r>
              <a:rPr lang="en-US" sz="1080" dirty="0">
                <a:solidFill>
                  <a:srgbClr val="7C6D5F"/>
                </a:solidFill>
                <a:latin typeface="Calibri"/>
                <a:ea typeface="Calibri"/>
                <a:cs typeface="Calibri"/>
                <a:sym typeface="Calibri"/>
              </a:rPr>
              <a:t> fuera de </a:t>
            </a:r>
            <a:r>
              <a:rPr lang="en-US" sz="1080" dirty="0" err="1">
                <a:solidFill>
                  <a:srgbClr val="7C6D5F"/>
                </a:solidFill>
                <a:latin typeface="Calibri"/>
                <a:ea typeface="Calibri"/>
                <a:cs typeface="Calibri"/>
                <a:sym typeface="Calibri"/>
              </a:rPr>
              <a:t>su</a:t>
            </a:r>
            <a:r>
              <a:rPr lang="en-US" sz="1080" dirty="0">
                <a:solidFill>
                  <a:srgbClr val="7C6D5F"/>
                </a:solidFill>
                <a:latin typeface="Calibri"/>
                <a:ea typeface="Calibri"/>
                <a:cs typeface="Calibri"/>
                <a:sym typeface="Calibri"/>
              </a:rPr>
              <a:t> hora de mayor </a:t>
            </a:r>
            <a:r>
              <a:rPr lang="en-US" sz="1080" dirty="0" err="1">
                <a:solidFill>
                  <a:srgbClr val="7C6D5F"/>
                </a:solidFill>
                <a:latin typeface="Calibri"/>
                <a:ea typeface="Calibri"/>
                <a:cs typeface="Calibri"/>
                <a:sym typeface="Calibri"/>
              </a:rPr>
              <a:t>demanda</a:t>
            </a:r>
            <a:r>
              <a:rPr lang="en-US" sz="1080" dirty="0">
                <a:solidFill>
                  <a:srgbClr val="7C6D5F"/>
                </a:solidFill>
                <a:latin typeface="Calibri"/>
                <a:ea typeface="Calibri"/>
                <a:cs typeface="Calibri"/>
                <a:sym typeface="Calibri"/>
              </a:rPr>
              <a:t>.</a:t>
            </a:r>
            <a:endParaRPr sz="1080" dirty="0">
              <a:solidFill>
                <a:srgbClr val="7C6D5F"/>
              </a:solidFill>
              <a:latin typeface="Calibri"/>
              <a:ea typeface="Calibri"/>
              <a:cs typeface="Calibri"/>
              <a:sym typeface="Calibri"/>
            </a:endParaRPr>
          </a:p>
        </p:txBody>
      </p:sp>
      <p:sp>
        <p:nvSpPr>
          <p:cNvPr id="144" name="Google Shape;144;p4"/>
          <p:cNvSpPr/>
          <p:nvPr/>
        </p:nvSpPr>
        <p:spPr>
          <a:xfrm>
            <a:off x="11457432" y="6419088"/>
            <a:ext cx="45720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6E5F50"/>
              </a:buClr>
              <a:buSzPts val="1000"/>
              <a:buFont typeface="Calibri"/>
              <a:buNone/>
            </a:pPr>
            <a:r>
              <a:rPr lang="en-US" sz="1000">
                <a:solidFill>
                  <a:srgbClr val="6E5F50"/>
                </a:solidFill>
                <a:latin typeface="Calibri"/>
                <a:ea typeface="Calibri"/>
                <a:cs typeface="Calibri"/>
                <a:sym typeface="Calibri"/>
              </a:rPr>
              <a:t>4</a:t>
            </a:r>
            <a:endParaRPr sz="1000">
              <a:solidFill>
                <a:schemeClr val="dk1"/>
              </a:solidFill>
              <a:latin typeface="Calibri"/>
              <a:ea typeface="Calibri"/>
              <a:cs typeface="Calibri"/>
              <a:sym typeface="Calibri"/>
            </a:endParaRPr>
          </a:p>
        </p:txBody>
      </p:sp>
      <p:sp>
        <p:nvSpPr>
          <p:cNvPr id="3" name="Google Shape;97;p4">
            <a:extLst>
              <a:ext uri="{FF2B5EF4-FFF2-40B4-BE49-F238E27FC236}">
                <a16:creationId xmlns:a16="http://schemas.microsoft.com/office/drawing/2014/main" id="{23BEF722-CD9D-B7CD-C71C-7CB7ADB2C5C1}"/>
              </a:ext>
            </a:extLst>
          </p:cNvPr>
          <p:cNvSpPr/>
          <p:nvPr/>
        </p:nvSpPr>
        <p:spPr>
          <a:xfrm>
            <a:off x="548640" y="320040"/>
            <a:ext cx="11091672" cy="6858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D9A441"/>
              </a:buClr>
              <a:buSzPts val="3000"/>
              <a:buFont typeface="Cambria"/>
              <a:buNone/>
            </a:pPr>
            <a:r>
              <a:rPr lang="en-US" sz="3000" b="1" i="0" u="none" strike="noStrike" cap="none" dirty="0" err="1">
                <a:solidFill>
                  <a:srgbClr val="D9A441"/>
                </a:solidFill>
                <a:latin typeface="Calibri"/>
                <a:ea typeface="Calibri"/>
                <a:cs typeface="Calibri"/>
                <a:sym typeface="Calibri"/>
              </a:rPr>
              <a:t>P</a:t>
            </a:r>
            <a:r>
              <a:rPr lang="en-US" sz="3000" b="1" i="0" u="none" strike="noStrike" cap="none" dirty="0" err="1">
                <a:solidFill>
                  <a:srgbClr val="4A2C1A"/>
                </a:solidFill>
                <a:latin typeface="Calibri"/>
                <a:ea typeface="Calibri"/>
                <a:cs typeface="Calibri"/>
                <a:sym typeface="Calibri"/>
              </a:rPr>
              <a:t>roblema</a:t>
            </a:r>
            <a:endParaRPr sz="3000" i="0" u="none" strike="noStrike" cap="none" dirty="0">
              <a:solidFill>
                <a:schemeClr val="dk1"/>
              </a:solidFill>
              <a:latin typeface="Calibri"/>
              <a:ea typeface="Calibri"/>
              <a:cs typeface="Calibri"/>
              <a:sym typeface="Calibri"/>
            </a:endParaRPr>
          </a:p>
        </p:txBody>
      </p:sp>
      <p:pic>
        <p:nvPicPr>
          <p:cNvPr id="5" name="Google Shape;115;p4" descr="preencoded.png">
            <a:extLst>
              <a:ext uri="{FF2B5EF4-FFF2-40B4-BE49-F238E27FC236}">
                <a16:creationId xmlns:a16="http://schemas.microsoft.com/office/drawing/2014/main" id="{6C7CA077-28C7-5555-6B25-48D4E6DCAD36}"/>
              </a:ext>
            </a:extLst>
          </p:cNvPr>
          <p:cNvPicPr preferRelativeResize="0"/>
          <p:nvPr/>
        </p:nvPicPr>
        <p:blipFill rotWithShape="1">
          <a:blip r:embed="rId9">
            <a:alphaModFix/>
            <a:biLevel thresh="75000"/>
          </a:blip>
          <a:srcRect/>
          <a:stretch/>
        </p:blipFill>
        <p:spPr>
          <a:xfrm>
            <a:off x="6756465" y="2276036"/>
            <a:ext cx="303399" cy="27843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49"/>
        <p:cNvGrpSpPr/>
        <p:nvPr/>
      </p:nvGrpSpPr>
      <p:grpSpPr>
        <a:xfrm>
          <a:off x="0" y="0"/>
          <a:ext cx="0" cy="0"/>
          <a:chOff x="0" y="0"/>
          <a:chExt cx="0" cy="0"/>
        </a:xfrm>
      </p:grpSpPr>
      <p:sp>
        <p:nvSpPr>
          <p:cNvPr id="151" name="Google Shape;151;p5"/>
          <p:cNvSpPr/>
          <p:nvPr/>
        </p:nvSpPr>
        <p:spPr>
          <a:xfrm>
            <a:off x="731520" y="1417320"/>
            <a:ext cx="822960" cy="822960"/>
          </a:xfrm>
          <a:prstGeom prst="ellipse">
            <a:avLst/>
          </a:prstGeom>
          <a:solidFill>
            <a:srgbClr val="B6D7A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152" name="Google Shape;152;p5" descr="preencoded.png"/>
          <p:cNvPicPr preferRelativeResize="0"/>
          <p:nvPr/>
        </p:nvPicPr>
        <p:blipFill rotWithShape="1">
          <a:blip r:embed="rId3">
            <a:alphaModFix/>
          </a:blip>
          <a:srcRect/>
          <a:stretch/>
        </p:blipFill>
        <p:spPr>
          <a:xfrm>
            <a:off x="945490" y="1631290"/>
            <a:ext cx="395021" cy="395021"/>
          </a:xfrm>
          <a:prstGeom prst="rect">
            <a:avLst/>
          </a:prstGeom>
          <a:noFill/>
          <a:ln>
            <a:noFill/>
          </a:ln>
        </p:spPr>
      </p:pic>
      <p:sp>
        <p:nvSpPr>
          <p:cNvPr id="153" name="Google Shape;153;p5"/>
          <p:cNvSpPr/>
          <p:nvPr/>
        </p:nvSpPr>
        <p:spPr>
          <a:xfrm>
            <a:off x="1783080" y="1435608"/>
            <a:ext cx="4572000" cy="7772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E2318"/>
              </a:buClr>
              <a:buSzPts val="1600"/>
              <a:buFont typeface="Calibri"/>
              <a:buNone/>
            </a:pPr>
            <a:r>
              <a:rPr lang="en-US" sz="1600" b="1">
                <a:solidFill>
                  <a:srgbClr val="2E2318"/>
                </a:solidFill>
                <a:latin typeface="Calibri"/>
                <a:ea typeface="Calibri"/>
                <a:cs typeface="Calibri"/>
                <a:sym typeface="Calibri"/>
              </a:rPr>
              <a:t>Trazabilidad completa de la venta</a:t>
            </a:r>
            <a:endParaRPr sz="1600">
              <a:solidFill>
                <a:schemeClr val="dk1"/>
              </a:solidFill>
              <a:latin typeface="Calibri"/>
              <a:ea typeface="Calibri"/>
              <a:cs typeface="Calibri"/>
              <a:sym typeface="Calibri"/>
            </a:endParaRPr>
          </a:p>
        </p:txBody>
      </p:sp>
      <p:sp>
        <p:nvSpPr>
          <p:cNvPr id="154" name="Google Shape;154;p5"/>
          <p:cNvSpPr/>
          <p:nvPr/>
        </p:nvSpPr>
        <p:spPr>
          <a:xfrm>
            <a:off x="6492240" y="1435608"/>
            <a:ext cx="5120640" cy="7772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E5F50"/>
              </a:buClr>
              <a:buSzPts val="1300"/>
              <a:buFont typeface="Calibri"/>
              <a:buNone/>
            </a:pPr>
            <a:r>
              <a:rPr lang="en-US" sz="1300">
                <a:solidFill>
                  <a:srgbClr val="6E5F50"/>
                </a:solidFill>
                <a:latin typeface="Calibri"/>
                <a:ea typeface="Calibri"/>
                <a:cs typeface="Calibri"/>
                <a:sym typeface="Calibri"/>
              </a:rPr>
              <a:t>Registrar cada transacción con producto, peso y precio en el momento en que ocurre.</a:t>
            </a:r>
            <a:endParaRPr sz="1300">
              <a:solidFill>
                <a:schemeClr val="dk1"/>
              </a:solidFill>
              <a:latin typeface="Calibri"/>
              <a:ea typeface="Calibri"/>
              <a:cs typeface="Calibri"/>
              <a:sym typeface="Calibri"/>
            </a:endParaRPr>
          </a:p>
        </p:txBody>
      </p:sp>
      <p:cxnSp>
        <p:nvCxnSpPr>
          <p:cNvPr id="155" name="Google Shape;155;p5"/>
          <p:cNvCxnSpPr/>
          <p:nvPr/>
        </p:nvCxnSpPr>
        <p:spPr>
          <a:xfrm>
            <a:off x="1783080" y="2441448"/>
            <a:ext cx="9829800" cy="0"/>
          </a:xfrm>
          <a:prstGeom prst="straightConnector1">
            <a:avLst/>
          </a:prstGeom>
          <a:noFill/>
          <a:ln w="12700" cap="flat" cmpd="sng">
            <a:solidFill>
              <a:srgbClr val="E5D9C6"/>
            </a:solidFill>
            <a:prstDash val="solid"/>
            <a:round/>
            <a:headEnd type="none" w="sm" len="sm"/>
            <a:tailEnd type="none" w="sm" len="sm"/>
          </a:ln>
        </p:spPr>
      </p:cxnSp>
      <p:sp>
        <p:nvSpPr>
          <p:cNvPr id="156" name="Google Shape;156;p5"/>
          <p:cNvSpPr/>
          <p:nvPr/>
        </p:nvSpPr>
        <p:spPr>
          <a:xfrm>
            <a:off x="731520" y="2624328"/>
            <a:ext cx="822960" cy="822960"/>
          </a:xfrm>
          <a:prstGeom prst="ellipse">
            <a:avLst/>
          </a:prstGeom>
          <a:solidFill>
            <a:srgbClr val="B6D7A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157" name="Google Shape;157;p5" descr="preencoded.png"/>
          <p:cNvPicPr preferRelativeResize="0"/>
          <p:nvPr/>
        </p:nvPicPr>
        <p:blipFill rotWithShape="1">
          <a:blip r:embed="rId4">
            <a:alphaModFix/>
          </a:blip>
          <a:srcRect/>
          <a:stretch/>
        </p:blipFill>
        <p:spPr>
          <a:xfrm>
            <a:off x="945490" y="2838298"/>
            <a:ext cx="395021" cy="395021"/>
          </a:xfrm>
          <a:prstGeom prst="rect">
            <a:avLst/>
          </a:prstGeom>
          <a:noFill/>
          <a:ln>
            <a:noFill/>
          </a:ln>
        </p:spPr>
      </p:pic>
      <p:sp>
        <p:nvSpPr>
          <p:cNvPr id="158" name="Google Shape;158;p5"/>
          <p:cNvSpPr/>
          <p:nvPr/>
        </p:nvSpPr>
        <p:spPr>
          <a:xfrm>
            <a:off x="1783080" y="2642616"/>
            <a:ext cx="4572000" cy="7772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E2318"/>
              </a:buClr>
              <a:buSzPts val="1600"/>
              <a:buFont typeface="Calibri"/>
              <a:buNone/>
            </a:pPr>
            <a:r>
              <a:rPr lang="en-US" sz="1600" b="1">
                <a:solidFill>
                  <a:srgbClr val="2E2318"/>
                </a:solidFill>
                <a:latin typeface="Calibri"/>
                <a:ea typeface="Calibri"/>
                <a:cs typeface="Calibri"/>
                <a:sym typeface="Calibri"/>
              </a:rPr>
              <a:t>Continuidad operativa sin conexión</a:t>
            </a:r>
            <a:endParaRPr sz="1600">
              <a:solidFill>
                <a:schemeClr val="dk1"/>
              </a:solidFill>
              <a:latin typeface="Calibri"/>
              <a:ea typeface="Calibri"/>
              <a:cs typeface="Calibri"/>
              <a:sym typeface="Calibri"/>
            </a:endParaRPr>
          </a:p>
        </p:txBody>
      </p:sp>
      <p:sp>
        <p:nvSpPr>
          <p:cNvPr id="159" name="Google Shape;159;p5"/>
          <p:cNvSpPr/>
          <p:nvPr/>
        </p:nvSpPr>
        <p:spPr>
          <a:xfrm>
            <a:off x="6492240" y="2642616"/>
            <a:ext cx="5120640" cy="7772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E5F50"/>
              </a:buClr>
              <a:buSzPts val="1300"/>
              <a:buFont typeface="Calibri"/>
              <a:buNone/>
            </a:pPr>
            <a:r>
              <a:rPr lang="en-US" sz="1300">
                <a:solidFill>
                  <a:srgbClr val="6E5F50"/>
                </a:solidFill>
                <a:latin typeface="Calibri"/>
                <a:ea typeface="Calibri"/>
                <a:cs typeface="Calibri"/>
                <a:sym typeface="Calibri"/>
              </a:rPr>
              <a:t>La interrupción del enlace no puede detener la caja ni comprometer registros.</a:t>
            </a:r>
            <a:endParaRPr sz="1300">
              <a:solidFill>
                <a:schemeClr val="dk1"/>
              </a:solidFill>
              <a:latin typeface="Calibri"/>
              <a:ea typeface="Calibri"/>
              <a:cs typeface="Calibri"/>
              <a:sym typeface="Calibri"/>
            </a:endParaRPr>
          </a:p>
        </p:txBody>
      </p:sp>
      <p:cxnSp>
        <p:nvCxnSpPr>
          <p:cNvPr id="160" name="Google Shape;160;p5"/>
          <p:cNvCxnSpPr/>
          <p:nvPr/>
        </p:nvCxnSpPr>
        <p:spPr>
          <a:xfrm>
            <a:off x="1783080" y="3648456"/>
            <a:ext cx="9829800" cy="0"/>
          </a:xfrm>
          <a:prstGeom prst="straightConnector1">
            <a:avLst/>
          </a:prstGeom>
          <a:noFill/>
          <a:ln w="12700" cap="flat" cmpd="sng">
            <a:solidFill>
              <a:srgbClr val="E5D9C6"/>
            </a:solidFill>
            <a:prstDash val="solid"/>
            <a:round/>
            <a:headEnd type="none" w="sm" len="sm"/>
            <a:tailEnd type="none" w="sm" len="sm"/>
          </a:ln>
        </p:spPr>
      </p:cxnSp>
      <p:sp>
        <p:nvSpPr>
          <p:cNvPr id="161" name="Google Shape;161;p5"/>
          <p:cNvSpPr/>
          <p:nvPr/>
        </p:nvSpPr>
        <p:spPr>
          <a:xfrm>
            <a:off x="731520" y="3831336"/>
            <a:ext cx="822960" cy="822960"/>
          </a:xfrm>
          <a:prstGeom prst="ellipse">
            <a:avLst/>
          </a:prstGeom>
          <a:solidFill>
            <a:srgbClr val="B6D7A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162" name="Google Shape;162;p5" descr="preencoded.png"/>
          <p:cNvPicPr preferRelativeResize="0"/>
          <p:nvPr/>
        </p:nvPicPr>
        <p:blipFill rotWithShape="1">
          <a:blip r:embed="rId5">
            <a:alphaModFix/>
          </a:blip>
          <a:srcRect/>
          <a:stretch/>
        </p:blipFill>
        <p:spPr>
          <a:xfrm>
            <a:off x="945490" y="4045306"/>
            <a:ext cx="395021" cy="395021"/>
          </a:xfrm>
          <a:prstGeom prst="rect">
            <a:avLst/>
          </a:prstGeom>
          <a:noFill/>
          <a:ln>
            <a:noFill/>
          </a:ln>
        </p:spPr>
      </p:pic>
      <p:sp>
        <p:nvSpPr>
          <p:cNvPr id="163" name="Google Shape;163;p5"/>
          <p:cNvSpPr/>
          <p:nvPr/>
        </p:nvSpPr>
        <p:spPr>
          <a:xfrm>
            <a:off x="1783080" y="3849624"/>
            <a:ext cx="4572000" cy="7772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E2318"/>
              </a:buClr>
              <a:buSzPts val="1600"/>
              <a:buFont typeface="Calibri"/>
              <a:buNone/>
            </a:pPr>
            <a:r>
              <a:rPr lang="en-US" sz="1600" b="1">
                <a:solidFill>
                  <a:srgbClr val="2E2318"/>
                </a:solidFill>
                <a:latin typeface="Calibri"/>
                <a:ea typeface="Calibri"/>
                <a:cs typeface="Calibri"/>
                <a:sym typeface="Calibri"/>
              </a:rPr>
              <a:t>Canal formal entre producción y venta</a:t>
            </a:r>
            <a:endParaRPr sz="1600">
              <a:solidFill>
                <a:schemeClr val="dk1"/>
              </a:solidFill>
              <a:latin typeface="Calibri"/>
              <a:ea typeface="Calibri"/>
              <a:cs typeface="Calibri"/>
              <a:sym typeface="Calibri"/>
            </a:endParaRPr>
          </a:p>
        </p:txBody>
      </p:sp>
      <p:sp>
        <p:nvSpPr>
          <p:cNvPr id="164" name="Google Shape;164;p5"/>
          <p:cNvSpPr/>
          <p:nvPr/>
        </p:nvSpPr>
        <p:spPr>
          <a:xfrm>
            <a:off x="6492240" y="3849624"/>
            <a:ext cx="5120640" cy="7772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E5F50"/>
              </a:buClr>
              <a:buSzPts val="1300"/>
              <a:buFont typeface="Calibri"/>
              <a:buNone/>
            </a:pPr>
            <a:r>
              <a:rPr lang="en-US" sz="1300">
                <a:solidFill>
                  <a:srgbClr val="6E5F50"/>
                </a:solidFill>
                <a:latin typeface="Calibri"/>
                <a:ea typeface="Calibri"/>
                <a:cs typeface="Calibri"/>
                <a:sym typeface="Calibri"/>
              </a:rPr>
              <a:t>Informar la disponibilidad de producto sin interrumpir el proceso ni requerir desplazamientos.</a:t>
            </a:r>
            <a:endParaRPr sz="1300">
              <a:solidFill>
                <a:schemeClr val="dk1"/>
              </a:solidFill>
              <a:latin typeface="Calibri"/>
              <a:ea typeface="Calibri"/>
              <a:cs typeface="Calibri"/>
              <a:sym typeface="Calibri"/>
            </a:endParaRPr>
          </a:p>
        </p:txBody>
      </p:sp>
      <p:cxnSp>
        <p:nvCxnSpPr>
          <p:cNvPr id="165" name="Google Shape;165;p5"/>
          <p:cNvCxnSpPr/>
          <p:nvPr/>
        </p:nvCxnSpPr>
        <p:spPr>
          <a:xfrm>
            <a:off x="1783080" y="4855464"/>
            <a:ext cx="9829800" cy="0"/>
          </a:xfrm>
          <a:prstGeom prst="straightConnector1">
            <a:avLst/>
          </a:prstGeom>
          <a:noFill/>
          <a:ln w="12700" cap="flat" cmpd="sng">
            <a:solidFill>
              <a:srgbClr val="E5D9C6"/>
            </a:solidFill>
            <a:prstDash val="solid"/>
            <a:round/>
            <a:headEnd type="none" w="sm" len="sm"/>
            <a:tailEnd type="none" w="sm" len="sm"/>
          </a:ln>
        </p:spPr>
      </p:cxnSp>
      <p:sp>
        <p:nvSpPr>
          <p:cNvPr id="166" name="Google Shape;166;p5"/>
          <p:cNvSpPr/>
          <p:nvPr/>
        </p:nvSpPr>
        <p:spPr>
          <a:xfrm>
            <a:off x="731520" y="5038344"/>
            <a:ext cx="822960" cy="822960"/>
          </a:xfrm>
          <a:prstGeom prst="ellipse">
            <a:avLst/>
          </a:prstGeom>
          <a:solidFill>
            <a:srgbClr val="B6D7A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167" name="Google Shape;167;p5" descr="preencoded.png"/>
          <p:cNvPicPr preferRelativeResize="0"/>
          <p:nvPr/>
        </p:nvPicPr>
        <p:blipFill rotWithShape="1">
          <a:blip r:embed="rId6">
            <a:alphaModFix/>
          </a:blip>
          <a:srcRect/>
          <a:stretch/>
        </p:blipFill>
        <p:spPr>
          <a:xfrm>
            <a:off x="945490" y="5252314"/>
            <a:ext cx="395021" cy="395021"/>
          </a:xfrm>
          <a:prstGeom prst="rect">
            <a:avLst/>
          </a:prstGeom>
          <a:noFill/>
          <a:ln>
            <a:noFill/>
          </a:ln>
        </p:spPr>
      </p:pic>
      <p:sp>
        <p:nvSpPr>
          <p:cNvPr id="168" name="Google Shape;168;p5"/>
          <p:cNvSpPr/>
          <p:nvPr/>
        </p:nvSpPr>
        <p:spPr>
          <a:xfrm>
            <a:off x="1783080" y="5056632"/>
            <a:ext cx="4572000" cy="7772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E2318"/>
              </a:buClr>
              <a:buSzPts val="1600"/>
              <a:buFont typeface="Calibri"/>
              <a:buNone/>
            </a:pPr>
            <a:r>
              <a:rPr lang="en-US" sz="1600" b="1">
                <a:solidFill>
                  <a:srgbClr val="2E2318"/>
                </a:solidFill>
                <a:latin typeface="Calibri"/>
                <a:ea typeface="Calibri"/>
                <a:cs typeface="Calibri"/>
                <a:sym typeface="Calibri"/>
              </a:rPr>
              <a:t>Planificación basada en datos</a:t>
            </a:r>
            <a:endParaRPr sz="1600">
              <a:solidFill>
                <a:schemeClr val="dk1"/>
              </a:solidFill>
              <a:latin typeface="Calibri"/>
              <a:ea typeface="Calibri"/>
              <a:cs typeface="Calibri"/>
              <a:sym typeface="Calibri"/>
            </a:endParaRPr>
          </a:p>
        </p:txBody>
      </p:sp>
      <p:sp>
        <p:nvSpPr>
          <p:cNvPr id="169" name="Google Shape;169;p5"/>
          <p:cNvSpPr/>
          <p:nvPr/>
        </p:nvSpPr>
        <p:spPr>
          <a:xfrm>
            <a:off x="6492240" y="5056632"/>
            <a:ext cx="5120640" cy="7772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E5F50"/>
              </a:buClr>
              <a:buSzPts val="1300"/>
              <a:buFont typeface="Calibri"/>
              <a:buNone/>
            </a:pPr>
            <a:r>
              <a:rPr lang="en-US" sz="1300">
                <a:solidFill>
                  <a:srgbClr val="6E5F50"/>
                </a:solidFill>
                <a:latin typeface="Calibri"/>
                <a:ea typeface="Calibri"/>
                <a:cs typeface="Calibri"/>
                <a:sym typeface="Calibri"/>
              </a:rPr>
              <a:t>Convertir el historial de ventas en una estimación de la producción del día siguiente.</a:t>
            </a:r>
            <a:endParaRPr sz="1300">
              <a:solidFill>
                <a:schemeClr val="dk1"/>
              </a:solidFill>
              <a:latin typeface="Calibri"/>
              <a:ea typeface="Calibri"/>
              <a:cs typeface="Calibri"/>
              <a:sym typeface="Calibri"/>
            </a:endParaRPr>
          </a:p>
        </p:txBody>
      </p:sp>
      <p:sp>
        <p:nvSpPr>
          <p:cNvPr id="170" name="Google Shape;170;p5"/>
          <p:cNvSpPr/>
          <p:nvPr/>
        </p:nvSpPr>
        <p:spPr>
          <a:xfrm>
            <a:off x="11457432" y="6419088"/>
            <a:ext cx="45720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6E5F50"/>
              </a:buClr>
              <a:buSzPts val="1000"/>
              <a:buFont typeface="Calibri"/>
              <a:buNone/>
            </a:pPr>
            <a:r>
              <a:rPr lang="en-US" sz="1000">
                <a:solidFill>
                  <a:srgbClr val="6E5F50"/>
                </a:solidFill>
                <a:latin typeface="Calibri"/>
                <a:ea typeface="Calibri"/>
                <a:cs typeface="Calibri"/>
                <a:sym typeface="Calibri"/>
              </a:rPr>
              <a:t>5</a:t>
            </a:r>
            <a:endParaRPr sz="1000">
              <a:solidFill>
                <a:schemeClr val="dk1"/>
              </a:solidFill>
              <a:latin typeface="Calibri"/>
              <a:ea typeface="Calibri"/>
              <a:cs typeface="Calibri"/>
              <a:sym typeface="Calibri"/>
            </a:endParaRPr>
          </a:p>
        </p:txBody>
      </p:sp>
      <p:sp>
        <p:nvSpPr>
          <p:cNvPr id="3" name="Google Shape;126;p5">
            <a:extLst>
              <a:ext uri="{FF2B5EF4-FFF2-40B4-BE49-F238E27FC236}">
                <a16:creationId xmlns:a16="http://schemas.microsoft.com/office/drawing/2014/main" id="{88002EE4-DD2F-3CD6-8165-08202E69B5F0}"/>
              </a:ext>
            </a:extLst>
          </p:cNvPr>
          <p:cNvSpPr/>
          <p:nvPr/>
        </p:nvSpPr>
        <p:spPr>
          <a:xfrm>
            <a:off x="548640" y="320040"/>
            <a:ext cx="11091672" cy="6858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D9A441"/>
              </a:buClr>
              <a:buSzPts val="3000"/>
              <a:buFont typeface="Cambria"/>
              <a:buNone/>
            </a:pPr>
            <a:r>
              <a:rPr lang="en-US" sz="3000" b="1" i="0" u="none" strike="noStrike" cap="none">
                <a:solidFill>
                  <a:srgbClr val="D9A441"/>
                </a:solidFill>
                <a:latin typeface="Calibri"/>
                <a:ea typeface="Calibri"/>
                <a:cs typeface="Calibri"/>
                <a:sym typeface="Calibri"/>
              </a:rPr>
              <a:t>N</a:t>
            </a:r>
            <a:r>
              <a:rPr lang="en-US" sz="3000" b="1" i="0" u="none" strike="noStrike" cap="none">
                <a:solidFill>
                  <a:srgbClr val="4A2C1A"/>
                </a:solidFill>
                <a:latin typeface="Calibri"/>
                <a:ea typeface="Calibri"/>
                <a:cs typeface="Calibri"/>
                <a:sym typeface="Calibri"/>
              </a:rPr>
              <a:t>ecesidad</a:t>
            </a:r>
            <a:endParaRPr sz="3000" b="1" i="0" u="none" strike="noStrike" cap="none">
              <a:solidFill>
                <a:srgbClr val="4A2C1A"/>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75"/>
        <p:cNvGrpSpPr/>
        <p:nvPr/>
      </p:nvGrpSpPr>
      <p:grpSpPr>
        <a:xfrm>
          <a:off x="0" y="0"/>
          <a:ext cx="0" cy="0"/>
          <a:chOff x="0" y="0"/>
          <a:chExt cx="0" cy="0"/>
        </a:xfrm>
      </p:grpSpPr>
      <p:sp>
        <p:nvSpPr>
          <p:cNvPr id="197" name="Google Shape;197;p6"/>
          <p:cNvSpPr/>
          <p:nvPr/>
        </p:nvSpPr>
        <p:spPr>
          <a:xfrm>
            <a:off x="11457432" y="6419088"/>
            <a:ext cx="45720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6E5F50"/>
              </a:buClr>
              <a:buSzPts val="1000"/>
              <a:buFont typeface="Calibri"/>
              <a:buNone/>
            </a:pPr>
            <a:r>
              <a:rPr lang="en-US" sz="1000">
                <a:solidFill>
                  <a:srgbClr val="6E5F50"/>
                </a:solidFill>
                <a:latin typeface="Calibri"/>
                <a:ea typeface="Calibri"/>
                <a:cs typeface="Calibri"/>
                <a:sym typeface="Calibri"/>
              </a:rPr>
              <a:t>6</a:t>
            </a:r>
            <a:endParaRPr sz="1000">
              <a:solidFill>
                <a:schemeClr val="dk1"/>
              </a:solidFill>
              <a:latin typeface="Calibri"/>
              <a:ea typeface="Calibri"/>
              <a:cs typeface="Calibri"/>
              <a:sym typeface="Calibri"/>
            </a:endParaRPr>
          </a:p>
        </p:txBody>
      </p:sp>
      <p:sp>
        <p:nvSpPr>
          <p:cNvPr id="3" name="Google Shape;152;p6">
            <a:extLst>
              <a:ext uri="{FF2B5EF4-FFF2-40B4-BE49-F238E27FC236}">
                <a16:creationId xmlns:a16="http://schemas.microsoft.com/office/drawing/2014/main" id="{40E5C146-6B11-E0B4-FEF7-56E2CEB2EE88}"/>
              </a:ext>
            </a:extLst>
          </p:cNvPr>
          <p:cNvSpPr/>
          <p:nvPr/>
        </p:nvSpPr>
        <p:spPr>
          <a:xfrm>
            <a:off x="548640" y="320040"/>
            <a:ext cx="11091672" cy="6858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D9A441"/>
              </a:buClr>
              <a:buSzPts val="3000"/>
              <a:buFont typeface="Cambria"/>
              <a:buNone/>
            </a:pPr>
            <a:r>
              <a:rPr lang="en-US" sz="3000" b="1" i="0" u="none" strike="noStrike" cap="none">
                <a:solidFill>
                  <a:srgbClr val="D9A441"/>
                </a:solidFill>
                <a:latin typeface="Calibri"/>
                <a:ea typeface="Calibri"/>
                <a:cs typeface="Calibri"/>
                <a:sym typeface="Calibri"/>
              </a:rPr>
              <a:t>S</a:t>
            </a:r>
            <a:r>
              <a:rPr lang="en-US" sz="3000" b="1" i="0" u="none" strike="noStrike" cap="none">
                <a:solidFill>
                  <a:srgbClr val="4A2C1A"/>
                </a:solidFill>
                <a:latin typeface="Calibri"/>
                <a:ea typeface="Calibri"/>
                <a:cs typeface="Calibri"/>
                <a:sym typeface="Calibri"/>
              </a:rPr>
              <a:t>olución</a:t>
            </a:r>
            <a:endParaRPr sz="3000" i="0" u="none" strike="noStrike" cap="none">
              <a:solidFill>
                <a:schemeClr val="dk1"/>
              </a:solidFill>
              <a:latin typeface="Calibri"/>
              <a:ea typeface="Calibri"/>
              <a:cs typeface="Calibri"/>
              <a:sym typeface="Calibri"/>
            </a:endParaRPr>
          </a:p>
        </p:txBody>
      </p:sp>
      <p:sp>
        <p:nvSpPr>
          <p:cNvPr id="5" name="Google Shape;153;p6">
            <a:extLst>
              <a:ext uri="{FF2B5EF4-FFF2-40B4-BE49-F238E27FC236}">
                <a16:creationId xmlns:a16="http://schemas.microsoft.com/office/drawing/2014/main" id="{81F553C4-1AD4-9323-D7B2-64B7B96C4B56}"/>
              </a:ext>
            </a:extLst>
          </p:cNvPr>
          <p:cNvSpPr/>
          <p:nvPr/>
        </p:nvSpPr>
        <p:spPr>
          <a:xfrm>
            <a:off x="548640" y="1867700"/>
            <a:ext cx="3566100" cy="3291900"/>
          </a:xfrm>
          <a:prstGeom prst="roundRect">
            <a:avLst>
              <a:gd name="adj" fmla="val 3333"/>
            </a:avLst>
          </a:prstGeom>
          <a:solidFill>
            <a:srgbClr val="4A2C1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154;p6">
            <a:extLst>
              <a:ext uri="{FF2B5EF4-FFF2-40B4-BE49-F238E27FC236}">
                <a16:creationId xmlns:a16="http://schemas.microsoft.com/office/drawing/2014/main" id="{D8485FBD-88EC-E1DD-D92C-107761758706}"/>
              </a:ext>
            </a:extLst>
          </p:cNvPr>
          <p:cNvSpPr/>
          <p:nvPr/>
        </p:nvSpPr>
        <p:spPr>
          <a:xfrm>
            <a:off x="1920260" y="2124195"/>
            <a:ext cx="777300" cy="777300"/>
          </a:xfrm>
          <a:prstGeom prst="ellipse">
            <a:avLst/>
          </a:prstGeom>
          <a:solidFill>
            <a:srgbClr val="1C4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9" name="Google Shape;155;p6" descr="preencoded.png">
            <a:extLst>
              <a:ext uri="{FF2B5EF4-FFF2-40B4-BE49-F238E27FC236}">
                <a16:creationId xmlns:a16="http://schemas.microsoft.com/office/drawing/2014/main" id="{267E0A43-1A6C-9A22-B885-F527428EE963}"/>
              </a:ext>
            </a:extLst>
          </p:cNvPr>
          <p:cNvPicPr preferRelativeResize="0"/>
          <p:nvPr/>
        </p:nvPicPr>
        <p:blipFill rotWithShape="1">
          <a:blip r:embed="rId3">
            <a:alphaModFix/>
          </a:blip>
          <a:srcRect/>
          <a:stretch/>
        </p:blipFill>
        <p:spPr>
          <a:xfrm>
            <a:off x="2122342" y="2326277"/>
            <a:ext cx="373075" cy="373075"/>
          </a:xfrm>
          <a:prstGeom prst="rect">
            <a:avLst/>
          </a:prstGeom>
          <a:noFill/>
          <a:ln>
            <a:noFill/>
          </a:ln>
        </p:spPr>
      </p:pic>
      <p:sp>
        <p:nvSpPr>
          <p:cNvPr id="11" name="Google Shape;156;p6">
            <a:extLst>
              <a:ext uri="{FF2B5EF4-FFF2-40B4-BE49-F238E27FC236}">
                <a16:creationId xmlns:a16="http://schemas.microsoft.com/office/drawing/2014/main" id="{965EB60A-2A56-17C0-3D7C-AD26ECF13A69}"/>
              </a:ext>
            </a:extLst>
          </p:cNvPr>
          <p:cNvSpPr/>
          <p:nvPr/>
        </p:nvSpPr>
        <p:spPr>
          <a:xfrm>
            <a:off x="822960" y="3056420"/>
            <a:ext cx="3017400" cy="5670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D9A441"/>
              </a:buClr>
              <a:buSzPts val="1450"/>
              <a:buFont typeface="Calibri"/>
              <a:buNone/>
            </a:pPr>
            <a:r>
              <a:rPr lang="en-US" sz="1850" b="1" i="0" u="none" strike="noStrike" cap="none">
                <a:solidFill>
                  <a:srgbClr val="D9A441"/>
                </a:solidFill>
                <a:latin typeface="Calibri"/>
                <a:ea typeface="Calibri"/>
                <a:cs typeface="Calibri"/>
                <a:sym typeface="Calibri"/>
              </a:rPr>
              <a:t>Escritorio</a:t>
            </a:r>
            <a:r>
              <a:rPr lang="en-US" sz="1850" b="1">
                <a:solidFill>
                  <a:srgbClr val="D9A441"/>
                </a:solidFill>
                <a:latin typeface="Calibri"/>
                <a:ea typeface="Calibri"/>
                <a:cs typeface="Calibri"/>
                <a:sym typeface="Calibri"/>
              </a:rPr>
              <a:t>:</a:t>
            </a:r>
            <a:r>
              <a:rPr lang="en-US" sz="1850" b="1" i="0" u="none" strike="noStrike" cap="none">
                <a:solidFill>
                  <a:srgbClr val="D9A441"/>
                </a:solidFill>
                <a:latin typeface="Calibri"/>
                <a:ea typeface="Calibri"/>
                <a:cs typeface="Calibri"/>
                <a:sym typeface="Calibri"/>
              </a:rPr>
              <a:t> P</a:t>
            </a:r>
            <a:r>
              <a:rPr lang="en-US" sz="1850" b="1">
                <a:solidFill>
                  <a:srgbClr val="D9A441"/>
                </a:solidFill>
                <a:latin typeface="Calibri"/>
                <a:ea typeface="Calibri"/>
                <a:cs typeface="Calibri"/>
                <a:sym typeface="Calibri"/>
              </a:rPr>
              <a:t>OS</a:t>
            </a:r>
            <a:endParaRPr sz="1850" b="0" i="0" u="none" strike="noStrike" cap="none">
              <a:solidFill>
                <a:schemeClr val="dk1"/>
              </a:solidFill>
              <a:latin typeface="Calibri"/>
              <a:ea typeface="Calibri"/>
              <a:cs typeface="Calibri"/>
              <a:sym typeface="Calibri"/>
            </a:endParaRPr>
          </a:p>
        </p:txBody>
      </p:sp>
      <p:sp>
        <p:nvSpPr>
          <p:cNvPr id="13" name="Google Shape;157;p6">
            <a:extLst>
              <a:ext uri="{FF2B5EF4-FFF2-40B4-BE49-F238E27FC236}">
                <a16:creationId xmlns:a16="http://schemas.microsoft.com/office/drawing/2014/main" id="{CE16A533-6AFA-EAA9-1CD5-D04A50C916B2}"/>
              </a:ext>
            </a:extLst>
          </p:cNvPr>
          <p:cNvSpPr/>
          <p:nvPr/>
        </p:nvSpPr>
        <p:spPr>
          <a:xfrm>
            <a:off x="822960" y="3605060"/>
            <a:ext cx="3063300" cy="14631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3EADC"/>
              </a:buClr>
              <a:buSzPts val="1150"/>
              <a:buFont typeface="Calibri"/>
              <a:buNone/>
            </a:pPr>
            <a:r>
              <a:rPr lang="en-US" sz="1450" b="0" i="0" u="none" strike="noStrike" cap="none">
                <a:solidFill>
                  <a:srgbClr val="F3EADC"/>
                </a:solidFill>
                <a:latin typeface="Calibri"/>
                <a:ea typeface="Calibri"/>
                <a:cs typeface="Calibri"/>
                <a:sym typeface="Calibri"/>
              </a:rPr>
              <a:t>Integra la balanza para registrar tipo, peso y precio</a:t>
            </a:r>
            <a:r>
              <a:rPr lang="en-US" sz="1450">
                <a:solidFill>
                  <a:srgbClr val="F3EADC"/>
                </a:solidFill>
                <a:latin typeface="Calibri"/>
                <a:ea typeface="Calibri"/>
                <a:cs typeface="Calibri"/>
                <a:sym typeface="Calibri"/>
              </a:rPr>
              <a:t>,</a:t>
            </a:r>
            <a:r>
              <a:rPr lang="en-US" sz="1450" b="0" i="0" u="none" strike="noStrike" cap="none">
                <a:solidFill>
                  <a:srgbClr val="F3EADC"/>
                </a:solidFill>
                <a:latin typeface="Calibri"/>
                <a:ea typeface="Calibri"/>
                <a:cs typeface="Calibri"/>
                <a:sym typeface="Calibri"/>
              </a:rPr>
              <a:t> admite venta por unidad</a:t>
            </a:r>
            <a:r>
              <a:rPr lang="en-US" sz="1450">
                <a:solidFill>
                  <a:srgbClr val="F3EADC"/>
                </a:solidFill>
                <a:latin typeface="Calibri"/>
                <a:ea typeface="Calibri"/>
                <a:cs typeface="Calibri"/>
                <a:sym typeface="Calibri"/>
              </a:rPr>
              <a:t>,</a:t>
            </a:r>
            <a:r>
              <a:rPr lang="en-US" sz="1450" b="0" i="0" u="none" strike="noStrike" cap="none">
                <a:solidFill>
                  <a:srgbClr val="F3EADC"/>
                </a:solidFill>
                <a:latin typeface="Calibri"/>
                <a:ea typeface="Calibri"/>
                <a:cs typeface="Calibri"/>
                <a:sym typeface="Calibri"/>
              </a:rPr>
              <a:t> opera sin conexión y sincroniza en segundo plano.</a:t>
            </a:r>
            <a:endParaRPr sz="1450" b="0" i="0" u="none" strike="noStrike" cap="none">
              <a:solidFill>
                <a:schemeClr val="dk1"/>
              </a:solidFill>
              <a:latin typeface="Calibri"/>
              <a:ea typeface="Calibri"/>
              <a:cs typeface="Calibri"/>
              <a:sym typeface="Calibri"/>
            </a:endParaRPr>
          </a:p>
        </p:txBody>
      </p:sp>
      <p:sp>
        <p:nvSpPr>
          <p:cNvPr id="15" name="Google Shape;158;p6">
            <a:extLst>
              <a:ext uri="{FF2B5EF4-FFF2-40B4-BE49-F238E27FC236}">
                <a16:creationId xmlns:a16="http://schemas.microsoft.com/office/drawing/2014/main" id="{ADA8B898-376A-BDE9-164D-3840A0F9FEE0}"/>
              </a:ext>
            </a:extLst>
          </p:cNvPr>
          <p:cNvSpPr/>
          <p:nvPr/>
        </p:nvSpPr>
        <p:spPr>
          <a:xfrm>
            <a:off x="4407408" y="1867700"/>
            <a:ext cx="3566100" cy="3291900"/>
          </a:xfrm>
          <a:prstGeom prst="roundRect">
            <a:avLst>
              <a:gd name="adj" fmla="val 3333"/>
            </a:avLst>
          </a:prstGeom>
          <a:solidFill>
            <a:srgbClr val="4A2C1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 name="Google Shape;159;p6">
            <a:extLst>
              <a:ext uri="{FF2B5EF4-FFF2-40B4-BE49-F238E27FC236}">
                <a16:creationId xmlns:a16="http://schemas.microsoft.com/office/drawing/2014/main" id="{0D9914C9-A535-4923-797D-5CD17733CC6D}"/>
              </a:ext>
            </a:extLst>
          </p:cNvPr>
          <p:cNvSpPr/>
          <p:nvPr/>
        </p:nvSpPr>
        <p:spPr>
          <a:xfrm>
            <a:off x="5705762" y="2164815"/>
            <a:ext cx="777300" cy="777300"/>
          </a:xfrm>
          <a:prstGeom prst="ellipse">
            <a:avLst/>
          </a:prstGeom>
          <a:solidFill>
            <a:srgbClr val="274E1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9" name="Google Shape;160;p6" descr="preencoded.png">
            <a:extLst>
              <a:ext uri="{FF2B5EF4-FFF2-40B4-BE49-F238E27FC236}">
                <a16:creationId xmlns:a16="http://schemas.microsoft.com/office/drawing/2014/main" id="{5C244DAE-3AC3-E931-AB64-63543FE16017}"/>
              </a:ext>
            </a:extLst>
          </p:cNvPr>
          <p:cNvPicPr preferRelativeResize="0"/>
          <p:nvPr/>
        </p:nvPicPr>
        <p:blipFill rotWithShape="1">
          <a:blip r:embed="rId4">
            <a:alphaModFix/>
          </a:blip>
          <a:srcRect/>
          <a:stretch/>
        </p:blipFill>
        <p:spPr>
          <a:xfrm>
            <a:off x="5907935" y="2366965"/>
            <a:ext cx="373075" cy="373075"/>
          </a:xfrm>
          <a:prstGeom prst="rect">
            <a:avLst/>
          </a:prstGeom>
          <a:noFill/>
          <a:ln>
            <a:noFill/>
          </a:ln>
        </p:spPr>
      </p:pic>
      <p:sp>
        <p:nvSpPr>
          <p:cNvPr id="21" name="Google Shape;161;p6">
            <a:extLst>
              <a:ext uri="{FF2B5EF4-FFF2-40B4-BE49-F238E27FC236}">
                <a16:creationId xmlns:a16="http://schemas.microsoft.com/office/drawing/2014/main" id="{53403D77-F597-D48F-E844-D30367CA0D71}"/>
              </a:ext>
            </a:extLst>
          </p:cNvPr>
          <p:cNvSpPr/>
          <p:nvPr/>
        </p:nvSpPr>
        <p:spPr>
          <a:xfrm>
            <a:off x="4658841" y="3056420"/>
            <a:ext cx="3017400" cy="5670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D9A441"/>
              </a:buClr>
              <a:buSzPts val="1450"/>
              <a:buFont typeface="Calibri"/>
              <a:buNone/>
            </a:pPr>
            <a:r>
              <a:rPr lang="en-US" sz="1850" b="1" i="0" u="none" strike="noStrike" cap="none" dirty="0" err="1">
                <a:solidFill>
                  <a:srgbClr val="D9A441"/>
                </a:solidFill>
                <a:latin typeface="Calibri"/>
                <a:ea typeface="Calibri"/>
                <a:cs typeface="Calibri"/>
                <a:sym typeface="Calibri"/>
              </a:rPr>
              <a:t>Móvil</a:t>
            </a:r>
            <a:r>
              <a:rPr lang="en-US" sz="1850" b="1" dirty="0">
                <a:solidFill>
                  <a:srgbClr val="D9A441"/>
                </a:solidFill>
                <a:latin typeface="Calibri"/>
                <a:ea typeface="Calibri"/>
                <a:cs typeface="Calibri"/>
                <a:sym typeface="Calibri"/>
              </a:rPr>
              <a:t>:</a:t>
            </a:r>
            <a:r>
              <a:rPr lang="en-US" sz="1850" b="1" i="0" u="none" strike="noStrike" cap="none" dirty="0">
                <a:solidFill>
                  <a:srgbClr val="D9A441"/>
                </a:solidFill>
                <a:latin typeface="Calibri"/>
                <a:ea typeface="Calibri"/>
                <a:cs typeface="Calibri"/>
                <a:sym typeface="Calibri"/>
              </a:rPr>
              <a:t> Panadero</a:t>
            </a:r>
            <a:endParaRPr sz="1850" b="0" i="0" u="none" strike="noStrike" cap="none" dirty="0">
              <a:solidFill>
                <a:schemeClr val="dk1"/>
              </a:solidFill>
              <a:latin typeface="Calibri"/>
              <a:ea typeface="Calibri"/>
              <a:cs typeface="Calibri"/>
              <a:sym typeface="Calibri"/>
            </a:endParaRPr>
          </a:p>
        </p:txBody>
      </p:sp>
      <p:sp>
        <p:nvSpPr>
          <p:cNvPr id="23" name="Google Shape;162;p6">
            <a:extLst>
              <a:ext uri="{FF2B5EF4-FFF2-40B4-BE49-F238E27FC236}">
                <a16:creationId xmlns:a16="http://schemas.microsoft.com/office/drawing/2014/main" id="{AD59864B-DE64-6803-5F3F-9FD98D548D18}"/>
              </a:ext>
            </a:extLst>
          </p:cNvPr>
          <p:cNvSpPr/>
          <p:nvPr/>
        </p:nvSpPr>
        <p:spPr>
          <a:xfrm>
            <a:off x="4658841" y="3605110"/>
            <a:ext cx="3063300" cy="14631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3EADC"/>
              </a:buClr>
              <a:buSzPts val="1150"/>
              <a:buFont typeface="Calibri"/>
              <a:buNone/>
            </a:pPr>
            <a:r>
              <a:rPr lang="en-US" sz="1450" b="0" i="0" u="none" strike="noStrike" cap="none">
                <a:solidFill>
                  <a:srgbClr val="F3EADC"/>
                </a:solidFill>
                <a:latin typeface="Calibri"/>
                <a:ea typeface="Calibri"/>
                <a:cs typeface="Calibri"/>
                <a:sym typeface="Calibri"/>
              </a:rPr>
              <a:t>Registra peso de masa y tipo por amasado; el sistema descuenta materias primas por fórmula de porcentaje panadero y avisa al mostrador.</a:t>
            </a:r>
            <a:endParaRPr sz="1450" b="0" i="0" u="none" strike="noStrike" cap="none">
              <a:solidFill>
                <a:schemeClr val="dk1"/>
              </a:solidFill>
              <a:latin typeface="Calibri"/>
              <a:ea typeface="Calibri"/>
              <a:cs typeface="Calibri"/>
              <a:sym typeface="Calibri"/>
            </a:endParaRPr>
          </a:p>
        </p:txBody>
      </p:sp>
      <p:sp>
        <p:nvSpPr>
          <p:cNvPr id="25" name="Google Shape;163;p6">
            <a:extLst>
              <a:ext uri="{FF2B5EF4-FFF2-40B4-BE49-F238E27FC236}">
                <a16:creationId xmlns:a16="http://schemas.microsoft.com/office/drawing/2014/main" id="{86657308-98EF-5349-670E-0BE78E0A0CB4}"/>
              </a:ext>
            </a:extLst>
          </p:cNvPr>
          <p:cNvSpPr/>
          <p:nvPr/>
        </p:nvSpPr>
        <p:spPr>
          <a:xfrm>
            <a:off x="8266176" y="1867700"/>
            <a:ext cx="3566100" cy="3291900"/>
          </a:xfrm>
          <a:prstGeom prst="roundRect">
            <a:avLst>
              <a:gd name="adj" fmla="val 3333"/>
            </a:avLst>
          </a:prstGeom>
          <a:solidFill>
            <a:srgbClr val="4A2C1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164;p6">
            <a:extLst>
              <a:ext uri="{FF2B5EF4-FFF2-40B4-BE49-F238E27FC236}">
                <a16:creationId xmlns:a16="http://schemas.microsoft.com/office/drawing/2014/main" id="{1B50B1B8-B187-2B60-6B8E-83A169D4EE87}"/>
              </a:ext>
            </a:extLst>
          </p:cNvPr>
          <p:cNvSpPr/>
          <p:nvPr/>
        </p:nvSpPr>
        <p:spPr>
          <a:xfrm>
            <a:off x="9660634" y="2164883"/>
            <a:ext cx="777300" cy="777300"/>
          </a:xfrm>
          <a:prstGeom prst="ellipse">
            <a:avLst/>
          </a:prstGeom>
          <a:solidFill>
            <a:srgbClr val="783F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9" name="Google Shape;165;p6" descr="preencoded.png">
            <a:extLst>
              <a:ext uri="{FF2B5EF4-FFF2-40B4-BE49-F238E27FC236}">
                <a16:creationId xmlns:a16="http://schemas.microsoft.com/office/drawing/2014/main" id="{8B223CBB-CFFD-445E-FB87-75456CF5C349}"/>
              </a:ext>
            </a:extLst>
          </p:cNvPr>
          <p:cNvPicPr preferRelativeResize="0"/>
          <p:nvPr/>
        </p:nvPicPr>
        <p:blipFill rotWithShape="1">
          <a:blip r:embed="rId5">
            <a:alphaModFix/>
          </a:blip>
          <a:srcRect/>
          <a:stretch/>
        </p:blipFill>
        <p:spPr>
          <a:xfrm>
            <a:off x="9862716" y="2366965"/>
            <a:ext cx="373075" cy="373075"/>
          </a:xfrm>
          <a:prstGeom prst="rect">
            <a:avLst/>
          </a:prstGeom>
          <a:noFill/>
          <a:ln>
            <a:noFill/>
          </a:ln>
        </p:spPr>
      </p:pic>
      <p:sp>
        <p:nvSpPr>
          <p:cNvPr id="31" name="Google Shape;166;p6">
            <a:extLst>
              <a:ext uri="{FF2B5EF4-FFF2-40B4-BE49-F238E27FC236}">
                <a16:creationId xmlns:a16="http://schemas.microsoft.com/office/drawing/2014/main" id="{F2BA4DBB-9DA9-F7D9-7A33-F22E87FA43EE}"/>
              </a:ext>
            </a:extLst>
          </p:cNvPr>
          <p:cNvSpPr/>
          <p:nvPr/>
        </p:nvSpPr>
        <p:spPr>
          <a:xfrm>
            <a:off x="8540496" y="3056420"/>
            <a:ext cx="3017400" cy="5670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D9A441"/>
              </a:buClr>
              <a:buSzPts val="1450"/>
              <a:buFont typeface="Calibri"/>
              <a:buNone/>
            </a:pPr>
            <a:r>
              <a:rPr lang="en-US" sz="1850" b="1" i="0" u="none" strike="noStrike" cap="none">
                <a:solidFill>
                  <a:srgbClr val="D9A441"/>
                </a:solidFill>
                <a:latin typeface="Calibri"/>
                <a:ea typeface="Calibri"/>
                <a:cs typeface="Calibri"/>
                <a:sym typeface="Calibri"/>
              </a:rPr>
              <a:t>Web</a:t>
            </a:r>
            <a:r>
              <a:rPr lang="en-US" sz="1850" b="1">
                <a:solidFill>
                  <a:srgbClr val="D9A441"/>
                </a:solidFill>
                <a:latin typeface="Calibri"/>
                <a:ea typeface="Calibri"/>
                <a:cs typeface="Calibri"/>
                <a:sym typeface="Calibri"/>
              </a:rPr>
              <a:t>:</a:t>
            </a:r>
            <a:r>
              <a:rPr lang="en-US" sz="1850" b="1" i="0" u="none" strike="noStrike" cap="none">
                <a:solidFill>
                  <a:srgbClr val="D9A441"/>
                </a:solidFill>
                <a:latin typeface="Calibri"/>
                <a:ea typeface="Calibri"/>
                <a:cs typeface="Calibri"/>
                <a:sym typeface="Calibri"/>
              </a:rPr>
              <a:t> Gestión</a:t>
            </a:r>
            <a:endParaRPr sz="1850" b="0" i="0" u="none" strike="noStrike" cap="none">
              <a:solidFill>
                <a:schemeClr val="dk1"/>
              </a:solidFill>
              <a:latin typeface="Calibri"/>
              <a:ea typeface="Calibri"/>
              <a:cs typeface="Calibri"/>
              <a:sym typeface="Calibri"/>
            </a:endParaRPr>
          </a:p>
        </p:txBody>
      </p:sp>
      <p:sp>
        <p:nvSpPr>
          <p:cNvPr id="33" name="Google Shape;167;p6">
            <a:extLst>
              <a:ext uri="{FF2B5EF4-FFF2-40B4-BE49-F238E27FC236}">
                <a16:creationId xmlns:a16="http://schemas.microsoft.com/office/drawing/2014/main" id="{D344FAEF-E076-654F-B3F1-6A3DA222FE2F}"/>
              </a:ext>
            </a:extLst>
          </p:cNvPr>
          <p:cNvSpPr/>
          <p:nvPr/>
        </p:nvSpPr>
        <p:spPr>
          <a:xfrm>
            <a:off x="8540496" y="3605060"/>
            <a:ext cx="3063300" cy="14631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3EADC"/>
              </a:buClr>
              <a:buSzPts val="1150"/>
              <a:buFont typeface="Calibri"/>
              <a:buNone/>
            </a:pPr>
            <a:r>
              <a:rPr lang="en-US" sz="1550" b="0" i="0" u="none" strike="noStrike" cap="none">
                <a:solidFill>
                  <a:srgbClr val="F3EADC"/>
                </a:solidFill>
                <a:latin typeface="Calibri"/>
                <a:ea typeface="Calibri"/>
                <a:cs typeface="Calibri"/>
                <a:sym typeface="Calibri"/>
              </a:rPr>
              <a:t>Indicadores del negocio y administración: catálogo, precios, fórmulas, políticas, sucursales y módulos por panadería.</a:t>
            </a:r>
            <a:endParaRPr sz="1550" b="0" i="0" u="none" strike="noStrike" cap="non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02"/>
        <p:cNvGrpSpPr/>
        <p:nvPr/>
      </p:nvGrpSpPr>
      <p:grpSpPr>
        <a:xfrm>
          <a:off x="0" y="0"/>
          <a:ext cx="0" cy="0"/>
          <a:chOff x="0" y="0"/>
          <a:chExt cx="0" cy="0"/>
        </a:xfrm>
      </p:grpSpPr>
      <p:sp>
        <p:nvSpPr>
          <p:cNvPr id="204" name="Google Shape;204;p7"/>
          <p:cNvSpPr/>
          <p:nvPr/>
        </p:nvSpPr>
        <p:spPr>
          <a:xfrm>
            <a:off x="548640" y="1371600"/>
            <a:ext cx="5486400" cy="4937760"/>
          </a:xfrm>
          <a:prstGeom prst="roundRect">
            <a:avLst>
              <a:gd name="adj" fmla="val 2222"/>
            </a:avLst>
          </a:prstGeom>
          <a:solidFill>
            <a:srgbClr val="F6EFE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206" name="Google Shape;206;p7"/>
          <p:cNvSpPr/>
          <p:nvPr/>
        </p:nvSpPr>
        <p:spPr>
          <a:xfrm>
            <a:off x="868680" y="2103120"/>
            <a:ext cx="4892040" cy="4023360"/>
          </a:xfrm>
          <a:prstGeom prst="rect">
            <a:avLst/>
          </a:prstGeom>
          <a:noFill/>
          <a:ln>
            <a:noFill/>
          </a:ln>
        </p:spPr>
        <p:txBody>
          <a:bodyPr spcFirstLastPara="1" wrap="square" lIns="0" tIns="0" rIns="0" bIns="0" anchor="ctr" anchorCtr="0">
            <a:noAutofit/>
          </a:bodyPr>
          <a:lstStyle/>
          <a:p>
            <a:pPr marL="342900" marR="0" lvl="0" indent="-342900" algn="l" rtl="0">
              <a:spcBef>
                <a:spcPts val="0"/>
              </a:spcBef>
              <a:spcAft>
                <a:spcPts val="0"/>
              </a:spcAft>
              <a:buClr>
                <a:srgbClr val="2E2318"/>
              </a:buClr>
              <a:buSzPts val="1300"/>
              <a:buFont typeface="Calibri"/>
              <a:buChar char="•"/>
            </a:pPr>
            <a:r>
              <a:rPr lang="en-US" sz="1600" dirty="0">
                <a:solidFill>
                  <a:srgbClr val="2E2318"/>
                </a:solidFill>
                <a:latin typeface="Calibri" panose="020F0502020204030204" pitchFamily="34" charset="0"/>
                <a:ea typeface="Calibri" panose="020F0502020204030204" pitchFamily="34" charset="0"/>
                <a:cs typeface="Calibri" panose="020F0502020204030204" pitchFamily="34" charset="0"/>
                <a:sym typeface="Calibri"/>
              </a:rPr>
              <a:t>Venta </a:t>
            </a:r>
            <a:r>
              <a:rPr lang="en-US" sz="1600" dirty="0" err="1">
                <a:solidFill>
                  <a:srgbClr val="2E2318"/>
                </a:solidFill>
                <a:latin typeface="Calibri" panose="020F0502020204030204" pitchFamily="34" charset="0"/>
                <a:ea typeface="Calibri" panose="020F0502020204030204" pitchFamily="34" charset="0"/>
                <a:cs typeface="Calibri" panose="020F0502020204030204" pitchFamily="34" charset="0"/>
                <a:sym typeface="Calibri"/>
              </a:rPr>
              <a:t>por</a:t>
            </a:r>
            <a:r>
              <a:rPr lang="en-US" sz="1600" dirty="0">
                <a:solidFill>
                  <a:srgbClr val="2E2318"/>
                </a:solidFill>
                <a:latin typeface="Calibri" panose="020F0502020204030204" pitchFamily="34" charset="0"/>
                <a:ea typeface="Calibri" panose="020F0502020204030204" pitchFamily="34" charset="0"/>
                <a:cs typeface="Calibri" panose="020F0502020204030204" pitchFamily="34" charset="0"/>
                <a:sym typeface="Calibri"/>
              </a:rPr>
              <a:t> peso con </a:t>
            </a:r>
            <a:r>
              <a:rPr lang="en-US" sz="1600" dirty="0" err="1">
                <a:solidFill>
                  <a:srgbClr val="2E2318"/>
                </a:solidFill>
                <a:latin typeface="Calibri" panose="020F0502020204030204" pitchFamily="34" charset="0"/>
                <a:ea typeface="Calibri" panose="020F0502020204030204" pitchFamily="34" charset="0"/>
                <a:cs typeface="Calibri" panose="020F0502020204030204" pitchFamily="34" charset="0"/>
                <a:sym typeface="Calibri"/>
              </a:rPr>
              <a:t>lectura</a:t>
            </a:r>
            <a:r>
              <a:rPr lang="en-US" sz="1600" dirty="0">
                <a:solidFill>
                  <a:srgbClr val="2E2318"/>
                </a:solidFill>
                <a:latin typeface="Calibri" panose="020F0502020204030204" pitchFamily="34" charset="0"/>
                <a:ea typeface="Calibri" panose="020F0502020204030204" pitchFamily="34" charset="0"/>
                <a:cs typeface="Calibri" panose="020F0502020204030204" pitchFamily="34" charset="0"/>
                <a:sym typeface="Calibri"/>
              </a:rPr>
              <a:t> de </a:t>
            </a:r>
            <a:r>
              <a:rPr lang="en-US" sz="1600" dirty="0" err="1">
                <a:solidFill>
                  <a:srgbClr val="2E2318"/>
                </a:solidFill>
                <a:latin typeface="Calibri" panose="020F0502020204030204" pitchFamily="34" charset="0"/>
                <a:ea typeface="Calibri" panose="020F0502020204030204" pitchFamily="34" charset="0"/>
                <a:cs typeface="Calibri" panose="020F0502020204030204" pitchFamily="34" charset="0"/>
                <a:sym typeface="Calibri"/>
              </a:rPr>
              <a:t>balanza</a:t>
            </a:r>
            <a:r>
              <a:rPr lang="en-US" sz="1600" dirty="0">
                <a:solidFill>
                  <a:srgbClr val="2E2318"/>
                </a:solidFill>
                <a:latin typeface="Calibri" panose="020F0502020204030204" pitchFamily="34" charset="0"/>
                <a:ea typeface="Calibri" panose="020F0502020204030204" pitchFamily="34" charset="0"/>
                <a:cs typeface="Calibri" panose="020F0502020204030204" pitchFamily="34" charset="0"/>
                <a:sym typeface="Calibri"/>
              </a:rPr>
              <a:t> y </a:t>
            </a:r>
            <a:r>
              <a:rPr lang="en-US" sz="1600" dirty="0" err="1">
                <a:solidFill>
                  <a:srgbClr val="2E2318"/>
                </a:solidFill>
                <a:latin typeface="Calibri" panose="020F0502020204030204" pitchFamily="34" charset="0"/>
                <a:ea typeface="Calibri" panose="020F0502020204030204" pitchFamily="34" charset="0"/>
                <a:cs typeface="Calibri" panose="020F0502020204030204" pitchFamily="34" charset="0"/>
                <a:sym typeface="Calibri"/>
              </a:rPr>
              <a:t>venta</a:t>
            </a:r>
            <a:r>
              <a:rPr lang="en-US" sz="1600" dirty="0">
                <a:solidFill>
                  <a:srgbClr val="2E2318"/>
                </a:solidFill>
                <a:latin typeface="Calibri" panose="020F0502020204030204" pitchFamily="34" charset="0"/>
                <a:ea typeface="Calibri" panose="020F0502020204030204" pitchFamily="34" charset="0"/>
                <a:cs typeface="Calibri" panose="020F0502020204030204" pitchFamily="34" charset="0"/>
                <a:sym typeface="Calibri"/>
              </a:rPr>
              <a:t> </a:t>
            </a:r>
            <a:r>
              <a:rPr lang="en-US" sz="1600" dirty="0" err="1">
                <a:solidFill>
                  <a:srgbClr val="2E2318"/>
                </a:solidFill>
                <a:latin typeface="Calibri" panose="020F0502020204030204" pitchFamily="34" charset="0"/>
                <a:ea typeface="Calibri" panose="020F0502020204030204" pitchFamily="34" charset="0"/>
                <a:cs typeface="Calibri" panose="020F0502020204030204" pitchFamily="34" charset="0"/>
                <a:sym typeface="Calibri"/>
              </a:rPr>
              <a:t>por</a:t>
            </a:r>
            <a:r>
              <a:rPr lang="en-US" sz="1600" dirty="0">
                <a:solidFill>
                  <a:srgbClr val="2E2318"/>
                </a:solidFill>
                <a:latin typeface="Calibri" panose="020F0502020204030204" pitchFamily="34" charset="0"/>
                <a:ea typeface="Calibri" panose="020F0502020204030204" pitchFamily="34" charset="0"/>
                <a:cs typeface="Calibri" panose="020F0502020204030204" pitchFamily="34" charset="0"/>
                <a:sym typeface="Calibri"/>
              </a:rPr>
              <a:t> </a:t>
            </a:r>
            <a:r>
              <a:rPr lang="en-US" sz="1600" dirty="0" err="1">
                <a:solidFill>
                  <a:srgbClr val="2E2318"/>
                </a:solidFill>
                <a:latin typeface="Calibri" panose="020F0502020204030204" pitchFamily="34" charset="0"/>
                <a:ea typeface="Calibri" panose="020F0502020204030204" pitchFamily="34" charset="0"/>
                <a:cs typeface="Calibri" panose="020F0502020204030204" pitchFamily="34" charset="0"/>
                <a:sym typeface="Calibri"/>
              </a:rPr>
              <a:t>unidad</a:t>
            </a:r>
            <a:r>
              <a:rPr lang="en-US" sz="1600" dirty="0">
                <a:solidFill>
                  <a:srgbClr val="2E2318"/>
                </a:solidFill>
                <a:latin typeface="Calibri" panose="020F0502020204030204" pitchFamily="34" charset="0"/>
                <a:ea typeface="Calibri" panose="020F0502020204030204" pitchFamily="34" charset="0"/>
                <a:cs typeface="Calibri" panose="020F0502020204030204" pitchFamily="34" charset="0"/>
                <a:sym typeface="Calibri"/>
              </a:rPr>
              <a:t>.</a:t>
            </a:r>
            <a:endParaRPr sz="16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a:p>
            <a:pPr marL="342900" marR="0" lvl="0" indent="-342900" algn="l" rtl="0">
              <a:spcBef>
                <a:spcPts val="900"/>
              </a:spcBef>
              <a:spcAft>
                <a:spcPts val="0"/>
              </a:spcAft>
              <a:buClr>
                <a:srgbClr val="2E2318"/>
              </a:buClr>
              <a:buSzPts val="1300"/>
              <a:buFont typeface="Calibri"/>
              <a:buChar char="•"/>
            </a:pPr>
            <a:r>
              <a:rPr lang="en-US" sz="1600" dirty="0">
                <a:solidFill>
                  <a:srgbClr val="2E2318"/>
                </a:solidFill>
                <a:latin typeface="Calibri" panose="020F0502020204030204" pitchFamily="34" charset="0"/>
                <a:ea typeface="Calibri" panose="020F0502020204030204" pitchFamily="34" charset="0"/>
                <a:cs typeface="Calibri" panose="020F0502020204030204" pitchFamily="34" charset="0"/>
                <a:sym typeface="Calibri"/>
              </a:rPr>
              <a:t>Registro local sin </a:t>
            </a:r>
            <a:r>
              <a:rPr lang="en-US" sz="1600" dirty="0" err="1">
                <a:solidFill>
                  <a:srgbClr val="2E2318"/>
                </a:solidFill>
                <a:latin typeface="Calibri" panose="020F0502020204030204" pitchFamily="34" charset="0"/>
                <a:ea typeface="Calibri" panose="020F0502020204030204" pitchFamily="34" charset="0"/>
                <a:cs typeface="Calibri" panose="020F0502020204030204" pitchFamily="34" charset="0"/>
                <a:sym typeface="Calibri"/>
              </a:rPr>
              <a:t>conexión</a:t>
            </a:r>
            <a:r>
              <a:rPr lang="en-US" sz="1600" dirty="0">
                <a:solidFill>
                  <a:srgbClr val="2E2318"/>
                </a:solidFill>
                <a:latin typeface="Calibri" panose="020F0502020204030204" pitchFamily="34" charset="0"/>
                <a:ea typeface="Calibri" panose="020F0502020204030204" pitchFamily="34" charset="0"/>
                <a:cs typeface="Calibri" panose="020F0502020204030204" pitchFamily="34" charset="0"/>
                <a:sym typeface="Calibri"/>
              </a:rPr>
              <a:t> y </a:t>
            </a:r>
            <a:r>
              <a:rPr lang="en-US" sz="1600" dirty="0" err="1">
                <a:solidFill>
                  <a:srgbClr val="2E2318"/>
                </a:solidFill>
                <a:latin typeface="Calibri" panose="020F0502020204030204" pitchFamily="34" charset="0"/>
                <a:ea typeface="Calibri" panose="020F0502020204030204" pitchFamily="34" charset="0"/>
                <a:cs typeface="Calibri" panose="020F0502020204030204" pitchFamily="34" charset="0"/>
                <a:sym typeface="Calibri"/>
              </a:rPr>
              <a:t>sincronización</a:t>
            </a:r>
            <a:r>
              <a:rPr lang="en-US" sz="1600" dirty="0">
                <a:solidFill>
                  <a:srgbClr val="2E2318"/>
                </a:solidFill>
                <a:latin typeface="Calibri" panose="020F0502020204030204" pitchFamily="34" charset="0"/>
                <a:ea typeface="Calibri" panose="020F0502020204030204" pitchFamily="34" charset="0"/>
                <a:cs typeface="Calibri" panose="020F0502020204030204" pitchFamily="34" charset="0"/>
                <a:sym typeface="Calibri"/>
              </a:rPr>
              <a:t> </a:t>
            </a:r>
            <a:r>
              <a:rPr lang="en-US" sz="1600" dirty="0" err="1">
                <a:solidFill>
                  <a:srgbClr val="2E2318"/>
                </a:solidFill>
                <a:latin typeface="Calibri" panose="020F0502020204030204" pitchFamily="34" charset="0"/>
                <a:ea typeface="Calibri" panose="020F0502020204030204" pitchFamily="34" charset="0"/>
                <a:cs typeface="Calibri" panose="020F0502020204030204" pitchFamily="34" charset="0"/>
                <a:sym typeface="Calibri"/>
              </a:rPr>
              <a:t>automática</a:t>
            </a:r>
            <a:r>
              <a:rPr lang="en-US" sz="1600" dirty="0">
                <a:solidFill>
                  <a:srgbClr val="2E2318"/>
                </a:solidFill>
                <a:latin typeface="Calibri" panose="020F0502020204030204" pitchFamily="34" charset="0"/>
                <a:ea typeface="Calibri" panose="020F0502020204030204" pitchFamily="34" charset="0"/>
                <a:cs typeface="Calibri" panose="020F0502020204030204" pitchFamily="34" charset="0"/>
                <a:sym typeface="Calibri"/>
              </a:rPr>
              <a:t> al </a:t>
            </a:r>
            <a:r>
              <a:rPr lang="en-US" sz="1600" dirty="0" err="1">
                <a:solidFill>
                  <a:srgbClr val="2E2318"/>
                </a:solidFill>
                <a:latin typeface="Calibri" panose="020F0502020204030204" pitchFamily="34" charset="0"/>
                <a:ea typeface="Calibri" panose="020F0502020204030204" pitchFamily="34" charset="0"/>
                <a:cs typeface="Calibri" panose="020F0502020204030204" pitchFamily="34" charset="0"/>
                <a:sym typeface="Calibri"/>
              </a:rPr>
              <a:t>reconectar</a:t>
            </a:r>
            <a:r>
              <a:rPr lang="en-US" sz="1600" dirty="0">
                <a:solidFill>
                  <a:srgbClr val="2E2318"/>
                </a:solidFill>
                <a:latin typeface="Calibri" panose="020F0502020204030204" pitchFamily="34" charset="0"/>
                <a:ea typeface="Calibri" panose="020F0502020204030204" pitchFamily="34" charset="0"/>
                <a:cs typeface="Calibri" panose="020F0502020204030204" pitchFamily="34" charset="0"/>
                <a:sym typeface="Calibri"/>
              </a:rPr>
              <a:t>.</a:t>
            </a:r>
            <a:endParaRPr sz="16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a:p>
            <a:pPr marL="342900" marR="0" lvl="0" indent="-342900" algn="l" rtl="0">
              <a:spcBef>
                <a:spcPts val="900"/>
              </a:spcBef>
              <a:spcAft>
                <a:spcPts val="0"/>
              </a:spcAft>
              <a:buClr>
                <a:srgbClr val="2E2318"/>
              </a:buClr>
              <a:buSzPts val="1300"/>
              <a:buFont typeface="Calibri"/>
              <a:buChar char="•"/>
            </a:pPr>
            <a:r>
              <a:rPr lang="en-US" sz="1600" dirty="0">
                <a:solidFill>
                  <a:srgbClr val="2E2318"/>
                </a:solidFill>
                <a:latin typeface="Calibri" panose="020F0502020204030204" pitchFamily="34" charset="0"/>
                <a:ea typeface="Calibri" panose="020F0502020204030204" pitchFamily="34" charset="0"/>
                <a:cs typeface="Calibri" panose="020F0502020204030204" pitchFamily="34" charset="0"/>
                <a:sym typeface="Calibri"/>
              </a:rPr>
              <a:t>Registro de </a:t>
            </a:r>
            <a:r>
              <a:rPr lang="en-US" sz="1600" dirty="0" err="1">
                <a:solidFill>
                  <a:srgbClr val="2E2318"/>
                </a:solidFill>
                <a:latin typeface="Calibri" panose="020F0502020204030204" pitchFamily="34" charset="0"/>
                <a:ea typeface="Calibri" panose="020F0502020204030204" pitchFamily="34" charset="0"/>
                <a:cs typeface="Calibri" panose="020F0502020204030204" pitchFamily="34" charset="0"/>
                <a:sym typeface="Calibri"/>
              </a:rPr>
              <a:t>amasado</a:t>
            </a:r>
            <a:r>
              <a:rPr lang="en-US" sz="1600" dirty="0">
                <a:solidFill>
                  <a:srgbClr val="2E2318"/>
                </a:solidFill>
                <a:latin typeface="Calibri" panose="020F0502020204030204" pitchFamily="34" charset="0"/>
                <a:ea typeface="Calibri" panose="020F0502020204030204" pitchFamily="34" charset="0"/>
                <a:cs typeface="Calibri" panose="020F0502020204030204" pitchFamily="34" charset="0"/>
                <a:sym typeface="Calibri"/>
              </a:rPr>
              <a:t> y </a:t>
            </a:r>
            <a:r>
              <a:rPr lang="en-US" sz="1600" dirty="0" err="1">
                <a:solidFill>
                  <a:srgbClr val="2E2318"/>
                </a:solidFill>
                <a:latin typeface="Calibri" panose="020F0502020204030204" pitchFamily="34" charset="0"/>
                <a:ea typeface="Calibri" panose="020F0502020204030204" pitchFamily="34" charset="0"/>
                <a:cs typeface="Calibri" panose="020F0502020204030204" pitchFamily="34" charset="0"/>
                <a:sym typeface="Calibri"/>
              </a:rPr>
              <a:t>descuento</a:t>
            </a:r>
            <a:r>
              <a:rPr lang="en-US" sz="1600" dirty="0">
                <a:solidFill>
                  <a:srgbClr val="2E2318"/>
                </a:solidFill>
                <a:latin typeface="Calibri" panose="020F0502020204030204" pitchFamily="34" charset="0"/>
                <a:ea typeface="Calibri" panose="020F0502020204030204" pitchFamily="34" charset="0"/>
                <a:cs typeface="Calibri" panose="020F0502020204030204" pitchFamily="34" charset="0"/>
                <a:sym typeface="Calibri"/>
              </a:rPr>
              <a:t> de </a:t>
            </a:r>
            <a:r>
              <a:rPr lang="en-US" sz="1600" dirty="0" err="1">
                <a:solidFill>
                  <a:srgbClr val="2E2318"/>
                </a:solidFill>
                <a:latin typeface="Calibri" panose="020F0502020204030204" pitchFamily="34" charset="0"/>
                <a:ea typeface="Calibri" panose="020F0502020204030204" pitchFamily="34" charset="0"/>
                <a:cs typeface="Calibri" panose="020F0502020204030204" pitchFamily="34" charset="0"/>
                <a:sym typeface="Calibri"/>
              </a:rPr>
              <a:t>insumos</a:t>
            </a:r>
            <a:r>
              <a:rPr lang="en-US" sz="1600" dirty="0">
                <a:solidFill>
                  <a:srgbClr val="2E2318"/>
                </a:solidFill>
                <a:latin typeface="Calibri" panose="020F0502020204030204" pitchFamily="34" charset="0"/>
                <a:ea typeface="Calibri" panose="020F0502020204030204" pitchFamily="34" charset="0"/>
                <a:cs typeface="Calibri" panose="020F0502020204030204" pitchFamily="34" charset="0"/>
                <a:sym typeface="Calibri"/>
              </a:rPr>
              <a:t> </a:t>
            </a:r>
            <a:r>
              <a:rPr lang="en-US" sz="1600" dirty="0" err="1">
                <a:solidFill>
                  <a:srgbClr val="2E2318"/>
                </a:solidFill>
                <a:latin typeface="Calibri" panose="020F0502020204030204" pitchFamily="34" charset="0"/>
                <a:ea typeface="Calibri" panose="020F0502020204030204" pitchFamily="34" charset="0"/>
                <a:cs typeface="Calibri" panose="020F0502020204030204" pitchFamily="34" charset="0"/>
                <a:sym typeface="Calibri"/>
              </a:rPr>
              <a:t>por</a:t>
            </a:r>
            <a:r>
              <a:rPr lang="en-US" sz="1600" dirty="0">
                <a:solidFill>
                  <a:srgbClr val="2E2318"/>
                </a:solidFill>
                <a:latin typeface="Calibri" panose="020F0502020204030204" pitchFamily="34" charset="0"/>
                <a:ea typeface="Calibri" panose="020F0502020204030204" pitchFamily="34" charset="0"/>
                <a:cs typeface="Calibri" panose="020F0502020204030204" pitchFamily="34" charset="0"/>
                <a:sym typeface="Calibri"/>
              </a:rPr>
              <a:t> </a:t>
            </a:r>
            <a:r>
              <a:rPr lang="en-US" sz="1600" dirty="0" err="1">
                <a:solidFill>
                  <a:srgbClr val="2E2318"/>
                </a:solidFill>
                <a:latin typeface="Calibri" panose="020F0502020204030204" pitchFamily="34" charset="0"/>
                <a:ea typeface="Calibri" panose="020F0502020204030204" pitchFamily="34" charset="0"/>
                <a:cs typeface="Calibri" panose="020F0502020204030204" pitchFamily="34" charset="0"/>
                <a:sym typeface="Calibri"/>
              </a:rPr>
              <a:t>fórmula</a:t>
            </a:r>
            <a:r>
              <a:rPr lang="en-US" sz="1600" dirty="0">
                <a:solidFill>
                  <a:srgbClr val="2E2318"/>
                </a:solidFill>
                <a:latin typeface="Calibri" panose="020F0502020204030204" pitchFamily="34" charset="0"/>
                <a:ea typeface="Calibri" panose="020F0502020204030204" pitchFamily="34" charset="0"/>
                <a:cs typeface="Calibri" panose="020F0502020204030204" pitchFamily="34" charset="0"/>
                <a:sym typeface="Calibri"/>
              </a:rPr>
              <a:t>.</a:t>
            </a:r>
            <a:endParaRPr sz="16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a:p>
            <a:pPr marL="342900" marR="0" lvl="0" indent="-342900" algn="l" rtl="0">
              <a:spcBef>
                <a:spcPts val="900"/>
              </a:spcBef>
              <a:spcAft>
                <a:spcPts val="0"/>
              </a:spcAft>
              <a:buClr>
                <a:srgbClr val="2E2318"/>
              </a:buClr>
              <a:buSzPts val="1300"/>
              <a:buFont typeface="Calibri"/>
              <a:buChar char="•"/>
            </a:pPr>
            <a:r>
              <a:rPr lang="en-US" sz="1600" dirty="0" err="1">
                <a:solidFill>
                  <a:srgbClr val="2E2318"/>
                </a:solidFill>
                <a:latin typeface="Calibri" panose="020F0502020204030204" pitchFamily="34" charset="0"/>
                <a:ea typeface="Calibri" panose="020F0502020204030204" pitchFamily="34" charset="0"/>
                <a:cs typeface="Calibri" panose="020F0502020204030204" pitchFamily="34" charset="0"/>
                <a:sym typeface="Calibri"/>
              </a:rPr>
              <a:t>Notificación</a:t>
            </a:r>
            <a:r>
              <a:rPr lang="en-US" sz="1600" dirty="0">
                <a:solidFill>
                  <a:srgbClr val="2E2318"/>
                </a:solidFill>
                <a:latin typeface="Calibri" panose="020F0502020204030204" pitchFamily="34" charset="0"/>
                <a:ea typeface="Calibri" panose="020F0502020204030204" pitchFamily="34" charset="0"/>
                <a:cs typeface="Calibri" panose="020F0502020204030204" pitchFamily="34" charset="0"/>
                <a:sym typeface="Calibri"/>
              </a:rPr>
              <a:t> de </a:t>
            </a:r>
            <a:r>
              <a:rPr lang="en-US" sz="1600" dirty="0" err="1">
                <a:solidFill>
                  <a:srgbClr val="2E2318"/>
                </a:solidFill>
                <a:latin typeface="Calibri" panose="020F0502020204030204" pitchFamily="34" charset="0"/>
                <a:ea typeface="Calibri" panose="020F0502020204030204" pitchFamily="34" charset="0"/>
                <a:cs typeface="Calibri" panose="020F0502020204030204" pitchFamily="34" charset="0"/>
                <a:sym typeface="Calibri"/>
              </a:rPr>
              <a:t>disponibilidad</a:t>
            </a:r>
            <a:r>
              <a:rPr lang="en-US" sz="1600" dirty="0">
                <a:solidFill>
                  <a:srgbClr val="2E2318"/>
                </a:solidFill>
                <a:latin typeface="Calibri" panose="020F0502020204030204" pitchFamily="34" charset="0"/>
                <a:ea typeface="Calibri" panose="020F0502020204030204" pitchFamily="34" charset="0"/>
                <a:cs typeface="Calibri" panose="020F0502020204030204" pitchFamily="34" charset="0"/>
                <a:sym typeface="Calibri"/>
              </a:rPr>
              <a:t> de </a:t>
            </a:r>
            <a:r>
              <a:rPr lang="en-US" sz="1600" dirty="0" err="1">
                <a:solidFill>
                  <a:srgbClr val="2E2318"/>
                </a:solidFill>
                <a:latin typeface="Calibri" panose="020F0502020204030204" pitchFamily="34" charset="0"/>
                <a:ea typeface="Calibri" panose="020F0502020204030204" pitchFamily="34" charset="0"/>
                <a:cs typeface="Calibri" panose="020F0502020204030204" pitchFamily="34" charset="0"/>
                <a:sym typeface="Calibri"/>
              </a:rPr>
              <a:t>producto</a:t>
            </a:r>
            <a:r>
              <a:rPr lang="en-US" sz="1600" dirty="0">
                <a:solidFill>
                  <a:srgbClr val="2E2318"/>
                </a:solidFill>
                <a:latin typeface="Calibri" panose="020F0502020204030204" pitchFamily="34" charset="0"/>
                <a:ea typeface="Calibri" panose="020F0502020204030204" pitchFamily="34" charset="0"/>
                <a:cs typeface="Calibri" panose="020F0502020204030204" pitchFamily="34" charset="0"/>
                <a:sym typeface="Calibri"/>
              </a:rPr>
              <a:t> al </a:t>
            </a:r>
            <a:r>
              <a:rPr lang="en-US" sz="1600" dirty="0" err="1">
                <a:solidFill>
                  <a:srgbClr val="2E2318"/>
                </a:solidFill>
                <a:latin typeface="Calibri" panose="020F0502020204030204" pitchFamily="34" charset="0"/>
                <a:ea typeface="Calibri" panose="020F0502020204030204" pitchFamily="34" charset="0"/>
                <a:cs typeface="Calibri" panose="020F0502020204030204" pitchFamily="34" charset="0"/>
                <a:sym typeface="Calibri"/>
              </a:rPr>
              <a:t>mostrador</a:t>
            </a:r>
            <a:r>
              <a:rPr lang="en-US" sz="1600" dirty="0">
                <a:solidFill>
                  <a:srgbClr val="2E2318"/>
                </a:solidFill>
                <a:latin typeface="Calibri" panose="020F0502020204030204" pitchFamily="34" charset="0"/>
                <a:ea typeface="Calibri" panose="020F0502020204030204" pitchFamily="34" charset="0"/>
                <a:cs typeface="Calibri" panose="020F0502020204030204" pitchFamily="34" charset="0"/>
                <a:sym typeface="Calibri"/>
              </a:rPr>
              <a:t>.</a:t>
            </a:r>
            <a:endParaRPr sz="16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a:p>
            <a:pPr marL="342900" marR="0" lvl="0" indent="-342900" algn="l" rtl="0">
              <a:spcBef>
                <a:spcPts val="900"/>
              </a:spcBef>
              <a:spcAft>
                <a:spcPts val="0"/>
              </a:spcAft>
              <a:buClr>
                <a:srgbClr val="2E2318"/>
              </a:buClr>
              <a:buSzPts val="1300"/>
              <a:buFont typeface="Calibri"/>
              <a:buChar char="•"/>
            </a:pPr>
            <a:r>
              <a:rPr lang="en-US" sz="1600" dirty="0">
                <a:solidFill>
                  <a:srgbClr val="2E2318"/>
                </a:solidFill>
                <a:latin typeface="Calibri" panose="020F0502020204030204" pitchFamily="34" charset="0"/>
                <a:ea typeface="Calibri" panose="020F0502020204030204" pitchFamily="34" charset="0"/>
                <a:cs typeface="Calibri" panose="020F0502020204030204" pitchFamily="34" charset="0"/>
                <a:sym typeface="Calibri"/>
              </a:rPr>
              <a:t>Administración de </a:t>
            </a:r>
            <a:r>
              <a:rPr lang="en-US" sz="1600" dirty="0" err="1">
                <a:solidFill>
                  <a:srgbClr val="2E2318"/>
                </a:solidFill>
                <a:latin typeface="Calibri" panose="020F0502020204030204" pitchFamily="34" charset="0"/>
                <a:ea typeface="Calibri" panose="020F0502020204030204" pitchFamily="34" charset="0"/>
                <a:cs typeface="Calibri" panose="020F0502020204030204" pitchFamily="34" charset="0"/>
                <a:sym typeface="Calibri"/>
              </a:rPr>
              <a:t>catálogo</a:t>
            </a:r>
            <a:r>
              <a:rPr lang="en-US" sz="1600" dirty="0">
                <a:solidFill>
                  <a:srgbClr val="2E2318"/>
                </a:solidFill>
                <a:latin typeface="Calibri" panose="020F0502020204030204" pitchFamily="34" charset="0"/>
                <a:ea typeface="Calibri" panose="020F0502020204030204" pitchFamily="34" charset="0"/>
                <a:cs typeface="Calibri" panose="020F0502020204030204" pitchFamily="34" charset="0"/>
                <a:sym typeface="Calibri"/>
              </a:rPr>
              <a:t>, </a:t>
            </a:r>
            <a:r>
              <a:rPr lang="en-US" sz="1600" dirty="0" err="1">
                <a:solidFill>
                  <a:srgbClr val="2E2318"/>
                </a:solidFill>
                <a:latin typeface="Calibri" panose="020F0502020204030204" pitchFamily="34" charset="0"/>
                <a:ea typeface="Calibri" panose="020F0502020204030204" pitchFamily="34" charset="0"/>
                <a:cs typeface="Calibri" panose="020F0502020204030204" pitchFamily="34" charset="0"/>
                <a:sym typeface="Calibri"/>
              </a:rPr>
              <a:t>precios</a:t>
            </a:r>
            <a:r>
              <a:rPr lang="en-US" sz="1600" dirty="0">
                <a:solidFill>
                  <a:srgbClr val="2E2318"/>
                </a:solidFill>
                <a:latin typeface="Calibri" panose="020F0502020204030204" pitchFamily="34" charset="0"/>
                <a:ea typeface="Calibri" panose="020F0502020204030204" pitchFamily="34" charset="0"/>
                <a:cs typeface="Calibri" panose="020F0502020204030204" pitchFamily="34" charset="0"/>
                <a:sym typeface="Calibri"/>
              </a:rPr>
              <a:t>, </a:t>
            </a:r>
            <a:r>
              <a:rPr lang="en-US" sz="1600" dirty="0" err="1">
                <a:solidFill>
                  <a:srgbClr val="2E2318"/>
                </a:solidFill>
                <a:latin typeface="Calibri" panose="020F0502020204030204" pitchFamily="34" charset="0"/>
                <a:ea typeface="Calibri" panose="020F0502020204030204" pitchFamily="34" charset="0"/>
                <a:cs typeface="Calibri" panose="020F0502020204030204" pitchFamily="34" charset="0"/>
                <a:sym typeface="Calibri"/>
              </a:rPr>
              <a:t>fórmulas</a:t>
            </a:r>
            <a:r>
              <a:rPr lang="en-US" sz="1600" dirty="0">
                <a:solidFill>
                  <a:srgbClr val="2E2318"/>
                </a:solidFill>
                <a:latin typeface="Calibri" panose="020F0502020204030204" pitchFamily="34" charset="0"/>
                <a:ea typeface="Calibri" panose="020F0502020204030204" pitchFamily="34" charset="0"/>
                <a:cs typeface="Calibri" panose="020F0502020204030204" pitchFamily="34" charset="0"/>
                <a:sym typeface="Calibri"/>
              </a:rPr>
              <a:t> y </a:t>
            </a:r>
            <a:r>
              <a:rPr lang="en-US" sz="1600" dirty="0" err="1">
                <a:solidFill>
                  <a:srgbClr val="2E2318"/>
                </a:solidFill>
                <a:latin typeface="Calibri" panose="020F0502020204030204" pitchFamily="34" charset="0"/>
                <a:ea typeface="Calibri" panose="020F0502020204030204" pitchFamily="34" charset="0"/>
                <a:cs typeface="Calibri" panose="020F0502020204030204" pitchFamily="34" charset="0"/>
                <a:sym typeface="Calibri"/>
              </a:rPr>
              <a:t>política</a:t>
            </a:r>
            <a:r>
              <a:rPr lang="en-US" sz="1600" dirty="0">
                <a:solidFill>
                  <a:srgbClr val="2E2318"/>
                </a:solidFill>
                <a:latin typeface="Calibri" panose="020F0502020204030204" pitchFamily="34" charset="0"/>
                <a:ea typeface="Calibri" panose="020F0502020204030204" pitchFamily="34" charset="0"/>
                <a:cs typeface="Calibri" panose="020F0502020204030204" pitchFamily="34" charset="0"/>
                <a:sym typeface="Calibri"/>
              </a:rPr>
              <a:t> de </a:t>
            </a:r>
            <a:r>
              <a:rPr lang="en-US" sz="1600" dirty="0" err="1">
                <a:solidFill>
                  <a:srgbClr val="2E2318"/>
                </a:solidFill>
                <a:latin typeface="Calibri" panose="020F0502020204030204" pitchFamily="34" charset="0"/>
                <a:ea typeface="Calibri" panose="020F0502020204030204" pitchFamily="34" charset="0"/>
                <a:cs typeface="Calibri" panose="020F0502020204030204" pitchFamily="34" charset="0"/>
                <a:sym typeface="Calibri"/>
              </a:rPr>
              <a:t>producto</a:t>
            </a:r>
            <a:r>
              <a:rPr lang="en-US" sz="1600" dirty="0">
                <a:solidFill>
                  <a:srgbClr val="2E2318"/>
                </a:solidFill>
                <a:latin typeface="Calibri" panose="020F0502020204030204" pitchFamily="34" charset="0"/>
                <a:ea typeface="Calibri" panose="020F0502020204030204" pitchFamily="34" charset="0"/>
                <a:cs typeface="Calibri" panose="020F0502020204030204" pitchFamily="34" charset="0"/>
                <a:sym typeface="Calibri"/>
              </a:rPr>
              <a:t> del día anterior.</a:t>
            </a:r>
            <a:endParaRPr sz="16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a:p>
            <a:pPr marL="342900" marR="0" lvl="0" indent="-342900" algn="l" rtl="0">
              <a:spcBef>
                <a:spcPts val="900"/>
              </a:spcBef>
              <a:spcAft>
                <a:spcPts val="0"/>
              </a:spcAft>
              <a:buClr>
                <a:srgbClr val="2E2318"/>
              </a:buClr>
              <a:buSzPts val="1300"/>
              <a:buFont typeface="Calibri"/>
              <a:buChar char="•"/>
            </a:pPr>
            <a:r>
              <a:rPr lang="en-US" sz="1600" dirty="0" err="1">
                <a:solidFill>
                  <a:srgbClr val="2E2318"/>
                </a:solidFill>
                <a:latin typeface="Calibri" panose="020F0502020204030204" pitchFamily="34" charset="0"/>
                <a:ea typeface="Calibri" panose="020F0502020204030204" pitchFamily="34" charset="0"/>
                <a:cs typeface="Calibri" panose="020F0502020204030204" pitchFamily="34" charset="0"/>
                <a:sym typeface="Calibri"/>
              </a:rPr>
              <a:t>Predicción</a:t>
            </a:r>
            <a:r>
              <a:rPr lang="en-US" sz="1600" dirty="0">
                <a:solidFill>
                  <a:srgbClr val="2E2318"/>
                </a:solidFill>
                <a:latin typeface="Calibri" panose="020F0502020204030204" pitchFamily="34" charset="0"/>
                <a:ea typeface="Calibri" panose="020F0502020204030204" pitchFamily="34" charset="0"/>
                <a:cs typeface="Calibri" panose="020F0502020204030204" pitchFamily="34" charset="0"/>
                <a:sym typeface="Calibri"/>
              </a:rPr>
              <a:t> de </a:t>
            </a:r>
            <a:r>
              <a:rPr lang="en-US" sz="1600" dirty="0" err="1">
                <a:solidFill>
                  <a:srgbClr val="2E2318"/>
                </a:solidFill>
                <a:latin typeface="Calibri" panose="020F0502020204030204" pitchFamily="34" charset="0"/>
                <a:ea typeface="Calibri" panose="020F0502020204030204" pitchFamily="34" charset="0"/>
                <a:cs typeface="Calibri" panose="020F0502020204030204" pitchFamily="34" charset="0"/>
                <a:sym typeface="Calibri"/>
              </a:rPr>
              <a:t>demanda</a:t>
            </a:r>
            <a:r>
              <a:rPr lang="en-US" sz="1600" dirty="0">
                <a:solidFill>
                  <a:srgbClr val="2E2318"/>
                </a:solidFill>
                <a:latin typeface="Calibri" panose="020F0502020204030204" pitchFamily="34" charset="0"/>
                <a:ea typeface="Calibri" panose="020F0502020204030204" pitchFamily="34" charset="0"/>
                <a:cs typeface="Calibri" panose="020F0502020204030204" pitchFamily="34" charset="0"/>
                <a:sym typeface="Calibri"/>
              </a:rPr>
              <a:t> </a:t>
            </a:r>
            <a:r>
              <a:rPr lang="en-US" sz="1600" dirty="0" err="1">
                <a:solidFill>
                  <a:srgbClr val="2E2318"/>
                </a:solidFill>
                <a:latin typeface="Calibri" panose="020F0502020204030204" pitchFamily="34" charset="0"/>
                <a:ea typeface="Calibri" panose="020F0502020204030204" pitchFamily="34" charset="0"/>
                <a:cs typeface="Calibri" panose="020F0502020204030204" pitchFamily="34" charset="0"/>
                <a:sym typeface="Calibri"/>
              </a:rPr>
              <a:t>diaria</a:t>
            </a:r>
            <a:r>
              <a:rPr lang="en-US" sz="1600" dirty="0">
                <a:solidFill>
                  <a:srgbClr val="2E2318"/>
                </a:solidFill>
                <a:latin typeface="Calibri" panose="020F0502020204030204" pitchFamily="34" charset="0"/>
                <a:ea typeface="Calibri" panose="020F0502020204030204" pitchFamily="34" charset="0"/>
                <a:cs typeface="Calibri" panose="020F0502020204030204" pitchFamily="34" charset="0"/>
                <a:sym typeface="Calibri"/>
              </a:rPr>
              <a:t> </a:t>
            </a:r>
            <a:r>
              <a:rPr lang="en-US" sz="1600" dirty="0" err="1">
                <a:solidFill>
                  <a:srgbClr val="2E2318"/>
                </a:solidFill>
                <a:latin typeface="Calibri" panose="020F0502020204030204" pitchFamily="34" charset="0"/>
                <a:ea typeface="Calibri" panose="020F0502020204030204" pitchFamily="34" charset="0"/>
                <a:cs typeface="Calibri" panose="020F0502020204030204" pitchFamily="34" charset="0"/>
                <a:sym typeface="Calibri"/>
              </a:rPr>
              <a:t>por</a:t>
            </a:r>
            <a:r>
              <a:rPr lang="en-US" sz="1600" dirty="0">
                <a:solidFill>
                  <a:srgbClr val="2E2318"/>
                </a:solidFill>
                <a:latin typeface="Calibri" panose="020F0502020204030204" pitchFamily="34" charset="0"/>
                <a:ea typeface="Calibri" panose="020F0502020204030204" pitchFamily="34" charset="0"/>
                <a:cs typeface="Calibri" panose="020F0502020204030204" pitchFamily="34" charset="0"/>
                <a:sym typeface="Calibri"/>
              </a:rPr>
              <a:t> </a:t>
            </a:r>
            <a:r>
              <a:rPr lang="en-US" sz="1600" dirty="0" err="1">
                <a:solidFill>
                  <a:srgbClr val="2E2318"/>
                </a:solidFill>
                <a:latin typeface="Calibri" panose="020F0502020204030204" pitchFamily="34" charset="0"/>
                <a:ea typeface="Calibri" panose="020F0502020204030204" pitchFamily="34" charset="0"/>
                <a:cs typeface="Calibri" panose="020F0502020204030204" pitchFamily="34" charset="0"/>
                <a:sym typeface="Calibri"/>
              </a:rPr>
              <a:t>sucursal</a:t>
            </a:r>
            <a:r>
              <a:rPr lang="en-US" sz="1600" dirty="0">
                <a:solidFill>
                  <a:srgbClr val="2E2318"/>
                </a:solidFill>
                <a:latin typeface="Calibri" panose="020F0502020204030204" pitchFamily="34" charset="0"/>
                <a:ea typeface="Calibri" panose="020F0502020204030204" pitchFamily="34" charset="0"/>
                <a:cs typeface="Calibri" panose="020F0502020204030204" pitchFamily="34" charset="0"/>
                <a:sym typeface="Calibri"/>
              </a:rPr>
              <a:t> y </a:t>
            </a:r>
            <a:r>
              <a:rPr lang="en-US" sz="1600" dirty="0" err="1">
                <a:solidFill>
                  <a:srgbClr val="2E2318"/>
                </a:solidFill>
                <a:latin typeface="Calibri" panose="020F0502020204030204" pitchFamily="34" charset="0"/>
                <a:ea typeface="Calibri" panose="020F0502020204030204" pitchFamily="34" charset="0"/>
                <a:cs typeface="Calibri" panose="020F0502020204030204" pitchFamily="34" charset="0"/>
                <a:sym typeface="Calibri"/>
              </a:rPr>
              <a:t>producto</a:t>
            </a:r>
            <a:r>
              <a:rPr lang="en-US" sz="1600" dirty="0">
                <a:solidFill>
                  <a:srgbClr val="2E2318"/>
                </a:solidFill>
                <a:latin typeface="Calibri" panose="020F0502020204030204" pitchFamily="34" charset="0"/>
                <a:ea typeface="Calibri" panose="020F0502020204030204" pitchFamily="34" charset="0"/>
                <a:cs typeface="Calibri" panose="020F0502020204030204" pitchFamily="34" charset="0"/>
                <a:sym typeface="Calibri"/>
              </a:rPr>
              <a:t>.</a:t>
            </a:r>
            <a:endParaRPr sz="16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a:p>
            <a:pPr marL="342900" marR="0" lvl="0" indent="-342900" algn="l" rtl="0">
              <a:spcBef>
                <a:spcPts val="900"/>
              </a:spcBef>
              <a:spcAft>
                <a:spcPts val="0"/>
              </a:spcAft>
              <a:buClr>
                <a:srgbClr val="2E2318"/>
              </a:buClr>
              <a:buSzPts val="1300"/>
              <a:buFont typeface="Calibri"/>
              <a:buChar char="•"/>
            </a:pPr>
            <a:r>
              <a:rPr lang="en-US" sz="1600" dirty="0">
                <a:solidFill>
                  <a:srgbClr val="2E2318"/>
                </a:solidFill>
                <a:latin typeface="Calibri" panose="020F0502020204030204" pitchFamily="34" charset="0"/>
                <a:ea typeface="Calibri" panose="020F0502020204030204" pitchFamily="34" charset="0"/>
                <a:cs typeface="Calibri" panose="020F0502020204030204" pitchFamily="34" charset="0"/>
                <a:sym typeface="Calibri"/>
              </a:rPr>
              <a:t>Panel de </a:t>
            </a:r>
            <a:r>
              <a:rPr lang="en-US" sz="1600" dirty="0" err="1">
                <a:solidFill>
                  <a:srgbClr val="2E2318"/>
                </a:solidFill>
                <a:latin typeface="Calibri" panose="020F0502020204030204" pitchFamily="34" charset="0"/>
                <a:ea typeface="Calibri" panose="020F0502020204030204" pitchFamily="34" charset="0"/>
                <a:cs typeface="Calibri" panose="020F0502020204030204" pitchFamily="34" charset="0"/>
                <a:sym typeface="Calibri"/>
              </a:rPr>
              <a:t>indicadores</a:t>
            </a:r>
            <a:r>
              <a:rPr lang="en-US" sz="1600" dirty="0">
                <a:solidFill>
                  <a:srgbClr val="2E2318"/>
                </a:solidFill>
                <a:latin typeface="Calibri" panose="020F0502020204030204" pitchFamily="34" charset="0"/>
                <a:ea typeface="Calibri" panose="020F0502020204030204" pitchFamily="34" charset="0"/>
                <a:cs typeface="Calibri" panose="020F0502020204030204" pitchFamily="34" charset="0"/>
                <a:sym typeface="Calibri"/>
              </a:rPr>
              <a:t> y </a:t>
            </a:r>
            <a:r>
              <a:rPr lang="en-US" sz="1600" dirty="0" err="1">
                <a:solidFill>
                  <a:srgbClr val="2E2318"/>
                </a:solidFill>
                <a:latin typeface="Calibri" panose="020F0502020204030204" pitchFamily="34" charset="0"/>
                <a:ea typeface="Calibri" panose="020F0502020204030204" pitchFamily="34" charset="0"/>
                <a:cs typeface="Calibri" panose="020F0502020204030204" pitchFamily="34" charset="0"/>
                <a:sym typeface="Calibri"/>
              </a:rPr>
              <a:t>gestión</a:t>
            </a:r>
            <a:r>
              <a:rPr lang="en-US" sz="1600" dirty="0">
                <a:solidFill>
                  <a:srgbClr val="2E2318"/>
                </a:solidFill>
                <a:latin typeface="Calibri" panose="020F0502020204030204" pitchFamily="34" charset="0"/>
                <a:ea typeface="Calibri" panose="020F0502020204030204" pitchFamily="34" charset="0"/>
                <a:cs typeface="Calibri" panose="020F0502020204030204" pitchFamily="34" charset="0"/>
                <a:sym typeface="Calibri"/>
              </a:rPr>
              <a:t> </a:t>
            </a:r>
            <a:r>
              <a:rPr lang="en-US" sz="1600" dirty="0" err="1">
                <a:solidFill>
                  <a:srgbClr val="2E2318"/>
                </a:solidFill>
                <a:latin typeface="Calibri" panose="020F0502020204030204" pitchFamily="34" charset="0"/>
                <a:ea typeface="Calibri" panose="020F0502020204030204" pitchFamily="34" charset="0"/>
                <a:cs typeface="Calibri" panose="020F0502020204030204" pitchFamily="34" charset="0"/>
                <a:sym typeface="Calibri"/>
              </a:rPr>
              <a:t>multisucursal</a:t>
            </a:r>
            <a:r>
              <a:rPr lang="en-US" sz="1600" dirty="0">
                <a:solidFill>
                  <a:srgbClr val="2E2318"/>
                </a:solidFill>
                <a:latin typeface="Calibri" panose="020F0502020204030204" pitchFamily="34" charset="0"/>
                <a:ea typeface="Calibri" panose="020F0502020204030204" pitchFamily="34" charset="0"/>
                <a:cs typeface="Calibri" panose="020F0502020204030204" pitchFamily="34" charset="0"/>
                <a:sym typeface="Calibri"/>
              </a:rPr>
              <a:t> con roles.</a:t>
            </a:r>
            <a:endParaRPr sz="16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207" name="Google Shape;207;p7"/>
          <p:cNvSpPr/>
          <p:nvPr/>
        </p:nvSpPr>
        <p:spPr>
          <a:xfrm>
            <a:off x="6309360" y="1371600"/>
            <a:ext cx="5349240" cy="4937760"/>
          </a:xfrm>
          <a:prstGeom prst="roundRect">
            <a:avLst>
              <a:gd name="adj" fmla="val 2222"/>
            </a:avLst>
          </a:prstGeom>
          <a:solidFill>
            <a:srgbClr val="4A2C1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209" name="Google Shape;209;p7"/>
          <p:cNvSpPr/>
          <p:nvPr/>
        </p:nvSpPr>
        <p:spPr>
          <a:xfrm>
            <a:off x="6629400" y="2103120"/>
            <a:ext cx="4754880" cy="4023360"/>
          </a:xfrm>
          <a:prstGeom prst="rect">
            <a:avLst/>
          </a:prstGeom>
          <a:noFill/>
          <a:ln>
            <a:noFill/>
          </a:ln>
        </p:spPr>
        <p:txBody>
          <a:bodyPr spcFirstLastPara="1" wrap="square" lIns="0" tIns="0" rIns="0" bIns="0" anchor="ctr" anchorCtr="0">
            <a:noAutofit/>
          </a:bodyPr>
          <a:lstStyle/>
          <a:p>
            <a:pPr marL="342900" marR="0" lvl="0" indent="-342900" algn="l" rtl="0">
              <a:spcBef>
                <a:spcPts val="0"/>
              </a:spcBef>
              <a:spcAft>
                <a:spcPts val="0"/>
              </a:spcAft>
              <a:buClr>
                <a:srgbClr val="F3EADC"/>
              </a:buClr>
              <a:buSzPts val="1300"/>
              <a:buFont typeface="Calibri"/>
              <a:buChar char="•"/>
            </a:pPr>
            <a:r>
              <a:rPr lang="en-US" sz="1600" dirty="0" err="1">
                <a:solidFill>
                  <a:srgbClr val="F3EADC"/>
                </a:solidFill>
                <a:latin typeface="Calibri" panose="020F0502020204030204" pitchFamily="34" charset="0"/>
                <a:ea typeface="Calibri" panose="020F0502020204030204" pitchFamily="34" charset="0"/>
                <a:cs typeface="Calibri" panose="020F0502020204030204" pitchFamily="34" charset="0"/>
                <a:sym typeface="Calibri"/>
              </a:rPr>
              <a:t>Disponibilidad</a:t>
            </a:r>
            <a:r>
              <a:rPr lang="en-US" sz="1600" dirty="0">
                <a:solidFill>
                  <a:srgbClr val="F3EADC"/>
                </a:solidFill>
                <a:latin typeface="Calibri" panose="020F0502020204030204" pitchFamily="34" charset="0"/>
                <a:ea typeface="Calibri" panose="020F0502020204030204" pitchFamily="34" charset="0"/>
                <a:cs typeface="Calibri" panose="020F0502020204030204" pitchFamily="34" charset="0"/>
                <a:sym typeface="Calibri"/>
              </a:rPr>
              <a:t>: punto de </a:t>
            </a:r>
            <a:r>
              <a:rPr lang="en-US" sz="1600" dirty="0" err="1">
                <a:solidFill>
                  <a:srgbClr val="F3EADC"/>
                </a:solidFill>
                <a:latin typeface="Calibri" panose="020F0502020204030204" pitchFamily="34" charset="0"/>
                <a:ea typeface="Calibri" panose="020F0502020204030204" pitchFamily="34" charset="0"/>
                <a:cs typeface="Calibri" panose="020F0502020204030204" pitchFamily="34" charset="0"/>
                <a:sym typeface="Calibri"/>
              </a:rPr>
              <a:t>venta</a:t>
            </a:r>
            <a:r>
              <a:rPr lang="en-US" sz="1600" dirty="0">
                <a:solidFill>
                  <a:srgbClr val="F3EADC"/>
                </a:solidFill>
                <a:latin typeface="Calibri" panose="020F0502020204030204" pitchFamily="34" charset="0"/>
                <a:ea typeface="Calibri" panose="020F0502020204030204" pitchFamily="34" charset="0"/>
                <a:cs typeface="Calibri" panose="020F0502020204030204" pitchFamily="34" charset="0"/>
                <a:sym typeface="Calibri"/>
              </a:rPr>
              <a:t> y </a:t>
            </a:r>
            <a:r>
              <a:rPr lang="en-US" sz="1600" dirty="0" err="1">
                <a:solidFill>
                  <a:srgbClr val="F3EADC"/>
                </a:solidFill>
                <a:latin typeface="Calibri" panose="020F0502020204030204" pitchFamily="34" charset="0"/>
                <a:ea typeface="Calibri" panose="020F0502020204030204" pitchFamily="34" charset="0"/>
                <a:cs typeface="Calibri" panose="020F0502020204030204" pitchFamily="34" charset="0"/>
                <a:sym typeface="Calibri"/>
              </a:rPr>
              <a:t>aplicación</a:t>
            </a:r>
            <a:r>
              <a:rPr lang="en-US" sz="1600" dirty="0">
                <a:solidFill>
                  <a:srgbClr val="F3EADC"/>
                </a:solidFill>
                <a:latin typeface="Calibri" panose="020F0502020204030204" pitchFamily="34" charset="0"/>
                <a:ea typeface="Calibri" panose="020F0502020204030204" pitchFamily="34" charset="0"/>
                <a:cs typeface="Calibri" panose="020F0502020204030204" pitchFamily="34" charset="0"/>
                <a:sym typeface="Calibri"/>
              </a:rPr>
              <a:t> de </a:t>
            </a:r>
            <a:r>
              <a:rPr lang="en-US" sz="1600" dirty="0" err="1">
                <a:solidFill>
                  <a:srgbClr val="F3EADC"/>
                </a:solidFill>
                <a:latin typeface="Calibri" panose="020F0502020204030204" pitchFamily="34" charset="0"/>
                <a:ea typeface="Calibri" panose="020F0502020204030204" pitchFamily="34" charset="0"/>
                <a:cs typeface="Calibri" panose="020F0502020204030204" pitchFamily="34" charset="0"/>
                <a:sym typeface="Calibri"/>
              </a:rPr>
              <a:t>producción</a:t>
            </a:r>
            <a:r>
              <a:rPr lang="en-US" sz="1600" dirty="0">
                <a:solidFill>
                  <a:srgbClr val="F3EADC"/>
                </a:solidFill>
                <a:latin typeface="Calibri" panose="020F0502020204030204" pitchFamily="34" charset="0"/>
                <a:ea typeface="Calibri" panose="020F0502020204030204" pitchFamily="34" charset="0"/>
                <a:cs typeface="Calibri" panose="020F0502020204030204" pitchFamily="34" charset="0"/>
                <a:sym typeface="Calibri"/>
              </a:rPr>
              <a:t> </a:t>
            </a:r>
            <a:r>
              <a:rPr lang="en-US" sz="1600" dirty="0" err="1">
                <a:solidFill>
                  <a:srgbClr val="F3EADC"/>
                </a:solidFill>
                <a:latin typeface="Calibri" panose="020F0502020204030204" pitchFamily="34" charset="0"/>
                <a:ea typeface="Calibri" panose="020F0502020204030204" pitchFamily="34" charset="0"/>
                <a:cs typeface="Calibri" panose="020F0502020204030204" pitchFamily="34" charset="0"/>
                <a:sym typeface="Calibri"/>
              </a:rPr>
              <a:t>operan</a:t>
            </a:r>
            <a:r>
              <a:rPr lang="en-US" sz="1600" dirty="0">
                <a:solidFill>
                  <a:srgbClr val="F3EADC"/>
                </a:solidFill>
                <a:latin typeface="Calibri" panose="020F0502020204030204" pitchFamily="34" charset="0"/>
                <a:ea typeface="Calibri" panose="020F0502020204030204" pitchFamily="34" charset="0"/>
                <a:cs typeface="Calibri" panose="020F0502020204030204" pitchFamily="34" charset="0"/>
                <a:sym typeface="Calibri"/>
              </a:rPr>
              <a:t> sin </a:t>
            </a:r>
            <a:r>
              <a:rPr lang="en-US" sz="1600" dirty="0" err="1">
                <a:solidFill>
                  <a:srgbClr val="F3EADC"/>
                </a:solidFill>
                <a:latin typeface="Calibri" panose="020F0502020204030204" pitchFamily="34" charset="0"/>
                <a:ea typeface="Calibri" panose="020F0502020204030204" pitchFamily="34" charset="0"/>
                <a:cs typeface="Calibri" panose="020F0502020204030204" pitchFamily="34" charset="0"/>
                <a:sym typeface="Calibri"/>
              </a:rPr>
              <a:t>conexión</a:t>
            </a:r>
            <a:r>
              <a:rPr lang="en-US" sz="1600" dirty="0">
                <a:solidFill>
                  <a:srgbClr val="F3EADC"/>
                </a:solidFill>
                <a:latin typeface="Calibri" panose="020F0502020204030204" pitchFamily="34" charset="0"/>
                <a:ea typeface="Calibri" panose="020F0502020204030204" pitchFamily="34" charset="0"/>
                <a:cs typeface="Calibri" panose="020F0502020204030204" pitchFamily="34" charset="0"/>
                <a:sym typeface="Calibri"/>
              </a:rPr>
              <a:t>.</a:t>
            </a:r>
            <a:endParaRPr sz="16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a:p>
            <a:pPr marL="342900" marR="0" lvl="0" indent="-342900" algn="l" rtl="0">
              <a:spcBef>
                <a:spcPts val="900"/>
              </a:spcBef>
              <a:spcAft>
                <a:spcPts val="0"/>
              </a:spcAft>
              <a:buClr>
                <a:srgbClr val="F3EADC"/>
              </a:buClr>
              <a:buSzPts val="1300"/>
              <a:buFont typeface="Calibri"/>
              <a:buChar char="•"/>
            </a:pPr>
            <a:r>
              <a:rPr lang="en-US" sz="1600" dirty="0" err="1">
                <a:solidFill>
                  <a:srgbClr val="F3EADC"/>
                </a:solidFill>
                <a:latin typeface="Calibri" panose="020F0502020204030204" pitchFamily="34" charset="0"/>
                <a:ea typeface="Calibri" panose="020F0502020204030204" pitchFamily="34" charset="0"/>
                <a:cs typeface="Calibri" panose="020F0502020204030204" pitchFamily="34" charset="0"/>
                <a:sym typeface="Calibri"/>
              </a:rPr>
              <a:t>Seguridad</a:t>
            </a:r>
            <a:r>
              <a:rPr lang="en-US" sz="1600" dirty="0">
                <a:solidFill>
                  <a:srgbClr val="F3EADC"/>
                </a:solidFill>
                <a:latin typeface="Calibri" panose="020F0502020204030204" pitchFamily="34" charset="0"/>
                <a:ea typeface="Calibri" panose="020F0502020204030204" pitchFamily="34" charset="0"/>
                <a:cs typeface="Calibri" panose="020F0502020204030204" pitchFamily="34" charset="0"/>
                <a:sym typeface="Calibri"/>
              </a:rPr>
              <a:t>: </a:t>
            </a:r>
            <a:r>
              <a:rPr lang="en-US" sz="1600" dirty="0" err="1">
                <a:solidFill>
                  <a:srgbClr val="F3EADC"/>
                </a:solidFill>
                <a:latin typeface="Calibri" panose="020F0502020204030204" pitchFamily="34" charset="0"/>
                <a:ea typeface="Calibri" panose="020F0502020204030204" pitchFamily="34" charset="0"/>
                <a:cs typeface="Calibri" panose="020F0502020204030204" pitchFamily="34" charset="0"/>
                <a:sym typeface="Calibri"/>
              </a:rPr>
              <a:t>autenticación</a:t>
            </a:r>
            <a:r>
              <a:rPr lang="en-US" sz="1600" dirty="0">
                <a:solidFill>
                  <a:srgbClr val="F3EADC"/>
                </a:solidFill>
                <a:latin typeface="Calibri" panose="020F0502020204030204" pitchFamily="34" charset="0"/>
                <a:ea typeface="Calibri" panose="020F0502020204030204" pitchFamily="34" charset="0"/>
                <a:cs typeface="Calibri" panose="020F0502020204030204" pitchFamily="34" charset="0"/>
                <a:sym typeface="Calibri"/>
              </a:rPr>
              <a:t>, </a:t>
            </a:r>
            <a:r>
              <a:rPr lang="en-US" sz="1600" dirty="0" err="1">
                <a:solidFill>
                  <a:srgbClr val="F3EADC"/>
                </a:solidFill>
                <a:latin typeface="Calibri" panose="020F0502020204030204" pitchFamily="34" charset="0"/>
                <a:ea typeface="Calibri" panose="020F0502020204030204" pitchFamily="34" charset="0"/>
                <a:cs typeface="Calibri" panose="020F0502020204030204" pitchFamily="34" charset="0"/>
                <a:sym typeface="Calibri"/>
              </a:rPr>
              <a:t>autorización</a:t>
            </a:r>
            <a:r>
              <a:rPr lang="en-US" sz="1600" dirty="0">
                <a:solidFill>
                  <a:srgbClr val="F3EADC"/>
                </a:solidFill>
                <a:latin typeface="Calibri" panose="020F0502020204030204" pitchFamily="34" charset="0"/>
                <a:ea typeface="Calibri" panose="020F0502020204030204" pitchFamily="34" charset="0"/>
                <a:cs typeface="Calibri" panose="020F0502020204030204" pitchFamily="34" charset="0"/>
                <a:sym typeface="Calibri"/>
              </a:rPr>
              <a:t> </a:t>
            </a:r>
            <a:r>
              <a:rPr lang="en-US" sz="1600" dirty="0" err="1">
                <a:solidFill>
                  <a:srgbClr val="F3EADC"/>
                </a:solidFill>
                <a:latin typeface="Calibri" panose="020F0502020204030204" pitchFamily="34" charset="0"/>
                <a:ea typeface="Calibri" panose="020F0502020204030204" pitchFamily="34" charset="0"/>
                <a:cs typeface="Calibri" panose="020F0502020204030204" pitchFamily="34" charset="0"/>
                <a:sym typeface="Calibri"/>
              </a:rPr>
              <a:t>por</a:t>
            </a:r>
            <a:r>
              <a:rPr lang="en-US" sz="1600" dirty="0">
                <a:solidFill>
                  <a:srgbClr val="F3EADC"/>
                </a:solidFill>
                <a:latin typeface="Calibri" panose="020F0502020204030204" pitchFamily="34" charset="0"/>
                <a:ea typeface="Calibri" panose="020F0502020204030204" pitchFamily="34" charset="0"/>
                <a:cs typeface="Calibri" panose="020F0502020204030204" pitchFamily="34" charset="0"/>
                <a:sym typeface="Calibri"/>
              </a:rPr>
              <a:t> </a:t>
            </a:r>
            <a:r>
              <a:rPr lang="en-US" sz="1600" dirty="0" err="1">
                <a:solidFill>
                  <a:srgbClr val="F3EADC"/>
                </a:solidFill>
                <a:latin typeface="Calibri" panose="020F0502020204030204" pitchFamily="34" charset="0"/>
                <a:ea typeface="Calibri" panose="020F0502020204030204" pitchFamily="34" charset="0"/>
                <a:cs typeface="Calibri" panose="020F0502020204030204" pitchFamily="34" charset="0"/>
                <a:sym typeface="Calibri"/>
              </a:rPr>
              <a:t>rol</a:t>
            </a:r>
            <a:r>
              <a:rPr lang="en-US" sz="1600" dirty="0">
                <a:solidFill>
                  <a:srgbClr val="F3EADC"/>
                </a:solidFill>
                <a:latin typeface="Calibri" panose="020F0502020204030204" pitchFamily="34" charset="0"/>
                <a:ea typeface="Calibri" panose="020F0502020204030204" pitchFamily="34" charset="0"/>
                <a:cs typeface="Calibri" panose="020F0502020204030204" pitchFamily="34" charset="0"/>
                <a:sym typeface="Calibri"/>
              </a:rPr>
              <a:t> y </a:t>
            </a:r>
            <a:r>
              <a:rPr lang="en-US" sz="1600" dirty="0" err="1">
                <a:solidFill>
                  <a:srgbClr val="F3EADC"/>
                </a:solidFill>
                <a:latin typeface="Calibri" panose="020F0502020204030204" pitchFamily="34" charset="0"/>
                <a:ea typeface="Calibri" panose="020F0502020204030204" pitchFamily="34" charset="0"/>
                <a:cs typeface="Calibri" panose="020F0502020204030204" pitchFamily="34" charset="0"/>
                <a:sym typeface="Calibri"/>
              </a:rPr>
              <a:t>aislamiento</a:t>
            </a:r>
            <a:r>
              <a:rPr lang="en-US" sz="1600" dirty="0">
                <a:solidFill>
                  <a:srgbClr val="F3EADC"/>
                </a:solidFill>
                <a:latin typeface="Calibri" panose="020F0502020204030204" pitchFamily="34" charset="0"/>
                <a:ea typeface="Calibri" panose="020F0502020204030204" pitchFamily="34" charset="0"/>
                <a:cs typeface="Calibri" panose="020F0502020204030204" pitchFamily="34" charset="0"/>
                <a:sym typeface="Calibri"/>
              </a:rPr>
              <a:t> de </a:t>
            </a:r>
            <a:r>
              <a:rPr lang="en-US" sz="1600" dirty="0" err="1">
                <a:solidFill>
                  <a:srgbClr val="F3EADC"/>
                </a:solidFill>
                <a:latin typeface="Calibri" panose="020F0502020204030204" pitchFamily="34" charset="0"/>
                <a:ea typeface="Calibri" panose="020F0502020204030204" pitchFamily="34" charset="0"/>
                <a:cs typeface="Calibri" panose="020F0502020204030204" pitchFamily="34" charset="0"/>
                <a:sym typeface="Calibri"/>
              </a:rPr>
              <a:t>datos</a:t>
            </a:r>
            <a:r>
              <a:rPr lang="en-US" sz="1600" dirty="0">
                <a:solidFill>
                  <a:srgbClr val="F3EADC"/>
                </a:solidFill>
                <a:latin typeface="Calibri" panose="020F0502020204030204" pitchFamily="34" charset="0"/>
                <a:ea typeface="Calibri" panose="020F0502020204030204" pitchFamily="34" charset="0"/>
                <a:cs typeface="Calibri" panose="020F0502020204030204" pitchFamily="34" charset="0"/>
                <a:sym typeface="Calibri"/>
              </a:rPr>
              <a:t> </a:t>
            </a:r>
            <a:r>
              <a:rPr lang="en-US" sz="1600" dirty="0" err="1">
                <a:solidFill>
                  <a:srgbClr val="F3EADC"/>
                </a:solidFill>
                <a:latin typeface="Calibri" panose="020F0502020204030204" pitchFamily="34" charset="0"/>
                <a:ea typeface="Calibri" panose="020F0502020204030204" pitchFamily="34" charset="0"/>
                <a:cs typeface="Calibri" panose="020F0502020204030204" pitchFamily="34" charset="0"/>
                <a:sym typeface="Calibri"/>
              </a:rPr>
              <a:t>por</a:t>
            </a:r>
            <a:r>
              <a:rPr lang="en-US" sz="1600" dirty="0">
                <a:solidFill>
                  <a:srgbClr val="F3EADC"/>
                </a:solidFill>
                <a:latin typeface="Calibri" panose="020F0502020204030204" pitchFamily="34" charset="0"/>
                <a:ea typeface="Calibri" panose="020F0502020204030204" pitchFamily="34" charset="0"/>
                <a:cs typeface="Calibri" panose="020F0502020204030204" pitchFamily="34" charset="0"/>
                <a:sym typeface="Calibri"/>
              </a:rPr>
              <a:t> </a:t>
            </a:r>
            <a:r>
              <a:rPr lang="en-US" sz="1600" dirty="0" err="1">
                <a:solidFill>
                  <a:srgbClr val="F3EADC"/>
                </a:solidFill>
                <a:latin typeface="Calibri" panose="020F0502020204030204" pitchFamily="34" charset="0"/>
                <a:ea typeface="Calibri" panose="020F0502020204030204" pitchFamily="34" charset="0"/>
                <a:cs typeface="Calibri" panose="020F0502020204030204" pitchFamily="34" charset="0"/>
                <a:sym typeface="Calibri"/>
              </a:rPr>
              <a:t>panadería</a:t>
            </a:r>
            <a:r>
              <a:rPr lang="en-US" sz="1600" dirty="0">
                <a:solidFill>
                  <a:srgbClr val="F3EADC"/>
                </a:solidFill>
                <a:latin typeface="Calibri" panose="020F0502020204030204" pitchFamily="34" charset="0"/>
                <a:ea typeface="Calibri" panose="020F0502020204030204" pitchFamily="34" charset="0"/>
                <a:cs typeface="Calibri" panose="020F0502020204030204" pitchFamily="34" charset="0"/>
                <a:sym typeface="Calibri"/>
              </a:rPr>
              <a:t>.</a:t>
            </a:r>
            <a:endParaRPr sz="16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a:p>
            <a:pPr marL="342900" marR="0" lvl="0" indent="-342900" algn="l" rtl="0">
              <a:spcBef>
                <a:spcPts val="900"/>
              </a:spcBef>
              <a:spcAft>
                <a:spcPts val="0"/>
              </a:spcAft>
              <a:buClr>
                <a:srgbClr val="F3EADC"/>
              </a:buClr>
              <a:buSzPts val="1300"/>
              <a:buFont typeface="Calibri"/>
              <a:buChar char="•"/>
            </a:pPr>
            <a:r>
              <a:rPr lang="en-US" sz="1600" dirty="0" err="1">
                <a:solidFill>
                  <a:srgbClr val="F3EADC"/>
                </a:solidFill>
                <a:latin typeface="Calibri" panose="020F0502020204030204" pitchFamily="34" charset="0"/>
                <a:ea typeface="Calibri" panose="020F0502020204030204" pitchFamily="34" charset="0"/>
                <a:cs typeface="Calibri" panose="020F0502020204030204" pitchFamily="34" charset="0"/>
                <a:sym typeface="Calibri"/>
              </a:rPr>
              <a:t>Escalabilidad</a:t>
            </a:r>
            <a:r>
              <a:rPr lang="en-US" sz="1600" dirty="0">
                <a:solidFill>
                  <a:srgbClr val="F3EADC"/>
                </a:solidFill>
                <a:latin typeface="Calibri" panose="020F0502020204030204" pitchFamily="34" charset="0"/>
                <a:ea typeface="Calibri" panose="020F0502020204030204" pitchFamily="34" charset="0"/>
                <a:cs typeface="Calibri" panose="020F0502020204030204" pitchFamily="34" charset="0"/>
                <a:sym typeface="Calibri"/>
              </a:rPr>
              <a:t>: </a:t>
            </a:r>
            <a:r>
              <a:rPr lang="en-US" sz="1600" dirty="0" err="1">
                <a:solidFill>
                  <a:srgbClr val="F3EADC"/>
                </a:solidFill>
                <a:latin typeface="Calibri" panose="020F0502020204030204" pitchFamily="34" charset="0"/>
                <a:ea typeface="Calibri" panose="020F0502020204030204" pitchFamily="34" charset="0"/>
                <a:cs typeface="Calibri" panose="020F0502020204030204" pitchFamily="34" charset="0"/>
                <a:sym typeface="Calibri"/>
              </a:rPr>
              <a:t>arquitectura</a:t>
            </a:r>
            <a:r>
              <a:rPr lang="en-US" sz="1600" dirty="0">
                <a:solidFill>
                  <a:srgbClr val="F3EADC"/>
                </a:solidFill>
                <a:latin typeface="Calibri" panose="020F0502020204030204" pitchFamily="34" charset="0"/>
                <a:ea typeface="Calibri" panose="020F0502020204030204" pitchFamily="34" charset="0"/>
                <a:cs typeface="Calibri" panose="020F0502020204030204" pitchFamily="34" charset="0"/>
                <a:sym typeface="Calibri"/>
              </a:rPr>
              <a:t> multi-tenant y </a:t>
            </a:r>
            <a:r>
              <a:rPr lang="en-US" sz="1600" dirty="0" err="1">
                <a:solidFill>
                  <a:srgbClr val="F3EADC"/>
                </a:solidFill>
                <a:latin typeface="Calibri" panose="020F0502020204030204" pitchFamily="34" charset="0"/>
                <a:ea typeface="Calibri" panose="020F0502020204030204" pitchFamily="34" charset="0"/>
                <a:cs typeface="Calibri" panose="020F0502020204030204" pitchFamily="34" charset="0"/>
                <a:sym typeface="Calibri"/>
              </a:rPr>
              <a:t>multisucursal</a:t>
            </a:r>
            <a:r>
              <a:rPr lang="en-US" sz="1600" dirty="0">
                <a:solidFill>
                  <a:srgbClr val="F3EADC"/>
                </a:solidFill>
                <a:latin typeface="Calibri" panose="020F0502020204030204" pitchFamily="34" charset="0"/>
                <a:ea typeface="Calibri" panose="020F0502020204030204" pitchFamily="34" charset="0"/>
                <a:cs typeface="Calibri" panose="020F0502020204030204" pitchFamily="34" charset="0"/>
                <a:sym typeface="Calibri"/>
              </a:rPr>
              <a:t> </a:t>
            </a:r>
            <a:r>
              <a:rPr lang="en-US" sz="1600" dirty="0" err="1">
                <a:solidFill>
                  <a:srgbClr val="F3EADC"/>
                </a:solidFill>
                <a:latin typeface="Calibri" panose="020F0502020204030204" pitchFamily="34" charset="0"/>
                <a:ea typeface="Calibri" panose="020F0502020204030204" pitchFamily="34" charset="0"/>
                <a:cs typeface="Calibri" panose="020F0502020204030204" pitchFamily="34" charset="0"/>
                <a:sym typeface="Calibri"/>
              </a:rPr>
              <a:t>desde</a:t>
            </a:r>
            <a:r>
              <a:rPr lang="en-US" sz="1600" dirty="0">
                <a:solidFill>
                  <a:srgbClr val="F3EADC"/>
                </a:solidFill>
                <a:latin typeface="Calibri" panose="020F0502020204030204" pitchFamily="34" charset="0"/>
                <a:ea typeface="Calibri" panose="020F0502020204030204" pitchFamily="34" charset="0"/>
                <a:cs typeface="Calibri" panose="020F0502020204030204" pitchFamily="34" charset="0"/>
                <a:sym typeface="Calibri"/>
              </a:rPr>
              <a:t> el </a:t>
            </a:r>
            <a:r>
              <a:rPr lang="en-US" sz="1600" dirty="0" err="1">
                <a:solidFill>
                  <a:srgbClr val="F3EADC"/>
                </a:solidFill>
                <a:latin typeface="Calibri" panose="020F0502020204030204" pitchFamily="34" charset="0"/>
                <a:ea typeface="Calibri" panose="020F0502020204030204" pitchFamily="34" charset="0"/>
                <a:cs typeface="Calibri" panose="020F0502020204030204" pitchFamily="34" charset="0"/>
                <a:sym typeface="Calibri"/>
              </a:rPr>
              <a:t>diseño</a:t>
            </a:r>
            <a:r>
              <a:rPr lang="en-US" sz="1600" dirty="0">
                <a:solidFill>
                  <a:srgbClr val="F3EADC"/>
                </a:solidFill>
                <a:latin typeface="Calibri" panose="020F0502020204030204" pitchFamily="34" charset="0"/>
                <a:ea typeface="Calibri" panose="020F0502020204030204" pitchFamily="34" charset="0"/>
                <a:cs typeface="Calibri" panose="020F0502020204030204" pitchFamily="34" charset="0"/>
                <a:sym typeface="Calibri"/>
              </a:rPr>
              <a:t>.</a:t>
            </a:r>
            <a:endParaRPr sz="16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a:p>
            <a:pPr marL="342900" marR="0" lvl="0" indent="-342900" algn="l" rtl="0">
              <a:spcBef>
                <a:spcPts val="900"/>
              </a:spcBef>
              <a:spcAft>
                <a:spcPts val="0"/>
              </a:spcAft>
              <a:buClr>
                <a:srgbClr val="F3EADC"/>
              </a:buClr>
              <a:buSzPts val="1300"/>
              <a:buFont typeface="Calibri"/>
              <a:buChar char="•"/>
            </a:pPr>
            <a:r>
              <a:rPr lang="en-US" sz="1600" dirty="0" err="1">
                <a:solidFill>
                  <a:srgbClr val="F3EADC"/>
                </a:solidFill>
                <a:latin typeface="Calibri" panose="020F0502020204030204" pitchFamily="34" charset="0"/>
                <a:ea typeface="Calibri" panose="020F0502020204030204" pitchFamily="34" charset="0"/>
                <a:cs typeface="Calibri" panose="020F0502020204030204" pitchFamily="34" charset="0"/>
                <a:sym typeface="Calibri"/>
              </a:rPr>
              <a:t>Mantenibilidad</a:t>
            </a:r>
            <a:r>
              <a:rPr lang="en-US" sz="1600" dirty="0">
                <a:solidFill>
                  <a:srgbClr val="F3EADC"/>
                </a:solidFill>
                <a:latin typeface="Calibri" panose="020F0502020204030204" pitchFamily="34" charset="0"/>
                <a:ea typeface="Calibri" panose="020F0502020204030204" pitchFamily="34" charset="0"/>
                <a:cs typeface="Calibri" panose="020F0502020204030204" pitchFamily="34" charset="0"/>
                <a:sym typeface="Calibri"/>
              </a:rPr>
              <a:t>: </a:t>
            </a:r>
            <a:r>
              <a:rPr lang="en-US" sz="1600" dirty="0" err="1">
                <a:solidFill>
                  <a:srgbClr val="F3EADC"/>
                </a:solidFill>
                <a:latin typeface="Calibri" panose="020F0502020204030204" pitchFamily="34" charset="0"/>
                <a:ea typeface="Calibri" panose="020F0502020204030204" pitchFamily="34" charset="0"/>
                <a:cs typeface="Calibri" panose="020F0502020204030204" pitchFamily="34" charset="0"/>
                <a:sym typeface="Calibri"/>
              </a:rPr>
              <a:t>capa</a:t>
            </a:r>
            <a:r>
              <a:rPr lang="en-US" sz="1600" dirty="0">
                <a:solidFill>
                  <a:srgbClr val="F3EADC"/>
                </a:solidFill>
                <a:latin typeface="Calibri" panose="020F0502020204030204" pitchFamily="34" charset="0"/>
                <a:ea typeface="Calibri" panose="020F0502020204030204" pitchFamily="34" charset="0"/>
                <a:cs typeface="Calibri" panose="020F0502020204030204" pitchFamily="34" charset="0"/>
                <a:sym typeface="Calibri"/>
              </a:rPr>
              <a:t> de </a:t>
            </a:r>
            <a:r>
              <a:rPr lang="en-US" sz="1600" dirty="0" err="1">
                <a:solidFill>
                  <a:srgbClr val="F3EADC"/>
                </a:solidFill>
                <a:latin typeface="Calibri" panose="020F0502020204030204" pitchFamily="34" charset="0"/>
                <a:ea typeface="Calibri" panose="020F0502020204030204" pitchFamily="34" charset="0"/>
                <a:cs typeface="Calibri" panose="020F0502020204030204" pitchFamily="34" charset="0"/>
                <a:sym typeface="Calibri"/>
              </a:rPr>
              <a:t>abstracción</a:t>
            </a:r>
            <a:r>
              <a:rPr lang="en-US" sz="1600" dirty="0">
                <a:solidFill>
                  <a:srgbClr val="F3EADC"/>
                </a:solidFill>
                <a:latin typeface="Calibri" panose="020F0502020204030204" pitchFamily="34" charset="0"/>
                <a:ea typeface="Calibri" panose="020F0502020204030204" pitchFamily="34" charset="0"/>
                <a:cs typeface="Calibri" panose="020F0502020204030204" pitchFamily="34" charset="0"/>
                <a:sym typeface="Calibri"/>
              </a:rPr>
              <a:t> de </a:t>
            </a:r>
            <a:r>
              <a:rPr lang="en-US" sz="1600" dirty="0" err="1">
                <a:solidFill>
                  <a:srgbClr val="F3EADC"/>
                </a:solidFill>
                <a:latin typeface="Calibri" panose="020F0502020204030204" pitchFamily="34" charset="0"/>
                <a:ea typeface="Calibri" panose="020F0502020204030204" pitchFamily="34" charset="0"/>
                <a:cs typeface="Calibri" panose="020F0502020204030204" pitchFamily="34" charset="0"/>
                <a:sym typeface="Calibri"/>
              </a:rPr>
              <a:t>dispositivos</a:t>
            </a:r>
            <a:r>
              <a:rPr lang="en-US" sz="1600" dirty="0">
                <a:solidFill>
                  <a:srgbClr val="F3EADC"/>
                </a:solidFill>
                <a:latin typeface="Calibri" panose="020F0502020204030204" pitchFamily="34" charset="0"/>
                <a:ea typeface="Calibri" panose="020F0502020204030204" pitchFamily="34" charset="0"/>
                <a:cs typeface="Calibri" panose="020F0502020204030204" pitchFamily="34" charset="0"/>
                <a:sym typeface="Calibri"/>
              </a:rPr>
              <a:t>; </a:t>
            </a:r>
            <a:r>
              <a:rPr lang="en-US" sz="1600" dirty="0" err="1">
                <a:solidFill>
                  <a:srgbClr val="F3EADC"/>
                </a:solidFill>
                <a:latin typeface="Calibri" panose="020F0502020204030204" pitchFamily="34" charset="0"/>
                <a:ea typeface="Calibri" panose="020F0502020204030204" pitchFamily="34" charset="0"/>
                <a:cs typeface="Calibri" panose="020F0502020204030204" pitchFamily="34" charset="0"/>
                <a:sym typeface="Calibri"/>
              </a:rPr>
              <a:t>incorporar</a:t>
            </a:r>
            <a:r>
              <a:rPr lang="en-US" sz="1600" dirty="0">
                <a:solidFill>
                  <a:srgbClr val="F3EADC"/>
                </a:solidFill>
                <a:latin typeface="Calibri" panose="020F0502020204030204" pitchFamily="34" charset="0"/>
                <a:ea typeface="Calibri" panose="020F0502020204030204" pitchFamily="34" charset="0"/>
                <a:cs typeface="Calibri" panose="020F0502020204030204" pitchFamily="34" charset="0"/>
                <a:sym typeface="Calibri"/>
              </a:rPr>
              <a:t> hardware equivale a </a:t>
            </a:r>
            <a:r>
              <a:rPr lang="en-US" sz="1600" dirty="0" err="1">
                <a:solidFill>
                  <a:srgbClr val="F3EADC"/>
                </a:solidFill>
                <a:latin typeface="Calibri" panose="020F0502020204030204" pitchFamily="34" charset="0"/>
                <a:ea typeface="Calibri" panose="020F0502020204030204" pitchFamily="34" charset="0"/>
                <a:cs typeface="Calibri" panose="020F0502020204030204" pitchFamily="34" charset="0"/>
                <a:sym typeface="Calibri"/>
              </a:rPr>
              <a:t>incorporar</a:t>
            </a:r>
            <a:r>
              <a:rPr lang="en-US" sz="1600" dirty="0">
                <a:solidFill>
                  <a:srgbClr val="F3EADC"/>
                </a:solidFill>
                <a:latin typeface="Calibri" panose="020F0502020204030204" pitchFamily="34" charset="0"/>
                <a:ea typeface="Calibri" panose="020F0502020204030204" pitchFamily="34" charset="0"/>
                <a:cs typeface="Calibri" panose="020F0502020204030204" pitchFamily="34" charset="0"/>
                <a:sym typeface="Calibri"/>
              </a:rPr>
              <a:t> un </a:t>
            </a:r>
            <a:r>
              <a:rPr lang="en-US" sz="1600" dirty="0" err="1">
                <a:solidFill>
                  <a:srgbClr val="F3EADC"/>
                </a:solidFill>
                <a:latin typeface="Calibri" panose="020F0502020204030204" pitchFamily="34" charset="0"/>
                <a:ea typeface="Calibri" panose="020F0502020204030204" pitchFamily="34" charset="0"/>
                <a:cs typeface="Calibri" panose="020F0502020204030204" pitchFamily="34" charset="0"/>
                <a:sym typeface="Calibri"/>
              </a:rPr>
              <a:t>controlador</a:t>
            </a:r>
            <a:r>
              <a:rPr lang="en-US" sz="1600" dirty="0">
                <a:solidFill>
                  <a:srgbClr val="F3EADC"/>
                </a:solidFill>
                <a:latin typeface="Calibri" panose="020F0502020204030204" pitchFamily="34" charset="0"/>
                <a:ea typeface="Calibri" panose="020F0502020204030204" pitchFamily="34" charset="0"/>
                <a:cs typeface="Calibri" panose="020F0502020204030204" pitchFamily="34" charset="0"/>
                <a:sym typeface="Calibri"/>
              </a:rPr>
              <a:t>.</a:t>
            </a:r>
            <a:endParaRPr sz="16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a:p>
            <a:pPr marL="342900" marR="0" lvl="0" indent="-342900" algn="l" rtl="0">
              <a:spcBef>
                <a:spcPts val="900"/>
              </a:spcBef>
              <a:spcAft>
                <a:spcPts val="0"/>
              </a:spcAft>
              <a:buClr>
                <a:srgbClr val="F3EADC"/>
              </a:buClr>
              <a:buSzPts val="1300"/>
              <a:buFont typeface="Calibri"/>
              <a:buChar char="•"/>
            </a:pPr>
            <a:r>
              <a:rPr lang="en-US" sz="1600" dirty="0" err="1">
                <a:solidFill>
                  <a:srgbClr val="F3EADC"/>
                </a:solidFill>
                <a:latin typeface="Calibri" panose="020F0502020204030204" pitchFamily="34" charset="0"/>
                <a:ea typeface="Calibri" panose="020F0502020204030204" pitchFamily="34" charset="0"/>
                <a:cs typeface="Calibri" panose="020F0502020204030204" pitchFamily="34" charset="0"/>
                <a:sym typeface="Calibri"/>
              </a:rPr>
              <a:t>Usabilidad</a:t>
            </a:r>
            <a:r>
              <a:rPr lang="en-US" sz="1600" dirty="0">
                <a:solidFill>
                  <a:srgbClr val="F3EADC"/>
                </a:solidFill>
                <a:latin typeface="Calibri" panose="020F0502020204030204" pitchFamily="34" charset="0"/>
                <a:ea typeface="Calibri" panose="020F0502020204030204" pitchFamily="34" charset="0"/>
                <a:cs typeface="Calibri" panose="020F0502020204030204" pitchFamily="34" charset="0"/>
                <a:sym typeface="Calibri"/>
              </a:rPr>
              <a:t>: </a:t>
            </a:r>
            <a:r>
              <a:rPr lang="en-US" sz="1600" dirty="0" err="1">
                <a:solidFill>
                  <a:srgbClr val="F3EADC"/>
                </a:solidFill>
                <a:latin typeface="Calibri" panose="020F0502020204030204" pitchFamily="34" charset="0"/>
                <a:ea typeface="Calibri" panose="020F0502020204030204" pitchFamily="34" charset="0"/>
                <a:cs typeface="Calibri" panose="020F0502020204030204" pitchFamily="34" charset="0"/>
                <a:sym typeface="Calibri"/>
              </a:rPr>
              <a:t>flujo</a:t>
            </a:r>
            <a:r>
              <a:rPr lang="en-US" sz="1600" dirty="0">
                <a:solidFill>
                  <a:srgbClr val="F3EADC"/>
                </a:solidFill>
                <a:latin typeface="Calibri" panose="020F0502020204030204" pitchFamily="34" charset="0"/>
                <a:ea typeface="Calibri" panose="020F0502020204030204" pitchFamily="34" charset="0"/>
                <a:cs typeface="Calibri" panose="020F0502020204030204" pitchFamily="34" charset="0"/>
                <a:sym typeface="Calibri"/>
              </a:rPr>
              <a:t> de </a:t>
            </a:r>
            <a:r>
              <a:rPr lang="en-US" sz="1600" dirty="0" err="1">
                <a:solidFill>
                  <a:srgbClr val="F3EADC"/>
                </a:solidFill>
                <a:latin typeface="Calibri" panose="020F0502020204030204" pitchFamily="34" charset="0"/>
                <a:ea typeface="Calibri" panose="020F0502020204030204" pitchFamily="34" charset="0"/>
                <a:cs typeface="Calibri" panose="020F0502020204030204" pitchFamily="34" charset="0"/>
                <a:sym typeface="Calibri"/>
              </a:rPr>
              <a:t>venta</a:t>
            </a:r>
            <a:r>
              <a:rPr lang="en-US" sz="1600" dirty="0">
                <a:solidFill>
                  <a:srgbClr val="F3EADC"/>
                </a:solidFill>
                <a:latin typeface="Calibri" panose="020F0502020204030204" pitchFamily="34" charset="0"/>
                <a:ea typeface="Calibri" panose="020F0502020204030204" pitchFamily="34" charset="0"/>
                <a:cs typeface="Calibri" panose="020F0502020204030204" pitchFamily="34" charset="0"/>
                <a:sym typeface="Calibri"/>
              </a:rPr>
              <a:t> </a:t>
            </a:r>
            <a:r>
              <a:rPr lang="en-US" sz="1600" dirty="0" err="1">
                <a:solidFill>
                  <a:srgbClr val="F3EADC"/>
                </a:solidFill>
                <a:latin typeface="Calibri" panose="020F0502020204030204" pitchFamily="34" charset="0"/>
                <a:ea typeface="Calibri" panose="020F0502020204030204" pitchFamily="34" charset="0"/>
                <a:cs typeface="Calibri" panose="020F0502020204030204" pitchFamily="34" charset="0"/>
                <a:sym typeface="Calibri"/>
              </a:rPr>
              <a:t>apto</a:t>
            </a:r>
            <a:r>
              <a:rPr lang="en-US" sz="1600" dirty="0">
                <a:solidFill>
                  <a:srgbClr val="F3EADC"/>
                </a:solidFill>
                <a:latin typeface="Calibri" panose="020F0502020204030204" pitchFamily="34" charset="0"/>
                <a:ea typeface="Calibri" panose="020F0502020204030204" pitchFamily="34" charset="0"/>
                <a:cs typeface="Calibri" panose="020F0502020204030204" pitchFamily="34" charset="0"/>
                <a:sym typeface="Calibri"/>
              </a:rPr>
              <a:t> para </a:t>
            </a:r>
            <a:r>
              <a:rPr lang="en-US" sz="1600" dirty="0" err="1">
                <a:solidFill>
                  <a:srgbClr val="F3EADC"/>
                </a:solidFill>
                <a:latin typeface="Calibri" panose="020F0502020204030204" pitchFamily="34" charset="0"/>
                <a:ea typeface="Calibri" panose="020F0502020204030204" pitchFamily="34" charset="0"/>
                <a:cs typeface="Calibri" panose="020F0502020204030204" pitchFamily="34" charset="0"/>
                <a:sym typeface="Calibri"/>
              </a:rPr>
              <a:t>horario</a:t>
            </a:r>
            <a:r>
              <a:rPr lang="en-US" sz="1600" dirty="0">
                <a:solidFill>
                  <a:srgbClr val="F3EADC"/>
                </a:solidFill>
                <a:latin typeface="Calibri" panose="020F0502020204030204" pitchFamily="34" charset="0"/>
                <a:ea typeface="Calibri" panose="020F0502020204030204" pitchFamily="34" charset="0"/>
                <a:cs typeface="Calibri" panose="020F0502020204030204" pitchFamily="34" charset="0"/>
                <a:sym typeface="Calibri"/>
              </a:rPr>
              <a:t> </a:t>
            </a:r>
            <a:r>
              <a:rPr lang="en-US" sz="1600" dirty="0" err="1">
                <a:solidFill>
                  <a:srgbClr val="F3EADC"/>
                </a:solidFill>
                <a:latin typeface="Calibri" panose="020F0502020204030204" pitchFamily="34" charset="0"/>
                <a:ea typeface="Calibri" panose="020F0502020204030204" pitchFamily="34" charset="0"/>
                <a:cs typeface="Calibri" panose="020F0502020204030204" pitchFamily="34" charset="0"/>
                <a:sym typeface="Calibri"/>
              </a:rPr>
              <a:t>punta</a:t>
            </a:r>
            <a:r>
              <a:rPr lang="en-US" sz="1600" dirty="0">
                <a:solidFill>
                  <a:srgbClr val="F3EADC"/>
                </a:solidFill>
                <a:latin typeface="Calibri" panose="020F0502020204030204" pitchFamily="34" charset="0"/>
                <a:ea typeface="Calibri" panose="020F0502020204030204" pitchFamily="34" charset="0"/>
                <a:cs typeface="Calibri" panose="020F0502020204030204" pitchFamily="34" charset="0"/>
                <a:sym typeface="Calibri"/>
              </a:rPr>
              <a:t> y para personal no </a:t>
            </a:r>
            <a:r>
              <a:rPr lang="en-US" sz="1600" dirty="0" err="1">
                <a:solidFill>
                  <a:srgbClr val="F3EADC"/>
                </a:solidFill>
                <a:latin typeface="Calibri" panose="020F0502020204030204" pitchFamily="34" charset="0"/>
                <a:ea typeface="Calibri" panose="020F0502020204030204" pitchFamily="34" charset="0"/>
                <a:cs typeface="Calibri" panose="020F0502020204030204" pitchFamily="34" charset="0"/>
                <a:sym typeface="Calibri"/>
              </a:rPr>
              <a:t>técnico</a:t>
            </a:r>
            <a:r>
              <a:rPr lang="en-US" sz="1600" dirty="0">
                <a:solidFill>
                  <a:srgbClr val="F3EADC"/>
                </a:solidFill>
                <a:latin typeface="Calibri" panose="020F0502020204030204" pitchFamily="34" charset="0"/>
                <a:ea typeface="Calibri" panose="020F0502020204030204" pitchFamily="34" charset="0"/>
                <a:cs typeface="Calibri" panose="020F0502020204030204" pitchFamily="34" charset="0"/>
                <a:sym typeface="Calibri"/>
              </a:rPr>
              <a:t>.</a:t>
            </a:r>
            <a:endParaRPr sz="16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a:p>
            <a:pPr marL="342900" marR="0" lvl="0" indent="-342900" algn="l" rtl="0">
              <a:spcBef>
                <a:spcPts val="900"/>
              </a:spcBef>
              <a:spcAft>
                <a:spcPts val="0"/>
              </a:spcAft>
              <a:buClr>
                <a:srgbClr val="F3EADC"/>
              </a:buClr>
              <a:buSzPts val="1300"/>
              <a:buFont typeface="Calibri"/>
              <a:buChar char="•"/>
            </a:pPr>
            <a:r>
              <a:rPr lang="en-US" sz="1600" dirty="0" err="1">
                <a:solidFill>
                  <a:srgbClr val="F3EADC"/>
                </a:solidFill>
                <a:latin typeface="Calibri" panose="020F0502020204030204" pitchFamily="34" charset="0"/>
                <a:ea typeface="Calibri" panose="020F0502020204030204" pitchFamily="34" charset="0"/>
                <a:cs typeface="Calibri" panose="020F0502020204030204" pitchFamily="34" charset="0"/>
                <a:sym typeface="Calibri"/>
              </a:rPr>
              <a:t>Integridad</a:t>
            </a:r>
            <a:r>
              <a:rPr lang="en-US" sz="1600" dirty="0">
                <a:solidFill>
                  <a:srgbClr val="F3EADC"/>
                </a:solidFill>
                <a:latin typeface="Calibri" panose="020F0502020204030204" pitchFamily="34" charset="0"/>
                <a:ea typeface="Calibri" panose="020F0502020204030204" pitchFamily="34" charset="0"/>
                <a:cs typeface="Calibri" panose="020F0502020204030204" pitchFamily="34" charset="0"/>
                <a:sym typeface="Calibri"/>
              </a:rPr>
              <a:t>: </a:t>
            </a:r>
            <a:r>
              <a:rPr lang="en-US" sz="1600" dirty="0" err="1">
                <a:solidFill>
                  <a:srgbClr val="F3EADC"/>
                </a:solidFill>
                <a:latin typeface="Calibri" panose="020F0502020204030204" pitchFamily="34" charset="0"/>
                <a:ea typeface="Calibri" panose="020F0502020204030204" pitchFamily="34" charset="0"/>
                <a:cs typeface="Calibri" panose="020F0502020204030204" pitchFamily="34" charset="0"/>
                <a:sym typeface="Calibri"/>
              </a:rPr>
              <a:t>ventas</a:t>
            </a:r>
            <a:r>
              <a:rPr lang="en-US" sz="1600" dirty="0">
                <a:solidFill>
                  <a:srgbClr val="F3EADC"/>
                </a:solidFill>
                <a:latin typeface="Calibri" panose="020F0502020204030204" pitchFamily="34" charset="0"/>
                <a:ea typeface="Calibri" panose="020F0502020204030204" pitchFamily="34" charset="0"/>
                <a:cs typeface="Calibri" panose="020F0502020204030204" pitchFamily="34" charset="0"/>
                <a:sym typeface="Calibri"/>
              </a:rPr>
              <a:t> e </a:t>
            </a:r>
            <a:r>
              <a:rPr lang="en-US" sz="1600" dirty="0" err="1">
                <a:solidFill>
                  <a:srgbClr val="F3EADC"/>
                </a:solidFill>
                <a:latin typeface="Calibri" panose="020F0502020204030204" pitchFamily="34" charset="0"/>
                <a:ea typeface="Calibri" panose="020F0502020204030204" pitchFamily="34" charset="0"/>
                <a:cs typeface="Calibri" panose="020F0502020204030204" pitchFamily="34" charset="0"/>
                <a:sym typeface="Calibri"/>
              </a:rPr>
              <a:t>insumos</a:t>
            </a:r>
            <a:r>
              <a:rPr lang="en-US" sz="1600" dirty="0">
                <a:solidFill>
                  <a:srgbClr val="F3EADC"/>
                </a:solidFill>
                <a:latin typeface="Calibri" panose="020F0502020204030204" pitchFamily="34" charset="0"/>
                <a:ea typeface="Calibri" panose="020F0502020204030204" pitchFamily="34" charset="0"/>
                <a:cs typeface="Calibri" panose="020F0502020204030204" pitchFamily="34" charset="0"/>
                <a:sym typeface="Calibri"/>
              </a:rPr>
              <a:t> </a:t>
            </a:r>
            <a:r>
              <a:rPr lang="en-US" sz="1600" dirty="0" err="1">
                <a:solidFill>
                  <a:srgbClr val="F3EADC"/>
                </a:solidFill>
                <a:latin typeface="Calibri" panose="020F0502020204030204" pitchFamily="34" charset="0"/>
                <a:ea typeface="Calibri" panose="020F0502020204030204" pitchFamily="34" charset="0"/>
                <a:cs typeface="Calibri" panose="020F0502020204030204" pitchFamily="34" charset="0"/>
                <a:sym typeface="Calibri"/>
              </a:rPr>
              <a:t>exactos</a:t>
            </a:r>
            <a:r>
              <a:rPr lang="en-US" sz="1600" dirty="0">
                <a:solidFill>
                  <a:srgbClr val="F3EADC"/>
                </a:solidFill>
                <a:latin typeface="Calibri" panose="020F0502020204030204" pitchFamily="34" charset="0"/>
                <a:ea typeface="Calibri" panose="020F0502020204030204" pitchFamily="34" charset="0"/>
                <a:cs typeface="Calibri" panose="020F0502020204030204" pitchFamily="34" charset="0"/>
                <a:sym typeface="Calibri"/>
              </a:rPr>
              <a:t> y </a:t>
            </a:r>
            <a:r>
              <a:rPr lang="en-US" sz="1600" dirty="0" err="1">
                <a:solidFill>
                  <a:srgbClr val="F3EADC"/>
                </a:solidFill>
                <a:latin typeface="Calibri" panose="020F0502020204030204" pitchFamily="34" charset="0"/>
                <a:ea typeface="Calibri" panose="020F0502020204030204" pitchFamily="34" charset="0"/>
                <a:cs typeface="Calibri" panose="020F0502020204030204" pitchFamily="34" charset="0"/>
                <a:sym typeface="Calibri"/>
              </a:rPr>
              <a:t>reconciliables</a:t>
            </a:r>
            <a:r>
              <a:rPr lang="en-US" sz="1600" dirty="0">
                <a:solidFill>
                  <a:srgbClr val="F3EADC"/>
                </a:solidFill>
                <a:latin typeface="Calibri" panose="020F0502020204030204" pitchFamily="34" charset="0"/>
                <a:ea typeface="Calibri" panose="020F0502020204030204" pitchFamily="34" charset="0"/>
                <a:cs typeface="Calibri" panose="020F0502020204030204" pitchFamily="34" charset="0"/>
                <a:sym typeface="Calibri"/>
              </a:rPr>
              <a:t>, sin </a:t>
            </a:r>
            <a:r>
              <a:rPr lang="en-US" sz="1600" dirty="0" err="1">
                <a:solidFill>
                  <a:srgbClr val="F3EADC"/>
                </a:solidFill>
                <a:latin typeface="Calibri" panose="020F0502020204030204" pitchFamily="34" charset="0"/>
                <a:ea typeface="Calibri" panose="020F0502020204030204" pitchFamily="34" charset="0"/>
                <a:cs typeface="Calibri" panose="020F0502020204030204" pitchFamily="34" charset="0"/>
                <a:sym typeface="Calibri"/>
              </a:rPr>
              <a:t>duplicación</a:t>
            </a:r>
            <a:r>
              <a:rPr lang="en-US" sz="1600" dirty="0">
                <a:solidFill>
                  <a:srgbClr val="F3EADC"/>
                </a:solidFill>
                <a:latin typeface="Calibri" panose="020F0502020204030204" pitchFamily="34" charset="0"/>
                <a:ea typeface="Calibri" panose="020F0502020204030204" pitchFamily="34" charset="0"/>
                <a:cs typeface="Calibri" panose="020F0502020204030204" pitchFamily="34" charset="0"/>
                <a:sym typeface="Calibri"/>
              </a:rPr>
              <a:t> </a:t>
            </a:r>
            <a:r>
              <a:rPr lang="en-US" sz="1600" dirty="0" err="1">
                <a:solidFill>
                  <a:srgbClr val="F3EADC"/>
                </a:solidFill>
                <a:latin typeface="Calibri" panose="020F0502020204030204" pitchFamily="34" charset="0"/>
                <a:ea typeface="Calibri" panose="020F0502020204030204" pitchFamily="34" charset="0"/>
                <a:cs typeface="Calibri" panose="020F0502020204030204" pitchFamily="34" charset="0"/>
                <a:sym typeface="Calibri"/>
              </a:rPr>
              <a:t>tras</a:t>
            </a:r>
            <a:r>
              <a:rPr lang="en-US" sz="1600" dirty="0">
                <a:solidFill>
                  <a:srgbClr val="F3EADC"/>
                </a:solidFill>
                <a:latin typeface="Calibri" panose="020F0502020204030204" pitchFamily="34" charset="0"/>
                <a:ea typeface="Calibri" panose="020F0502020204030204" pitchFamily="34" charset="0"/>
                <a:cs typeface="Calibri" panose="020F0502020204030204" pitchFamily="34" charset="0"/>
                <a:sym typeface="Calibri"/>
              </a:rPr>
              <a:t> </a:t>
            </a:r>
            <a:r>
              <a:rPr lang="en-US" sz="1600" dirty="0" err="1">
                <a:solidFill>
                  <a:srgbClr val="F3EADC"/>
                </a:solidFill>
                <a:latin typeface="Calibri" panose="020F0502020204030204" pitchFamily="34" charset="0"/>
                <a:ea typeface="Calibri" panose="020F0502020204030204" pitchFamily="34" charset="0"/>
                <a:cs typeface="Calibri" panose="020F0502020204030204" pitchFamily="34" charset="0"/>
                <a:sym typeface="Calibri"/>
              </a:rPr>
              <a:t>reconexión</a:t>
            </a:r>
            <a:r>
              <a:rPr lang="en-US" sz="1600" dirty="0">
                <a:solidFill>
                  <a:srgbClr val="F3EADC"/>
                </a:solidFill>
                <a:latin typeface="Calibri" panose="020F0502020204030204" pitchFamily="34" charset="0"/>
                <a:ea typeface="Calibri" panose="020F0502020204030204" pitchFamily="34" charset="0"/>
                <a:cs typeface="Calibri" panose="020F0502020204030204" pitchFamily="34" charset="0"/>
                <a:sym typeface="Calibri"/>
              </a:rPr>
              <a:t>.</a:t>
            </a:r>
            <a:endParaRPr sz="16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210" name="Google Shape;210;p7"/>
          <p:cNvSpPr/>
          <p:nvPr/>
        </p:nvSpPr>
        <p:spPr>
          <a:xfrm>
            <a:off x="11457432" y="6419088"/>
            <a:ext cx="45720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6E5F50"/>
              </a:buClr>
              <a:buSzPts val="1000"/>
              <a:buFont typeface="Calibri"/>
              <a:buNone/>
            </a:pPr>
            <a:r>
              <a:rPr lang="en-US" sz="1000">
                <a:solidFill>
                  <a:srgbClr val="6E5F50"/>
                </a:solidFill>
                <a:latin typeface="Calibri" panose="020F0502020204030204" pitchFamily="34" charset="0"/>
                <a:ea typeface="Calibri" panose="020F0502020204030204" pitchFamily="34" charset="0"/>
                <a:cs typeface="Calibri" panose="020F0502020204030204" pitchFamily="34" charset="0"/>
                <a:sym typeface="Calibri"/>
              </a:rPr>
              <a:t>7</a:t>
            </a:r>
            <a:endParaRPr sz="1000">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3" name="Google Shape;176;p7">
            <a:extLst>
              <a:ext uri="{FF2B5EF4-FFF2-40B4-BE49-F238E27FC236}">
                <a16:creationId xmlns:a16="http://schemas.microsoft.com/office/drawing/2014/main" id="{05D88133-2C5F-F374-962C-2D350E51A240}"/>
              </a:ext>
            </a:extLst>
          </p:cNvPr>
          <p:cNvSpPr/>
          <p:nvPr/>
        </p:nvSpPr>
        <p:spPr>
          <a:xfrm>
            <a:off x="868680" y="1581912"/>
            <a:ext cx="4846320"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A2C1A"/>
              </a:buClr>
              <a:buSzPts val="1800"/>
              <a:buFont typeface="Cambria"/>
              <a:buNone/>
            </a:pPr>
            <a:r>
              <a:rPr lang="en-US" sz="2400" b="1" i="0" u="none" strike="noStrike" cap="none" dirty="0" err="1">
                <a:solidFill>
                  <a:srgbClr val="BC8E39"/>
                </a:solidFill>
                <a:latin typeface="Calibri"/>
                <a:ea typeface="Calibri"/>
                <a:cs typeface="Calibri"/>
                <a:sym typeface="Calibri"/>
              </a:rPr>
              <a:t>Funcionales</a:t>
            </a:r>
            <a:endParaRPr sz="2400" i="0" u="none" strike="noStrike" cap="none" dirty="0">
              <a:solidFill>
                <a:srgbClr val="BC8E39"/>
              </a:solidFill>
              <a:latin typeface="Calibri"/>
              <a:ea typeface="Calibri"/>
              <a:cs typeface="Calibri"/>
              <a:sym typeface="Calibri"/>
            </a:endParaRPr>
          </a:p>
        </p:txBody>
      </p:sp>
      <p:sp>
        <p:nvSpPr>
          <p:cNvPr id="5" name="Google Shape;179;p7">
            <a:extLst>
              <a:ext uri="{FF2B5EF4-FFF2-40B4-BE49-F238E27FC236}">
                <a16:creationId xmlns:a16="http://schemas.microsoft.com/office/drawing/2014/main" id="{DB6C8C96-0A7E-3FE1-1388-AFE1D97AC5ED}"/>
              </a:ext>
            </a:extLst>
          </p:cNvPr>
          <p:cNvSpPr/>
          <p:nvPr/>
        </p:nvSpPr>
        <p:spPr>
          <a:xfrm>
            <a:off x="6629400" y="1581912"/>
            <a:ext cx="4754880"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D9A441"/>
              </a:buClr>
              <a:buSzPts val="1800"/>
              <a:buFont typeface="Cambria"/>
              <a:buNone/>
            </a:pPr>
            <a:r>
              <a:rPr lang="en-US" sz="2400" b="1" i="0" u="none" strike="noStrike" cap="none" dirty="0">
                <a:solidFill>
                  <a:srgbClr val="D9A441"/>
                </a:solidFill>
                <a:latin typeface="Calibri"/>
                <a:ea typeface="Calibri"/>
                <a:cs typeface="Calibri"/>
                <a:sym typeface="Calibri"/>
              </a:rPr>
              <a:t>No </a:t>
            </a:r>
            <a:r>
              <a:rPr lang="en-US" sz="2400" b="1" i="0" u="none" strike="noStrike" cap="none" dirty="0" err="1">
                <a:solidFill>
                  <a:srgbClr val="D9A441"/>
                </a:solidFill>
                <a:latin typeface="Calibri"/>
                <a:ea typeface="Calibri"/>
                <a:cs typeface="Calibri"/>
                <a:sym typeface="Calibri"/>
              </a:rPr>
              <a:t>funcionales</a:t>
            </a:r>
            <a:endParaRPr sz="2400" i="0" u="none" strike="noStrike" cap="none" dirty="0">
              <a:solidFill>
                <a:schemeClr val="dk1"/>
              </a:solidFill>
              <a:latin typeface="Calibri"/>
              <a:ea typeface="Calibri"/>
              <a:cs typeface="Calibri"/>
              <a:sym typeface="Calibri"/>
            </a:endParaRPr>
          </a:p>
        </p:txBody>
      </p:sp>
      <p:sp>
        <p:nvSpPr>
          <p:cNvPr id="7" name="Google Shape;174;p7">
            <a:extLst>
              <a:ext uri="{FF2B5EF4-FFF2-40B4-BE49-F238E27FC236}">
                <a16:creationId xmlns:a16="http://schemas.microsoft.com/office/drawing/2014/main" id="{5B570216-BE5A-43C6-0CE8-6983341A5579}"/>
              </a:ext>
            </a:extLst>
          </p:cNvPr>
          <p:cNvSpPr/>
          <p:nvPr/>
        </p:nvSpPr>
        <p:spPr>
          <a:xfrm>
            <a:off x="548640" y="320040"/>
            <a:ext cx="11091672" cy="6858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D9A441"/>
              </a:buClr>
              <a:buSzPts val="3000"/>
              <a:buFont typeface="Cambria"/>
              <a:buNone/>
            </a:pPr>
            <a:r>
              <a:rPr lang="en-US" sz="3000" b="1" i="0" u="none" strike="noStrike" cap="none" dirty="0">
                <a:solidFill>
                  <a:srgbClr val="D9A441"/>
                </a:solidFill>
                <a:latin typeface="Calibri"/>
                <a:ea typeface="Calibri"/>
                <a:cs typeface="Calibri"/>
                <a:sym typeface="Calibri"/>
              </a:rPr>
              <a:t>R</a:t>
            </a:r>
            <a:r>
              <a:rPr lang="en-US" sz="3000" b="1" i="0" u="none" strike="noStrike" cap="none" dirty="0">
                <a:solidFill>
                  <a:srgbClr val="4A2C1A"/>
                </a:solidFill>
                <a:latin typeface="Calibri"/>
                <a:ea typeface="Calibri"/>
                <a:cs typeface="Calibri"/>
                <a:sym typeface="Calibri"/>
              </a:rPr>
              <a:t>equerimientos</a:t>
            </a:r>
            <a:endParaRPr sz="3000" i="0" u="none" strike="noStrike" cap="none" dirty="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15"/>
        <p:cNvGrpSpPr/>
        <p:nvPr/>
      </p:nvGrpSpPr>
      <p:grpSpPr>
        <a:xfrm>
          <a:off x="0" y="0"/>
          <a:ext cx="0" cy="0"/>
          <a:chOff x="0" y="0"/>
          <a:chExt cx="0" cy="0"/>
        </a:xfrm>
      </p:grpSpPr>
      <p:sp>
        <p:nvSpPr>
          <p:cNvPr id="3" name="Google Shape;188;p8">
            <a:extLst>
              <a:ext uri="{FF2B5EF4-FFF2-40B4-BE49-F238E27FC236}">
                <a16:creationId xmlns:a16="http://schemas.microsoft.com/office/drawing/2014/main" id="{4A1D7B85-F5C3-AEFA-D0EF-7ADBAAB53A10}"/>
              </a:ext>
            </a:extLst>
          </p:cNvPr>
          <p:cNvSpPr/>
          <p:nvPr/>
        </p:nvSpPr>
        <p:spPr>
          <a:xfrm>
            <a:off x="548640" y="1371600"/>
            <a:ext cx="3566160" cy="4892040"/>
          </a:xfrm>
          <a:prstGeom prst="roundRect">
            <a:avLst>
              <a:gd name="adj" fmla="val 3077"/>
            </a:avLst>
          </a:prstGeom>
          <a:solidFill>
            <a:srgbClr val="F6EF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189;p8">
            <a:extLst>
              <a:ext uri="{FF2B5EF4-FFF2-40B4-BE49-F238E27FC236}">
                <a16:creationId xmlns:a16="http://schemas.microsoft.com/office/drawing/2014/main" id="{274C8DC6-9E1F-DBF4-FC6A-086E5FB3EA45}"/>
              </a:ext>
            </a:extLst>
          </p:cNvPr>
          <p:cNvSpPr/>
          <p:nvPr/>
        </p:nvSpPr>
        <p:spPr>
          <a:xfrm>
            <a:off x="1920240" y="1645920"/>
            <a:ext cx="822960" cy="822960"/>
          </a:xfrm>
          <a:prstGeom prst="ellipse">
            <a:avLst/>
          </a:prstGeom>
          <a:solidFill>
            <a:srgbClr val="D9A4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7" name="Google Shape;190;p8" descr="preencoded.png">
            <a:extLst>
              <a:ext uri="{FF2B5EF4-FFF2-40B4-BE49-F238E27FC236}">
                <a16:creationId xmlns:a16="http://schemas.microsoft.com/office/drawing/2014/main" id="{0F702BE5-6AD1-AEFD-222A-5E73C84F80A1}"/>
              </a:ext>
            </a:extLst>
          </p:cNvPr>
          <p:cNvPicPr preferRelativeResize="0"/>
          <p:nvPr/>
        </p:nvPicPr>
        <p:blipFill rotWithShape="1">
          <a:blip r:embed="rId3">
            <a:alphaModFix/>
          </a:blip>
          <a:srcRect/>
          <a:stretch/>
        </p:blipFill>
        <p:spPr>
          <a:xfrm>
            <a:off x="2134210" y="1859890"/>
            <a:ext cx="395021" cy="395021"/>
          </a:xfrm>
          <a:prstGeom prst="rect">
            <a:avLst/>
          </a:prstGeom>
          <a:noFill/>
          <a:ln>
            <a:noFill/>
          </a:ln>
        </p:spPr>
      </p:pic>
      <p:sp>
        <p:nvSpPr>
          <p:cNvPr id="9" name="Google Shape;191;p8">
            <a:extLst>
              <a:ext uri="{FF2B5EF4-FFF2-40B4-BE49-F238E27FC236}">
                <a16:creationId xmlns:a16="http://schemas.microsoft.com/office/drawing/2014/main" id="{F05717D6-86C1-6BBE-EA76-3263A2DB5BF7}"/>
              </a:ext>
            </a:extLst>
          </p:cNvPr>
          <p:cNvSpPr/>
          <p:nvPr/>
        </p:nvSpPr>
        <p:spPr>
          <a:xfrm>
            <a:off x="548640" y="2606040"/>
            <a:ext cx="356616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4A2C1A"/>
              </a:buClr>
              <a:buSzPts val="1700"/>
              <a:buFont typeface="Cambria"/>
              <a:buNone/>
            </a:pPr>
            <a:r>
              <a:rPr lang="en-US" sz="2400" b="1" i="0" u="none" strike="noStrike" cap="none">
                <a:solidFill>
                  <a:srgbClr val="4A2C1A"/>
                </a:solidFill>
                <a:latin typeface="Calibri"/>
                <a:ea typeface="Calibri"/>
                <a:cs typeface="Calibri"/>
                <a:sym typeface="Calibri"/>
              </a:rPr>
              <a:t>Vendedor</a:t>
            </a:r>
            <a:endParaRPr sz="2400" i="0" u="none" strike="noStrike" cap="none">
              <a:solidFill>
                <a:schemeClr val="dk1"/>
              </a:solidFill>
              <a:latin typeface="Calibri"/>
              <a:ea typeface="Calibri"/>
              <a:cs typeface="Calibri"/>
              <a:sym typeface="Calibri"/>
            </a:endParaRPr>
          </a:p>
        </p:txBody>
      </p:sp>
      <p:sp>
        <p:nvSpPr>
          <p:cNvPr id="11" name="Google Shape;192;p8">
            <a:extLst>
              <a:ext uri="{FF2B5EF4-FFF2-40B4-BE49-F238E27FC236}">
                <a16:creationId xmlns:a16="http://schemas.microsoft.com/office/drawing/2014/main" id="{BF89123B-9649-3280-E7C8-527F67583CB9}"/>
              </a:ext>
            </a:extLst>
          </p:cNvPr>
          <p:cNvSpPr/>
          <p:nvPr/>
        </p:nvSpPr>
        <p:spPr>
          <a:xfrm>
            <a:off x="731520" y="2971800"/>
            <a:ext cx="3200400" cy="5029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6E5F50"/>
              </a:buClr>
              <a:buSzPts val="1200"/>
              <a:buFont typeface="Calibri"/>
              <a:buNone/>
            </a:pPr>
            <a:r>
              <a:rPr lang="en-US" sz="1200" b="0" i="1" u="none" strike="noStrike" cap="none">
                <a:solidFill>
                  <a:srgbClr val="6E5F50"/>
                </a:solidFill>
                <a:latin typeface="Calibri"/>
                <a:ea typeface="Calibri"/>
                <a:cs typeface="Calibri"/>
                <a:sym typeface="Calibri"/>
              </a:rPr>
              <a:t>Vender rápido y sin perder registros</a:t>
            </a:r>
            <a:endParaRPr sz="1200" b="0" i="0" u="none" strike="noStrike" cap="none">
              <a:solidFill>
                <a:schemeClr val="dk1"/>
              </a:solidFill>
              <a:latin typeface="Calibri"/>
              <a:ea typeface="Calibri"/>
              <a:cs typeface="Calibri"/>
              <a:sym typeface="Calibri"/>
            </a:endParaRPr>
          </a:p>
        </p:txBody>
      </p:sp>
      <p:sp>
        <p:nvSpPr>
          <p:cNvPr id="13" name="Google Shape;193;p8">
            <a:extLst>
              <a:ext uri="{FF2B5EF4-FFF2-40B4-BE49-F238E27FC236}">
                <a16:creationId xmlns:a16="http://schemas.microsoft.com/office/drawing/2014/main" id="{D87EAE73-969D-5741-C1C8-1455AC4C4357}"/>
              </a:ext>
            </a:extLst>
          </p:cNvPr>
          <p:cNvSpPr/>
          <p:nvPr/>
        </p:nvSpPr>
        <p:spPr>
          <a:xfrm>
            <a:off x="749808" y="3566160"/>
            <a:ext cx="3163824" cy="1170432"/>
          </a:xfrm>
          <a:prstGeom prst="roundRect">
            <a:avLst>
              <a:gd name="adj" fmla="val 625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94;p8">
            <a:extLst>
              <a:ext uri="{FF2B5EF4-FFF2-40B4-BE49-F238E27FC236}">
                <a16:creationId xmlns:a16="http://schemas.microsoft.com/office/drawing/2014/main" id="{F2F08E43-6ADC-772B-10CD-82F23A3EFFE8}"/>
              </a:ext>
            </a:extLst>
          </p:cNvPr>
          <p:cNvSpPr/>
          <p:nvPr/>
        </p:nvSpPr>
        <p:spPr>
          <a:xfrm>
            <a:off x="896112" y="3639312"/>
            <a:ext cx="2889504" cy="102412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E2318"/>
              </a:buClr>
              <a:buSzPts val="1080"/>
              <a:buFont typeface="Calibri"/>
              <a:buNone/>
            </a:pPr>
            <a:r>
              <a:rPr lang="en-US" sz="1280" i="1">
                <a:solidFill>
                  <a:srgbClr val="2E2318"/>
                </a:solidFill>
                <a:latin typeface="Calibri"/>
                <a:ea typeface="Calibri"/>
                <a:cs typeface="Calibri"/>
                <a:sym typeface="Calibri"/>
              </a:rPr>
              <a:t>"</a:t>
            </a:r>
            <a:r>
              <a:rPr lang="en-US" sz="1280" b="0" i="1" u="none" strike="noStrike" cap="none">
                <a:solidFill>
                  <a:srgbClr val="2E2318"/>
                </a:solidFill>
                <a:latin typeface="Calibri"/>
                <a:ea typeface="Calibri"/>
                <a:cs typeface="Calibri"/>
                <a:sym typeface="Calibri"/>
              </a:rPr>
              <a:t>Como vendedor, quiero pesar el pan directo desde la balanza para cobrar sin digitar el peso."</a:t>
            </a:r>
            <a:endParaRPr sz="1280" b="0" i="1" u="none" strike="noStrike" cap="none">
              <a:solidFill>
                <a:schemeClr val="dk1"/>
              </a:solidFill>
              <a:latin typeface="Calibri"/>
              <a:ea typeface="Calibri"/>
              <a:cs typeface="Calibri"/>
              <a:sym typeface="Calibri"/>
            </a:endParaRPr>
          </a:p>
        </p:txBody>
      </p:sp>
      <p:sp>
        <p:nvSpPr>
          <p:cNvPr id="17" name="Google Shape;195;p8">
            <a:extLst>
              <a:ext uri="{FF2B5EF4-FFF2-40B4-BE49-F238E27FC236}">
                <a16:creationId xmlns:a16="http://schemas.microsoft.com/office/drawing/2014/main" id="{58AFED18-9290-E57D-15A2-63B56F15DCAB}"/>
              </a:ext>
            </a:extLst>
          </p:cNvPr>
          <p:cNvSpPr/>
          <p:nvPr/>
        </p:nvSpPr>
        <p:spPr>
          <a:xfrm>
            <a:off x="749808" y="4864608"/>
            <a:ext cx="3163824" cy="1170432"/>
          </a:xfrm>
          <a:prstGeom prst="roundRect">
            <a:avLst>
              <a:gd name="adj" fmla="val 625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6;p8">
            <a:extLst>
              <a:ext uri="{FF2B5EF4-FFF2-40B4-BE49-F238E27FC236}">
                <a16:creationId xmlns:a16="http://schemas.microsoft.com/office/drawing/2014/main" id="{3ADB93C2-AE81-B031-F173-50FD8DEF4B9A}"/>
              </a:ext>
            </a:extLst>
          </p:cNvPr>
          <p:cNvSpPr/>
          <p:nvPr/>
        </p:nvSpPr>
        <p:spPr>
          <a:xfrm>
            <a:off x="896112" y="4937760"/>
            <a:ext cx="2889504" cy="102412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E2318"/>
              </a:buClr>
              <a:buSzPts val="1080"/>
              <a:buFont typeface="Calibri"/>
              <a:buNone/>
            </a:pPr>
            <a:r>
              <a:rPr lang="en-US" sz="1280" i="1">
                <a:solidFill>
                  <a:srgbClr val="2E2318"/>
                </a:solidFill>
                <a:latin typeface="Calibri"/>
                <a:ea typeface="Calibri"/>
                <a:cs typeface="Calibri"/>
                <a:sym typeface="Calibri"/>
              </a:rPr>
              <a:t>"</a:t>
            </a:r>
            <a:r>
              <a:rPr lang="en-US" sz="1280" b="0" i="1" u="none" strike="noStrike" cap="none">
                <a:solidFill>
                  <a:srgbClr val="2E2318"/>
                </a:solidFill>
                <a:latin typeface="Calibri"/>
                <a:ea typeface="Calibri"/>
                <a:cs typeface="Calibri"/>
                <a:sym typeface="Calibri"/>
              </a:rPr>
              <a:t>Como vendedor, quiero que la caja siga operando sin internet para no detener la venta."</a:t>
            </a:r>
            <a:endParaRPr sz="1280" b="0" i="1" u="none" strike="noStrike" cap="none">
              <a:solidFill>
                <a:schemeClr val="dk1"/>
              </a:solidFill>
              <a:latin typeface="Calibri"/>
              <a:ea typeface="Calibri"/>
              <a:cs typeface="Calibri"/>
              <a:sym typeface="Calibri"/>
            </a:endParaRPr>
          </a:p>
        </p:txBody>
      </p:sp>
      <p:sp>
        <p:nvSpPr>
          <p:cNvPr id="21" name="Google Shape;197;p8">
            <a:extLst>
              <a:ext uri="{FF2B5EF4-FFF2-40B4-BE49-F238E27FC236}">
                <a16:creationId xmlns:a16="http://schemas.microsoft.com/office/drawing/2014/main" id="{38F75337-10E9-76E1-5629-3C9C2BB3A8F0}"/>
              </a:ext>
            </a:extLst>
          </p:cNvPr>
          <p:cNvSpPr/>
          <p:nvPr/>
        </p:nvSpPr>
        <p:spPr>
          <a:xfrm>
            <a:off x="4407408" y="1371600"/>
            <a:ext cx="3566160" cy="4892040"/>
          </a:xfrm>
          <a:prstGeom prst="roundRect">
            <a:avLst>
              <a:gd name="adj" fmla="val 3077"/>
            </a:avLst>
          </a:prstGeom>
          <a:solidFill>
            <a:srgbClr val="F6EF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98;p8">
            <a:extLst>
              <a:ext uri="{FF2B5EF4-FFF2-40B4-BE49-F238E27FC236}">
                <a16:creationId xmlns:a16="http://schemas.microsoft.com/office/drawing/2014/main" id="{945316DC-5705-2435-7E85-47C34603675E}"/>
              </a:ext>
            </a:extLst>
          </p:cNvPr>
          <p:cNvSpPr/>
          <p:nvPr/>
        </p:nvSpPr>
        <p:spPr>
          <a:xfrm>
            <a:off x="5779008" y="1645920"/>
            <a:ext cx="822960" cy="822960"/>
          </a:xfrm>
          <a:prstGeom prst="ellipse">
            <a:avLst/>
          </a:prstGeom>
          <a:solidFill>
            <a:srgbClr val="D9A4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5" name="Google Shape;199;p8" descr="preencoded.png">
            <a:extLst>
              <a:ext uri="{FF2B5EF4-FFF2-40B4-BE49-F238E27FC236}">
                <a16:creationId xmlns:a16="http://schemas.microsoft.com/office/drawing/2014/main" id="{2122763F-1E3C-E446-3597-4DFEDDB807CD}"/>
              </a:ext>
            </a:extLst>
          </p:cNvPr>
          <p:cNvPicPr preferRelativeResize="0"/>
          <p:nvPr/>
        </p:nvPicPr>
        <p:blipFill rotWithShape="1">
          <a:blip r:embed="rId4">
            <a:alphaModFix/>
          </a:blip>
          <a:srcRect/>
          <a:stretch/>
        </p:blipFill>
        <p:spPr>
          <a:xfrm>
            <a:off x="5992978" y="1859890"/>
            <a:ext cx="395021" cy="395021"/>
          </a:xfrm>
          <a:prstGeom prst="rect">
            <a:avLst/>
          </a:prstGeom>
          <a:noFill/>
          <a:ln>
            <a:noFill/>
          </a:ln>
        </p:spPr>
      </p:pic>
      <p:sp>
        <p:nvSpPr>
          <p:cNvPr id="27" name="Google Shape;200;p8">
            <a:extLst>
              <a:ext uri="{FF2B5EF4-FFF2-40B4-BE49-F238E27FC236}">
                <a16:creationId xmlns:a16="http://schemas.microsoft.com/office/drawing/2014/main" id="{50058830-AE1E-6EA4-52DB-099E78B37EB4}"/>
              </a:ext>
            </a:extLst>
          </p:cNvPr>
          <p:cNvSpPr/>
          <p:nvPr/>
        </p:nvSpPr>
        <p:spPr>
          <a:xfrm>
            <a:off x="4407408" y="2606040"/>
            <a:ext cx="356616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4A2C1A"/>
              </a:buClr>
              <a:buSzPts val="1700"/>
              <a:buFont typeface="Cambria"/>
              <a:buNone/>
            </a:pPr>
            <a:r>
              <a:rPr lang="en-US" sz="2400" b="1" i="0" u="none" strike="noStrike" cap="none">
                <a:solidFill>
                  <a:srgbClr val="4A2C1A"/>
                </a:solidFill>
                <a:latin typeface="Calibri"/>
                <a:ea typeface="Calibri"/>
                <a:cs typeface="Calibri"/>
                <a:sym typeface="Calibri"/>
              </a:rPr>
              <a:t>Panadero</a:t>
            </a:r>
            <a:endParaRPr sz="2400" i="0" u="none" strike="noStrike" cap="none">
              <a:solidFill>
                <a:schemeClr val="dk1"/>
              </a:solidFill>
              <a:latin typeface="Calibri"/>
              <a:ea typeface="Calibri"/>
              <a:cs typeface="Calibri"/>
              <a:sym typeface="Calibri"/>
            </a:endParaRPr>
          </a:p>
        </p:txBody>
      </p:sp>
      <p:sp>
        <p:nvSpPr>
          <p:cNvPr id="29" name="Google Shape;201;p8">
            <a:extLst>
              <a:ext uri="{FF2B5EF4-FFF2-40B4-BE49-F238E27FC236}">
                <a16:creationId xmlns:a16="http://schemas.microsoft.com/office/drawing/2014/main" id="{1216A950-0AD9-095C-8883-0D38C96E5813}"/>
              </a:ext>
            </a:extLst>
          </p:cNvPr>
          <p:cNvSpPr/>
          <p:nvPr/>
        </p:nvSpPr>
        <p:spPr>
          <a:xfrm>
            <a:off x="4590288" y="2971800"/>
            <a:ext cx="3200400" cy="5029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6E5F50"/>
              </a:buClr>
              <a:buSzPts val="1200"/>
              <a:buFont typeface="Calibri"/>
              <a:buNone/>
            </a:pPr>
            <a:r>
              <a:rPr lang="en-US" sz="1200" b="0" i="1" u="none" strike="noStrike" cap="none">
                <a:solidFill>
                  <a:srgbClr val="6E5F50"/>
                </a:solidFill>
                <a:latin typeface="Calibri"/>
                <a:ea typeface="Calibri"/>
                <a:cs typeface="Calibri"/>
                <a:sym typeface="Calibri"/>
              </a:rPr>
              <a:t>Producir sin papeleo ni interrupciones</a:t>
            </a:r>
            <a:endParaRPr sz="1200" b="0" i="0" u="none" strike="noStrike" cap="none">
              <a:solidFill>
                <a:schemeClr val="dk1"/>
              </a:solidFill>
              <a:latin typeface="Calibri"/>
              <a:ea typeface="Calibri"/>
              <a:cs typeface="Calibri"/>
              <a:sym typeface="Calibri"/>
            </a:endParaRPr>
          </a:p>
        </p:txBody>
      </p:sp>
      <p:sp>
        <p:nvSpPr>
          <p:cNvPr id="31" name="Google Shape;202;p8">
            <a:extLst>
              <a:ext uri="{FF2B5EF4-FFF2-40B4-BE49-F238E27FC236}">
                <a16:creationId xmlns:a16="http://schemas.microsoft.com/office/drawing/2014/main" id="{57D82E8F-10D0-81C2-34B6-247D6A070DFC}"/>
              </a:ext>
            </a:extLst>
          </p:cNvPr>
          <p:cNvSpPr/>
          <p:nvPr/>
        </p:nvSpPr>
        <p:spPr>
          <a:xfrm>
            <a:off x="4608576" y="3566160"/>
            <a:ext cx="3163824" cy="1170432"/>
          </a:xfrm>
          <a:prstGeom prst="roundRect">
            <a:avLst>
              <a:gd name="adj" fmla="val 625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203;p8">
            <a:extLst>
              <a:ext uri="{FF2B5EF4-FFF2-40B4-BE49-F238E27FC236}">
                <a16:creationId xmlns:a16="http://schemas.microsoft.com/office/drawing/2014/main" id="{AC7FD542-937E-7B7E-1584-8D2BD88690D5}"/>
              </a:ext>
            </a:extLst>
          </p:cNvPr>
          <p:cNvSpPr/>
          <p:nvPr/>
        </p:nvSpPr>
        <p:spPr>
          <a:xfrm>
            <a:off x="4754880" y="3639312"/>
            <a:ext cx="2889504" cy="102412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E2318"/>
              </a:buClr>
              <a:buSzPts val="1080"/>
              <a:buFont typeface="Calibri"/>
              <a:buNone/>
            </a:pPr>
            <a:r>
              <a:rPr lang="en-US" sz="1280" i="1">
                <a:solidFill>
                  <a:srgbClr val="2E2318"/>
                </a:solidFill>
                <a:latin typeface="Calibri"/>
                <a:ea typeface="Calibri"/>
                <a:cs typeface="Calibri"/>
                <a:sym typeface="Calibri"/>
              </a:rPr>
              <a:t>"</a:t>
            </a:r>
            <a:r>
              <a:rPr lang="en-US" sz="1280" b="0" i="1" u="none" strike="noStrike" cap="none">
                <a:solidFill>
                  <a:srgbClr val="2E2318"/>
                </a:solidFill>
                <a:latin typeface="Calibri"/>
                <a:ea typeface="Calibri"/>
                <a:cs typeface="Calibri"/>
                <a:sym typeface="Calibri"/>
              </a:rPr>
              <a:t>Como panadero, quiero registrar peso y tipo de cada masa para que el sistema descuente los insumos por mí."</a:t>
            </a:r>
            <a:endParaRPr sz="1280" b="0" i="1" u="none" strike="noStrike" cap="none">
              <a:solidFill>
                <a:schemeClr val="dk1"/>
              </a:solidFill>
              <a:latin typeface="Calibri"/>
              <a:ea typeface="Calibri"/>
              <a:cs typeface="Calibri"/>
              <a:sym typeface="Calibri"/>
            </a:endParaRPr>
          </a:p>
        </p:txBody>
      </p:sp>
      <p:sp>
        <p:nvSpPr>
          <p:cNvPr id="35" name="Google Shape;204;p8">
            <a:extLst>
              <a:ext uri="{FF2B5EF4-FFF2-40B4-BE49-F238E27FC236}">
                <a16:creationId xmlns:a16="http://schemas.microsoft.com/office/drawing/2014/main" id="{3DE9C0C2-5BAA-26E5-E3E3-5C055845DB0D}"/>
              </a:ext>
            </a:extLst>
          </p:cNvPr>
          <p:cNvSpPr/>
          <p:nvPr/>
        </p:nvSpPr>
        <p:spPr>
          <a:xfrm>
            <a:off x="4608576" y="4864608"/>
            <a:ext cx="3163824" cy="1170432"/>
          </a:xfrm>
          <a:prstGeom prst="roundRect">
            <a:avLst>
              <a:gd name="adj" fmla="val 625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205;p8">
            <a:extLst>
              <a:ext uri="{FF2B5EF4-FFF2-40B4-BE49-F238E27FC236}">
                <a16:creationId xmlns:a16="http://schemas.microsoft.com/office/drawing/2014/main" id="{2E93332F-17D6-4A62-2382-CBB43E4EB8CF}"/>
              </a:ext>
            </a:extLst>
          </p:cNvPr>
          <p:cNvSpPr/>
          <p:nvPr/>
        </p:nvSpPr>
        <p:spPr>
          <a:xfrm>
            <a:off x="4754880" y="4937760"/>
            <a:ext cx="2889504" cy="102412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E2318"/>
              </a:buClr>
              <a:buSzPts val="1080"/>
              <a:buFont typeface="Calibri"/>
              <a:buNone/>
            </a:pPr>
            <a:r>
              <a:rPr lang="en-US" sz="1280" i="1">
                <a:solidFill>
                  <a:srgbClr val="2E2318"/>
                </a:solidFill>
                <a:latin typeface="Calibri"/>
                <a:ea typeface="Calibri"/>
                <a:cs typeface="Calibri"/>
                <a:sym typeface="Calibri"/>
              </a:rPr>
              <a:t>"</a:t>
            </a:r>
            <a:r>
              <a:rPr lang="en-US" sz="1280" b="0" i="1" u="none" strike="noStrike" cap="none">
                <a:solidFill>
                  <a:srgbClr val="2E2318"/>
                </a:solidFill>
                <a:latin typeface="Calibri"/>
                <a:ea typeface="Calibri"/>
                <a:cs typeface="Calibri"/>
                <a:sym typeface="Calibri"/>
              </a:rPr>
              <a:t>Como panadero, quiero avisar al mostrador que hay pan listo sin salir de la cocina. "</a:t>
            </a:r>
            <a:endParaRPr sz="1280" b="0" i="1" u="none" strike="noStrike" cap="none">
              <a:solidFill>
                <a:schemeClr val="dk1"/>
              </a:solidFill>
              <a:latin typeface="Calibri"/>
              <a:ea typeface="Calibri"/>
              <a:cs typeface="Calibri"/>
              <a:sym typeface="Calibri"/>
            </a:endParaRPr>
          </a:p>
        </p:txBody>
      </p:sp>
      <p:sp>
        <p:nvSpPr>
          <p:cNvPr id="39" name="Google Shape;206;p8">
            <a:extLst>
              <a:ext uri="{FF2B5EF4-FFF2-40B4-BE49-F238E27FC236}">
                <a16:creationId xmlns:a16="http://schemas.microsoft.com/office/drawing/2014/main" id="{78760B6C-8F30-3225-FC37-2B690E4B33F5}"/>
              </a:ext>
            </a:extLst>
          </p:cNvPr>
          <p:cNvSpPr/>
          <p:nvPr/>
        </p:nvSpPr>
        <p:spPr>
          <a:xfrm>
            <a:off x="8266176" y="1371600"/>
            <a:ext cx="3566160" cy="4892040"/>
          </a:xfrm>
          <a:prstGeom prst="roundRect">
            <a:avLst>
              <a:gd name="adj" fmla="val 3077"/>
            </a:avLst>
          </a:prstGeom>
          <a:solidFill>
            <a:srgbClr val="F6EF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207;p8">
            <a:extLst>
              <a:ext uri="{FF2B5EF4-FFF2-40B4-BE49-F238E27FC236}">
                <a16:creationId xmlns:a16="http://schemas.microsoft.com/office/drawing/2014/main" id="{BC6E1282-1763-2206-8DCC-56485741B854}"/>
              </a:ext>
            </a:extLst>
          </p:cNvPr>
          <p:cNvSpPr/>
          <p:nvPr/>
        </p:nvSpPr>
        <p:spPr>
          <a:xfrm>
            <a:off x="9637776" y="1645920"/>
            <a:ext cx="822960" cy="822960"/>
          </a:xfrm>
          <a:prstGeom prst="ellipse">
            <a:avLst/>
          </a:prstGeom>
          <a:solidFill>
            <a:srgbClr val="D9A4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3" name="Google Shape;208;p8" descr="preencoded.png">
            <a:extLst>
              <a:ext uri="{FF2B5EF4-FFF2-40B4-BE49-F238E27FC236}">
                <a16:creationId xmlns:a16="http://schemas.microsoft.com/office/drawing/2014/main" id="{8CA4CC6B-D641-1658-A5CB-3888F162F55B}"/>
              </a:ext>
            </a:extLst>
          </p:cNvPr>
          <p:cNvPicPr preferRelativeResize="0"/>
          <p:nvPr/>
        </p:nvPicPr>
        <p:blipFill rotWithShape="1">
          <a:blip r:embed="rId5">
            <a:alphaModFix/>
          </a:blip>
          <a:srcRect/>
          <a:stretch/>
        </p:blipFill>
        <p:spPr>
          <a:xfrm>
            <a:off x="9851746" y="1859890"/>
            <a:ext cx="395021" cy="395021"/>
          </a:xfrm>
          <a:prstGeom prst="rect">
            <a:avLst/>
          </a:prstGeom>
          <a:noFill/>
          <a:ln>
            <a:noFill/>
          </a:ln>
        </p:spPr>
      </p:pic>
      <p:sp>
        <p:nvSpPr>
          <p:cNvPr id="45" name="Google Shape;209;p8">
            <a:extLst>
              <a:ext uri="{FF2B5EF4-FFF2-40B4-BE49-F238E27FC236}">
                <a16:creationId xmlns:a16="http://schemas.microsoft.com/office/drawing/2014/main" id="{0AD39CFF-86CD-9AA2-8BA6-C50349D23800}"/>
              </a:ext>
            </a:extLst>
          </p:cNvPr>
          <p:cNvSpPr/>
          <p:nvPr/>
        </p:nvSpPr>
        <p:spPr>
          <a:xfrm>
            <a:off x="8266176" y="2606040"/>
            <a:ext cx="356616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4A2C1A"/>
              </a:buClr>
              <a:buSzPts val="1700"/>
              <a:buFont typeface="Cambria"/>
              <a:buNone/>
            </a:pPr>
            <a:r>
              <a:rPr lang="en-US" sz="2400" b="1" i="0" u="none" strike="noStrike" cap="none">
                <a:solidFill>
                  <a:srgbClr val="4A2C1A"/>
                </a:solidFill>
                <a:latin typeface="Calibri"/>
                <a:ea typeface="Calibri"/>
                <a:cs typeface="Calibri"/>
                <a:sym typeface="Calibri"/>
              </a:rPr>
              <a:t>Administrador</a:t>
            </a:r>
            <a:endParaRPr sz="2400" i="0" u="none" strike="noStrike" cap="none">
              <a:solidFill>
                <a:schemeClr val="dk1"/>
              </a:solidFill>
              <a:latin typeface="Calibri"/>
              <a:ea typeface="Calibri"/>
              <a:cs typeface="Calibri"/>
              <a:sym typeface="Calibri"/>
            </a:endParaRPr>
          </a:p>
        </p:txBody>
      </p:sp>
      <p:sp>
        <p:nvSpPr>
          <p:cNvPr id="47" name="Google Shape;210;p8">
            <a:extLst>
              <a:ext uri="{FF2B5EF4-FFF2-40B4-BE49-F238E27FC236}">
                <a16:creationId xmlns:a16="http://schemas.microsoft.com/office/drawing/2014/main" id="{85353824-965A-634F-3593-3CEABEDF2FFA}"/>
              </a:ext>
            </a:extLst>
          </p:cNvPr>
          <p:cNvSpPr/>
          <p:nvPr/>
        </p:nvSpPr>
        <p:spPr>
          <a:xfrm>
            <a:off x="8449056" y="2971800"/>
            <a:ext cx="3200400" cy="5029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6E5F50"/>
              </a:buClr>
              <a:buSzPts val="1200"/>
              <a:buFont typeface="Calibri"/>
              <a:buNone/>
            </a:pPr>
            <a:r>
              <a:rPr lang="en-US" sz="1200" b="0" i="1" u="none" strike="noStrike" cap="none">
                <a:solidFill>
                  <a:srgbClr val="6E5F50"/>
                </a:solidFill>
                <a:latin typeface="Calibri"/>
                <a:ea typeface="Calibri"/>
                <a:cs typeface="Calibri"/>
                <a:sym typeface="Calibri"/>
              </a:rPr>
              <a:t>Decidir </a:t>
            </a:r>
            <a:r>
              <a:rPr lang="en-US" sz="1200" i="1">
                <a:solidFill>
                  <a:srgbClr val="6E5F50"/>
                </a:solidFill>
                <a:latin typeface="Calibri"/>
                <a:ea typeface="Calibri"/>
                <a:cs typeface="Calibri"/>
                <a:sym typeface="Calibri"/>
              </a:rPr>
              <a:t>a través de</a:t>
            </a:r>
            <a:r>
              <a:rPr lang="en-US" sz="1200" b="0" i="1" u="none" strike="noStrike" cap="none">
                <a:solidFill>
                  <a:srgbClr val="6E5F50"/>
                </a:solidFill>
                <a:latin typeface="Calibri"/>
                <a:ea typeface="Calibri"/>
                <a:cs typeface="Calibri"/>
                <a:sym typeface="Calibri"/>
              </a:rPr>
              <a:t> datos, no intuición</a:t>
            </a:r>
            <a:endParaRPr sz="1200" b="0" i="0" u="none" strike="noStrike" cap="none">
              <a:solidFill>
                <a:schemeClr val="dk1"/>
              </a:solidFill>
              <a:latin typeface="Calibri"/>
              <a:ea typeface="Calibri"/>
              <a:cs typeface="Calibri"/>
              <a:sym typeface="Calibri"/>
            </a:endParaRPr>
          </a:p>
        </p:txBody>
      </p:sp>
      <p:sp>
        <p:nvSpPr>
          <p:cNvPr id="49" name="Google Shape;211;p8">
            <a:extLst>
              <a:ext uri="{FF2B5EF4-FFF2-40B4-BE49-F238E27FC236}">
                <a16:creationId xmlns:a16="http://schemas.microsoft.com/office/drawing/2014/main" id="{6D666C4F-B2DD-9C10-E1B3-66A681E514A1}"/>
              </a:ext>
            </a:extLst>
          </p:cNvPr>
          <p:cNvSpPr/>
          <p:nvPr/>
        </p:nvSpPr>
        <p:spPr>
          <a:xfrm>
            <a:off x="8467344" y="3566160"/>
            <a:ext cx="3163824" cy="1170432"/>
          </a:xfrm>
          <a:prstGeom prst="roundRect">
            <a:avLst>
              <a:gd name="adj" fmla="val 625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212;p8">
            <a:extLst>
              <a:ext uri="{FF2B5EF4-FFF2-40B4-BE49-F238E27FC236}">
                <a16:creationId xmlns:a16="http://schemas.microsoft.com/office/drawing/2014/main" id="{7B29A26D-CC48-081E-D64A-692783ED3500}"/>
              </a:ext>
            </a:extLst>
          </p:cNvPr>
          <p:cNvSpPr/>
          <p:nvPr/>
        </p:nvSpPr>
        <p:spPr>
          <a:xfrm>
            <a:off x="8613648" y="3639312"/>
            <a:ext cx="2889504" cy="102412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E2318"/>
              </a:buClr>
              <a:buSzPts val="1080"/>
              <a:buFont typeface="Calibri"/>
              <a:buNone/>
            </a:pPr>
            <a:r>
              <a:rPr lang="en-US" sz="1280" i="1">
                <a:solidFill>
                  <a:srgbClr val="2E2318"/>
                </a:solidFill>
                <a:latin typeface="Calibri"/>
                <a:ea typeface="Calibri"/>
                <a:cs typeface="Calibri"/>
                <a:sym typeface="Calibri"/>
              </a:rPr>
              <a:t>"</a:t>
            </a:r>
            <a:r>
              <a:rPr lang="en-US" sz="1280" b="0" i="1" u="none" strike="noStrike" cap="none">
                <a:solidFill>
                  <a:srgbClr val="2E2318"/>
                </a:solidFill>
                <a:latin typeface="Calibri"/>
                <a:ea typeface="Calibri"/>
                <a:cs typeface="Calibri"/>
                <a:sym typeface="Calibri"/>
              </a:rPr>
              <a:t>Como administrador, quiero ver la demanda proyectada por producto para decidir cuánto producir."</a:t>
            </a:r>
            <a:endParaRPr sz="1280" b="0" i="1" u="none" strike="noStrike" cap="none">
              <a:solidFill>
                <a:schemeClr val="dk1"/>
              </a:solidFill>
              <a:latin typeface="Calibri"/>
              <a:ea typeface="Calibri"/>
              <a:cs typeface="Calibri"/>
              <a:sym typeface="Calibri"/>
            </a:endParaRPr>
          </a:p>
        </p:txBody>
      </p:sp>
      <p:sp>
        <p:nvSpPr>
          <p:cNvPr id="53" name="Google Shape;213;p8">
            <a:extLst>
              <a:ext uri="{FF2B5EF4-FFF2-40B4-BE49-F238E27FC236}">
                <a16:creationId xmlns:a16="http://schemas.microsoft.com/office/drawing/2014/main" id="{3F85AFF7-0F3E-C201-553F-70162B805670}"/>
              </a:ext>
            </a:extLst>
          </p:cNvPr>
          <p:cNvSpPr/>
          <p:nvPr/>
        </p:nvSpPr>
        <p:spPr>
          <a:xfrm>
            <a:off x="8467344" y="4864608"/>
            <a:ext cx="3163824" cy="1170432"/>
          </a:xfrm>
          <a:prstGeom prst="roundRect">
            <a:avLst>
              <a:gd name="adj" fmla="val 625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214;p8">
            <a:extLst>
              <a:ext uri="{FF2B5EF4-FFF2-40B4-BE49-F238E27FC236}">
                <a16:creationId xmlns:a16="http://schemas.microsoft.com/office/drawing/2014/main" id="{FABF97A3-60F6-6671-B939-F8ED3C0222B2}"/>
              </a:ext>
            </a:extLst>
          </p:cNvPr>
          <p:cNvSpPr/>
          <p:nvPr/>
        </p:nvSpPr>
        <p:spPr>
          <a:xfrm>
            <a:off x="8613648" y="4937760"/>
            <a:ext cx="2889504" cy="102412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E2318"/>
              </a:buClr>
              <a:buSzPts val="1080"/>
              <a:buFont typeface="Calibri"/>
              <a:buNone/>
            </a:pPr>
            <a:r>
              <a:rPr lang="en-US" sz="1280" i="1">
                <a:solidFill>
                  <a:srgbClr val="2E2318"/>
                </a:solidFill>
                <a:latin typeface="Calibri"/>
                <a:ea typeface="Calibri"/>
                <a:cs typeface="Calibri"/>
                <a:sym typeface="Calibri"/>
              </a:rPr>
              <a:t>"</a:t>
            </a:r>
            <a:r>
              <a:rPr lang="en-US" sz="1280" i="1" u="none" strike="noStrike" cap="none">
                <a:solidFill>
                  <a:srgbClr val="2E2318"/>
                </a:solidFill>
                <a:latin typeface="Calibri"/>
                <a:ea typeface="Calibri"/>
                <a:cs typeface="Calibri"/>
                <a:sym typeface="Calibri"/>
              </a:rPr>
              <a:t>Como administrador, quiero configurar catálogo, precios y fórmulas por sucursal."</a:t>
            </a:r>
            <a:endParaRPr sz="1280" i="1" u="none" strike="noStrike" cap="none">
              <a:solidFill>
                <a:schemeClr val="dk1"/>
              </a:solidFill>
              <a:latin typeface="Calibri"/>
              <a:ea typeface="Calibri"/>
              <a:cs typeface="Calibri"/>
              <a:sym typeface="Calibri"/>
            </a:endParaRPr>
          </a:p>
        </p:txBody>
      </p:sp>
      <p:sp>
        <p:nvSpPr>
          <p:cNvPr id="57" name="Google Shape;215;p8">
            <a:extLst>
              <a:ext uri="{FF2B5EF4-FFF2-40B4-BE49-F238E27FC236}">
                <a16:creationId xmlns:a16="http://schemas.microsoft.com/office/drawing/2014/main" id="{53F999AA-0755-5F5A-F364-4F3C365F22BA}"/>
              </a:ext>
            </a:extLst>
          </p:cNvPr>
          <p:cNvSpPr/>
          <p:nvPr/>
        </p:nvSpPr>
        <p:spPr>
          <a:xfrm>
            <a:off x="11503152" y="6400800"/>
            <a:ext cx="45720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6E5F50"/>
              </a:buClr>
              <a:buSzPts val="1000"/>
              <a:buFont typeface="Calibri"/>
              <a:buNone/>
            </a:pPr>
            <a:r>
              <a:rPr lang="en-US" sz="1000" b="0" i="0" u="none" strike="noStrike" cap="none">
                <a:solidFill>
                  <a:srgbClr val="6E5F50"/>
                </a:solidFill>
                <a:latin typeface="Calibri"/>
                <a:ea typeface="Calibri"/>
                <a:cs typeface="Calibri"/>
                <a:sym typeface="Calibri"/>
              </a:rPr>
              <a:t>8</a:t>
            </a:r>
            <a:endParaRPr sz="1000" b="0" i="0" u="none" strike="noStrike" cap="none">
              <a:solidFill>
                <a:schemeClr val="dk1"/>
              </a:solidFill>
              <a:latin typeface="Calibri"/>
              <a:ea typeface="Calibri"/>
              <a:cs typeface="Calibri"/>
              <a:sym typeface="Calibri"/>
            </a:endParaRPr>
          </a:p>
        </p:txBody>
      </p:sp>
      <p:sp>
        <p:nvSpPr>
          <p:cNvPr id="59" name="Google Shape;187;p8">
            <a:extLst>
              <a:ext uri="{FF2B5EF4-FFF2-40B4-BE49-F238E27FC236}">
                <a16:creationId xmlns:a16="http://schemas.microsoft.com/office/drawing/2014/main" id="{7DBE7CCA-CF4C-BB6E-CE88-90819D1AFA33}"/>
              </a:ext>
            </a:extLst>
          </p:cNvPr>
          <p:cNvSpPr/>
          <p:nvPr/>
        </p:nvSpPr>
        <p:spPr>
          <a:xfrm>
            <a:off x="548640" y="320040"/>
            <a:ext cx="11091672" cy="6858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D9A441"/>
              </a:buClr>
              <a:buSzPts val="3000"/>
              <a:buFont typeface="Cambria"/>
              <a:buNone/>
            </a:pPr>
            <a:r>
              <a:rPr lang="en-US" sz="3000" b="1" i="0" u="none" strike="noStrike" cap="none">
                <a:solidFill>
                  <a:srgbClr val="D9A441"/>
                </a:solidFill>
                <a:latin typeface="Calibri"/>
                <a:ea typeface="Calibri"/>
                <a:cs typeface="Calibri"/>
                <a:sym typeface="Calibri"/>
              </a:rPr>
              <a:t>É</a:t>
            </a:r>
            <a:r>
              <a:rPr lang="en-US" sz="3000" b="1" i="0" u="none" strike="noStrike" cap="none">
                <a:solidFill>
                  <a:srgbClr val="4A2C1A"/>
                </a:solidFill>
                <a:latin typeface="Calibri"/>
                <a:ea typeface="Calibri"/>
                <a:cs typeface="Calibri"/>
                <a:sym typeface="Calibri"/>
              </a:rPr>
              <a:t>picas e historias de usuario</a:t>
            </a:r>
            <a:endParaRPr sz="3000" i="0" u="none" strike="noStrike" cap="none">
              <a:solidFill>
                <a:srgbClr val="4A2C1A"/>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49"/>
        <p:cNvGrpSpPr/>
        <p:nvPr/>
      </p:nvGrpSpPr>
      <p:grpSpPr>
        <a:xfrm>
          <a:off x="0" y="0"/>
          <a:ext cx="0" cy="0"/>
          <a:chOff x="0" y="0"/>
          <a:chExt cx="0" cy="0"/>
        </a:xfrm>
      </p:grpSpPr>
      <p:sp>
        <p:nvSpPr>
          <p:cNvPr id="251" name="Google Shape;251;p9"/>
          <p:cNvSpPr/>
          <p:nvPr/>
        </p:nvSpPr>
        <p:spPr>
          <a:xfrm>
            <a:off x="11457432" y="6419088"/>
            <a:ext cx="45720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6E5F50"/>
              </a:buClr>
              <a:buSzPts val="1000"/>
              <a:buFont typeface="Calibri"/>
              <a:buNone/>
            </a:pPr>
            <a:r>
              <a:rPr lang="en-US" sz="1000">
                <a:solidFill>
                  <a:srgbClr val="6E5F50"/>
                </a:solidFill>
                <a:latin typeface="Calibri"/>
                <a:ea typeface="Calibri"/>
                <a:cs typeface="Calibri"/>
                <a:sym typeface="Calibri"/>
              </a:rPr>
              <a:t>9</a:t>
            </a:r>
            <a:endParaRPr sz="1000">
              <a:solidFill>
                <a:schemeClr val="dk1"/>
              </a:solidFill>
              <a:latin typeface="Calibri"/>
              <a:ea typeface="Calibri"/>
              <a:cs typeface="Calibri"/>
              <a:sym typeface="Calibri"/>
            </a:endParaRPr>
          </a:p>
        </p:txBody>
      </p:sp>
      <p:pic>
        <p:nvPicPr>
          <p:cNvPr id="252" name="Google Shape;252;p9" descr="arq_icons.png"/>
          <p:cNvPicPr preferRelativeResize="0"/>
          <p:nvPr/>
        </p:nvPicPr>
        <p:blipFill rotWithShape="1">
          <a:blip r:embed="rId3">
            <a:alphaModFix/>
          </a:blip>
          <a:srcRect/>
          <a:stretch/>
        </p:blipFill>
        <p:spPr>
          <a:xfrm>
            <a:off x="2358428" y="1112274"/>
            <a:ext cx="7691603" cy="5581134"/>
          </a:xfrm>
          <a:prstGeom prst="rect">
            <a:avLst/>
          </a:prstGeom>
          <a:noFill/>
          <a:ln>
            <a:noFill/>
          </a:ln>
        </p:spPr>
      </p:pic>
      <p:sp>
        <p:nvSpPr>
          <p:cNvPr id="3" name="Google Shape;271;p10">
            <a:extLst>
              <a:ext uri="{FF2B5EF4-FFF2-40B4-BE49-F238E27FC236}">
                <a16:creationId xmlns:a16="http://schemas.microsoft.com/office/drawing/2014/main" id="{8855F79A-1315-97A7-9245-701FB6EAA72B}"/>
              </a:ext>
            </a:extLst>
          </p:cNvPr>
          <p:cNvSpPr/>
          <p:nvPr/>
        </p:nvSpPr>
        <p:spPr>
          <a:xfrm>
            <a:off x="548640" y="320040"/>
            <a:ext cx="11091672" cy="6858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D9A441"/>
              </a:buClr>
              <a:buSzPts val="3000"/>
              <a:buFont typeface="Cambria"/>
              <a:buNone/>
            </a:pPr>
            <a:r>
              <a:rPr lang="en-US" sz="3000" b="1" i="0" u="none" strike="noStrike" cap="none" dirty="0" err="1">
                <a:solidFill>
                  <a:srgbClr val="D9A441"/>
                </a:solidFill>
                <a:latin typeface="Calibri"/>
                <a:ea typeface="Calibri"/>
                <a:cs typeface="Calibri"/>
                <a:sym typeface="Calibri"/>
              </a:rPr>
              <a:t>A</a:t>
            </a:r>
            <a:r>
              <a:rPr lang="en-US" sz="3000" b="1" i="0" u="none" strike="noStrike" cap="none" dirty="0" err="1">
                <a:solidFill>
                  <a:srgbClr val="4A2C1A"/>
                </a:solidFill>
                <a:latin typeface="Calibri"/>
                <a:ea typeface="Calibri"/>
                <a:cs typeface="Calibri"/>
                <a:sym typeface="Calibri"/>
              </a:rPr>
              <a:t>rquitectura</a:t>
            </a:r>
            <a:endParaRPr sz="3000" i="0" u="none" strike="noStrike" cap="none" dirty="0">
              <a:solidFill>
                <a:srgbClr val="D9A44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57"/>
        <p:cNvGrpSpPr/>
        <p:nvPr/>
      </p:nvGrpSpPr>
      <p:grpSpPr>
        <a:xfrm>
          <a:off x="0" y="0"/>
          <a:ext cx="0" cy="0"/>
          <a:chOff x="0" y="0"/>
          <a:chExt cx="0" cy="0"/>
        </a:xfrm>
      </p:grpSpPr>
      <p:sp>
        <p:nvSpPr>
          <p:cNvPr id="259" name="Google Shape;259;p10"/>
          <p:cNvSpPr/>
          <p:nvPr/>
        </p:nvSpPr>
        <p:spPr>
          <a:xfrm>
            <a:off x="548640" y="1280160"/>
            <a:ext cx="5029200" cy="4937760"/>
          </a:xfrm>
          <a:prstGeom prst="roundRect">
            <a:avLst>
              <a:gd name="adj" fmla="val 2222"/>
            </a:avLst>
          </a:prstGeom>
          <a:solidFill>
            <a:srgbClr val="4A2C1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60" name="Google Shape;260;p10"/>
          <p:cNvSpPr/>
          <p:nvPr/>
        </p:nvSpPr>
        <p:spPr>
          <a:xfrm>
            <a:off x="868680" y="1554480"/>
            <a:ext cx="731520" cy="731520"/>
          </a:xfrm>
          <a:prstGeom prst="ellipse">
            <a:avLst/>
          </a:prstGeom>
          <a:solidFill>
            <a:srgbClr val="D9A44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261" name="Google Shape;261;p10" descr="preencoded.png"/>
          <p:cNvPicPr preferRelativeResize="0"/>
          <p:nvPr/>
        </p:nvPicPr>
        <p:blipFill rotWithShape="1">
          <a:blip r:embed="rId3">
            <a:alphaModFix/>
          </a:blip>
          <a:srcRect/>
          <a:stretch/>
        </p:blipFill>
        <p:spPr>
          <a:xfrm>
            <a:off x="1058875" y="1744675"/>
            <a:ext cx="351130" cy="351130"/>
          </a:xfrm>
          <a:prstGeom prst="rect">
            <a:avLst/>
          </a:prstGeom>
          <a:noFill/>
          <a:ln>
            <a:noFill/>
          </a:ln>
        </p:spPr>
      </p:pic>
      <p:sp>
        <p:nvSpPr>
          <p:cNvPr id="262" name="Google Shape;262;p10"/>
          <p:cNvSpPr/>
          <p:nvPr/>
        </p:nvSpPr>
        <p:spPr>
          <a:xfrm>
            <a:off x="1783080" y="1600200"/>
            <a:ext cx="3566160" cy="6400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D9A441"/>
              </a:buClr>
              <a:buSzPts val="1700"/>
              <a:buFont typeface="Cambria"/>
              <a:buNone/>
            </a:pPr>
            <a:r>
              <a:rPr lang="en-US" sz="2400" b="1" dirty="0">
                <a:solidFill>
                  <a:srgbClr val="D9A441"/>
                </a:solidFill>
                <a:latin typeface="Calibri" panose="020F0502020204030204" pitchFamily="34" charset="0"/>
                <a:ea typeface="Calibri" panose="020F0502020204030204" pitchFamily="34" charset="0"/>
                <a:cs typeface="Calibri" panose="020F0502020204030204" pitchFamily="34" charset="0"/>
                <a:sym typeface="Cambria"/>
              </a:rPr>
              <a:t>Scrum: </a:t>
            </a:r>
            <a:r>
              <a:rPr lang="en-US" sz="2400" b="1" dirty="0" err="1">
                <a:solidFill>
                  <a:srgbClr val="D9A441"/>
                </a:solidFill>
                <a:latin typeface="Calibri" panose="020F0502020204030204" pitchFamily="34" charset="0"/>
                <a:ea typeface="Calibri" panose="020F0502020204030204" pitchFamily="34" charset="0"/>
                <a:cs typeface="Calibri" panose="020F0502020204030204" pitchFamily="34" charset="0"/>
                <a:sym typeface="Cambria"/>
              </a:rPr>
              <a:t>marco</a:t>
            </a:r>
            <a:r>
              <a:rPr lang="en-US" sz="2400" b="1" dirty="0">
                <a:solidFill>
                  <a:srgbClr val="D9A441"/>
                </a:solidFill>
                <a:latin typeface="Calibri" panose="020F0502020204030204" pitchFamily="34" charset="0"/>
                <a:ea typeface="Calibri" panose="020F0502020204030204" pitchFamily="34" charset="0"/>
                <a:cs typeface="Calibri" panose="020F0502020204030204" pitchFamily="34" charset="0"/>
                <a:sym typeface="Cambria"/>
              </a:rPr>
              <a:t> de </a:t>
            </a:r>
            <a:r>
              <a:rPr lang="en-US" sz="2400" b="1" dirty="0" err="1">
                <a:solidFill>
                  <a:srgbClr val="D9A441"/>
                </a:solidFill>
                <a:latin typeface="Calibri" panose="020F0502020204030204" pitchFamily="34" charset="0"/>
                <a:ea typeface="Calibri" panose="020F0502020204030204" pitchFamily="34" charset="0"/>
                <a:cs typeface="Calibri" panose="020F0502020204030204" pitchFamily="34" charset="0"/>
                <a:sym typeface="Cambria"/>
              </a:rPr>
              <a:t>trabajo</a:t>
            </a:r>
            <a:endParaRPr sz="24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263" name="Google Shape;263;p10"/>
          <p:cNvSpPr/>
          <p:nvPr/>
        </p:nvSpPr>
        <p:spPr>
          <a:xfrm>
            <a:off x="868680" y="2468880"/>
            <a:ext cx="4480560" cy="3657600"/>
          </a:xfrm>
          <a:prstGeom prst="rect">
            <a:avLst/>
          </a:prstGeom>
          <a:noFill/>
          <a:ln>
            <a:noFill/>
          </a:ln>
        </p:spPr>
        <p:txBody>
          <a:bodyPr spcFirstLastPara="1" wrap="square" lIns="0" tIns="0" rIns="0" bIns="0" anchor="ctr" anchorCtr="0">
            <a:noAutofit/>
          </a:bodyPr>
          <a:lstStyle/>
          <a:p>
            <a:pPr marL="342900" marR="0" lvl="0" indent="-342900" algn="l" rtl="0">
              <a:spcBef>
                <a:spcPts val="0"/>
              </a:spcBef>
              <a:spcAft>
                <a:spcPts val="0"/>
              </a:spcAft>
              <a:buClr>
                <a:srgbClr val="F3EADC"/>
              </a:buClr>
              <a:buSzPts val="1250"/>
              <a:buFont typeface="Calibri"/>
              <a:buChar char="•"/>
            </a:pPr>
            <a:r>
              <a:rPr lang="en-US" dirty="0">
                <a:solidFill>
                  <a:srgbClr val="F3EADC"/>
                </a:solidFill>
                <a:latin typeface="Calibri"/>
                <a:ea typeface="Calibri"/>
                <a:cs typeface="Calibri"/>
                <a:sym typeface="Calibri"/>
              </a:rPr>
              <a:t>Sprints de dos </a:t>
            </a:r>
            <a:r>
              <a:rPr lang="en-US" dirty="0" err="1">
                <a:solidFill>
                  <a:srgbClr val="F3EADC"/>
                </a:solidFill>
                <a:latin typeface="Calibri"/>
                <a:ea typeface="Calibri"/>
                <a:cs typeface="Calibri"/>
                <a:sym typeface="Calibri"/>
              </a:rPr>
              <a:t>semanas</a:t>
            </a:r>
            <a:r>
              <a:rPr lang="en-US" dirty="0">
                <a:solidFill>
                  <a:srgbClr val="F3EADC"/>
                </a:solidFill>
                <a:latin typeface="Calibri"/>
                <a:ea typeface="Calibri"/>
                <a:cs typeface="Calibri"/>
                <a:sym typeface="Calibri"/>
              </a:rPr>
              <a:t>. Cada sprint </a:t>
            </a:r>
            <a:r>
              <a:rPr lang="en-US" dirty="0" err="1">
                <a:solidFill>
                  <a:srgbClr val="F3EADC"/>
                </a:solidFill>
                <a:latin typeface="Calibri"/>
                <a:ea typeface="Calibri"/>
                <a:cs typeface="Calibri"/>
                <a:sym typeface="Calibri"/>
              </a:rPr>
              <a:t>entrega</a:t>
            </a:r>
            <a:r>
              <a:rPr lang="en-US" dirty="0">
                <a:solidFill>
                  <a:srgbClr val="F3EADC"/>
                </a:solidFill>
                <a:latin typeface="Calibri"/>
                <a:ea typeface="Calibri"/>
                <a:cs typeface="Calibri"/>
                <a:sym typeface="Calibri"/>
              </a:rPr>
              <a:t> un </a:t>
            </a:r>
            <a:r>
              <a:rPr lang="en-US" dirty="0" err="1">
                <a:solidFill>
                  <a:srgbClr val="F3EADC"/>
                </a:solidFill>
                <a:latin typeface="Calibri"/>
                <a:ea typeface="Calibri"/>
                <a:cs typeface="Calibri"/>
                <a:sym typeface="Calibri"/>
              </a:rPr>
              <a:t>incremento</a:t>
            </a:r>
            <a:r>
              <a:rPr lang="en-US" dirty="0">
                <a:solidFill>
                  <a:srgbClr val="F3EADC"/>
                </a:solidFill>
                <a:latin typeface="Calibri"/>
                <a:ea typeface="Calibri"/>
                <a:cs typeface="Calibri"/>
                <a:sym typeface="Calibri"/>
              </a:rPr>
              <a:t> </a:t>
            </a:r>
            <a:r>
              <a:rPr lang="en-US" dirty="0" err="1">
                <a:solidFill>
                  <a:srgbClr val="F3EADC"/>
                </a:solidFill>
                <a:latin typeface="Calibri"/>
                <a:ea typeface="Calibri"/>
                <a:cs typeface="Calibri"/>
                <a:sym typeface="Calibri"/>
              </a:rPr>
              <a:t>funcional</a:t>
            </a:r>
            <a:r>
              <a:rPr lang="en-US" dirty="0">
                <a:solidFill>
                  <a:srgbClr val="F3EADC"/>
                </a:solidFill>
                <a:latin typeface="Calibri"/>
                <a:ea typeface="Calibri"/>
                <a:cs typeface="Calibri"/>
                <a:sym typeface="Calibri"/>
              </a:rPr>
              <a:t> </a:t>
            </a:r>
            <a:r>
              <a:rPr lang="en-US" dirty="0" err="1">
                <a:solidFill>
                  <a:srgbClr val="F3EADC"/>
                </a:solidFill>
                <a:latin typeface="Calibri"/>
                <a:ea typeface="Calibri"/>
                <a:cs typeface="Calibri"/>
                <a:sym typeface="Calibri"/>
              </a:rPr>
              <a:t>desplegable</a:t>
            </a:r>
            <a:r>
              <a:rPr lang="en-US" dirty="0">
                <a:solidFill>
                  <a:srgbClr val="F3EADC"/>
                </a:solidFill>
                <a:latin typeface="Calibri"/>
                <a:ea typeface="Calibri"/>
                <a:cs typeface="Calibri"/>
                <a:sym typeface="Calibri"/>
              </a:rPr>
              <a:t>, no </a:t>
            </a:r>
            <a:r>
              <a:rPr lang="en-US" dirty="0" err="1">
                <a:solidFill>
                  <a:srgbClr val="F3EADC"/>
                </a:solidFill>
                <a:latin typeface="Calibri"/>
                <a:ea typeface="Calibri"/>
                <a:cs typeface="Calibri"/>
                <a:sym typeface="Calibri"/>
              </a:rPr>
              <a:t>componentes</a:t>
            </a:r>
            <a:r>
              <a:rPr lang="en-US" dirty="0">
                <a:solidFill>
                  <a:srgbClr val="F3EADC"/>
                </a:solidFill>
                <a:latin typeface="Calibri"/>
                <a:ea typeface="Calibri"/>
                <a:cs typeface="Calibri"/>
                <a:sym typeface="Calibri"/>
              </a:rPr>
              <a:t> </a:t>
            </a:r>
            <a:r>
              <a:rPr lang="en-US" dirty="0" err="1">
                <a:solidFill>
                  <a:srgbClr val="F3EADC"/>
                </a:solidFill>
                <a:latin typeface="Calibri"/>
                <a:ea typeface="Calibri"/>
                <a:cs typeface="Calibri"/>
                <a:sym typeface="Calibri"/>
              </a:rPr>
              <a:t>aislados</a:t>
            </a:r>
            <a:r>
              <a:rPr lang="en-US" dirty="0">
                <a:solidFill>
                  <a:srgbClr val="F3EADC"/>
                </a:solidFill>
                <a:latin typeface="Calibri"/>
                <a:ea typeface="Calibri"/>
                <a:cs typeface="Calibri"/>
                <a:sym typeface="Calibri"/>
              </a:rPr>
              <a:t>.</a:t>
            </a:r>
            <a:endParaRPr dirty="0">
              <a:solidFill>
                <a:schemeClr val="dk1"/>
              </a:solidFill>
              <a:latin typeface="Calibri"/>
              <a:ea typeface="Calibri"/>
              <a:cs typeface="Calibri"/>
              <a:sym typeface="Calibri"/>
            </a:endParaRPr>
          </a:p>
          <a:p>
            <a:pPr marL="342900" marR="0" lvl="0" indent="-342900" algn="l" rtl="0">
              <a:spcBef>
                <a:spcPts val="1100"/>
              </a:spcBef>
              <a:spcAft>
                <a:spcPts val="0"/>
              </a:spcAft>
              <a:buClr>
                <a:srgbClr val="F3EADC"/>
              </a:buClr>
              <a:buSzPts val="1250"/>
              <a:buFont typeface="Calibri"/>
              <a:buChar char="•"/>
            </a:pPr>
            <a:r>
              <a:rPr lang="en-US" dirty="0">
                <a:solidFill>
                  <a:srgbClr val="F3EADC"/>
                </a:solidFill>
                <a:latin typeface="Calibri"/>
                <a:ea typeface="Calibri"/>
                <a:cs typeface="Calibri"/>
                <a:sym typeface="Calibri"/>
              </a:rPr>
              <a:t>Los sprints se </a:t>
            </a:r>
            <a:r>
              <a:rPr lang="en-US" dirty="0" err="1">
                <a:solidFill>
                  <a:srgbClr val="F3EADC"/>
                </a:solidFill>
                <a:latin typeface="Calibri"/>
                <a:ea typeface="Calibri"/>
                <a:cs typeface="Calibri"/>
                <a:sym typeface="Calibri"/>
              </a:rPr>
              <a:t>definen</a:t>
            </a:r>
            <a:r>
              <a:rPr lang="en-US" dirty="0">
                <a:solidFill>
                  <a:srgbClr val="F3EADC"/>
                </a:solidFill>
                <a:latin typeface="Calibri"/>
                <a:ea typeface="Calibri"/>
                <a:cs typeface="Calibri"/>
                <a:sym typeface="Calibri"/>
              </a:rPr>
              <a:t> </a:t>
            </a:r>
            <a:r>
              <a:rPr lang="en-US" dirty="0" err="1">
                <a:solidFill>
                  <a:srgbClr val="F3EADC"/>
                </a:solidFill>
                <a:latin typeface="Calibri"/>
                <a:ea typeface="Calibri"/>
                <a:cs typeface="Calibri"/>
                <a:sym typeface="Calibri"/>
              </a:rPr>
              <a:t>como</a:t>
            </a:r>
            <a:r>
              <a:rPr lang="en-US" dirty="0">
                <a:solidFill>
                  <a:srgbClr val="F3EADC"/>
                </a:solidFill>
                <a:latin typeface="Calibri"/>
                <a:ea typeface="Calibri"/>
                <a:cs typeface="Calibri"/>
                <a:sym typeface="Calibri"/>
              </a:rPr>
              <a:t> cortes </a:t>
            </a:r>
            <a:r>
              <a:rPr lang="en-US" dirty="0" err="1">
                <a:solidFill>
                  <a:srgbClr val="F3EADC"/>
                </a:solidFill>
                <a:latin typeface="Calibri"/>
                <a:ea typeface="Calibri"/>
                <a:cs typeface="Calibri"/>
                <a:sym typeface="Calibri"/>
              </a:rPr>
              <a:t>verticales</a:t>
            </a:r>
            <a:r>
              <a:rPr lang="en-US" dirty="0">
                <a:solidFill>
                  <a:srgbClr val="F3EADC"/>
                </a:solidFill>
                <a:latin typeface="Calibri"/>
                <a:ea typeface="Calibri"/>
                <a:cs typeface="Calibri"/>
                <a:sym typeface="Calibri"/>
              </a:rPr>
              <a:t>: </a:t>
            </a:r>
            <a:r>
              <a:rPr lang="en-US" dirty="0" err="1">
                <a:solidFill>
                  <a:srgbClr val="F3EADC"/>
                </a:solidFill>
                <a:latin typeface="Calibri"/>
                <a:ea typeface="Calibri"/>
                <a:cs typeface="Calibri"/>
                <a:sym typeface="Calibri"/>
              </a:rPr>
              <a:t>cada</a:t>
            </a:r>
            <a:r>
              <a:rPr lang="en-US" dirty="0">
                <a:solidFill>
                  <a:srgbClr val="F3EADC"/>
                </a:solidFill>
                <a:latin typeface="Calibri"/>
                <a:ea typeface="Calibri"/>
                <a:cs typeface="Calibri"/>
                <a:sym typeface="Calibri"/>
              </a:rPr>
              <a:t> uno </a:t>
            </a:r>
            <a:r>
              <a:rPr lang="en-US" dirty="0" err="1">
                <a:solidFill>
                  <a:srgbClr val="F3EADC"/>
                </a:solidFill>
                <a:latin typeface="Calibri"/>
                <a:ea typeface="Calibri"/>
                <a:cs typeface="Calibri"/>
                <a:sym typeface="Calibri"/>
              </a:rPr>
              <a:t>atraviesa</a:t>
            </a:r>
            <a:r>
              <a:rPr lang="en-US" dirty="0">
                <a:solidFill>
                  <a:srgbClr val="F3EADC"/>
                </a:solidFill>
                <a:latin typeface="Calibri"/>
                <a:ea typeface="Calibri"/>
                <a:cs typeface="Calibri"/>
                <a:sym typeface="Calibri"/>
              </a:rPr>
              <a:t> </a:t>
            </a:r>
            <a:r>
              <a:rPr lang="en-US" dirty="0" err="1">
                <a:solidFill>
                  <a:srgbClr val="F3EADC"/>
                </a:solidFill>
                <a:latin typeface="Calibri"/>
                <a:ea typeface="Calibri"/>
                <a:cs typeface="Calibri"/>
                <a:sym typeface="Calibri"/>
              </a:rPr>
              <a:t>interfaz</a:t>
            </a:r>
            <a:r>
              <a:rPr lang="en-US" dirty="0">
                <a:solidFill>
                  <a:srgbClr val="F3EADC"/>
                </a:solidFill>
                <a:latin typeface="Calibri"/>
                <a:ea typeface="Calibri"/>
                <a:cs typeface="Calibri"/>
                <a:sym typeface="Calibri"/>
              </a:rPr>
              <a:t>, </a:t>
            </a:r>
            <a:r>
              <a:rPr lang="en-US" dirty="0" err="1">
                <a:solidFill>
                  <a:srgbClr val="F3EADC"/>
                </a:solidFill>
                <a:latin typeface="Calibri"/>
                <a:ea typeface="Calibri"/>
                <a:cs typeface="Calibri"/>
                <a:sym typeface="Calibri"/>
              </a:rPr>
              <a:t>servicios</a:t>
            </a:r>
            <a:r>
              <a:rPr lang="en-US" dirty="0">
                <a:solidFill>
                  <a:srgbClr val="F3EADC"/>
                </a:solidFill>
                <a:latin typeface="Calibri"/>
                <a:ea typeface="Calibri"/>
                <a:cs typeface="Calibri"/>
                <a:sym typeface="Calibri"/>
              </a:rPr>
              <a:t> y </a:t>
            </a:r>
            <a:r>
              <a:rPr lang="en-US" dirty="0" err="1">
                <a:solidFill>
                  <a:srgbClr val="F3EADC"/>
                </a:solidFill>
                <a:latin typeface="Calibri"/>
                <a:ea typeface="Calibri"/>
                <a:cs typeface="Calibri"/>
                <a:sym typeface="Calibri"/>
              </a:rPr>
              <a:t>datos</a:t>
            </a:r>
            <a:r>
              <a:rPr lang="en-US" dirty="0">
                <a:solidFill>
                  <a:srgbClr val="F3EADC"/>
                </a:solidFill>
                <a:latin typeface="Calibri"/>
                <a:ea typeface="Calibri"/>
                <a:cs typeface="Calibri"/>
                <a:sym typeface="Calibri"/>
              </a:rPr>
              <a:t>.</a:t>
            </a:r>
            <a:endParaRPr dirty="0">
              <a:solidFill>
                <a:schemeClr val="dk1"/>
              </a:solidFill>
              <a:latin typeface="Calibri"/>
              <a:ea typeface="Calibri"/>
              <a:cs typeface="Calibri"/>
              <a:sym typeface="Calibri"/>
            </a:endParaRPr>
          </a:p>
          <a:p>
            <a:pPr marL="342900" marR="0" lvl="0" indent="-342900" algn="l" rtl="0">
              <a:spcBef>
                <a:spcPts val="1100"/>
              </a:spcBef>
              <a:spcAft>
                <a:spcPts val="0"/>
              </a:spcAft>
              <a:buClr>
                <a:srgbClr val="F3EADC"/>
              </a:buClr>
              <a:buSzPts val="1250"/>
              <a:buFont typeface="Calibri"/>
              <a:buChar char="•"/>
            </a:pPr>
            <a:r>
              <a:rPr lang="en-US" dirty="0">
                <a:solidFill>
                  <a:srgbClr val="F3EADC"/>
                </a:solidFill>
                <a:latin typeface="Calibri"/>
                <a:ea typeface="Calibri"/>
                <a:cs typeface="Calibri"/>
                <a:sym typeface="Calibri"/>
              </a:rPr>
              <a:t>Sprint 0 de </a:t>
            </a:r>
            <a:r>
              <a:rPr lang="en-US" dirty="0" err="1">
                <a:solidFill>
                  <a:srgbClr val="F3EADC"/>
                </a:solidFill>
                <a:latin typeface="Calibri"/>
                <a:ea typeface="Calibri"/>
                <a:cs typeface="Calibri"/>
                <a:sym typeface="Calibri"/>
              </a:rPr>
              <a:t>reducción</a:t>
            </a:r>
            <a:r>
              <a:rPr lang="en-US" dirty="0">
                <a:solidFill>
                  <a:srgbClr val="F3EADC"/>
                </a:solidFill>
                <a:latin typeface="Calibri"/>
                <a:ea typeface="Calibri"/>
                <a:cs typeface="Calibri"/>
                <a:sym typeface="Calibri"/>
              </a:rPr>
              <a:t> de </a:t>
            </a:r>
            <a:r>
              <a:rPr lang="en-US" dirty="0" err="1">
                <a:solidFill>
                  <a:srgbClr val="F3EADC"/>
                </a:solidFill>
                <a:latin typeface="Calibri"/>
                <a:ea typeface="Calibri"/>
                <a:cs typeface="Calibri"/>
                <a:sym typeface="Calibri"/>
              </a:rPr>
              <a:t>riesgo</a:t>
            </a:r>
            <a:r>
              <a:rPr lang="en-US" dirty="0">
                <a:solidFill>
                  <a:srgbClr val="F3EADC"/>
                </a:solidFill>
                <a:latin typeface="Calibri"/>
                <a:ea typeface="Calibri"/>
                <a:cs typeface="Calibri"/>
                <a:sym typeface="Calibri"/>
              </a:rPr>
              <a:t>: la </a:t>
            </a:r>
            <a:r>
              <a:rPr lang="en-US" dirty="0" err="1">
                <a:solidFill>
                  <a:srgbClr val="F3EADC"/>
                </a:solidFill>
                <a:latin typeface="Calibri"/>
                <a:ea typeface="Calibri"/>
                <a:cs typeface="Calibri"/>
                <a:sym typeface="Calibri"/>
              </a:rPr>
              <a:t>balanza</a:t>
            </a:r>
            <a:r>
              <a:rPr lang="en-US" dirty="0">
                <a:solidFill>
                  <a:srgbClr val="F3EADC"/>
                </a:solidFill>
                <a:latin typeface="Calibri"/>
                <a:ea typeface="Calibri"/>
                <a:cs typeface="Calibri"/>
                <a:sym typeface="Calibri"/>
              </a:rPr>
              <a:t> se integra </a:t>
            </a:r>
            <a:r>
              <a:rPr lang="en-US" dirty="0" err="1">
                <a:solidFill>
                  <a:srgbClr val="F3EADC"/>
                </a:solidFill>
                <a:latin typeface="Calibri"/>
                <a:ea typeface="Calibri"/>
                <a:cs typeface="Calibri"/>
                <a:sym typeface="Calibri"/>
              </a:rPr>
              <a:t>en</a:t>
            </a:r>
            <a:r>
              <a:rPr lang="en-US" dirty="0">
                <a:solidFill>
                  <a:srgbClr val="F3EADC"/>
                </a:solidFill>
                <a:latin typeface="Calibri"/>
                <a:ea typeface="Calibri"/>
                <a:cs typeface="Calibri"/>
                <a:sym typeface="Calibri"/>
              </a:rPr>
              <a:t> </a:t>
            </a:r>
            <a:r>
              <a:rPr lang="en-US" dirty="0" err="1">
                <a:solidFill>
                  <a:srgbClr val="F3EADC"/>
                </a:solidFill>
                <a:latin typeface="Calibri"/>
                <a:ea typeface="Calibri"/>
                <a:cs typeface="Calibri"/>
                <a:sym typeface="Calibri"/>
              </a:rPr>
              <a:t>aislamiento</a:t>
            </a:r>
            <a:r>
              <a:rPr lang="en-US" dirty="0">
                <a:solidFill>
                  <a:srgbClr val="F3EADC"/>
                </a:solidFill>
                <a:latin typeface="Calibri"/>
                <a:ea typeface="Calibri"/>
                <a:cs typeface="Calibri"/>
                <a:sym typeface="Calibri"/>
              </a:rPr>
              <a:t> antes de </a:t>
            </a:r>
            <a:r>
              <a:rPr lang="en-US" dirty="0" err="1">
                <a:solidFill>
                  <a:srgbClr val="F3EADC"/>
                </a:solidFill>
                <a:latin typeface="Calibri"/>
                <a:ea typeface="Calibri"/>
                <a:cs typeface="Calibri"/>
                <a:sym typeface="Calibri"/>
              </a:rPr>
              <a:t>construir</a:t>
            </a:r>
            <a:r>
              <a:rPr lang="en-US" dirty="0">
                <a:solidFill>
                  <a:srgbClr val="F3EADC"/>
                </a:solidFill>
                <a:latin typeface="Calibri"/>
                <a:ea typeface="Calibri"/>
                <a:cs typeface="Calibri"/>
                <a:sym typeface="Calibri"/>
              </a:rPr>
              <a:t> la </a:t>
            </a:r>
            <a:r>
              <a:rPr lang="en-US" dirty="0" err="1">
                <a:solidFill>
                  <a:srgbClr val="F3EADC"/>
                </a:solidFill>
                <a:latin typeface="Calibri"/>
                <a:ea typeface="Calibri"/>
                <a:cs typeface="Calibri"/>
                <a:sym typeface="Calibri"/>
              </a:rPr>
              <a:t>interfaz</a:t>
            </a:r>
            <a:r>
              <a:rPr lang="en-US" dirty="0">
                <a:solidFill>
                  <a:srgbClr val="F3EADC"/>
                </a:solidFill>
                <a:latin typeface="Calibri"/>
                <a:ea typeface="Calibri"/>
                <a:cs typeface="Calibri"/>
                <a:sym typeface="Calibri"/>
              </a:rPr>
              <a:t> de </a:t>
            </a:r>
            <a:r>
              <a:rPr lang="en-US" dirty="0" err="1">
                <a:solidFill>
                  <a:srgbClr val="F3EADC"/>
                </a:solidFill>
                <a:latin typeface="Calibri"/>
                <a:ea typeface="Calibri"/>
                <a:cs typeface="Calibri"/>
                <a:sym typeface="Calibri"/>
              </a:rPr>
              <a:t>venta</a:t>
            </a:r>
            <a:r>
              <a:rPr lang="en-US" dirty="0">
                <a:solidFill>
                  <a:srgbClr val="F3EADC"/>
                </a:solidFill>
                <a:latin typeface="Calibri"/>
                <a:ea typeface="Calibri"/>
                <a:cs typeface="Calibri"/>
                <a:sym typeface="Calibri"/>
              </a:rPr>
              <a:t>.</a:t>
            </a:r>
            <a:endParaRPr dirty="0">
              <a:solidFill>
                <a:schemeClr val="dk1"/>
              </a:solidFill>
              <a:latin typeface="Calibri"/>
              <a:ea typeface="Calibri"/>
              <a:cs typeface="Calibri"/>
              <a:sym typeface="Calibri"/>
            </a:endParaRPr>
          </a:p>
          <a:p>
            <a:pPr marL="342900" marR="0" lvl="0" indent="-342900" algn="l" rtl="0">
              <a:spcBef>
                <a:spcPts val="1100"/>
              </a:spcBef>
              <a:spcAft>
                <a:spcPts val="0"/>
              </a:spcAft>
              <a:buClr>
                <a:srgbClr val="F3EADC"/>
              </a:buClr>
              <a:buSzPts val="1250"/>
              <a:buFont typeface="Calibri"/>
              <a:buChar char="•"/>
            </a:pPr>
            <a:r>
              <a:rPr lang="en-US" dirty="0">
                <a:solidFill>
                  <a:srgbClr val="F3EADC"/>
                </a:solidFill>
                <a:latin typeface="Calibri"/>
                <a:ea typeface="Calibri"/>
                <a:cs typeface="Calibri"/>
                <a:sym typeface="Calibri"/>
              </a:rPr>
              <a:t>Backlog </a:t>
            </a:r>
            <a:r>
              <a:rPr lang="en-US" dirty="0" err="1">
                <a:solidFill>
                  <a:srgbClr val="F3EADC"/>
                </a:solidFill>
                <a:latin typeface="Calibri"/>
                <a:ea typeface="Calibri"/>
                <a:cs typeface="Calibri"/>
                <a:sym typeface="Calibri"/>
              </a:rPr>
              <a:t>priorizado</a:t>
            </a:r>
            <a:r>
              <a:rPr lang="en-US" dirty="0">
                <a:solidFill>
                  <a:srgbClr val="F3EADC"/>
                </a:solidFill>
                <a:latin typeface="Calibri"/>
                <a:ea typeface="Calibri"/>
                <a:cs typeface="Calibri"/>
                <a:sym typeface="Calibri"/>
              </a:rPr>
              <a:t> </a:t>
            </a:r>
            <a:r>
              <a:rPr lang="en-US" dirty="0" err="1">
                <a:solidFill>
                  <a:srgbClr val="F3EADC"/>
                </a:solidFill>
                <a:latin typeface="Calibri"/>
                <a:ea typeface="Calibri"/>
                <a:cs typeface="Calibri"/>
                <a:sym typeface="Calibri"/>
              </a:rPr>
              <a:t>por</a:t>
            </a:r>
            <a:r>
              <a:rPr lang="en-US" dirty="0">
                <a:solidFill>
                  <a:srgbClr val="F3EADC"/>
                </a:solidFill>
                <a:latin typeface="Calibri"/>
                <a:ea typeface="Calibri"/>
                <a:cs typeface="Calibri"/>
                <a:sym typeface="Calibri"/>
              </a:rPr>
              <a:t> valor para la </a:t>
            </a:r>
            <a:r>
              <a:rPr lang="en-US" dirty="0" err="1">
                <a:solidFill>
                  <a:srgbClr val="F3EADC"/>
                </a:solidFill>
                <a:latin typeface="Calibri"/>
                <a:ea typeface="Calibri"/>
                <a:cs typeface="Calibri"/>
                <a:sym typeface="Calibri"/>
              </a:rPr>
              <a:t>panadería</a:t>
            </a:r>
            <a:r>
              <a:rPr lang="en-US" dirty="0">
                <a:solidFill>
                  <a:srgbClr val="F3EADC"/>
                </a:solidFill>
                <a:latin typeface="Calibri"/>
                <a:ea typeface="Calibri"/>
                <a:cs typeface="Calibri"/>
                <a:sym typeface="Calibri"/>
              </a:rPr>
              <a:t>, </a:t>
            </a:r>
            <a:r>
              <a:rPr lang="en-US" dirty="0" err="1">
                <a:solidFill>
                  <a:srgbClr val="F3EADC"/>
                </a:solidFill>
                <a:latin typeface="Calibri"/>
                <a:ea typeface="Calibri"/>
                <a:cs typeface="Calibri"/>
                <a:sym typeface="Calibri"/>
              </a:rPr>
              <a:t>refinado</a:t>
            </a:r>
            <a:r>
              <a:rPr lang="en-US" dirty="0">
                <a:solidFill>
                  <a:srgbClr val="F3EADC"/>
                </a:solidFill>
                <a:latin typeface="Calibri"/>
                <a:ea typeface="Calibri"/>
                <a:cs typeface="Calibri"/>
                <a:sym typeface="Calibri"/>
              </a:rPr>
              <a:t> al </a:t>
            </a:r>
            <a:r>
              <a:rPr lang="en-US" dirty="0" err="1">
                <a:solidFill>
                  <a:srgbClr val="F3EADC"/>
                </a:solidFill>
                <a:latin typeface="Calibri"/>
                <a:ea typeface="Calibri"/>
                <a:cs typeface="Calibri"/>
                <a:sym typeface="Calibri"/>
              </a:rPr>
              <a:t>cierre</a:t>
            </a:r>
            <a:r>
              <a:rPr lang="en-US" dirty="0">
                <a:solidFill>
                  <a:srgbClr val="F3EADC"/>
                </a:solidFill>
                <a:latin typeface="Calibri"/>
                <a:ea typeface="Calibri"/>
                <a:cs typeface="Calibri"/>
                <a:sym typeface="Calibri"/>
              </a:rPr>
              <a:t> de </a:t>
            </a:r>
            <a:r>
              <a:rPr lang="en-US" dirty="0" err="1">
                <a:solidFill>
                  <a:srgbClr val="F3EADC"/>
                </a:solidFill>
                <a:latin typeface="Calibri"/>
                <a:ea typeface="Calibri"/>
                <a:cs typeface="Calibri"/>
                <a:sym typeface="Calibri"/>
              </a:rPr>
              <a:t>cada</a:t>
            </a:r>
            <a:r>
              <a:rPr lang="en-US" dirty="0">
                <a:solidFill>
                  <a:srgbClr val="F3EADC"/>
                </a:solidFill>
                <a:latin typeface="Calibri"/>
                <a:ea typeface="Calibri"/>
                <a:cs typeface="Calibri"/>
                <a:sym typeface="Calibri"/>
              </a:rPr>
              <a:t> sprint.</a:t>
            </a:r>
            <a:endParaRPr dirty="0">
              <a:solidFill>
                <a:schemeClr val="dk1"/>
              </a:solidFill>
              <a:latin typeface="Calibri"/>
              <a:ea typeface="Calibri"/>
              <a:cs typeface="Calibri"/>
              <a:sym typeface="Calibri"/>
            </a:endParaRPr>
          </a:p>
          <a:p>
            <a:pPr marL="342900" marR="0" lvl="0" indent="-342900" algn="l" rtl="0">
              <a:spcBef>
                <a:spcPts val="1100"/>
              </a:spcBef>
              <a:spcAft>
                <a:spcPts val="0"/>
              </a:spcAft>
              <a:buClr>
                <a:srgbClr val="F3EADC"/>
              </a:buClr>
              <a:buSzPts val="1250"/>
              <a:buFont typeface="Calibri"/>
              <a:buChar char="•"/>
            </a:pPr>
            <a:r>
              <a:rPr lang="en-US" dirty="0">
                <a:solidFill>
                  <a:srgbClr val="F3EADC"/>
                </a:solidFill>
                <a:latin typeface="Calibri"/>
                <a:ea typeface="Calibri"/>
                <a:cs typeface="Calibri"/>
                <a:sym typeface="Calibri"/>
              </a:rPr>
              <a:t>Control de </a:t>
            </a:r>
            <a:r>
              <a:rPr lang="en-US" dirty="0" err="1">
                <a:solidFill>
                  <a:srgbClr val="F3EADC"/>
                </a:solidFill>
                <a:latin typeface="Calibri"/>
                <a:ea typeface="Calibri"/>
                <a:cs typeface="Calibri"/>
                <a:sym typeface="Calibri"/>
              </a:rPr>
              <a:t>versiones</a:t>
            </a:r>
            <a:r>
              <a:rPr lang="en-US" dirty="0">
                <a:solidFill>
                  <a:srgbClr val="F3EADC"/>
                </a:solidFill>
                <a:latin typeface="Calibri"/>
                <a:ea typeface="Calibri"/>
                <a:cs typeface="Calibri"/>
                <a:sym typeface="Calibri"/>
              </a:rPr>
              <a:t> con </a:t>
            </a:r>
            <a:r>
              <a:rPr lang="en-US" dirty="0" err="1">
                <a:solidFill>
                  <a:srgbClr val="F3EADC"/>
                </a:solidFill>
                <a:latin typeface="Calibri"/>
                <a:ea typeface="Calibri"/>
                <a:cs typeface="Calibri"/>
                <a:sym typeface="Calibri"/>
              </a:rPr>
              <a:t>revisión</a:t>
            </a:r>
            <a:r>
              <a:rPr lang="en-US" dirty="0">
                <a:solidFill>
                  <a:srgbClr val="F3EADC"/>
                </a:solidFill>
                <a:latin typeface="Calibri"/>
                <a:ea typeface="Calibri"/>
                <a:cs typeface="Calibri"/>
                <a:sym typeface="Calibri"/>
              </a:rPr>
              <a:t> de pares, </a:t>
            </a:r>
            <a:r>
              <a:rPr lang="en-US" dirty="0" err="1">
                <a:solidFill>
                  <a:srgbClr val="F3EADC"/>
                </a:solidFill>
                <a:latin typeface="Calibri"/>
                <a:ea typeface="Calibri"/>
                <a:cs typeface="Calibri"/>
                <a:sym typeface="Calibri"/>
              </a:rPr>
              <a:t>integración</a:t>
            </a:r>
            <a:r>
              <a:rPr lang="en-US" dirty="0">
                <a:solidFill>
                  <a:srgbClr val="F3EADC"/>
                </a:solidFill>
                <a:latin typeface="Calibri"/>
                <a:ea typeface="Calibri"/>
                <a:cs typeface="Calibri"/>
                <a:sym typeface="Calibri"/>
              </a:rPr>
              <a:t> continua y </a:t>
            </a:r>
            <a:r>
              <a:rPr lang="en-US" dirty="0" err="1">
                <a:solidFill>
                  <a:srgbClr val="F3EADC"/>
                </a:solidFill>
                <a:latin typeface="Calibri"/>
                <a:ea typeface="Calibri"/>
                <a:cs typeface="Calibri"/>
                <a:sym typeface="Calibri"/>
              </a:rPr>
              <a:t>pruebas</a:t>
            </a:r>
            <a:r>
              <a:rPr lang="en-US" dirty="0">
                <a:solidFill>
                  <a:srgbClr val="F3EADC"/>
                </a:solidFill>
                <a:latin typeface="Calibri"/>
                <a:ea typeface="Calibri"/>
                <a:cs typeface="Calibri"/>
                <a:sym typeface="Calibri"/>
              </a:rPr>
              <a:t> </a:t>
            </a:r>
            <a:r>
              <a:rPr lang="en-US" dirty="0" err="1">
                <a:solidFill>
                  <a:srgbClr val="F3EADC"/>
                </a:solidFill>
                <a:latin typeface="Calibri"/>
                <a:ea typeface="Calibri"/>
                <a:cs typeface="Calibri"/>
                <a:sym typeface="Calibri"/>
              </a:rPr>
              <a:t>automatizadas</a:t>
            </a:r>
            <a:r>
              <a:rPr lang="en-US" dirty="0">
                <a:solidFill>
                  <a:srgbClr val="F3EADC"/>
                </a:solidFill>
                <a:latin typeface="Calibri"/>
                <a:ea typeface="Calibri"/>
                <a:cs typeface="Calibri"/>
                <a:sym typeface="Calibri"/>
              </a:rPr>
              <a:t> </a:t>
            </a:r>
            <a:r>
              <a:rPr lang="en-US" dirty="0" err="1">
                <a:solidFill>
                  <a:srgbClr val="F3EADC"/>
                </a:solidFill>
                <a:latin typeface="Calibri"/>
                <a:ea typeface="Calibri"/>
                <a:cs typeface="Calibri"/>
                <a:sym typeface="Calibri"/>
              </a:rPr>
              <a:t>en</a:t>
            </a:r>
            <a:r>
              <a:rPr lang="en-US" dirty="0">
                <a:solidFill>
                  <a:srgbClr val="F3EADC"/>
                </a:solidFill>
                <a:latin typeface="Calibri"/>
                <a:ea typeface="Calibri"/>
                <a:cs typeface="Calibri"/>
                <a:sym typeface="Calibri"/>
              </a:rPr>
              <a:t> </a:t>
            </a:r>
            <a:r>
              <a:rPr lang="en-US" dirty="0" err="1">
                <a:solidFill>
                  <a:srgbClr val="F3EADC"/>
                </a:solidFill>
                <a:latin typeface="Calibri"/>
                <a:ea typeface="Calibri"/>
                <a:cs typeface="Calibri"/>
                <a:sym typeface="Calibri"/>
              </a:rPr>
              <a:t>cada</a:t>
            </a:r>
            <a:r>
              <a:rPr lang="en-US" dirty="0">
                <a:solidFill>
                  <a:srgbClr val="F3EADC"/>
                </a:solidFill>
                <a:latin typeface="Calibri"/>
                <a:ea typeface="Calibri"/>
                <a:cs typeface="Calibri"/>
                <a:sym typeface="Calibri"/>
              </a:rPr>
              <a:t> </a:t>
            </a:r>
            <a:r>
              <a:rPr lang="en-US" dirty="0" err="1">
                <a:solidFill>
                  <a:srgbClr val="F3EADC"/>
                </a:solidFill>
                <a:latin typeface="Calibri"/>
                <a:ea typeface="Calibri"/>
                <a:cs typeface="Calibri"/>
                <a:sym typeface="Calibri"/>
              </a:rPr>
              <a:t>cambio</a:t>
            </a:r>
            <a:r>
              <a:rPr lang="en-US" dirty="0">
                <a:solidFill>
                  <a:srgbClr val="F3EADC"/>
                </a:solidFill>
                <a:latin typeface="Calibri"/>
                <a:ea typeface="Calibri"/>
                <a:cs typeface="Calibri"/>
                <a:sym typeface="Calibri"/>
              </a:rPr>
              <a:t>.</a:t>
            </a:r>
            <a:endParaRPr dirty="0">
              <a:solidFill>
                <a:schemeClr val="dk1"/>
              </a:solidFill>
              <a:latin typeface="Calibri"/>
              <a:ea typeface="Calibri"/>
              <a:cs typeface="Calibri"/>
              <a:sym typeface="Calibri"/>
            </a:endParaRPr>
          </a:p>
        </p:txBody>
      </p:sp>
      <p:sp>
        <p:nvSpPr>
          <p:cNvPr id="264" name="Google Shape;264;p10"/>
          <p:cNvSpPr/>
          <p:nvPr/>
        </p:nvSpPr>
        <p:spPr>
          <a:xfrm>
            <a:off x="5925312" y="1280160"/>
            <a:ext cx="576072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A2C1A"/>
              </a:buClr>
              <a:buSzPts val="1400"/>
              <a:buFont typeface="Calibri"/>
              <a:buNone/>
            </a:pPr>
            <a:r>
              <a:rPr lang="en-US" sz="1400" b="1" dirty="0" err="1">
                <a:solidFill>
                  <a:srgbClr val="4A2C1A"/>
                </a:solidFill>
                <a:latin typeface="Calibri"/>
                <a:ea typeface="Calibri"/>
                <a:cs typeface="Calibri"/>
                <a:sym typeface="Calibri"/>
              </a:rPr>
              <a:t>Ceremonias</a:t>
            </a:r>
            <a:r>
              <a:rPr lang="en-US" sz="1400" b="1" dirty="0">
                <a:solidFill>
                  <a:srgbClr val="4A2C1A"/>
                </a:solidFill>
                <a:latin typeface="Calibri"/>
                <a:ea typeface="Calibri"/>
                <a:cs typeface="Calibri"/>
                <a:sym typeface="Calibri"/>
              </a:rPr>
              <a:t> de </a:t>
            </a:r>
            <a:r>
              <a:rPr lang="en-US" sz="1400" b="1" dirty="0" err="1">
                <a:solidFill>
                  <a:srgbClr val="4A2C1A"/>
                </a:solidFill>
                <a:latin typeface="Calibri"/>
                <a:ea typeface="Calibri"/>
                <a:cs typeface="Calibri"/>
                <a:sym typeface="Calibri"/>
              </a:rPr>
              <a:t>cada</a:t>
            </a:r>
            <a:r>
              <a:rPr lang="en-US" sz="1400" b="1" dirty="0">
                <a:solidFill>
                  <a:srgbClr val="4A2C1A"/>
                </a:solidFill>
                <a:latin typeface="Calibri"/>
                <a:ea typeface="Calibri"/>
                <a:cs typeface="Calibri"/>
                <a:sym typeface="Calibri"/>
              </a:rPr>
              <a:t> sprint</a:t>
            </a:r>
            <a:endParaRPr sz="1400" dirty="0">
              <a:solidFill>
                <a:schemeClr val="dk1"/>
              </a:solidFill>
              <a:latin typeface="Calibri"/>
              <a:ea typeface="Calibri"/>
              <a:cs typeface="Calibri"/>
              <a:sym typeface="Calibri"/>
            </a:endParaRPr>
          </a:p>
        </p:txBody>
      </p:sp>
      <p:sp>
        <p:nvSpPr>
          <p:cNvPr id="265" name="Google Shape;265;p10"/>
          <p:cNvSpPr/>
          <p:nvPr/>
        </p:nvSpPr>
        <p:spPr>
          <a:xfrm>
            <a:off x="5897880" y="1719072"/>
            <a:ext cx="5742432" cy="969264"/>
          </a:xfrm>
          <a:prstGeom prst="roundRect">
            <a:avLst>
              <a:gd name="adj" fmla="val 9434"/>
            </a:avLst>
          </a:prstGeom>
          <a:solidFill>
            <a:srgbClr val="F6EFE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66" name="Google Shape;266;p10"/>
          <p:cNvSpPr/>
          <p:nvPr/>
        </p:nvSpPr>
        <p:spPr>
          <a:xfrm>
            <a:off x="6108192" y="1929384"/>
            <a:ext cx="548640" cy="548640"/>
          </a:xfrm>
          <a:prstGeom prst="ellipse">
            <a:avLst/>
          </a:prstGeom>
          <a:solidFill>
            <a:srgbClr val="D9A44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267" name="Google Shape;267;p10" descr="preencoded.png"/>
          <p:cNvPicPr preferRelativeResize="0"/>
          <p:nvPr/>
        </p:nvPicPr>
        <p:blipFill rotWithShape="1">
          <a:blip r:embed="rId4">
            <a:alphaModFix/>
          </a:blip>
          <a:srcRect/>
          <a:stretch/>
        </p:blipFill>
        <p:spPr>
          <a:xfrm>
            <a:off x="6250838" y="2072030"/>
            <a:ext cx="263347" cy="263347"/>
          </a:xfrm>
          <a:prstGeom prst="rect">
            <a:avLst/>
          </a:prstGeom>
          <a:noFill/>
          <a:ln>
            <a:noFill/>
          </a:ln>
        </p:spPr>
      </p:pic>
      <p:sp>
        <p:nvSpPr>
          <p:cNvPr id="268" name="Google Shape;268;p10"/>
          <p:cNvSpPr/>
          <p:nvPr/>
        </p:nvSpPr>
        <p:spPr>
          <a:xfrm>
            <a:off x="6812280" y="1938528"/>
            <a:ext cx="4663440"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E2318"/>
              </a:buClr>
              <a:buSzPts val="1350"/>
              <a:buFont typeface="Calibri"/>
              <a:buNone/>
            </a:pPr>
            <a:r>
              <a:rPr lang="en-US" sz="1350" b="1" dirty="0">
                <a:solidFill>
                  <a:srgbClr val="2E2318"/>
                </a:solidFill>
                <a:latin typeface="Calibri"/>
                <a:ea typeface="Calibri"/>
                <a:cs typeface="Calibri"/>
                <a:sym typeface="Calibri"/>
              </a:rPr>
              <a:t>Sprint Planning</a:t>
            </a:r>
            <a:endParaRPr sz="1350" dirty="0">
              <a:solidFill>
                <a:schemeClr val="dk1"/>
              </a:solidFill>
              <a:latin typeface="Calibri"/>
              <a:ea typeface="Calibri"/>
              <a:cs typeface="Calibri"/>
              <a:sym typeface="Calibri"/>
            </a:endParaRPr>
          </a:p>
        </p:txBody>
      </p:sp>
      <p:sp>
        <p:nvSpPr>
          <p:cNvPr id="269" name="Google Shape;269;p10"/>
          <p:cNvSpPr/>
          <p:nvPr/>
        </p:nvSpPr>
        <p:spPr>
          <a:xfrm>
            <a:off x="6812280" y="2057400"/>
            <a:ext cx="4663440" cy="53035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E5F50"/>
              </a:buClr>
              <a:buSzPts val="1100"/>
              <a:buFont typeface="Calibri"/>
              <a:buNone/>
            </a:pPr>
            <a:r>
              <a:rPr lang="en-US" sz="1100" dirty="0" err="1">
                <a:solidFill>
                  <a:srgbClr val="6E5F50"/>
                </a:solidFill>
                <a:latin typeface="Calibri"/>
                <a:ea typeface="Calibri"/>
                <a:cs typeface="Calibri"/>
                <a:sym typeface="Calibri"/>
              </a:rPr>
              <a:t>Selección</a:t>
            </a:r>
            <a:r>
              <a:rPr lang="en-US" sz="1100" dirty="0">
                <a:solidFill>
                  <a:srgbClr val="6E5F50"/>
                </a:solidFill>
                <a:latin typeface="Calibri"/>
                <a:ea typeface="Calibri"/>
                <a:cs typeface="Calibri"/>
                <a:sym typeface="Calibri"/>
              </a:rPr>
              <a:t> del </a:t>
            </a:r>
            <a:r>
              <a:rPr lang="en-US" sz="1100" dirty="0" err="1">
                <a:solidFill>
                  <a:srgbClr val="6E5F50"/>
                </a:solidFill>
                <a:latin typeface="Calibri"/>
                <a:ea typeface="Calibri"/>
                <a:cs typeface="Calibri"/>
                <a:sym typeface="Calibri"/>
              </a:rPr>
              <a:t>incremento</a:t>
            </a:r>
            <a:r>
              <a:rPr lang="en-US" sz="1100" dirty="0">
                <a:solidFill>
                  <a:srgbClr val="6E5F50"/>
                </a:solidFill>
                <a:latin typeface="Calibri"/>
                <a:ea typeface="Calibri"/>
                <a:cs typeface="Calibri"/>
                <a:sym typeface="Calibri"/>
              </a:rPr>
              <a:t> a </a:t>
            </a:r>
            <a:r>
              <a:rPr lang="en-US" sz="1100" dirty="0" err="1">
                <a:solidFill>
                  <a:srgbClr val="6E5F50"/>
                </a:solidFill>
                <a:latin typeface="Calibri"/>
                <a:ea typeface="Calibri"/>
                <a:cs typeface="Calibri"/>
                <a:sym typeface="Calibri"/>
              </a:rPr>
              <a:t>entregar</a:t>
            </a:r>
            <a:r>
              <a:rPr lang="en-US" sz="1100" dirty="0">
                <a:solidFill>
                  <a:srgbClr val="6E5F50"/>
                </a:solidFill>
                <a:latin typeface="Calibri"/>
                <a:ea typeface="Calibri"/>
                <a:cs typeface="Calibri"/>
                <a:sym typeface="Calibri"/>
              </a:rPr>
              <a:t> y </a:t>
            </a:r>
            <a:r>
              <a:rPr lang="en-US" sz="1100" dirty="0" err="1">
                <a:solidFill>
                  <a:srgbClr val="6E5F50"/>
                </a:solidFill>
                <a:latin typeface="Calibri"/>
                <a:ea typeface="Calibri"/>
                <a:cs typeface="Calibri"/>
                <a:sym typeface="Calibri"/>
              </a:rPr>
              <a:t>desglose</a:t>
            </a:r>
            <a:r>
              <a:rPr lang="en-US" sz="1100" dirty="0">
                <a:solidFill>
                  <a:srgbClr val="6E5F50"/>
                </a:solidFill>
                <a:latin typeface="Calibri"/>
                <a:ea typeface="Calibri"/>
                <a:cs typeface="Calibri"/>
                <a:sym typeface="Calibri"/>
              </a:rPr>
              <a:t> </a:t>
            </a:r>
            <a:r>
              <a:rPr lang="en-US" sz="1100" dirty="0" err="1">
                <a:solidFill>
                  <a:srgbClr val="6E5F50"/>
                </a:solidFill>
                <a:latin typeface="Calibri"/>
                <a:ea typeface="Calibri"/>
                <a:cs typeface="Calibri"/>
                <a:sym typeface="Calibri"/>
              </a:rPr>
              <a:t>en</a:t>
            </a:r>
            <a:r>
              <a:rPr lang="en-US" sz="1100" dirty="0">
                <a:solidFill>
                  <a:srgbClr val="6E5F50"/>
                </a:solidFill>
                <a:latin typeface="Calibri"/>
                <a:ea typeface="Calibri"/>
                <a:cs typeface="Calibri"/>
                <a:sym typeface="Calibri"/>
              </a:rPr>
              <a:t> </a:t>
            </a:r>
            <a:r>
              <a:rPr lang="en-US" sz="1100" dirty="0" err="1">
                <a:solidFill>
                  <a:srgbClr val="6E5F50"/>
                </a:solidFill>
                <a:latin typeface="Calibri"/>
                <a:ea typeface="Calibri"/>
                <a:cs typeface="Calibri"/>
                <a:sym typeface="Calibri"/>
              </a:rPr>
              <a:t>tareas</a:t>
            </a:r>
            <a:r>
              <a:rPr lang="en-US" sz="1100" dirty="0">
                <a:solidFill>
                  <a:srgbClr val="6E5F50"/>
                </a:solidFill>
                <a:latin typeface="Calibri"/>
                <a:ea typeface="Calibri"/>
                <a:cs typeface="Calibri"/>
                <a:sym typeface="Calibri"/>
              </a:rPr>
              <a:t> con </a:t>
            </a:r>
            <a:r>
              <a:rPr lang="en-US" sz="1100" dirty="0" err="1">
                <a:solidFill>
                  <a:srgbClr val="6E5F50"/>
                </a:solidFill>
                <a:latin typeface="Calibri"/>
                <a:ea typeface="Calibri"/>
                <a:cs typeface="Calibri"/>
                <a:sym typeface="Calibri"/>
              </a:rPr>
              <a:t>responsable</a:t>
            </a:r>
            <a:r>
              <a:rPr lang="en-US" sz="1100" dirty="0">
                <a:solidFill>
                  <a:srgbClr val="6E5F50"/>
                </a:solidFill>
                <a:latin typeface="Calibri"/>
                <a:ea typeface="Calibri"/>
                <a:cs typeface="Calibri"/>
                <a:sym typeface="Calibri"/>
              </a:rPr>
              <a:t>.</a:t>
            </a:r>
            <a:endParaRPr sz="1100" dirty="0">
              <a:solidFill>
                <a:schemeClr val="dk1"/>
              </a:solidFill>
              <a:latin typeface="Calibri"/>
              <a:ea typeface="Calibri"/>
              <a:cs typeface="Calibri"/>
              <a:sym typeface="Calibri"/>
            </a:endParaRPr>
          </a:p>
        </p:txBody>
      </p:sp>
      <p:sp>
        <p:nvSpPr>
          <p:cNvPr id="270" name="Google Shape;270;p10"/>
          <p:cNvSpPr/>
          <p:nvPr/>
        </p:nvSpPr>
        <p:spPr>
          <a:xfrm>
            <a:off x="5897880" y="2816352"/>
            <a:ext cx="5742432" cy="969264"/>
          </a:xfrm>
          <a:prstGeom prst="roundRect">
            <a:avLst>
              <a:gd name="adj" fmla="val 9434"/>
            </a:avLst>
          </a:prstGeom>
          <a:solidFill>
            <a:srgbClr val="F6EFE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71" name="Google Shape;271;p10"/>
          <p:cNvSpPr/>
          <p:nvPr/>
        </p:nvSpPr>
        <p:spPr>
          <a:xfrm>
            <a:off x="6108192" y="3026664"/>
            <a:ext cx="548640" cy="548640"/>
          </a:xfrm>
          <a:prstGeom prst="ellipse">
            <a:avLst/>
          </a:prstGeom>
          <a:solidFill>
            <a:srgbClr val="D9A44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272" name="Google Shape;272;p10" descr="preencoded.png"/>
          <p:cNvPicPr preferRelativeResize="0"/>
          <p:nvPr/>
        </p:nvPicPr>
        <p:blipFill rotWithShape="1">
          <a:blip r:embed="rId5">
            <a:alphaModFix/>
          </a:blip>
          <a:srcRect/>
          <a:stretch/>
        </p:blipFill>
        <p:spPr>
          <a:xfrm>
            <a:off x="6250838" y="3169310"/>
            <a:ext cx="263347" cy="263347"/>
          </a:xfrm>
          <a:prstGeom prst="rect">
            <a:avLst/>
          </a:prstGeom>
          <a:noFill/>
          <a:ln>
            <a:noFill/>
          </a:ln>
        </p:spPr>
      </p:pic>
      <p:sp>
        <p:nvSpPr>
          <p:cNvPr id="273" name="Google Shape;273;p10"/>
          <p:cNvSpPr/>
          <p:nvPr/>
        </p:nvSpPr>
        <p:spPr>
          <a:xfrm>
            <a:off x="6812280" y="3065956"/>
            <a:ext cx="4663440"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E2318"/>
              </a:buClr>
              <a:buSzPts val="1350"/>
              <a:buFont typeface="Calibri"/>
              <a:buNone/>
            </a:pPr>
            <a:r>
              <a:rPr lang="en-US" sz="1350" b="1" dirty="0">
                <a:solidFill>
                  <a:srgbClr val="2E2318"/>
                </a:solidFill>
                <a:latin typeface="Calibri"/>
                <a:ea typeface="Calibri"/>
                <a:cs typeface="Calibri"/>
                <a:sym typeface="Calibri"/>
              </a:rPr>
              <a:t>Daily</a:t>
            </a:r>
            <a:endParaRPr sz="1350" dirty="0">
              <a:solidFill>
                <a:schemeClr val="dk1"/>
              </a:solidFill>
              <a:latin typeface="Calibri"/>
              <a:ea typeface="Calibri"/>
              <a:cs typeface="Calibri"/>
              <a:sym typeface="Calibri"/>
            </a:endParaRPr>
          </a:p>
        </p:txBody>
      </p:sp>
      <p:sp>
        <p:nvSpPr>
          <p:cNvPr id="274" name="Google Shape;274;p10"/>
          <p:cNvSpPr/>
          <p:nvPr/>
        </p:nvSpPr>
        <p:spPr>
          <a:xfrm>
            <a:off x="6812280" y="3154680"/>
            <a:ext cx="4663440" cy="53035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E5F50"/>
              </a:buClr>
              <a:buSzPts val="1100"/>
              <a:buFont typeface="Calibri"/>
              <a:buNone/>
            </a:pPr>
            <a:r>
              <a:rPr lang="en-US" sz="1100" dirty="0" err="1">
                <a:solidFill>
                  <a:srgbClr val="6E5F50"/>
                </a:solidFill>
                <a:latin typeface="Calibri"/>
                <a:ea typeface="Calibri"/>
                <a:cs typeface="Calibri"/>
                <a:sym typeface="Calibri"/>
              </a:rPr>
              <a:t>Sincronización</a:t>
            </a:r>
            <a:r>
              <a:rPr lang="en-US" sz="1100" dirty="0">
                <a:solidFill>
                  <a:srgbClr val="6E5F50"/>
                </a:solidFill>
                <a:latin typeface="Calibri"/>
                <a:ea typeface="Calibri"/>
                <a:cs typeface="Calibri"/>
                <a:sym typeface="Calibri"/>
              </a:rPr>
              <a:t> breve del </a:t>
            </a:r>
            <a:r>
              <a:rPr lang="en-US" sz="1100" dirty="0" err="1">
                <a:solidFill>
                  <a:srgbClr val="6E5F50"/>
                </a:solidFill>
                <a:latin typeface="Calibri"/>
                <a:ea typeface="Calibri"/>
                <a:cs typeface="Calibri"/>
                <a:sym typeface="Calibri"/>
              </a:rPr>
              <a:t>equipo</a:t>
            </a:r>
            <a:r>
              <a:rPr lang="en-US" sz="1100" dirty="0">
                <a:solidFill>
                  <a:srgbClr val="6E5F50"/>
                </a:solidFill>
                <a:latin typeface="Calibri"/>
                <a:ea typeface="Calibri"/>
                <a:cs typeface="Calibri"/>
                <a:sym typeface="Calibri"/>
              </a:rPr>
              <a:t>: </a:t>
            </a:r>
            <a:r>
              <a:rPr lang="en-US" sz="1100" dirty="0" err="1">
                <a:solidFill>
                  <a:srgbClr val="6E5F50"/>
                </a:solidFill>
                <a:latin typeface="Calibri"/>
                <a:ea typeface="Calibri"/>
                <a:cs typeface="Calibri"/>
                <a:sym typeface="Calibri"/>
              </a:rPr>
              <a:t>avance</a:t>
            </a:r>
            <a:r>
              <a:rPr lang="en-US" sz="1100" dirty="0">
                <a:solidFill>
                  <a:srgbClr val="6E5F50"/>
                </a:solidFill>
                <a:latin typeface="Calibri"/>
                <a:ea typeface="Calibri"/>
                <a:cs typeface="Calibri"/>
                <a:sym typeface="Calibri"/>
              </a:rPr>
              <a:t>, </a:t>
            </a:r>
            <a:r>
              <a:rPr lang="en-US" sz="1100" dirty="0" err="1">
                <a:solidFill>
                  <a:srgbClr val="6E5F50"/>
                </a:solidFill>
                <a:latin typeface="Calibri"/>
                <a:ea typeface="Calibri"/>
                <a:cs typeface="Calibri"/>
                <a:sym typeface="Calibri"/>
              </a:rPr>
              <a:t>siguiente</a:t>
            </a:r>
            <a:r>
              <a:rPr lang="en-US" sz="1100" dirty="0">
                <a:solidFill>
                  <a:srgbClr val="6E5F50"/>
                </a:solidFill>
                <a:latin typeface="Calibri"/>
                <a:ea typeface="Calibri"/>
                <a:cs typeface="Calibri"/>
                <a:sym typeface="Calibri"/>
              </a:rPr>
              <a:t> paso e </a:t>
            </a:r>
            <a:r>
              <a:rPr lang="en-US" sz="1100" dirty="0" err="1">
                <a:solidFill>
                  <a:srgbClr val="6E5F50"/>
                </a:solidFill>
                <a:latin typeface="Calibri"/>
                <a:ea typeface="Calibri"/>
                <a:cs typeface="Calibri"/>
                <a:sym typeface="Calibri"/>
              </a:rPr>
              <a:t>impedimentos</a:t>
            </a:r>
            <a:r>
              <a:rPr lang="en-US" sz="1100" dirty="0">
                <a:solidFill>
                  <a:srgbClr val="6E5F50"/>
                </a:solidFill>
                <a:latin typeface="Calibri"/>
                <a:ea typeface="Calibri"/>
                <a:cs typeface="Calibri"/>
                <a:sym typeface="Calibri"/>
              </a:rPr>
              <a:t>.</a:t>
            </a:r>
            <a:endParaRPr sz="1100" dirty="0">
              <a:solidFill>
                <a:schemeClr val="dk1"/>
              </a:solidFill>
              <a:latin typeface="Calibri"/>
              <a:ea typeface="Calibri"/>
              <a:cs typeface="Calibri"/>
              <a:sym typeface="Calibri"/>
            </a:endParaRPr>
          </a:p>
        </p:txBody>
      </p:sp>
      <p:sp>
        <p:nvSpPr>
          <p:cNvPr id="275" name="Google Shape;275;p10"/>
          <p:cNvSpPr/>
          <p:nvPr/>
        </p:nvSpPr>
        <p:spPr>
          <a:xfrm>
            <a:off x="5897880" y="3913632"/>
            <a:ext cx="5742432" cy="969264"/>
          </a:xfrm>
          <a:prstGeom prst="roundRect">
            <a:avLst>
              <a:gd name="adj" fmla="val 9434"/>
            </a:avLst>
          </a:prstGeom>
          <a:solidFill>
            <a:srgbClr val="F6EFE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76" name="Google Shape;276;p10"/>
          <p:cNvSpPr/>
          <p:nvPr/>
        </p:nvSpPr>
        <p:spPr>
          <a:xfrm>
            <a:off x="6108192" y="4123944"/>
            <a:ext cx="548640" cy="548640"/>
          </a:xfrm>
          <a:prstGeom prst="ellipse">
            <a:avLst/>
          </a:prstGeom>
          <a:solidFill>
            <a:srgbClr val="D9A44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277" name="Google Shape;277;p10" descr="preencoded.png"/>
          <p:cNvPicPr preferRelativeResize="0"/>
          <p:nvPr/>
        </p:nvPicPr>
        <p:blipFill rotWithShape="1">
          <a:blip r:embed="rId6">
            <a:alphaModFix/>
          </a:blip>
          <a:srcRect/>
          <a:stretch/>
        </p:blipFill>
        <p:spPr>
          <a:xfrm>
            <a:off x="6250838" y="4266590"/>
            <a:ext cx="263347" cy="263347"/>
          </a:xfrm>
          <a:prstGeom prst="rect">
            <a:avLst/>
          </a:prstGeom>
          <a:noFill/>
          <a:ln>
            <a:noFill/>
          </a:ln>
        </p:spPr>
      </p:pic>
      <p:sp>
        <p:nvSpPr>
          <p:cNvPr id="278" name="Google Shape;278;p10"/>
          <p:cNvSpPr/>
          <p:nvPr/>
        </p:nvSpPr>
        <p:spPr>
          <a:xfrm>
            <a:off x="6812280" y="4151376"/>
            <a:ext cx="4663440"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E2318"/>
              </a:buClr>
              <a:buSzPts val="1350"/>
              <a:buFont typeface="Calibri"/>
              <a:buNone/>
            </a:pPr>
            <a:r>
              <a:rPr lang="en-US" sz="1350" b="1" dirty="0">
                <a:solidFill>
                  <a:srgbClr val="2E2318"/>
                </a:solidFill>
                <a:latin typeface="Calibri"/>
                <a:ea typeface="Calibri"/>
                <a:cs typeface="Calibri"/>
                <a:sym typeface="Calibri"/>
              </a:rPr>
              <a:t>Sprint Review</a:t>
            </a:r>
            <a:endParaRPr sz="1350" dirty="0">
              <a:solidFill>
                <a:schemeClr val="dk1"/>
              </a:solidFill>
              <a:latin typeface="Calibri"/>
              <a:ea typeface="Calibri"/>
              <a:cs typeface="Calibri"/>
              <a:sym typeface="Calibri"/>
            </a:endParaRPr>
          </a:p>
        </p:txBody>
      </p:sp>
      <p:sp>
        <p:nvSpPr>
          <p:cNvPr id="279" name="Google Shape;279;p10"/>
          <p:cNvSpPr/>
          <p:nvPr/>
        </p:nvSpPr>
        <p:spPr>
          <a:xfrm>
            <a:off x="6812280" y="4242816"/>
            <a:ext cx="4663440" cy="53035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E5F50"/>
              </a:buClr>
              <a:buSzPts val="1100"/>
              <a:buFont typeface="Calibri"/>
              <a:buNone/>
            </a:pPr>
            <a:r>
              <a:rPr lang="en-US" sz="1100" dirty="0" err="1">
                <a:solidFill>
                  <a:srgbClr val="6E5F50"/>
                </a:solidFill>
                <a:latin typeface="Calibri"/>
                <a:ea typeface="Calibri"/>
                <a:cs typeface="Calibri"/>
                <a:sym typeface="Calibri"/>
              </a:rPr>
              <a:t>Demostración</a:t>
            </a:r>
            <a:r>
              <a:rPr lang="en-US" sz="1100" dirty="0">
                <a:solidFill>
                  <a:srgbClr val="6E5F50"/>
                </a:solidFill>
                <a:latin typeface="Calibri"/>
                <a:ea typeface="Calibri"/>
                <a:cs typeface="Calibri"/>
                <a:sym typeface="Calibri"/>
              </a:rPr>
              <a:t> del </a:t>
            </a:r>
            <a:r>
              <a:rPr lang="en-US" sz="1100" dirty="0" err="1">
                <a:solidFill>
                  <a:srgbClr val="6E5F50"/>
                </a:solidFill>
                <a:latin typeface="Calibri"/>
                <a:ea typeface="Calibri"/>
                <a:cs typeface="Calibri"/>
                <a:sym typeface="Calibri"/>
              </a:rPr>
              <a:t>incremento</a:t>
            </a:r>
            <a:r>
              <a:rPr lang="en-US" sz="1100" dirty="0">
                <a:solidFill>
                  <a:srgbClr val="6E5F50"/>
                </a:solidFill>
                <a:latin typeface="Calibri"/>
                <a:ea typeface="Calibri"/>
                <a:cs typeface="Calibri"/>
                <a:sym typeface="Calibri"/>
              </a:rPr>
              <a:t> </a:t>
            </a:r>
            <a:r>
              <a:rPr lang="en-US" sz="1100" dirty="0" err="1">
                <a:solidFill>
                  <a:srgbClr val="6E5F50"/>
                </a:solidFill>
                <a:latin typeface="Calibri"/>
                <a:ea typeface="Calibri"/>
                <a:cs typeface="Calibri"/>
                <a:sym typeface="Calibri"/>
              </a:rPr>
              <a:t>funcionando</a:t>
            </a:r>
            <a:r>
              <a:rPr lang="en-US" sz="1100" dirty="0">
                <a:solidFill>
                  <a:srgbClr val="6E5F50"/>
                </a:solidFill>
                <a:latin typeface="Calibri"/>
                <a:ea typeface="Calibri"/>
                <a:cs typeface="Calibri"/>
                <a:sym typeface="Calibri"/>
              </a:rPr>
              <a:t>.</a:t>
            </a:r>
            <a:endParaRPr sz="1100" dirty="0">
              <a:solidFill>
                <a:schemeClr val="dk1"/>
              </a:solidFill>
              <a:latin typeface="Calibri"/>
              <a:ea typeface="Calibri"/>
              <a:cs typeface="Calibri"/>
              <a:sym typeface="Calibri"/>
            </a:endParaRPr>
          </a:p>
        </p:txBody>
      </p:sp>
      <p:sp>
        <p:nvSpPr>
          <p:cNvPr id="280" name="Google Shape;280;p10"/>
          <p:cNvSpPr/>
          <p:nvPr/>
        </p:nvSpPr>
        <p:spPr>
          <a:xfrm>
            <a:off x="5897880" y="5010912"/>
            <a:ext cx="5742432" cy="969264"/>
          </a:xfrm>
          <a:prstGeom prst="roundRect">
            <a:avLst>
              <a:gd name="adj" fmla="val 9434"/>
            </a:avLst>
          </a:prstGeom>
          <a:solidFill>
            <a:srgbClr val="F6EFE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81" name="Google Shape;281;p10"/>
          <p:cNvSpPr/>
          <p:nvPr/>
        </p:nvSpPr>
        <p:spPr>
          <a:xfrm>
            <a:off x="6108192" y="5221224"/>
            <a:ext cx="548640" cy="548640"/>
          </a:xfrm>
          <a:prstGeom prst="ellipse">
            <a:avLst/>
          </a:prstGeom>
          <a:solidFill>
            <a:srgbClr val="D9A44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282" name="Google Shape;282;p10" descr="preencoded.png"/>
          <p:cNvPicPr preferRelativeResize="0"/>
          <p:nvPr/>
        </p:nvPicPr>
        <p:blipFill rotWithShape="1">
          <a:blip r:embed="rId3">
            <a:alphaModFix/>
          </a:blip>
          <a:srcRect/>
          <a:stretch/>
        </p:blipFill>
        <p:spPr>
          <a:xfrm>
            <a:off x="6250838" y="5363870"/>
            <a:ext cx="263347" cy="263347"/>
          </a:xfrm>
          <a:prstGeom prst="rect">
            <a:avLst/>
          </a:prstGeom>
          <a:noFill/>
          <a:ln>
            <a:noFill/>
          </a:ln>
        </p:spPr>
      </p:pic>
      <p:sp>
        <p:nvSpPr>
          <p:cNvPr id="283" name="Google Shape;283;p10"/>
          <p:cNvSpPr/>
          <p:nvPr/>
        </p:nvSpPr>
        <p:spPr>
          <a:xfrm>
            <a:off x="6812280" y="5248656"/>
            <a:ext cx="4663440"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E2318"/>
              </a:buClr>
              <a:buSzPts val="1350"/>
              <a:buFont typeface="Calibri"/>
              <a:buNone/>
            </a:pPr>
            <a:r>
              <a:rPr lang="en-US" sz="1350" b="1" dirty="0">
                <a:solidFill>
                  <a:srgbClr val="2E2318"/>
                </a:solidFill>
                <a:latin typeface="Calibri"/>
                <a:ea typeface="Calibri"/>
                <a:cs typeface="Calibri"/>
                <a:sym typeface="Calibri"/>
              </a:rPr>
              <a:t>Sprint Retrospective</a:t>
            </a:r>
            <a:endParaRPr sz="1350" dirty="0">
              <a:solidFill>
                <a:schemeClr val="dk1"/>
              </a:solidFill>
              <a:latin typeface="Calibri"/>
              <a:ea typeface="Calibri"/>
              <a:cs typeface="Calibri"/>
              <a:sym typeface="Calibri"/>
            </a:endParaRPr>
          </a:p>
        </p:txBody>
      </p:sp>
      <p:sp>
        <p:nvSpPr>
          <p:cNvPr id="284" name="Google Shape;284;p10"/>
          <p:cNvSpPr/>
          <p:nvPr/>
        </p:nvSpPr>
        <p:spPr>
          <a:xfrm>
            <a:off x="6812280" y="5362041"/>
            <a:ext cx="4663440" cy="53035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E5F50"/>
              </a:buClr>
              <a:buSzPts val="1100"/>
              <a:buFont typeface="Calibri"/>
              <a:buNone/>
            </a:pPr>
            <a:r>
              <a:rPr lang="en-US" sz="1100" dirty="0" err="1">
                <a:solidFill>
                  <a:srgbClr val="6E5F50"/>
                </a:solidFill>
                <a:latin typeface="Calibri"/>
                <a:ea typeface="Calibri"/>
                <a:cs typeface="Calibri"/>
                <a:sym typeface="Calibri"/>
              </a:rPr>
              <a:t>Ajuste</a:t>
            </a:r>
            <a:r>
              <a:rPr lang="en-US" sz="1100" dirty="0">
                <a:solidFill>
                  <a:srgbClr val="6E5F50"/>
                </a:solidFill>
                <a:latin typeface="Calibri"/>
                <a:ea typeface="Calibri"/>
                <a:cs typeface="Calibri"/>
                <a:sym typeface="Calibri"/>
              </a:rPr>
              <a:t> del </a:t>
            </a:r>
            <a:r>
              <a:rPr lang="en-US" sz="1100" dirty="0" err="1">
                <a:solidFill>
                  <a:srgbClr val="6E5F50"/>
                </a:solidFill>
                <a:latin typeface="Calibri"/>
                <a:ea typeface="Calibri"/>
                <a:cs typeface="Calibri"/>
                <a:sym typeface="Calibri"/>
              </a:rPr>
              <a:t>proceso</a:t>
            </a:r>
            <a:r>
              <a:rPr lang="en-US" sz="1100" dirty="0">
                <a:solidFill>
                  <a:srgbClr val="6E5F50"/>
                </a:solidFill>
                <a:latin typeface="Calibri"/>
                <a:ea typeface="Calibri"/>
                <a:cs typeface="Calibri"/>
                <a:sym typeface="Calibri"/>
              </a:rPr>
              <a:t> del </a:t>
            </a:r>
            <a:r>
              <a:rPr lang="en-US" sz="1100" dirty="0" err="1">
                <a:solidFill>
                  <a:srgbClr val="6E5F50"/>
                </a:solidFill>
                <a:latin typeface="Calibri"/>
                <a:ea typeface="Calibri"/>
                <a:cs typeface="Calibri"/>
                <a:sym typeface="Calibri"/>
              </a:rPr>
              <a:t>equipo</a:t>
            </a:r>
            <a:r>
              <a:rPr lang="en-US" sz="1100" dirty="0">
                <a:solidFill>
                  <a:srgbClr val="6E5F50"/>
                </a:solidFill>
                <a:latin typeface="Calibri"/>
                <a:ea typeface="Calibri"/>
                <a:cs typeface="Calibri"/>
                <a:sym typeface="Calibri"/>
              </a:rPr>
              <a:t> antes de </a:t>
            </a:r>
            <a:r>
              <a:rPr lang="en-US" sz="1100" dirty="0" err="1">
                <a:solidFill>
                  <a:srgbClr val="6E5F50"/>
                </a:solidFill>
                <a:latin typeface="Calibri"/>
                <a:ea typeface="Calibri"/>
                <a:cs typeface="Calibri"/>
                <a:sym typeface="Calibri"/>
              </a:rPr>
              <a:t>iniciar</a:t>
            </a:r>
            <a:r>
              <a:rPr lang="en-US" sz="1100" dirty="0">
                <a:solidFill>
                  <a:srgbClr val="6E5F50"/>
                </a:solidFill>
                <a:latin typeface="Calibri"/>
                <a:ea typeface="Calibri"/>
                <a:cs typeface="Calibri"/>
                <a:sym typeface="Calibri"/>
              </a:rPr>
              <a:t> el sprint </a:t>
            </a:r>
            <a:r>
              <a:rPr lang="en-US" sz="1100" dirty="0" err="1">
                <a:solidFill>
                  <a:srgbClr val="6E5F50"/>
                </a:solidFill>
                <a:latin typeface="Calibri"/>
                <a:ea typeface="Calibri"/>
                <a:cs typeface="Calibri"/>
                <a:sym typeface="Calibri"/>
              </a:rPr>
              <a:t>siguiente</a:t>
            </a:r>
            <a:r>
              <a:rPr lang="en-US" sz="1100" dirty="0">
                <a:solidFill>
                  <a:srgbClr val="6E5F50"/>
                </a:solidFill>
                <a:latin typeface="Calibri"/>
                <a:ea typeface="Calibri"/>
                <a:cs typeface="Calibri"/>
                <a:sym typeface="Calibri"/>
              </a:rPr>
              <a:t>.</a:t>
            </a:r>
            <a:endParaRPr sz="1100" dirty="0">
              <a:solidFill>
                <a:schemeClr val="dk1"/>
              </a:solidFill>
              <a:latin typeface="Calibri"/>
              <a:ea typeface="Calibri"/>
              <a:cs typeface="Calibri"/>
              <a:sym typeface="Calibri"/>
            </a:endParaRPr>
          </a:p>
        </p:txBody>
      </p:sp>
      <p:sp>
        <p:nvSpPr>
          <p:cNvPr id="285" name="Google Shape;285;p10"/>
          <p:cNvSpPr/>
          <p:nvPr/>
        </p:nvSpPr>
        <p:spPr>
          <a:xfrm>
            <a:off x="11457432" y="6419088"/>
            <a:ext cx="45720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6E5F50"/>
              </a:buClr>
              <a:buSzPts val="1000"/>
              <a:buFont typeface="Calibri"/>
              <a:buNone/>
            </a:pPr>
            <a:r>
              <a:rPr lang="en-US" sz="1000">
                <a:solidFill>
                  <a:srgbClr val="6E5F50"/>
                </a:solidFill>
                <a:latin typeface="Calibri"/>
                <a:ea typeface="Calibri"/>
                <a:cs typeface="Calibri"/>
                <a:sym typeface="Calibri"/>
              </a:rPr>
              <a:t>10</a:t>
            </a:r>
            <a:endParaRPr sz="1000">
              <a:solidFill>
                <a:schemeClr val="dk1"/>
              </a:solidFill>
              <a:latin typeface="Calibri"/>
              <a:ea typeface="Calibri"/>
              <a:cs typeface="Calibri"/>
              <a:sym typeface="Calibri"/>
            </a:endParaRPr>
          </a:p>
        </p:txBody>
      </p:sp>
      <p:sp>
        <p:nvSpPr>
          <p:cNvPr id="3" name="Google Shape;271;p10">
            <a:extLst>
              <a:ext uri="{FF2B5EF4-FFF2-40B4-BE49-F238E27FC236}">
                <a16:creationId xmlns:a16="http://schemas.microsoft.com/office/drawing/2014/main" id="{64DB3D2C-D233-3D9B-6C81-146661D11EA7}"/>
              </a:ext>
            </a:extLst>
          </p:cNvPr>
          <p:cNvSpPr/>
          <p:nvPr/>
        </p:nvSpPr>
        <p:spPr>
          <a:xfrm>
            <a:off x="548640" y="320040"/>
            <a:ext cx="11091672" cy="6858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D9A441"/>
              </a:buClr>
              <a:buSzPts val="3000"/>
              <a:buFont typeface="Cambria"/>
              <a:buNone/>
            </a:pPr>
            <a:r>
              <a:rPr lang="en-US" sz="3000" b="1" i="0" u="none" strike="noStrike" cap="none" dirty="0" err="1">
                <a:solidFill>
                  <a:srgbClr val="D9A441"/>
                </a:solidFill>
                <a:latin typeface="Calibri"/>
                <a:ea typeface="Calibri"/>
                <a:cs typeface="Calibri"/>
                <a:sym typeface="Calibri"/>
              </a:rPr>
              <a:t>M</a:t>
            </a:r>
            <a:r>
              <a:rPr lang="en-US" sz="3000" b="1" i="0" u="none" strike="noStrike" cap="none" dirty="0" err="1">
                <a:solidFill>
                  <a:srgbClr val="4A2C1A"/>
                </a:solidFill>
                <a:latin typeface="Calibri"/>
                <a:ea typeface="Calibri"/>
                <a:cs typeface="Calibri"/>
                <a:sym typeface="Calibri"/>
              </a:rPr>
              <a:t>etodología</a:t>
            </a:r>
            <a:endParaRPr sz="3000" i="0" u="none" strike="noStrike" cap="none" dirty="0">
              <a:solidFill>
                <a:srgbClr val="D9A44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90"/>
        <p:cNvGrpSpPr/>
        <p:nvPr/>
      </p:nvGrpSpPr>
      <p:grpSpPr>
        <a:xfrm>
          <a:off x="0" y="0"/>
          <a:ext cx="0" cy="0"/>
          <a:chOff x="0" y="0"/>
          <a:chExt cx="0" cy="0"/>
        </a:xfrm>
      </p:grpSpPr>
      <p:sp>
        <p:nvSpPr>
          <p:cNvPr id="292" name="Google Shape;292;p11"/>
          <p:cNvSpPr/>
          <p:nvPr/>
        </p:nvSpPr>
        <p:spPr>
          <a:xfrm>
            <a:off x="548640" y="1280160"/>
            <a:ext cx="3566160" cy="1444752"/>
          </a:xfrm>
          <a:prstGeom prst="roundRect">
            <a:avLst>
              <a:gd name="adj" fmla="val 6329"/>
            </a:avLst>
          </a:prstGeom>
          <a:solidFill>
            <a:srgbClr val="4A2C1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93" name="Google Shape;293;p11"/>
          <p:cNvSpPr/>
          <p:nvPr/>
        </p:nvSpPr>
        <p:spPr>
          <a:xfrm>
            <a:off x="694944" y="1399032"/>
            <a:ext cx="896112" cy="283464"/>
          </a:xfrm>
          <a:prstGeom prst="roundRect">
            <a:avLst>
              <a:gd name="adj" fmla="val 19355"/>
            </a:avLst>
          </a:prstGeom>
          <a:solidFill>
            <a:srgbClr val="D9A44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94" name="Google Shape;294;p11"/>
          <p:cNvSpPr/>
          <p:nvPr/>
        </p:nvSpPr>
        <p:spPr>
          <a:xfrm>
            <a:off x="694944" y="1399032"/>
            <a:ext cx="896112" cy="28346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4A2C1A"/>
              </a:buClr>
              <a:buSzPts val="1000"/>
              <a:buFont typeface="Calibri"/>
              <a:buNone/>
            </a:pPr>
            <a:r>
              <a:rPr lang="en-US" sz="1000" b="1">
                <a:solidFill>
                  <a:srgbClr val="4A2C1A"/>
                </a:solidFill>
                <a:latin typeface="Calibri"/>
                <a:ea typeface="Calibri"/>
                <a:cs typeface="Calibri"/>
                <a:sym typeface="Calibri"/>
              </a:rPr>
              <a:t>Sprint 0</a:t>
            </a:r>
            <a:endParaRPr sz="1000">
              <a:solidFill>
                <a:schemeClr val="dk1"/>
              </a:solidFill>
              <a:latin typeface="Calibri"/>
              <a:ea typeface="Calibri"/>
              <a:cs typeface="Calibri"/>
              <a:sym typeface="Calibri"/>
            </a:endParaRPr>
          </a:p>
        </p:txBody>
      </p:sp>
      <p:sp>
        <p:nvSpPr>
          <p:cNvPr id="295" name="Google Shape;295;p11"/>
          <p:cNvSpPr/>
          <p:nvPr/>
        </p:nvSpPr>
        <p:spPr>
          <a:xfrm>
            <a:off x="1682496" y="1399032"/>
            <a:ext cx="2286000" cy="283464"/>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D9A441"/>
              </a:buClr>
              <a:buSzPts val="950"/>
              <a:buFont typeface="Calibri"/>
              <a:buNone/>
            </a:pPr>
            <a:r>
              <a:rPr lang="en-US" sz="950">
                <a:solidFill>
                  <a:srgbClr val="D9A441"/>
                </a:solidFill>
                <a:latin typeface="Calibri"/>
                <a:ea typeface="Calibri"/>
                <a:cs typeface="Calibri"/>
                <a:sym typeface="Calibri"/>
              </a:rPr>
              <a:t>S1–S2</a:t>
            </a:r>
            <a:endParaRPr sz="950">
              <a:solidFill>
                <a:schemeClr val="dk1"/>
              </a:solidFill>
              <a:latin typeface="Calibri"/>
              <a:ea typeface="Calibri"/>
              <a:cs typeface="Calibri"/>
              <a:sym typeface="Calibri"/>
            </a:endParaRPr>
          </a:p>
        </p:txBody>
      </p:sp>
      <p:sp>
        <p:nvSpPr>
          <p:cNvPr id="296" name="Google Shape;296;p11"/>
          <p:cNvSpPr/>
          <p:nvPr/>
        </p:nvSpPr>
        <p:spPr>
          <a:xfrm>
            <a:off x="694944" y="1737360"/>
            <a:ext cx="3273552"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250"/>
              <a:buFont typeface="Calibri"/>
              <a:buNone/>
            </a:pPr>
            <a:r>
              <a:rPr lang="en-US" sz="1250" b="1">
                <a:solidFill>
                  <a:srgbClr val="FFFFFF"/>
                </a:solidFill>
                <a:latin typeface="Calibri"/>
                <a:ea typeface="Calibri"/>
                <a:cs typeface="Calibri"/>
                <a:sym typeface="Calibri"/>
              </a:rPr>
              <a:t>Validación técnica y entorno</a:t>
            </a:r>
            <a:endParaRPr sz="1250">
              <a:solidFill>
                <a:schemeClr val="dk1"/>
              </a:solidFill>
              <a:latin typeface="Calibri"/>
              <a:ea typeface="Calibri"/>
              <a:cs typeface="Calibri"/>
              <a:sym typeface="Calibri"/>
            </a:endParaRPr>
          </a:p>
        </p:txBody>
      </p:sp>
      <p:sp>
        <p:nvSpPr>
          <p:cNvPr id="297" name="Google Shape;297;p11"/>
          <p:cNvSpPr/>
          <p:nvPr/>
        </p:nvSpPr>
        <p:spPr>
          <a:xfrm>
            <a:off x="694944" y="2011680"/>
            <a:ext cx="3291840" cy="6400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8DCCB"/>
              </a:buClr>
              <a:buSzPts val="920"/>
              <a:buFont typeface="Calibri"/>
              <a:buNone/>
            </a:pPr>
            <a:r>
              <a:rPr lang="en-US" sz="920">
                <a:solidFill>
                  <a:srgbClr val="E8DCCB"/>
                </a:solidFill>
                <a:latin typeface="Calibri"/>
                <a:ea typeface="Calibri"/>
                <a:cs typeface="Calibri"/>
                <a:sym typeface="Calibri"/>
              </a:rPr>
              <a:t>Aplicación mínima que muestra el peso leído desde la balanza, con entorno Azure y CI operativos.</a:t>
            </a:r>
            <a:endParaRPr sz="920">
              <a:solidFill>
                <a:schemeClr val="dk1"/>
              </a:solidFill>
              <a:latin typeface="Calibri"/>
              <a:ea typeface="Calibri"/>
              <a:cs typeface="Calibri"/>
              <a:sym typeface="Calibri"/>
            </a:endParaRPr>
          </a:p>
        </p:txBody>
      </p:sp>
      <p:sp>
        <p:nvSpPr>
          <p:cNvPr id="298" name="Google Shape;298;p11"/>
          <p:cNvSpPr/>
          <p:nvPr/>
        </p:nvSpPr>
        <p:spPr>
          <a:xfrm>
            <a:off x="4315968" y="1280160"/>
            <a:ext cx="3566160" cy="1444752"/>
          </a:xfrm>
          <a:prstGeom prst="roundRect">
            <a:avLst>
              <a:gd name="adj" fmla="val 6329"/>
            </a:avLst>
          </a:prstGeom>
          <a:solidFill>
            <a:srgbClr val="F6EFE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99" name="Google Shape;299;p11"/>
          <p:cNvSpPr/>
          <p:nvPr/>
        </p:nvSpPr>
        <p:spPr>
          <a:xfrm>
            <a:off x="4462272" y="1399032"/>
            <a:ext cx="896112" cy="283464"/>
          </a:xfrm>
          <a:prstGeom prst="roundRect">
            <a:avLst>
              <a:gd name="adj" fmla="val 19355"/>
            </a:avLst>
          </a:prstGeom>
          <a:solidFill>
            <a:srgbClr val="4A2C1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00" name="Google Shape;300;p11"/>
          <p:cNvSpPr/>
          <p:nvPr/>
        </p:nvSpPr>
        <p:spPr>
          <a:xfrm>
            <a:off x="4462272" y="1399032"/>
            <a:ext cx="896112" cy="28346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D9A441"/>
              </a:buClr>
              <a:buSzPts val="1000"/>
              <a:buFont typeface="Calibri"/>
              <a:buNone/>
            </a:pPr>
            <a:r>
              <a:rPr lang="en-US" sz="1000" b="1">
                <a:solidFill>
                  <a:srgbClr val="D9A441"/>
                </a:solidFill>
                <a:latin typeface="Calibri"/>
                <a:ea typeface="Calibri"/>
                <a:cs typeface="Calibri"/>
                <a:sym typeface="Calibri"/>
              </a:rPr>
              <a:t>Sprint 1</a:t>
            </a:r>
            <a:endParaRPr sz="1000">
              <a:solidFill>
                <a:schemeClr val="dk1"/>
              </a:solidFill>
              <a:latin typeface="Calibri"/>
              <a:ea typeface="Calibri"/>
              <a:cs typeface="Calibri"/>
              <a:sym typeface="Calibri"/>
            </a:endParaRPr>
          </a:p>
        </p:txBody>
      </p:sp>
      <p:sp>
        <p:nvSpPr>
          <p:cNvPr id="301" name="Google Shape;301;p11"/>
          <p:cNvSpPr/>
          <p:nvPr/>
        </p:nvSpPr>
        <p:spPr>
          <a:xfrm>
            <a:off x="5449824" y="1399032"/>
            <a:ext cx="2286000" cy="283464"/>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6E5F50"/>
              </a:buClr>
              <a:buSzPts val="950"/>
              <a:buFont typeface="Calibri"/>
              <a:buNone/>
            </a:pPr>
            <a:r>
              <a:rPr lang="en-US" sz="950">
                <a:solidFill>
                  <a:srgbClr val="6E5F50"/>
                </a:solidFill>
                <a:latin typeface="Calibri"/>
                <a:ea typeface="Calibri"/>
                <a:cs typeface="Calibri"/>
                <a:sym typeface="Calibri"/>
              </a:rPr>
              <a:t>S3–S4</a:t>
            </a:r>
            <a:endParaRPr sz="950">
              <a:solidFill>
                <a:schemeClr val="dk1"/>
              </a:solidFill>
              <a:latin typeface="Calibri"/>
              <a:ea typeface="Calibri"/>
              <a:cs typeface="Calibri"/>
              <a:sym typeface="Calibri"/>
            </a:endParaRPr>
          </a:p>
        </p:txBody>
      </p:sp>
      <p:sp>
        <p:nvSpPr>
          <p:cNvPr id="302" name="Google Shape;302;p11"/>
          <p:cNvSpPr/>
          <p:nvPr/>
        </p:nvSpPr>
        <p:spPr>
          <a:xfrm>
            <a:off x="4462272" y="1737360"/>
            <a:ext cx="3273552"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E2318"/>
              </a:buClr>
              <a:buSzPts val="1250"/>
              <a:buFont typeface="Calibri"/>
              <a:buNone/>
            </a:pPr>
            <a:r>
              <a:rPr lang="en-US" sz="1250" b="1">
                <a:solidFill>
                  <a:srgbClr val="2E2318"/>
                </a:solidFill>
                <a:latin typeface="Calibri"/>
                <a:ea typeface="Calibri"/>
                <a:cs typeface="Calibri"/>
                <a:sym typeface="Calibri"/>
              </a:rPr>
              <a:t>Venta operativa en caja</a:t>
            </a:r>
            <a:endParaRPr sz="1250">
              <a:solidFill>
                <a:schemeClr val="dk1"/>
              </a:solidFill>
              <a:latin typeface="Calibri"/>
              <a:ea typeface="Calibri"/>
              <a:cs typeface="Calibri"/>
              <a:sym typeface="Calibri"/>
            </a:endParaRPr>
          </a:p>
        </p:txBody>
      </p:sp>
      <p:sp>
        <p:nvSpPr>
          <p:cNvPr id="303" name="Google Shape;303;p11"/>
          <p:cNvSpPr/>
          <p:nvPr/>
        </p:nvSpPr>
        <p:spPr>
          <a:xfrm>
            <a:off x="4462272" y="2011680"/>
            <a:ext cx="3291840" cy="6400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E5F50"/>
              </a:buClr>
              <a:buSzPts val="920"/>
              <a:buFont typeface="Calibri"/>
              <a:buNone/>
            </a:pPr>
            <a:r>
              <a:rPr lang="en-US" sz="920">
                <a:solidFill>
                  <a:srgbClr val="6E5F50"/>
                </a:solidFill>
                <a:latin typeface="Calibri"/>
                <a:ea typeface="Calibri"/>
                <a:cs typeface="Calibri"/>
                <a:sym typeface="Calibri"/>
              </a:rPr>
              <a:t>Punto de venta que registra producto, peso y precio, imprime comprobante y persiste la venta en la nube. Utilizable en producción.</a:t>
            </a:r>
            <a:endParaRPr sz="920">
              <a:solidFill>
                <a:schemeClr val="dk1"/>
              </a:solidFill>
              <a:latin typeface="Calibri"/>
              <a:ea typeface="Calibri"/>
              <a:cs typeface="Calibri"/>
              <a:sym typeface="Calibri"/>
            </a:endParaRPr>
          </a:p>
        </p:txBody>
      </p:sp>
      <p:sp>
        <p:nvSpPr>
          <p:cNvPr id="304" name="Google Shape;304;p11"/>
          <p:cNvSpPr/>
          <p:nvPr/>
        </p:nvSpPr>
        <p:spPr>
          <a:xfrm>
            <a:off x="8083296" y="1280160"/>
            <a:ext cx="3566160" cy="1444752"/>
          </a:xfrm>
          <a:prstGeom prst="roundRect">
            <a:avLst>
              <a:gd name="adj" fmla="val 6329"/>
            </a:avLst>
          </a:prstGeom>
          <a:solidFill>
            <a:srgbClr val="F6EFE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05" name="Google Shape;305;p11"/>
          <p:cNvSpPr/>
          <p:nvPr/>
        </p:nvSpPr>
        <p:spPr>
          <a:xfrm>
            <a:off x="8229600" y="1399032"/>
            <a:ext cx="896112" cy="283464"/>
          </a:xfrm>
          <a:prstGeom prst="roundRect">
            <a:avLst>
              <a:gd name="adj" fmla="val 19355"/>
            </a:avLst>
          </a:prstGeom>
          <a:solidFill>
            <a:srgbClr val="4A2C1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06" name="Google Shape;306;p11"/>
          <p:cNvSpPr/>
          <p:nvPr/>
        </p:nvSpPr>
        <p:spPr>
          <a:xfrm>
            <a:off x="8229600" y="1399032"/>
            <a:ext cx="896112" cy="28346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D9A441"/>
              </a:buClr>
              <a:buSzPts val="1000"/>
              <a:buFont typeface="Calibri"/>
              <a:buNone/>
            </a:pPr>
            <a:r>
              <a:rPr lang="en-US" sz="1000" b="1">
                <a:solidFill>
                  <a:srgbClr val="D9A441"/>
                </a:solidFill>
                <a:latin typeface="Calibri"/>
                <a:ea typeface="Calibri"/>
                <a:cs typeface="Calibri"/>
                <a:sym typeface="Calibri"/>
              </a:rPr>
              <a:t>Sprint 2</a:t>
            </a:r>
            <a:endParaRPr sz="1000">
              <a:solidFill>
                <a:schemeClr val="dk1"/>
              </a:solidFill>
              <a:latin typeface="Calibri"/>
              <a:ea typeface="Calibri"/>
              <a:cs typeface="Calibri"/>
              <a:sym typeface="Calibri"/>
            </a:endParaRPr>
          </a:p>
        </p:txBody>
      </p:sp>
      <p:sp>
        <p:nvSpPr>
          <p:cNvPr id="307" name="Google Shape;307;p11"/>
          <p:cNvSpPr/>
          <p:nvPr/>
        </p:nvSpPr>
        <p:spPr>
          <a:xfrm>
            <a:off x="9217152" y="1399032"/>
            <a:ext cx="2286000" cy="283464"/>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6E5F50"/>
              </a:buClr>
              <a:buSzPts val="950"/>
              <a:buFont typeface="Calibri"/>
              <a:buNone/>
            </a:pPr>
            <a:r>
              <a:rPr lang="en-US" sz="950">
                <a:solidFill>
                  <a:srgbClr val="6E5F50"/>
                </a:solidFill>
                <a:latin typeface="Calibri"/>
                <a:ea typeface="Calibri"/>
                <a:cs typeface="Calibri"/>
                <a:sym typeface="Calibri"/>
              </a:rPr>
              <a:t>S5–S6</a:t>
            </a:r>
            <a:endParaRPr sz="950">
              <a:solidFill>
                <a:schemeClr val="dk1"/>
              </a:solidFill>
              <a:latin typeface="Calibri"/>
              <a:ea typeface="Calibri"/>
              <a:cs typeface="Calibri"/>
              <a:sym typeface="Calibri"/>
            </a:endParaRPr>
          </a:p>
        </p:txBody>
      </p:sp>
      <p:sp>
        <p:nvSpPr>
          <p:cNvPr id="308" name="Google Shape;308;p11"/>
          <p:cNvSpPr/>
          <p:nvPr/>
        </p:nvSpPr>
        <p:spPr>
          <a:xfrm>
            <a:off x="8229600" y="1737360"/>
            <a:ext cx="3273552"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E2318"/>
              </a:buClr>
              <a:buSzPts val="1250"/>
              <a:buFont typeface="Calibri"/>
              <a:buNone/>
            </a:pPr>
            <a:r>
              <a:rPr lang="en-US" sz="1250" b="1">
                <a:solidFill>
                  <a:srgbClr val="2E2318"/>
                </a:solidFill>
                <a:latin typeface="Calibri"/>
                <a:ea typeface="Calibri"/>
                <a:cs typeface="Calibri"/>
                <a:sym typeface="Calibri"/>
              </a:rPr>
              <a:t>Continuidad sin conexión</a:t>
            </a:r>
            <a:endParaRPr sz="1250">
              <a:solidFill>
                <a:schemeClr val="dk1"/>
              </a:solidFill>
              <a:latin typeface="Calibri"/>
              <a:ea typeface="Calibri"/>
              <a:cs typeface="Calibri"/>
              <a:sym typeface="Calibri"/>
            </a:endParaRPr>
          </a:p>
        </p:txBody>
      </p:sp>
      <p:sp>
        <p:nvSpPr>
          <p:cNvPr id="309" name="Google Shape;309;p11"/>
          <p:cNvSpPr/>
          <p:nvPr/>
        </p:nvSpPr>
        <p:spPr>
          <a:xfrm>
            <a:off x="8229600" y="2011680"/>
            <a:ext cx="3291840" cy="6400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E5F50"/>
              </a:buClr>
              <a:buSzPts val="920"/>
              <a:buFont typeface="Calibri"/>
              <a:buNone/>
            </a:pPr>
            <a:r>
              <a:rPr lang="en-US" sz="920">
                <a:solidFill>
                  <a:srgbClr val="6E5F50"/>
                </a:solidFill>
                <a:latin typeface="Calibri"/>
                <a:ea typeface="Calibri"/>
                <a:cs typeface="Calibri"/>
                <a:sym typeface="Calibri"/>
              </a:rPr>
              <a:t>Persistencia local y sincronización automática al reconectar, con indicador de estado de red.</a:t>
            </a:r>
            <a:endParaRPr sz="920">
              <a:solidFill>
                <a:schemeClr val="dk1"/>
              </a:solidFill>
              <a:latin typeface="Calibri"/>
              <a:ea typeface="Calibri"/>
              <a:cs typeface="Calibri"/>
              <a:sym typeface="Calibri"/>
            </a:endParaRPr>
          </a:p>
        </p:txBody>
      </p:sp>
      <p:sp>
        <p:nvSpPr>
          <p:cNvPr id="310" name="Google Shape;310;p11"/>
          <p:cNvSpPr/>
          <p:nvPr/>
        </p:nvSpPr>
        <p:spPr>
          <a:xfrm>
            <a:off x="548640" y="2880360"/>
            <a:ext cx="3566160" cy="1444752"/>
          </a:xfrm>
          <a:prstGeom prst="roundRect">
            <a:avLst>
              <a:gd name="adj" fmla="val 6329"/>
            </a:avLst>
          </a:prstGeom>
          <a:solidFill>
            <a:srgbClr val="F6EFE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11" name="Google Shape;311;p11"/>
          <p:cNvSpPr/>
          <p:nvPr/>
        </p:nvSpPr>
        <p:spPr>
          <a:xfrm>
            <a:off x="694944" y="2999232"/>
            <a:ext cx="896112" cy="283464"/>
          </a:xfrm>
          <a:prstGeom prst="roundRect">
            <a:avLst>
              <a:gd name="adj" fmla="val 19355"/>
            </a:avLst>
          </a:prstGeom>
          <a:solidFill>
            <a:srgbClr val="4A2C1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12" name="Google Shape;312;p11"/>
          <p:cNvSpPr/>
          <p:nvPr/>
        </p:nvSpPr>
        <p:spPr>
          <a:xfrm>
            <a:off x="694944" y="2999232"/>
            <a:ext cx="896112" cy="28346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D9A441"/>
              </a:buClr>
              <a:buSzPts val="1000"/>
              <a:buFont typeface="Calibri"/>
              <a:buNone/>
            </a:pPr>
            <a:r>
              <a:rPr lang="en-US" sz="1000" b="1">
                <a:solidFill>
                  <a:srgbClr val="D9A441"/>
                </a:solidFill>
                <a:latin typeface="Calibri"/>
                <a:ea typeface="Calibri"/>
                <a:cs typeface="Calibri"/>
                <a:sym typeface="Calibri"/>
              </a:rPr>
              <a:t>Sprint 3</a:t>
            </a:r>
            <a:endParaRPr sz="1000">
              <a:solidFill>
                <a:schemeClr val="dk1"/>
              </a:solidFill>
              <a:latin typeface="Calibri"/>
              <a:ea typeface="Calibri"/>
              <a:cs typeface="Calibri"/>
              <a:sym typeface="Calibri"/>
            </a:endParaRPr>
          </a:p>
        </p:txBody>
      </p:sp>
      <p:sp>
        <p:nvSpPr>
          <p:cNvPr id="313" name="Google Shape;313;p11"/>
          <p:cNvSpPr/>
          <p:nvPr/>
        </p:nvSpPr>
        <p:spPr>
          <a:xfrm>
            <a:off x="1682496" y="2999232"/>
            <a:ext cx="2286000" cy="283464"/>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6E5F50"/>
              </a:buClr>
              <a:buSzPts val="950"/>
              <a:buFont typeface="Calibri"/>
              <a:buNone/>
            </a:pPr>
            <a:r>
              <a:rPr lang="en-US" sz="950">
                <a:solidFill>
                  <a:srgbClr val="6E5F50"/>
                </a:solidFill>
                <a:latin typeface="Calibri"/>
                <a:ea typeface="Calibri"/>
                <a:cs typeface="Calibri"/>
                <a:sym typeface="Calibri"/>
              </a:rPr>
              <a:t>S7–S8</a:t>
            </a:r>
            <a:endParaRPr sz="950">
              <a:solidFill>
                <a:schemeClr val="dk1"/>
              </a:solidFill>
              <a:latin typeface="Calibri"/>
              <a:ea typeface="Calibri"/>
              <a:cs typeface="Calibri"/>
              <a:sym typeface="Calibri"/>
            </a:endParaRPr>
          </a:p>
        </p:txBody>
      </p:sp>
      <p:sp>
        <p:nvSpPr>
          <p:cNvPr id="314" name="Google Shape;314;p11"/>
          <p:cNvSpPr/>
          <p:nvPr/>
        </p:nvSpPr>
        <p:spPr>
          <a:xfrm>
            <a:off x="694944" y="3337560"/>
            <a:ext cx="3273552"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E2318"/>
              </a:buClr>
              <a:buSzPts val="1250"/>
              <a:buFont typeface="Calibri"/>
              <a:buNone/>
            </a:pPr>
            <a:r>
              <a:rPr lang="en-US" sz="1250" b="1">
                <a:solidFill>
                  <a:srgbClr val="2E2318"/>
                </a:solidFill>
                <a:latin typeface="Calibri"/>
                <a:ea typeface="Calibri"/>
                <a:cs typeface="Calibri"/>
                <a:sym typeface="Calibri"/>
              </a:rPr>
              <a:t>Administración de catálogo</a:t>
            </a:r>
            <a:endParaRPr sz="1250">
              <a:solidFill>
                <a:schemeClr val="dk1"/>
              </a:solidFill>
              <a:latin typeface="Calibri"/>
              <a:ea typeface="Calibri"/>
              <a:cs typeface="Calibri"/>
              <a:sym typeface="Calibri"/>
            </a:endParaRPr>
          </a:p>
        </p:txBody>
      </p:sp>
      <p:sp>
        <p:nvSpPr>
          <p:cNvPr id="315" name="Google Shape;315;p11"/>
          <p:cNvSpPr/>
          <p:nvPr/>
        </p:nvSpPr>
        <p:spPr>
          <a:xfrm>
            <a:off x="694944" y="3611880"/>
            <a:ext cx="3291840" cy="6400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E5F50"/>
              </a:buClr>
              <a:buSzPts val="920"/>
              <a:buFont typeface="Calibri"/>
              <a:buNone/>
            </a:pPr>
            <a:r>
              <a:rPr lang="en-US" sz="920">
                <a:solidFill>
                  <a:srgbClr val="6E5F50"/>
                </a:solidFill>
                <a:latin typeface="Calibri"/>
                <a:ea typeface="Calibri"/>
                <a:cs typeface="Calibri"/>
                <a:sym typeface="Calibri"/>
              </a:rPr>
              <a:t>Panel web con acceso por rol y mantenedor de catálogo y precios que el punto de venta consume.</a:t>
            </a:r>
            <a:endParaRPr sz="920">
              <a:solidFill>
                <a:schemeClr val="dk1"/>
              </a:solidFill>
              <a:latin typeface="Calibri"/>
              <a:ea typeface="Calibri"/>
              <a:cs typeface="Calibri"/>
              <a:sym typeface="Calibri"/>
            </a:endParaRPr>
          </a:p>
        </p:txBody>
      </p:sp>
      <p:sp>
        <p:nvSpPr>
          <p:cNvPr id="316" name="Google Shape;316;p11"/>
          <p:cNvSpPr/>
          <p:nvPr/>
        </p:nvSpPr>
        <p:spPr>
          <a:xfrm>
            <a:off x="4315968" y="2880360"/>
            <a:ext cx="3566160" cy="1444752"/>
          </a:xfrm>
          <a:prstGeom prst="roundRect">
            <a:avLst>
              <a:gd name="adj" fmla="val 6329"/>
            </a:avLst>
          </a:prstGeom>
          <a:solidFill>
            <a:srgbClr val="F6EFE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17" name="Google Shape;317;p11"/>
          <p:cNvSpPr/>
          <p:nvPr/>
        </p:nvSpPr>
        <p:spPr>
          <a:xfrm>
            <a:off x="4462272" y="2999232"/>
            <a:ext cx="896112" cy="283464"/>
          </a:xfrm>
          <a:prstGeom prst="roundRect">
            <a:avLst>
              <a:gd name="adj" fmla="val 19355"/>
            </a:avLst>
          </a:prstGeom>
          <a:solidFill>
            <a:srgbClr val="4A2C1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18" name="Google Shape;318;p11"/>
          <p:cNvSpPr/>
          <p:nvPr/>
        </p:nvSpPr>
        <p:spPr>
          <a:xfrm>
            <a:off x="4462272" y="2999232"/>
            <a:ext cx="896112" cy="28346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D9A441"/>
              </a:buClr>
              <a:buSzPts val="1000"/>
              <a:buFont typeface="Calibri"/>
              <a:buNone/>
            </a:pPr>
            <a:r>
              <a:rPr lang="en-US" sz="1000" b="1">
                <a:solidFill>
                  <a:srgbClr val="D9A441"/>
                </a:solidFill>
                <a:latin typeface="Calibri"/>
                <a:ea typeface="Calibri"/>
                <a:cs typeface="Calibri"/>
                <a:sym typeface="Calibri"/>
              </a:rPr>
              <a:t>Sprint 4</a:t>
            </a:r>
            <a:endParaRPr sz="1000">
              <a:solidFill>
                <a:schemeClr val="dk1"/>
              </a:solidFill>
              <a:latin typeface="Calibri"/>
              <a:ea typeface="Calibri"/>
              <a:cs typeface="Calibri"/>
              <a:sym typeface="Calibri"/>
            </a:endParaRPr>
          </a:p>
        </p:txBody>
      </p:sp>
      <p:sp>
        <p:nvSpPr>
          <p:cNvPr id="319" name="Google Shape;319;p11"/>
          <p:cNvSpPr/>
          <p:nvPr/>
        </p:nvSpPr>
        <p:spPr>
          <a:xfrm>
            <a:off x="5449824" y="2999232"/>
            <a:ext cx="2286000" cy="283464"/>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6E5F50"/>
              </a:buClr>
              <a:buSzPts val="950"/>
              <a:buFont typeface="Calibri"/>
              <a:buNone/>
            </a:pPr>
            <a:r>
              <a:rPr lang="en-US" sz="950">
                <a:solidFill>
                  <a:srgbClr val="6E5F50"/>
                </a:solidFill>
                <a:latin typeface="Calibri"/>
                <a:ea typeface="Calibri"/>
                <a:cs typeface="Calibri"/>
                <a:sym typeface="Calibri"/>
              </a:rPr>
              <a:t>S9–S10</a:t>
            </a:r>
            <a:endParaRPr sz="950">
              <a:solidFill>
                <a:schemeClr val="dk1"/>
              </a:solidFill>
              <a:latin typeface="Calibri"/>
              <a:ea typeface="Calibri"/>
              <a:cs typeface="Calibri"/>
              <a:sym typeface="Calibri"/>
            </a:endParaRPr>
          </a:p>
        </p:txBody>
      </p:sp>
      <p:sp>
        <p:nvSpPr>
          <p:cNvPr id="320" name="Google Shape;320;p11"/>
          <p:cNvSpPr/>
          <p:nvPr/>
        </p:nvSpPr>
        <p:spPr>
          <a:xfrm>
            <a:off x="4462272" y="3337560"/>
            <a:ext cx="3273552"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E2318"/>
              </a:buClr>
              <a:buSzPts val="1250"/>
              <a:buFont typeface="Calibri"/>
              <a:buNone/>
            </a:pPr>
            <a:r>
              <a:rPr lang="en-US" sz="1250" b="1">
                <a:solidFill>
                  <a:srgbClr val="2E2318"/>
                </a:solidFill>
                <a:latin typeface="Calibri"/>
                <a:ea typeface="Calibri"/>
                <a:cs typeface="Calibri"/>
                <a:sym typeface="Calibri"/>
              </a:rPr>
              <a:t>Producción y disponibilidad</a:t>
            </a:r>
            <a:endParaRPr sz="1250">
              <a:solidFill>
                <a:schemeClr val="dk1"/>
              </a:solidFill>
              <a:latin typeface="Calibri"/>
              <a:ea typeface="Calibri"/>
              <a:cs typeface="Calibri"/>
              <a:sym typeface="Calibri"/>
            </a:endParaRPr>
          </a:p>
        </p:txBody>
      </p:sp>
      <p:sp>
        <p:nvSpPr>
          <p:cNvPr id="321" name="Google Shape;321;p11"/>
          <p:cNvSpPr/>
          <p:nvPr/>
        </p:nvSpPr>
        <p:spPr>
          <a:xfrm>
            <a:off x="4462272" y="3611880"/>
            <a:ext cx="3291840" cy="6400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E5F50"/>
              </a:buClr>
              <a:buSzPts val="920"/>
              <a:buFont typeface="Calibri"/>
              <a:buNone/>
            </a:pPr>
            <a:r>
              <a:rPr lang="en-US" sz="920">
                <a:solidFill>
                  <a:srgbClr val="6E5F50"/>
                </a:solidFill>
                <a:latin typeface="Calibri"/>
                <a:ea typeface="Calibri"/>
                <a:cs typeface="Calibri"/>
                <a:sym typeface="Calibri"/>
              </a:rPr>
              <a:t>Aplicación móvil de producción operativa sin conexión y notificación visible en el punto de venta.</a:t>
            </a:r>
            <a:endParaRPr sz="920">
              <a:solidFill>
                <a:schemeClr val="dk1"/>
              </a:solidFill>
              <a:latin typeface="Calibri"/>
              <a:ea typeface="Calibri"/>
              <a:cs typeface="Calibri"/>
              <a:sym typeface="Calibri"/>
            </a:endParaRPr>
          </a:p>
        </p:txBody>
      </p:sp>
      <p:sp>
        <p:nvSpPr>
          <p:cNvPr id="322" name="Google Shape;322;p11"/>
          <p:cNvSpPr/>
          <p:nvPr/>
        </p:nvSpPr>
        <p:spPr>
          <a:xfrm>
            <a:off x="8083296" y="2880360"/>
            <a:ext cx="3566160" cy="1444752"/>
          </a:xfrm>
          <a:prstGeom prst="roundRect">
            <a:avLst>
              <a:gd name="adj" fmla="val 6329"/>
            </a:avLst>
          </a:prstGeom>
          <a:solidFill>
            <a:srgbClr val="F6EFE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23" name="Google Shape;323;p11"/>
          <p:cNvSpPr/>
          <p:nvPr/>
        </p:nvSpPr>
        <p:spPr>
          <a:xfrm>
            <a:off x="8229600" y="2999232"/>
            <a:ext cx="896112" cy="283464"/>
          </a:xfrm>
          <a:prstGeom prst="roundRect">
            <a:avLst>
              <a:gd name="adj" fmla="val 19355"/>
            </a:avLst>
          </a:prstGeom>
          <a:solidFill>
            <a:srgbClr val="4A2C1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24" name="Google Shape;324;p11"/>
          <p:cNvSpPr/>
          <p:nvPr/>
        </p:nvSpPr>
        <p:spPr>
          <a:xfrm>
            <a:off x="8229600" y="2999232"/>
            <a:ext cx="896112" cy="28346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D9A441"/>
              </a:buClr>
              <a:buSzPts val="1000"/>
              <a:buFont typeface="Calibri"/>
              <a:buNone/>
            </a:pPr>
            <a:r>
              <a:rPr lang="en-US" sz="1000" b="1">
                <a:solidFill>
                  <a:srgbClr val="D9A441"/>
                </a:solidFill>
                <a:latin typeface="Calibri"/>
                <a:ea typeface="Calibri"/>
                <a:cs typeface="Calibri"/>
                <a:sym typeface="Calibri"/>
              </a:rPr>
              <a:t>Sprint 5</a:t>
            </a:r>
            <a:endParaRPr sz="1000">
              <a:solidFill>
                <a:schemeClr val="dk1"/>
              </a:solidFill>
              <a:latin typeface="Calibri"/>
              <a:ea typeface="Calibri"/>
              <a:cs typeface="Calibri"/>
              <a:sym typeface="Calibri"/>
            </a:endParaRPr>
          </a:p>
        </p:txBody>
      </p:sp>
      <p:sp>
        <p:nvSpPr>
          <p:cNvPr id="325" name="Google Shape;325;p11"/>
          <p:cNvSpPr/>
          <p:nvPr/>
        </p:nvSpPr>
        <p:spPr>
          <a:xfrm>
            <a:off x="9217152" y="2999232"/>
            <a:ext cx="2286000" cy="283464"/>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6E5F50"/>
              </a:buClr>
              <a:buSzPts val="950"/>
              <a:buFont typeface="Calibri"/>
              <a:buNone/>
            </a:pPr>
            <a:r>
              <a:rPr lang="en-US" sz="950">
                <a:solidFill>
                  <a:srgbClr val="6E5F50"/>
                </a:solidFill>
                <a:latin typeface="Calibri"/>
                <a:ea typeface="Calibri"/>
                <a:cs typeface="Calibri"/>
                <a:sym typeface="Calibri"/>
              </a:rPr>
              <a:t>S11–S12</a:t>
            </a:r>
            <a:endParaRPr sz="950">
              <a:solidFill>
                <a:schemeClr val="dk1"/>
              </a:solidFill>
              <a:latin typeface="Calibri"/>
              <a:ea typeface="Calibri"/>
              <a:cs typeface="Calibri"/>
              <a:sym typeface="Calibri"/>
            </a:endParaRPr>
          </a:p>
        </p:txBody>
      </p:sp>
      <p:sp>
        <p:nvSpPr>
          <p:cNvPr id="326" name="Google Shape;326;p11"/>
          <p:cNvSpPr/>
          <p:nvPr/>
        </p:nvSpPr>
        <p:spPr>
          <a:xfrm>
            <a:off x="8229600" y="3337560"/>
            <a:ext cx="3273552"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E2318"/>
              </a:buClr>
              <a:buSzPts val="1250"/>
              <a:buFont typeface="Calibri"/>
              <a:buNone/>
            </a:pPr>
            <a:r>
              <a:rPr lang="en-US" sz="1250" b="1">
                <a:solidFill>
                  <a:srgbClr val="2E2318"/>
                </a:solidFill>
                <a:latin typeface="Calibri"/>
                <a:ea typeface="Calibri"/>
                <a:cs typeface="Calibri"/>
                <a:sym typeface="Calibri"/>
              </a:rPr>
              <a:t>Inventario de insumos</a:t>
            </a:r>
            <a:endParaRPr sz="1250">
              <a:solidFill>
                <a:schemeClr val="dk1"/>
              </a:solidFill>
              <a:latin typeface="Calibri"/>
              <a:ea typeface="Calibri"/>
              <a:cs typeface="Calibri"/>
              <a:sym typeface="Calibri"/>
            </a:endParaRPr>
          </a:p>
        </p:txBody>
      </p:sp>
      <p:sp>
        <p:nvSpPr>
          <p:cNvPr id="327" name="Google Shape;327;p11"/>
          <p:cNvSpPr/>
          <p:nvPr/>
        </p:nvSpPr>
        <p:spPr>
          <a:xfrm>
            <a:off x="8229600" y="3611880"/>
            <a:ext cx="3291840" cy="6400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E5F50"/>
              </a:buClr>
              <a:buSzPts val="920"/>
              <a:buFont typeface="Calibri"/>
              <a:buNone/>
            </a:pPr>
            <a:r>
              <a:rPr lang="en-US" sz="920">
                <a:solidFill>
                  <a:srgbClr val="6E5F50"/>
                </a:solidFill>
                <a:latin typeface="Calibri"/>
                <a:ea typeface="Calibri"/>
                <a:cs typeface="Calibri"/>
                <a:sym typeface="Calibri"/>
              </a:rPr>
              <a:t>Descuento automático de insumos por fórmula, registro de existencias y alertas de nivel mínimo.</a:t>
            </a:r>
            <a:endParaRPr sz="920">
              <a:solidFill>
                <a:schemeClr val="dk1"/>
              </a:solidFill>
              <a:latin typeface="Calibri"/>
              <a:ea typeface="Calibri"/>
              <a:cs typeface="Calibri"/>
              <a:sym typeface="Calibri"/>
            </a:endParaRPr>
          </a:p>
        </p:txBody>
      </p:sp>
      <p:sp>
        <p:nvSpPr>
          <p:cNvPr id="328" name="Google Shape;328;p11"/>
          <p:cNvSpPr/>
          <p:nvPr/>
        </p:nvSpPr>
        <p:spPr>
          <a:xfrm>
            <a:off x="548640" y="4480560"/>
            <a:ext cx="3566160" cy="1444752"/>
          </a:xfrm>
          <a:prstGeom prst="roundRect">
            <a:avLst>
              <a:gd name="adj" fmla="val 6329"/>
            </a:avLst>
          </a:prstGeom>
          <a:solidFill>
            <a:srgbClr val="F6EFE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29" name="Google Shape;329;p11"/>
          <p:cNvSpPr/>
          <p:nvPr/>
        </p:nvSpPr>
        <p:spPr>
          <a:xfrm>
            <a:off x="694944" y="4599432"/>
            <a:ext cx="896112" cy="283464"/>
          </a:xfrm>
          <a:prstGeom prst="roundRect">
            <a:avLst>
              <a:gd name="adj" fmla="val 19355"/>
            </a:avLst>
          </a:prstGeom>
          <a:solidFill>
            <a:srgbClr val="4A2C1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30" name="Google Shape;330;p11"/>
          <p:cNvSpPr/>
          <p:nvPr/>
        </p:nvSpPr>
        <p:spPr>
          <a:xfrm>
            <a:off x="694944" y="4599432"/>
            <a:ext cx="896112" cy="28346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D9A441"/>
              </a:buClr>
              <a:buSzPts val="1000"/>
              <a:buFont typeface="Calibri"/>
              <a:buNone/>
            </a:pPr>
            <a:r>
              <a:rPr lang="en-US" sz="1000" b="1">
                <a:solidFill>
                  <a:srgbClr val="D9A441"/>
                </a:solidFill>
                <a:latin typeface="Calibri"/>
                <a:ea typeface="Calibri"/>
                <a:cs typeface="Calibri"/>
                <a:sym typeface="Calibri"/>
              </a:rPr>
              <a:t>Sprint 6</a:t>
            </a:r>
            <a:endParaRPr sz="1000">
              <a:solidFill>
                <a:schemeClr val="dk1"/>
              </a:solidFill>
              <a:latin typeface="Calibri"/>
              <a:ea typeface="Calibri"/>
              <a:cs typeface="Calibri"/>
              <a:sym typeface="Calibri"/>
            </a:endParaRPr>
          </a:p>
        </p:txBody>
      </p:sp>
      <p:sp>
        <p:nvSpPr>
          <p:cNvPr id="331" name="Google Shape;331;p11"/>
          <p:cNvSpPr/>
          <p:nvPr/>
        </p:nvSpPr>
        <p:spPr>
          <a:xfrm>
            <a:off x="1682496" y="4599432"/>
            <a:ext cx="2286000" cy="283464"/>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6E5F50"/>
              </a:buClr>
              <a:buSzPts val="950"/>
              <a:buFont typeface="Calibri"/>
              <a:buNone/>
            </a:pPr>
            <a:r>
              <a:rPr lang="en-US" sz="950">
                <a:solidFill>
                  <a:srgbClr val="6E5F50"/>
                </a:solidFill>
                <a:latin typeface="Calibri"/>
                <a:ea typeface="Calibri"/>
                <a:cs typeface="Calibri"/>
                <a:sym typeface="Calibri"/>
              </a:rPr>
              <a:t>S13–S14</a:t>
            </a:r>
            <a:endParaRPr sz="950">
              <a:solidFill>
                <a:schemeClr val="dk1"/>
              </a:solidFill>
              <a:latin typeface="Calibri"/>
              <a:ea typeface="Calibri"/>
              <a:cs typeface="Calibri"/>
              <a:sym typeface="Calibri"/>
            </a:endParaRPr>
          </a:p>
        </p:txBody>
      </p:sp>
      <p:sp>
        <p:nvSpPr>
          <p:cNvPr id="332" name="Google Shape;332;p11"/>
          <p:cNvSpPr/>
          <p:nvPr/>
        </p:nvSpPr>
        <p:spPr>
          <a:xfrm>
            <a:off x="694944" y="4937760"/>
            <a:ext cx="3273552"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E2318"/>
              </a:buClr>
              <a:buSzPts val="1250"/>
              <a:buFont typeface="Calibri"/>
              <a:buNone/>
            </a:pPr>
            <a:r>
              <a:rPr lang="en-US" sz="1250" b="1">
                <a:solidFill>
                  <a:srgbClr val="2E2318"/>
                </a:solidFill>
                <a:latin typeface="Calibri"/>
                <a:ea typeface="Calibri"/>
                <a:cs typeface="Calibri"/>
                <a:sym typeface="Calibri"/>
              </a:rPr>
              <a:t>Indicadores de gestión</a:t>
            </a:r>
            <a:endParaRPr sz="1250">
              <a:solidFill>
                <a:schemeClr val="dk1"/>
              </a:solidFill>
              <a:latin typeface="Calibri"/>
              <a:ea typeface="Calibri"/>
              <a:cs typeface="Calibri"/>
              <a:sym typeface="Calibri"/>
            </a:endParaRPr>
          </a:p>
        </p:txBody>
      </p:sp>
      <p:sp>
        <p:nvSpPr>
          <p:cNvPr id="333" name="Google Shape;333;p11"/>
          <p:cNvSpPr/>
          <p:nvPr/>
        </p:nvSpPr>
        <p:spPr>
          <a:xfrm>
            <a:off x="694944" y="5212080"/>
            <a:ext cx="3291840" cy="6400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E5F50"/>
              </a:buClr>
              <a:buSzPts val="920"/>
              <a:buFont typeface="Calibri"/>
              <a:buNone/>
            </a:pPr>
            <a:r>
              <a:rPr lang="en-US" sz="920">
                <a:solidFill>
                  <a:srgbClr val="6E5F50"/>
                </a:solidFill>
                <a:latin typeface="Calibri"/>
                <a:ea typeface="Calibri"/>
                <a:cs typeface="Calibri"/>
                <a:sym typeface="Calibri"/>
              </a:rPr>
              <a:t>Panel de indicadores con ventas por producto, sucursal y período, y detalle de mermas.</a:t>
            </a:r>
            <a:endParaRPr sz="920">
              <a:solidFill>
                <a:schemeClr val="dk1"/>
              </a:solidFill>
              <a:latin typeface="Calibri"/>
              <a:ea typeface="Calibri"/>
              <a:cs typeface="Calibri"/>
              <a:sym typeface="Calibri"/>
            </a:endParaRPr>
          </a:p>
        </p:txBody>
      </p:sp>
      <p:sp>
        <p:nvSpPr>
          <p:cNvPr id="334" name="Google Shape;334;p11"/>
          <p:cNvSpPr/>
          <p:nvPr/>
        </p:nvSpPr>
        <p:spPr>
          <a:xfrm>
            <a:off x="4315968" y="4480560"/>
            <a:ext cx="3566160" cy="1444752"/>
          </a:xfrm>
          <a:prstGeom prst="roundRect">
            <a:avLst>
              <a:gd name="adj" fmla="val 6329"/>
            </a:avLst>
          </a:prstGeom>
          <a:solidFill>
            <a:srgbClr val="F6EFE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35" name="Google Shape;335;p11"/>
          <p:cNvSpPr/>
          <p:nvPr/>
        </p:nvSpPr>
        <p:spPr>
          <a:xfrm>
            <a:off x="4462272" y="4599432"/>
            <a:ext cx="896112" cy="283464"/>
          </a:xfrm>
          <a:prstGeom prst="roundRect">
            <a:avLst>
              <a:gd name="adj" fmla="val 19355"/>
            </a:avLst>
          </a:prstGeom>
          <a:solidFill>
            <a:srgbClr val="4A2C1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36" name="Google Shape;336;p11"/>
          <p:cNvSpPr/>
          <p:nvPr/>
        </p:nvSpPr>
        <p:spPr>
          <a:xfrm>
            <a:off x="4462272" y="4599432"/>
            <a:ext cx="896112" cy="28346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D9A441"/>
              </a:buClr>
              <a:buSzPts val="1000"/>
              <a:buFont typeface="Calibri"/>
              <a:buNone/>
            </a:pPr>
            <a:r>
              <a:rPr lang="en-US" sz="1000" b="1">
                <a:solidFill>
                  <a:srgbClr val="D9A441"/>
                </a:solidFill>
                <a:latin typeface="Calibri"/>
                <a:ea typeface="Calibri"/>
                <a:cs typeface="Calibri"/>
                <a:sym typeface="Calibri"/>
              </a:rPr>
              <a:t>Sprint 7</a:t>
            </a:r>
            <a:endParaRPr sz="1000">
              <a:solidFill>
                <a:schemeClr val="dk1"/>
              </a:solidFill>
              <a:latin typeface="Calibri"/>
              <a:ea typeface="Calibri"/>
              <a:cs typeface="Calibri"/>
              <a:sym typeface="Calibri"/>
            </a:endParaRPr>
          </a:p>
        </p:txBody>
      </p:sp>
      <p:sp>
        <p:nvSpPr>
          <p:cNvPr id="337" name="Google Shape;337;p11"/>
          <p:cNvSpPr/>
          <p:nvPr/>
        </p:nvSpPr>
        <p:spPr>
          <a:xfrm>
            <a:off x="5449824" y="4599432"/>
            <a:ext cx="2286000" cy="283464"/>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6E5F50"/>
              </a:buClr>
              <a:buSzPts val="950"/>
              <a:buFont typeface="Calibri"/>
              <a:buNone/>
            </a:pPr>
            <a:r>
              <a:rPr lang="en-US" sz="950">
                <a:solidFill>
                  <a:srgbClr val="6E5F50"/>
                </a:solidFill>
                <a:latin typeface="Calibri"/>
                <a:ea typeface="Calibri"/>
                <a:cs typeface="Calibri"/>
                <a:sym typeface="Calibri"/>
              </a:rPr>
              <a:t>S15–S16</a:t>
            </a:r>
            <a:endParaRPr sz="950">
              <a:solidFill>
                <a:schemeClr val="dk1"/>
              </a:solidFill>
              <a:latin typeface="Calibri"/>
              <a:ea typeface="Calibri"/>
              <a:cs typeface="Calibri"/>
              <a:sym typeface="Calibri"/>
            </a:endParaRPr>
          </a:p>
        </p:txBody>
      </p:sp>
      <p:sp>
        <p:nvSpPr>
          <p:cNvPr id="338" name="Google Shape;338;p11"/>
          <p:cNvSpPr/>
          <p:nvPr/>
        </p:nvSpPr>
        <p:spPr>
          <a:xfrm>
            <a:off x="4462272" y="4937760"/>
            <a:ext cx="3273552"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E2318"/>
              </a:buClr>
              <a:buSzPts val="1250"/>
              <a:buFont typeface="Calibri"/>
              <a:buNone/>
            </a:pPr>
            <a:r>
              <a:rPr lang="en-US" sz="1250" b="1">
                <a:solidFill>
                  <a:srgbClr val="2E2318"/>
                </a:solidFill>
                <a:latin typeface="Calibri"/>
                <a:ea typeface="Calibri"/>
                <a:cs typeface="Calibri"/>
                <a:sym typeface="Calibri"/>
              </a:rPr>
              <a:t>Predicción de demanda</a:t>
            </a:r>
            <a:endParaRPr sz="1250">
              <a:solidFill>
                <a:schemeClr val="dk1"/>
              </a:solidFill>
              <a:latin typeface="Calibri"/>
              <a:ea typeface="Calibri"/>
              <a:cs typeface="Calibri"/>
              <a:sym typeface="Calibri"/>
            </a:endParaRPr>
          </a:p>
        </p:txBody>
      </p:sp>
      <p:sp>
        <p:nvSpPr>
          <p:cNvPr id="339" name="Google Shape;339;p11"/>
          <p:cNvSpPr/>
          <p:nvPr/>
        </p:nvSpPr>
        <p:spPr>
          <a:xfrm>
            <a:off x="4462272" y="5212080"/>
            <a:ext cx="3291840" cy="6400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E5F50"/>
              </a:buClr>
              <a:buSzPts val="920"/>
              <a:buFont typeface="Calibri"/>
              <a:buNone/>
            </a:pPr>
            <a:r>
              <a:rPr lang="en-US" sz="920">
                <a:solidFill>
                  <a:srgbClr val="6E5F50"/>
                </a:solidFill>
                <a:latin typeface="Calibri"/>
                <a:ea typeface="Calibri"/>
                <a:cs typeface="Calibri"/>
                <a:sym typeface="Calibri"/>
              </a:rPr>
              <a:t>Servicio de predicción integrado que entrega la producción sugerida del día siguiente.</a:t>
            </a:r>
            <a:endParaRPr sz="920">
              <a:solidFill>
                <a:schemeClr val="dk1"/>
              </a:solidFill>
              <a:latin typeface="Calibri"/>
              <a:ea typeface="Calibri"/>
              <a:cs typeface="Calibri"/>
              <a:sym typeface="Calibri"/>
            </a:endParaRPr>
          </a:p>
        </p:txBody>
      </p:sp>
      <p:sp>
        <p:nvSpPr>
          <p:cNvPr id="340" name="Google Shape;340;p11"/>
          <p:cNvSpPr/>
          <p:nvPr/>
        </p:nvSpPr>
        <p:spPr>
          <a:xfrm>
            <a:off x="8083296" y="4480560"/>
            <a:ext cx="3566160" cy="1444752"/>
          </a:xfrm>
          <a:prstGeom prst="roundRect">
            <a:avLst>
              <a:gd name="adj" fmla="val 6329"/>
            </a:avLst>
          </a:prstGeom>
          <a:solidFill>
            <a:srgbClr val="F6EFE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41" name="Google Shape;341;p11"/>
          <p:cNvSpPr/>
          <p:nvPr/>
        </p:nvSpPr>
        <p:spPr>
          <a:xfrm>
            <a:off x="8229600" y="4599432"/>
            <a:ext cx="896112" cy="283464"/>
          </a:xfrm>
          <a:prstGeom prst="roundRect">
            <a:avLst>
              <a:gd name="adj" fmla="val 19355"/>
            </a:avLst>
          </a:prstGeom>
          <a:solidFill>
            <a:srgbClr val="4A2C1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42" name="Google Shape;342;p11"/>
          <p:cNvSpPr/>
          <p:nvPr/>
        </p:nvSpPr>
        <p:spPr>
          <a:xfrm>
            <a:off x="8229600" y="4599432"/>
            <a:ext cx="896112" cy="28346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D9A441"/>
              </a:buClr>
              <a:buSzPts val="1000"/>
              <a:buFont typeface="Calibri"/>
              <a:buNone/>
            </a:pPr>
            <a:r>
              <a:rPr lang="en-US" sz="1000" b="1">
                <a:solidFill>
                  <a:srgbClr val="D9A441"/>
                </a:solidFill>
                <a:latin typeface="Calibri"/>
                <a:ea typeface="Calibri"/>
                <a:cs typeface="Calibri"/>
                <a:sym typeface="Calibri"/>
              </a:rPr>
              <a:t>Sprint 8</a:t>
            </a:r>
            <a:endParaRPr sz="1000">
              <a:solidFill>
                <a:schemeClr val="dk1"/>
              </a:solidFill>
              <a:latin typeface="Calibri"/>
              <a:ea typeface="Calibri"/>
              <a:cs typeface="Calibri"/>
              <a:sym typeface="Calibri"/>
            </a:endParaRPr>
          </a:p>
        </p:txBody>
      </p:sp>
      <p:sp>
        <p:nvSpPr>
          <p:cNvPr id="343" name="Google Shape;343;p11"/>
          <p:cNvSpPr/>
          <p:nvPr/>
        </p:nvSpPr>
        <p:spPr>
          <a:xfrm>
            <a:off x="9217152" y="4599432"/>
            <a:ext cx="2286000" cy="283464"/>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6E5F50"/>
              </a:buClr>
              <a:buSzPts val="950"/>
              <a:buFont typeface="Calibri"/>
              <a:buNone/>
            </a:pPr>
            <a:r>
              <a:rPr lang="en-US" sz="950">
                <a:solidFill>
                  <a:srgbClr val="6E5F50"/>
                </a:solidFill>
                <a:latin typeface="Calibri"/>
                <a:ea typeface="Calibri"/>
                <a:cs typeface="Calibri"/>
                <a:sym typeface="Calibri"/>
              </a:rPr>
              <a:t>S17–S18</a:t>
            </a:r>
            <a:endParaRPr sz="950">
              <a:solidFill>
                <a:schemeClr val="dk1"/>
              </a:solidFill>
              <a:latin typeface="Calibri"/>
              <a:ea typeface="Calibri"/>
              <a:cs typeface="Calibri"/>
              <a:sym typeface="Calibri"/>
            </a:endParaRPr>
          </a:p>
        </p:txBody>
      </p:sp>
      <p:sp>
        <p:nvSpPr>
          <p:cNvPr id="344" name="Google Shape;344;p11"/>
          <p:cNvSpPr/>
          <p:nvPr/>
        </p:nvSpPr>
        <p:spPr>
          <a:xfrm>
            <a:off x="8229600" y="4937760"/>
            <a:ext cx="3273552"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E2318"/>
              </a:buClr>
              <a:buSzPts val="1250"/>
              <a:buFont typeface="Calibri"/>
              <a:buNone/>
            </a:pPr>
            <a:r>
              <a:rPr lang="en-US" sz="1250" b="1">
                <a:solidFill>
                  <a:srgbClr val="2E2318"/>
                </a:solidFill>
                <a:latin typeface="Calibri"/>
                <a:ea typeface="Calibri"/>
                <a:cs typeface="Calibri"/>
                <a:sym typeface="Calibri"/>
              </a:rPr>
              <a:t>Multisucursal y cierre</a:t>
            </a:r>
            <a:endParaRPr sz="1250">
              <a:solidFill>
                <a:schemeClr val="dk1"/>
              </a:solidFill>
              <a:latin typeface="Calibri"/>
              <a:ea typeface="Calibri"/>
              <a:cs typeface="Calibri"/>
              <a:sym typeface="Calibri"/>
            </a:endParaRPr>
          </a:p>
        </p:txBody>
      </p:sp>
      <p:sp>
        <p:nvSpPr>
          <p:cNvPr id="345" name="Google Shape;345;p11"/>
          <p:cNvSpPr/>
          <p:nvPr/>
        </p:nvSpPr>
        <p:spPr>
          <a:xfrm>
            <a:off x="8229600" y="5212080"/>
            <a:ext cx="3291840" cy="6400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E5F50"/>
              </a:buClr>
              <a:buSzPts val="920"/>
              <a:buFont typeface="Calibri"/>
              <a:buNone/>
            </a:pPr>
            <a:r>
              <a:rPr lang="en-US" sz="920">
                <a:solidFill>
                  <a:srgbClr val="6E5F50"/>
                </a:solidFill>
                <a:latin typeface="Calibri"/>
                <a:ea typeface="Calibri"/>
                <a:cs typeface="Calibri"/>
                <a:sym typeface="Calibri"/>
              </a:rPr>
              <a:t>Operación multisucursal validada y segunda panadería instanciada solo por configuración.</a:t>
            </a:r>
            <a:endParaRPr sz="920">
              <a:solidFill>
                <a:schemeClr val="dk1"/>
              </a:solidFill>
              <a:latin typeface="Calibri"/>
              <a:ea typeface="Calibri"/>
              <a:cs typeface="Calibri"/>
              <a:sym typeface="Calibri"/>
            </a:endParaRPr>
          </a:p>
        </p:txBody>
      </p:sp>
      <p:sp>
        <p:nvSpPr>
          <p:cNvPr id="347" name="Google Shape;347;p11"/>
          <p:cNvSpPr/>
          <p:nvPr/>
        </p:nvSpPr>
        <p:spPr>
          <a:xfrm>
            <a:off x="11457432" y="6419088"/>
            <a:ext cx="45720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6E5F50"/>
              </a:buClr>
              <a:buSzPts val="1000"/>
              <a:buFont typeface="Calibri"/>
              <a:buNone/>
            </a:pPr>
            <a:r>
              <a:rPr lang="en-US" sz="1000">
                <a:solidFill>
                  <a:srgbClr val="6E5F50"/>
                </a:solidFill>
                <a:latin typeface="Calibri"/>
                <a:ea typeface="Calibri"/>
                <a:cs typeface="Calibri"/>
                <a:sym typeface="Calibri"/>
              </a:rPr>
              <a:t>11</a:t>
            </a:r>
            <a:endParaRPr sz="1000">
              <a:solidFill>
                <a:schemeClr val="dk1"/>
              </a:solidFill>
              <a:latin typeface="Calibri"/>
              <a:ea typeface="Calibri"/>
              <a:cs typeface="Calibri"/>
              <a:sym typeface="Calibri"/>
            </a:endParaRPr>
          </a:p>
        </p:txBody>
      </p:sp>
      <p:sp>
        <p:nvSpPr>
          <p:cNvPr id="3" name="Google Shape;271;p10">
            <a:extLst>
              <a:ext uri="{FF2B5EF4-FFF2-40B4-BE49-F238E27FC236}">
                <a16:creationId xmlns:a16="http://schemas.microsoft.com/office/drawing/2014/main" id="{6A7DA3BB-303F-95E4-8A81-4FAFFE0FC550}"/>
              </a:ext>
            </a:extLst>
          </p:cNvPr>
          <p:cNvSpPr/>
          <p:nvPr/>
        </p:nvSpPr>
        <p:spPr>
          <a:xfrm>
            <a:off x="548640" y="320040"/>
            <a:ext cx="11091672" cy="6858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D9A441"/>
              </a:buClr>
              <a:buSzPts val="3000"/>
              <a:buFont typeface="Cambria"/>
              <a:buNone/>
            </a:pPr>
            <a:r>
              <a:rPr lang="en-US" sz="3000" b="1" i="0" u="none" strike="noStrike" cap="none" dirty="0" err="1">
                <a:solidFill>
                  <a:srgbClr val="D9A441"/>
                </a:solidFill>
                <a:latin typeface="Calibri"/>
                <a:ea typeface="Calibri"/>
                <a:cs typeface="Calibri"/>
                <a:sym typeface="Calibri"/>
              </a:rPr>
              <a:t>D</a:t>
            </a:r>
            <a:r>
              <a:rPr lang="en-US" sz="3000" b="1" i="0" u="none" strike="noStrike" cap="none" dirty="0" err="1">
                <a:solidFill>
                  <a:srgbClr val="4A2C1A"/>
                </a:solidFill>
                <a:latin typeface="Calibri"/>
                <a:ea typeface="Calibri"/>
                <a:cs typeface="Calibri"/>
                <a:sym typeface="Calibri"/>
              </a:rPr>
              <a:t>efinición</a:t>
            </a:r>
            <a:r>
              <a:rPr lang="en-US" sz="3000" b="1" i="0" u="none" strike="noStrike" cap="none" dirty="0">
                <a:solidFill>
                  <a:srgbClr val="4A2C1A"/>
                </a:solidFill>
                <a:latin typeface="Calibri"/>
                <a:ea typeface="Calibri"/>
                <a:cs typeface="Calibri"/>
                <a:sym typeface="Calibri"/>
              </a:rPr>
              <a:t> de sprints</a:t>
            </a:r>
            <a:endParaRPr sz="3000" i="0" u="none" strike="noStrike" cap="none" dirty="0">
              <a:solidFill>
                <a:srgbClr val="D9A441"/>
              </a:solidFill>
              <a:latin typeface="Calibri"/>
              <a:ea typeface="Calibri"/>
              <a:cs typeface="Calibri"/>
              <a:sym typeface="Calibri"/>
            </a:endParaRPr>
          </a:p>
        </p:txBody>
      </p:sp>
      <p:cxnSp>
        <p:nvCxnSpPr>
          <p:cNvPr id="5" name="Google Shape;379;p12">
            <a:extLst>
              <a:ext uri="{FF2B5EF4-FFF2-40B4-BE49-F238E27FC236}">
                <a16:creationId xmlns:a16="http://schemas.microsoft.com/office/drawing/2014/main" id="{112EA280-852D-216A-7E2F-91B82469A2C1}"/>
              </a:ext>
            </a:extLst>
          </p:cNvPr>
          <p:cNvCxnSpPr/>
          <p:nvPr/>
        </p:nvCxnSpPr>
        <p:spPr>
          <a:xfrm>
            <a:off x="4114800" y="2057400"/>
            <a:ext cx="201300" cy="0"/>
          </a:xfrm>
          <a:prstGeom prst="straightConnector1">
            <a:avLst/>
          </a:prstGeom>
          <a:noFill/>
          <a:ln w="19050" cap="flat" cmpd="sng">
            <a:solidFill>
              <a:srgbClr val="4A2C1A"/>
            </a:solidFill>
            <a:prstDash val="solid"/>
            <a:round/>
            <a:headEnd type="none" w="med" len="med"/>
            <a:tailEnd type="triangle" w="med" len="med"/>
          </a:ln>
        </p:spPr>
      </p:cxnSp>
      <p:cxnSp>
        <p:nvCxnSpPr>
          <p:cNvPr id="6" name="Google Shape;383;p12">
            <a:extLst>
              <a:ext uri="{FF2B5EF4-FFF2-40B4-BE49-F238E27FC236}">
                <a16:creationId xmlns:a16="http://schemas.microsoft.com/office/drawing/2014/main" id="{9B7FA0FC-5DFA-ED3F-1002-342D0F11223C}"/>
              </a:ext>
            </a:extLst>
          </p:cNvPr>
          <p:cNvCxnSpPr/>
          <p:nvPr/>
        </p:nvCxnSpPr>
        <p:spPr>
          <a:xfrm>
            <a:off x="4124508" y="3703325"/>
            <a:ext cx="201300" cy="0"/>
          </a:xfrm>
          <a:prstGeom prst="straightConnector1">
            <a:avLst/>
          </a:prstGeom>
          <a:noFill/>
          <a:ln w="19050" cap="flat" cmpd="sng">
            <a:solidFill>
              <a:srgbClr val="4A2C1A"/>
            </a:solidFill>
            <a:prstDash val="solid"/>
            <a:round/>
            <a:headEnd type="none" w="med" len="med"/>
            <a:tailEnd type="triangle" w="med" len="med"/>
          </a:ln>
        </p:spPr>
      </p:cxnSp>
      <p:cxnSp>
        <p:nvCxnSpPr>
          <p:cNvPr id="7" name="Google Shape;387;p12">
            <a:extLst>
              <a:ext uri="{FF2B5EF4-FFF2-40B4-BE49-F238E27FC236}">
                <a16:creationId xmlns:a16="http://schemas.microsoft.com/office/drawing/2014/main" id="{C861CB6D-82B6-E67D-9E9B-FA7EB072558F}"/>
              </a:ext>
            </a:extLst>
          </p:cNvPr>
          <p:cNvCxnSpPr/>
          <p:nvPr/>
        </p:nvCxnSpPr>
        <p:spPr>
          <a:xfrm>
            <a:off x="4114733" y="5349225"/>
            <a:ext cx="201300" cy="0"/>
          </a:xfrm>
          <a:prstGeom prst="straightConnector1">
            <a:avLst/>
          </a:prstGeom>
          <a:noFill/>
          <a:ln w="19050" cap="flat" cmpd="sng">
            <a:solidFill>
              <a:srgbClr val="4A2C1A"/>
            </a:solidFill>
            <a:prstDash val="solid"/>
            <a:round/>
            <a:headEnd type="none" w="med" len="med"/>
            <a:tailEnd type="triangle" w="med" len="med"/>
          </a:ln>
        </p:spPr>
      </p:cxnSp>
      <p:cxnSp>
        <p:nvCxnSpPr>
          <p:cNvPr id="8" name="Google Shape;380;p12">
            <a:extLst>
              <a:ext uri="{FF2B5EF4-FFF2-40B4-BE49-F238E27FC236}">
                <a16:creationId xmlns:a16="http://schemas.microsoft.com/office/drawing/2014/main" id="{3510138E-ADD5-B6B6-B64C-891F145CE105}"/>
              </a:ext>
            </a:extLst>
          </p:cNvPr>
          <p:cNvCxnSpPr/>
          <p:nvPr/>
        </p:nvCxnSpPr>
        <p:spPr>
          <a:xfrm>
            <a:off x="7882128" y="2057400"/>
            <a:ext cx="201300" cy="0"/>
          </a:xfrm>
          <a:prstGeom prst="straightConnector1">
            <a:avLst/>
          </a:prstGeom>
          <a:noFill/>
          <a:ln w="19050" cap="flat" cmpd="sng">
            <a:solidFill>
              <a:srgbClr val="4A2C1A"/>
            </a:solidFill>
            <a:prstDash val="solid"/>
            <a:round/>
            <a:headEnd type="none" w="med" len="med"/>
            <a:tailEnd type="triangle" w="med" len="med"/>
          </a:ln>
        </p:spPr>
      </p:cxnSp>
      <p:cxnSp>
        <p:nvCxnSpPr>
          <p:cNvPr id="9" name="Google Shape;384;p12">
            <a:extLst>
              <a:ext uri="{FF2B5EF4-FFF2-40B4-BE49-F238E27FC236}">
                <a16:creationId xmlns:a16="http://schemas.microsoft.com/office/drawing/2014/main" id="{E179C07A-2377-4C95-F8D9-EBC272B8A73D}"/>
              </a:ext>
            </a:extLst>
          </p:cNvPr>
          <p:cNvCxnSpPr/>
          <p:nvPr/>
        </p:nvCxnSpPr>
        <p:spPr>
          <a:xfrm>
            <a:off x="7882128" y="3703320"/>
            <a:ext cx="201300" cy="0"/>
          </a:xfrm>
          <a:prstGeom prst="straightConnector1">
            <a:avLst/>
          </a:prstGeom>
          <a:noFill/>
          <a:ln w="19050" cap="flat" cmpd="sng">
            <a:solidFill>
              <a:srgbClr val="4A2C1A"/>
            </a:solidFill>
            <a:prstDash val="solid"/>
            <a:round/>
            <a:headEnd type="none" w="med" len="med"/>
            <a:tailEnd type="triangle" w="med" len="med"/>
          </a:ln>
        </p:spPr>
      </p:cxnSp>
      <p:cxnSp>
        <p:nvCxnSpPr>
          <p:cNvPr id="10" name="Google Shape;386;p12">
            <a:extLst>
              <a:ext uri="{FF2B5EF4-FFF2-40B4-BE49-F238E27FC236}">
                <a16:creationId xmlns:a16="http://schemas.microsoft.com/office/drawing/2014/main" id="{52E105B6-B2E1-1BF1-DD6F-5233F97A6814}"/>
              </a:ext>
            </a:extLst>
          </p:cNvPr>
          <p:cNvCxnSpPr/>
          <p:nvPr/>
        </p:nvCxnSpPr>
        <p:spPr>
          <a:xfrm>
            <a:off x="7882066" y="5349233"/>
            <a:ext cx="201300" cy="0"/>
          </a:xfrm>
          <a:prstGeom prst="straightConnector1">
            <a:avLst/>
          </a:prstGeom>
          <a:noFill/>
          <a:ln w="19050" cap="flat" cmpd="sng">
            <a:solidFill>
              <a:srgbClr val="4A2C1A"/>
            </a:solidFill>
            <a:prstDash val="solid"/>
            <a:round/>
            <a:headEnd type="none" w="med" len="med"/>
            <a:tailEnd type="triangle" w="med" len="med"/>
          </a:ln>
        </p:spPr>
      </p:cxnSp>
      <p:cxnSp>
        <p:nvCxnSpPr>
          <p:cNvPr id="11" name="Google Shape;381;p12">
            <a:extLst>
              <a:ext uri="{FF2B5EF4-FFF2-40B4-BE49-F238E27FC236}">
                <a16:creationId xmlns:a16="http://schemas.microsoft.com/office/drawing/2014/main" id="{405AA474-0DB4-B4A6-A90C-FC98622B088C}"/>
              </a:ext>
            </a:extLst>
          </p:cNvPr>
          <p:cNvCxnSpPr/>
          <p:nvPr/>
        </p:nvCxnSpPr>
        <p:spPr>
          <a:xfrm>
            <a:off x="11649456" y="2057400"/>
            <a:ext cx="951000" cy="0"/>
          </a:xfrm>
          <a:prstGeom prst="straightConnector1">
            <a:avLst/>
          </a:prstGeom>
          <a:noFill/>
          <a:ln w="19050" cap="flat" cmpd="sng">
            <a:solidFill>
              <a:srgbClr val="4A2C1A"/>
            </a:solidFill>
            <a:prstDash val="solid"/>
            <a:round/>
            <a:headEnd type="none" w="med" len="med"/>
            <a:tailEnd type="triangle" w="med" len="med"/>
          </a:ln>
        </p:spPr>
      </p:cxnSp>
      <p:cxnSp>
        <p:nvCxnSpPr>
          <p:cNvPr id="12" name="Google Shape;382;p12">
            <a:extLst>
              <a:ext uri="{FF2B5EF4-FFF2-40B4-BE49-F238E27FC236}">
                <a16:creationId xmlns:a16="http://schemas.microsoft.com/office/drawing/2014/main" id="{D655317F-CAF6-F9AC-90CA-8B35A4563ED8}"/>
              </a:ext>
            </a:extLst>
          </p:cNvPr>
          <p:cNvCxnSpPr/>
          <p:nvPr/>
        </p:nvCxnSpPr>
        <p:spPr>
          <a:xfrm>
            <a:off x="-107922" y="3703325"/>
            <a:ext cx="674400" cy="0"/>
          </a:xfrm>
          <a:prstGeom prst="straightConnector1">
            <a:avLst/>
          </a:prstGeom>
          <a:noFill/>
          <a:ln w="19050" cap="flat" cmpd="sng">
            <a:solidFill>
              <a:srgbClr val="4A2C1A"/>
            </a:solidFill>
            <a:prstDash val="solid"/>
            <a:round/>
            <a:headEnd type="none" w="med" len="med"/>
            <a:tailEnd type="triangle" w="med" len="med"/>
          </a:ln>
        </p:spPr>
      </p:cxnSp>
      <p:cxnSp>
        <p:nvCxnSpPr>
          <p:cNvPr id="13" name="Google Shape;385;p12">
            <a:extLst>
              <a:ext uri="{FF2B5EF4-FFF2-40B4-BE49-F238E27FC236}">
                <a16:creationId xmlns:a16="http://schemas.microsoft.com/office/drawing/2014/main" id="{1C6C2BC8-634B-94BF-6B89-65D89724C40D}"/>
              </a:ext>
            </a:extLst>
          </p:cNvPr>
          <p:cNvCxnSpPr/>
          <p:nvPr/>
        </p:nvCxnSpPr>
        <p:spPr>
          <a:xfrm>
            <a:off x="11649456" y="3703325"/>
            <a:ext cx="951000" cy="0"/>
          </a:xfrm>
          <a:prstGeom prst="straightConnector1">
            <a:avLst/>
          </a:prstGeom>
          <a:noFill/>
          <a:ln w="19050" cap="flat" cmpd="sng">
            <a:solidFill>
              <a:srgbClr val="4A2C1A"/>
            </a:solidFill>
            <a:prstDash val="solid"/>
            <a:round/>
            <a:headEnd type="none" w="med" len="med"/>
            <a:tailEnd type="triangle" w="med" len="med"/>
          </a:ln>
        </p:spPr>
      </p:cxnSp>
      <p:cxnSp>
        <p:nvCxnSpPr>
          <p:cNvPr id="14" name="Google Shape;388;p12">
            <a:extLst>
              <a:ext uri="{FF2B5EF4-FFF2-40B4-BE49-F238E27FC236}">
                <a16:creationId xmlns:a16="http://schemas.microsoft.com/office/drawing/2014/main" id="{85CF6B10-8C79-EB85-6586-C8C48F358AE6}"/>
              </a:ext>
            </a:extLst>
          </p:cNvPr>
          <p:cNvCxnSpPr/>
          <p:nvPr/>
        </p:nvCxnSpPr>
        <p:spPr>
          <a:xfrm>
            <a:off x="-125747" y="5349225"/>
            <a:ext cx="674400" cy="0"/>
          </a:xfrm>
          <a:prstGeom prst="straightConnector1">
            <a:avLst/>
          </a:prstGeom>
          <a:noFill/>
          <a:ln w="19050" cap="flat" cmpd="sng">
            <a:solidFill>
              <a:srgbClr val="4A2C1A"/>
            </a:solidFill>
            <a:prstDash val="solid"/>
            <a:round/>
            <a:headEnd type="none" w="med" len="med"/>
            <a:tailEnd type="triangle" w="med" len="med"/>
          </a:ln>
        </p:spPr>
      </p:cxn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52"/>
        <p:cNvGrpSpPr/>
        <p:nvPr/>
      </p:nvGrpSpPr>
      <p:grpSpPr>
        <a:xfrm>
          <a:off x="0" y="0"/>
          <a:ext cx="0" cy="0"/>
          <a:chOff x="0" y="0"/>
          <a:chExt cx="0" cy="0"/>
        </a:xfrm>
      </p:grpSpPr>
      <p:sp>
        <p:nvSpPr>
          <p:cNvPr id="3" name="Google Shape;288;p11">
            <a:extLst>
              <a:ext uri="{FF2B5EF4-FFF2-40B4-BE49-F238E27FC236}">
                <a16:creationId xmlns:a16="http://schemas.microsoft.com/office/drawing/2014/main" id="{B2A41DFF-E419-37FB-8AF6-802FA37B8F22}"/>
              </a:ext>
            </a:extLst>
          </p:cNvPr>
          <p:cNvSpPr/>
          <p:nvPr/>
        </p:nvSpPr>
        <p:spPr>
          <a:xfrm>
            <a:off x="548640" y="320040"/>
            <a:ext cx="11091672" cy="6858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D9A441"/>
              </a:buClr>
              <a:buSzPts val="3000"/>
              <a:buFont typeface="Cambria"/>
              <a:buNone/>
            </a:pPr>
            <a:r>
              <a:rPr lang="en-US" sz="3000" b="1" i="0" u="none" strike="noStrike" cap="none" dirty="0" err="1">
                <a:solidFill>
                  <a:srgbClr val="D9A441"/>
                </a:solidFill>
                <a:latin typeface="Calibri"/>
                <a:ea typeface="Calibri"/>
                <a:cs typeface="Calibri"/>
                <a:sym typeface="Calibri"/>
              </a:rPr>
              <a:t>E</a:t>
            </a:r>
            <a:r>
              <a:rPr lang="en-US" sz="3000" b="1" i="0" u="none" strike="noStrike" cap="none" dirty="0" err="1">
                <a:solidFill>
                  <a:srgbClr val="4A2C1A"/>
                </a:solidFill>
                <a:latin typeface="Calibri"/>
                <a:ea typeface="Calibri"/>
                <a:cs typeface="Calibri"/>
                <a:sym typeface="Calibri"/>
              </a:rPr>
              <a:t>videncias</a:t>
            </a:r>
            <a:r>
              <a:rPr lang="en-US" sz="3000" b="1" i="0" u="none" strike="noStrike" cap="none" dirty="0">
                <a:solidFill>
                  <a:srgbClr val="4A2C1A"/>
                </a:solidFill>
                <a:latin typeface="Calibri"/>
                <a:ea typeface="Calibri"/>
                <a:cs typeface="Calibri"/>
                <a:sym typeface="Calibri"/>
              </a:rPr>
              <a:t> </a:t>
            </a:r>
            <a:r>
              <a:rPr lang="en-US" sz="3000" b="1" i="0" u="none" strike="noStrike" cap="none" dirty="0" err="1">
                <a:solidFill>
                  <a:srgbClr val="4A2C1A"/>
                </a:solidFill>
                <a:latin typeface="Calibri"/>
                <a:ea typeface="Calibri"/>
                <a:cs typeface="Calibri"/>
                <a:sym typeface="Calibri"/>
              </a:rPr>
              <a:t>generales</a:t>
            </a:r>
            <a:endParaRPr sz="3000" i="0" u="none" strike="noStrike" cap="none" dirty="0">
              <a:solidFill>
                <a:srgbClr val="4A2C1A"/>
              </a:solidFill>
              <a:latin typeface="Calibri"/>
              <a:ea typeface="Calibri"/>
              <a:cs typeface="Calibri"/>
              <a:sym typeface="Calibri"/>
            </a:endParaRPr>
          </a:p>
        </p:txBody>
      </p:sp>
      <p:sp>
        <p:nvSpPr>
          <p:cNvPr id="473" name="Google Shape;289;p11">
            <a:extLst>
              <a:ext uri="{FF2B5EF4-FFF2-40B4-BE49-F238E27FC236}">
                <a16:creationId xmlns:a16="http://schemas.microsoft.com/office/drawing/2014/main" id="{368E4281-A57B-13B8-43A2-0034874D5C82}"/>
              </a:ext>
            </a:extLst>
          </p:cNvPr>
          <p:cNvSpPr/>
          <p:nvPr/>
        </p:nvSpPr>
        <p:spPr>
          <a:xfrm>
            <a:off x="548640" y="1371600"/>
            <a:ext cx="3566160" cy="2240280"/>
          </a:xfrm>
          <a:prstGeom prst="roundRect">
            <a:avLst>
              <a:gd name="adj" fmla="val 4898"/>
            </a:avLst>
          </a:prstGeom>
          <a:solidFill>
            <a:srgbClr val="F6EF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290;p11">
            <a:extLst>
              <a:ext uri="{FF2B5EF4-FFF2-40B4-BE49-F238E27FC236}">
                <a16:creationId xmlns:a16="http://schemas.microsoft.com/office/drawing/2014/main" id="{8C8E7322-7C55-65A0-A0BF-B964BAE32E0C}"/>
              </a:ext>
            </a:extLst>
          </p:cNvPr>
          <p:cNvSpPr/>
          <p:nvPr/>
        </p:nvSpPr>
        <p:spPr>
          <a:xfrm>
            <a:off x="777240" y="1600200"/>
            <a:ext cx="731520" cy="731520"/>
          </a:xfrm>
          <a:prstGeom prst="ellipse">
            <a:avLst/>
          </a:prstGeom>
          <a:solidFill>
            <a:srgbClr val="D9A4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77" name="Google Shape;291;p11" descr="preencoded.png">
            <a:extLst>
              <a:ext uri="{FF2B5EF4-FFF2-40B4-BE49-F238E27FC236}">
                <a16:creationId xmlns:a16="http://schemas.microsoft.com/office/drawing/2014/main" id="{6140D275-9037-DE95-FB79-4E1A591D0330}"/>
              </a:ext>
            </a:extLst>
          </p:cNvPr>
          <p:cNvPicPr preferRelativeResize="0"/>
          <p:nvPr/>
        </p:nvPicPr>
        <p:blipFill rotWithShape="1">
          <a:blip r:embed="rId3">
            <a:alphaModFix/>
          </a:blip>
          <a:srcRect/>
          <a:stretch/>
        </p:blipFill>
        <p:spPr>
          <a:xfrm>
            <a:off x="967435" y="1790395"/>
            <a:ext cx="351130" cy="351130"/>
          </a:xfrm>
          <a:prstGeom prst="rect">
            <a:avLst/>
          </a:prstGeom>
          <a:noFill/>
          <a:ln>
            <a:noFill/>
          </a:ln>
        </p:spPr>
      </p:pic>
      <p:sp>
        <p:nvSpPr>
          <p:cNvPr id="479" name="Google Shape;292;p11">
            <a:extLst>
              <a:ext uri="{FF2B5EF4-FFF2-40B4-BE49-F238E27FC236}">
                <a16:creationId xmlns:a16="http://schemas.microsoft.com/office/drawing/2014/main" id="{3A9AE402-2735-B527-99E3-739AF4C19F15}"/>
              </a:ext>
            </a:extLst>
          </p:cNvPr>
          <p:cNvSpPr/>
          <p:nvPr/>
        </p:nvSpPr>
        <p:spPr>
          <a:xfrm>
            <a:off x="1645920" y="1627632"/>
            <a:ext cx="2377440" cy="6858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E2318"/>
              </a:buClr>
              <a:buSzPts val="1350"/>
              <a:buFont typeface="Calibri"/>
              <a:buNone/>
            </a:pPr>
            <a:r>
              <a:rPr lang="en-US" sz="2050" b="1" i="0" u="none" strike="noStrike" cap="none" dirty="0" err="1">
                <a:solidFill>
                  <a:srgbClr val="2E2318"/>
                </a:solidFill>
                <a:latin typeface="Calibri"/>
                <a:ea typeface="Calibri"/>
                <a:cs typeface="Calibri"/>
                <a:sym typeface="Calibri"/>
              </a:rPr>
              <a:t>Repositorio</a:t>
            </a:r>
            <a:r>
              <a:rPr lang="en-US" sz="2050" b="1" i="0" u="none" strike="noStrike" cap="none" dirty="0">
                <a:solidFill>
                  <a:srgbClr val="2E2318"/>
                </a:solidFill>
                <a:latin typeface="Calibri"/>
                <a:ea typeface="Calibri"/>
                <a:cs typeface="Calibri"/>
                <a:sym typeface="Calibri"/>
              </a:rPr>
              <a:t> </a:t>
            </a:r>
            <a:r>
              <a:rPr lang="en-US" sz="2050" b="1" dirty="0">
                <a:solidFill>
                  <a:srgbClr val="2E2318"/>
                </a:solidFill>
                <a:latin typeface="Calibri"/>
                <a:ea typeface="Calibri"/>
                <a:cs typeface="Calibri"/>
                <a:sym typeface="Calibri"/>
              </a:rPr>
              <a:t>y</a:t>
            </a:r>
            <a:r>
              <a:rPr lang="en-US" sz="2050" b="1" i="0" u="none" strike="noStrike" cap="none" dirty="0">
                <a:solidFill>
                  <a:srgbClr val="2E2318"/>
                </a:solidFill>
                <a:latin typeface="Calibri"/>
                <a:ea typeface="Calibri"/>
                <a:cs typeface="Calibri"/>
                <a:sym typeface="Calibri"/>
              </a:rPr>
              <a:t> CI</a:t>
            </a:r>
            <a:endParaRPr sz="2050" b="0" i="0" u="none" strike="noStrike" cap="none" dirty="0">
              <a:solidFill>
                <a:schemeClr val="dk1"/>
              </a:solidFill>
              <a:latin typeface="Calibri"/>
              <a:ea typeface="Calibri"/>
              <a:cs typeface="Calibri"/>
              <a:sym typeface="Calibri"/>
            </a:endParaRPr>
          </a:p>
        </p:txBody>
      </p:sp>
      <p:sp>
        <p:nvSpPr>
          <p:cNvPr id="481" name="Google Shape;293;p11">
            <a:extLst>
              <a:ext uri="{FF2B5EF4-FFF2-40B4-BE49-F238E27FC236}">
                <a16:creationId xmlns:a16="http://schemas.microsoft.com/office/drawing/2014/main" id="{67A9C065-BB25-BEEB-CA5F-09190DECE493}"/>
              </a:ext>
            </a:extLst>
          </p:cNvPr>
          <p:cNvSpPr/>
          <p:nvPr/>
        </p:nvSpPr>
        <p:spPr>
          <a:xfrm>
            <a:off x="804672" y="2450592"/>
            <a:ext cx="3108960" cy="10515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E5F50"/>
              </a:buClr>
              <a:buSzPts val="1130"/>
              <a:buFont typeface="Calibri"/>
              <a:buNone/>
            </a:pPr>
            <a:r>
              <a:rPr lang="en-US" sz="1430" b="0" i="0" u="none" strike="noStrike" cap="none">
                <a:solidFill>
                  <a:srgbClr val="6E5F50"/>
                </a:solidFill>
                <a:latin typeface="Calibri"/>
                <a:ea typeface="Calibri"/>
                <a:cs typeface="Calibri"/>
                <a:sym typeface="Calibri"/>
              </a:rPr>
              <a:t>Historial de ramas, revisiones y pruebas ejecutadas en cada cambio: el proceso, no solo el resultado.</a:t>
            </a:r>
            <a:endParaRPr sz="1430" b="0" i="0" u="none" strike="noStrike" cap="none">
              <a:solidFill>
                <a:schemeClr val="dk1"/>
              </a:solidFill>
              <a:latin typeface="Calibri"/>
              <a:ea typeface="Calibri"/>
              <a:cs typeface="Calibri"/>
              <a:sym typeface="Calibri"/>
            </a:endParaRPr>
          </a:p>
        </p:txBody>
      </p:sp>
      <p:sp>
        <p:nvSpPr>
          <p:cNvPr id="483" name="Google Shape;294;p11">
            <a:extLst>
              <a:ext uri="{FF2B5EF4-FFF2-40B4-BE49-F238E27FC236}">
                <a16:creationId xmlns:a16="http://schemas.microsoft.com/office/drawing/2014/main" id="{034F0747-2AF2-E840-6540-05B4D7A105A3}"/>
              </a:ext>
            </a:extLst>
          </p:cNvPr>
          <p:cNvSpPr/>
          <p:nvPr/>
        </p:nvSpPr>
        <p:spPr>
          <a:xfrm>
            <a:off x="4407408" y="1371600"/>
            <a:ext cx="3566160" cy="2240280"/>
          </a:xfrm>
          <a:prstGeom prst="roundRect">
            <a:avLst>
              <a:gd name="adj" fmla="val 4898"/>
            </a:avLst>
          </a:prstGeom>
          <a:solidFill>
            <a:srgbClr val="F6EF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295;p11">
            <a:extLst>
              <a:ext uri="{FF2B5EF4-FFF2-40B4-BE49-F238E27FC236}">
                <a16:creationId xmlns:a16="http://schemas.microsoft.com/office/drawing/2014/main" id="{C778AC81-60A0-F07F-11AE-AE995A2777DE}"/>
              </a:ext>
            </a:extLst>
          </p:cNvPr>
          <p:cNvSpPr/>
          <p:nvPr/>
        </p:nvSpPr>
        <p:spPr>
          <a:xfrm>
            <a:off x="4636008" y="1600200"/>
            <a:ext cx="731520" cy="731520"/>
          </a:xfrm>
          <a:prstGeom prst="ellipse">
            <a:avLst/>
          </a:prstGeom>
          <a:solidFill>
            <a:srgbClr val="D9A4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87" name="Google Shape;296;p11" descr="preencoded.png">
            <a:extLst>
              <a:ext uri="{FF2B5EF4-FFF2-40B4-BE49-F238E27FC236}">
                <a16:creationId xmlns:a16="http://schemas.microsoft.com/office/drawing/2014/main" id="{E17AFA78-FE21-F6ED-C647-41F29732B2BF}"/>
              </a:ext>
            </a:extLst>
          </p:cNvPr>
          <p:cNvPicPr preferRelativeResize="0"/>
          <p:nvPr/>
        </p:nvPicPr>
        <p:blipFill rotWithShape="1">
          <a:blip r:embed="rId4">
            <a:alphaModFix/>
          </a:blip>
          <a:srcRect/>
          <a:stretch/>
        </p:blipFill>
        <p:spPr>
          <a:xfrm>
            <a:off x="4826203" y="1790395"/>
            <a:ext cx="351130" cy="351130"/>
          </a:xfrm>
          <a:prstGeom prst="rect">
            <a:avLst/>
          </a:prstGeom>
          <a:noFill/>
          <a:ln>
            <a:noFill/>
          </a:ln>
        </p:spPr>
      </p:pic>
      <p:sp>
        <p:nvSpPr>
          <p:cNvPr id="489" name="Google Shape;297;p11">
            <a:extLst>
              <a:ext uri="{FF2B5EF4-FFF2-40B4-BE49-F238E27FC236}">
                <a16:creationId xmlns:a16="http://schemas.microsoft.com/office/drawing/2014/main" id="{2899EE4E-BF93-7F46-595B-CB4B1496FDAE}"/>
              </a:ext>
            </a:extLst>
          </p:cNvPr>
          <p:cNvSpPr/>
          <p:nvPr/>
        </p:nvSpPr>
        <p:spPr>
          <a:xfrm>
            <a:off x="5504688" y="1627632"/>
            <a:ext cx="2377440" cy="6858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E2318"/>
              </a:buClr>
              <a:buSzPts val="1350"/>
              <a:buFont typeface="Calibri"/>
              <a:buNone/>
            </a:pPr>
            <a:r>
              <a:rPr lang="en-US" sz="1850" b="1" i="0" u="none" strike="noStrike" cap="none">
                <a:solidFill>
                  <a:srgbClr val="2E2318"/>
                </a:solidFill>
                <a:latin typeface="Calibri"/>
                <a:ea typeface="Calibri"/>
                <a:cs typeface="Calibri"/>
                <a:sym typeface="Calibri"/>
              </a:rPr>
              <a:t>Backlog e informes por sprint</a:t>
            </a:r>
            <a:endParaRPr sz="1850" b="0" i="0" u="none" strike="noStrike" cap="none">
              <a:solidFill>
                <a:schemeClr val="dk1"/>
              </a:solidFill>
              <a:latin typeface="Calibri"/>
              <a:ea typeface="Calibri"/>
              <a:cs typeface="Calibri"/>
              <a:sym typeface="Calibri"/>
            </a:endParaRPr>
          </a:p>
        </p:txBody>
      </p:sp>
      <p:sp>
        <p:nvSpPr>
          <p:cNvPr id="491" name="Google Shape;298;p11">
            <a:extLst>
              <a:ext uri="{FF2B5EF4-FFF2-40B4-BE49-F238E27FC236}">
                <a16:creationId xmlns:a16="http://schemas.microsoft.com/office/drawing/2014/main" id="{A1E757C3-0350-64B0-0A6E-0A4C864A3DC7}"/>
              </a:ext>
            </a:extLst>
          </p:cNvPr>
          <p:cNvSpPr/>
          <p:nvPr/>
        </p:nvSpPr>
        <p:spPr>
          <a:xfrm>
            <a:off x="4663440" y="2450592"/>
            <a:ext cx="3108960" cy="10515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E5F50"/>
              </a:buClr>
              <a:buSzPts val="1130"/>
              <a:buFont typeface="Calibri"/>
              <a:buNone/>
            </a:pPr>
            <a:r>
              <a:rPr lang="en-US" sz="1430" b="0" i="0" u="none" strike="noStrike" cap="none">
                <a:solidFill>
                  <a:srgbClr val="6E5F50"/>
                </a:solidFill>
                <a:latin typeface="Calibri"/>
                <a:ea typeface="Calibri"/>
                <a:cs typeface="Calibri"/>
                <a:sym typeface="Calibri"/>
              </a:rPr>
              <a:t>Tablero priorizado y reporte de cada iteración con avance y decisiones.</a:t>
            </a:r>
            <a:endParaRPr sz="1430" b="0" i="0" u="none" strike="noStrike" cap="none">
              <a:solidFill>
                <a:schemeClr val="dk1"/>
              </a:solidFill>
              <a:latin typeface="Calibri"/>
              <a:ea typeface="Calibri"/>
              <a:cs typeface="Calibri"/>
              <a:sym typeface="Calibri"/>
            </a:endParaRPr>
          </a:p>
        </p:txBody>
      </p:sp>
      <p:sp>
        <p:nvSpPr>
          <p:cNvPr id="493" name="Google Shape;299;p11">
            <a:extLst>
              <a:ext uri="{FF2B5EF4-FFF2-40B4-BE49-F238E27FC236}">
                <a16:creationId xmlns:a16="http://schemas.microsoft.com/office/drawing/2014/main" id="{9E772894-3408-8C8B-D5B3-81A8E26B4214}"/>
              </a:ext>
            </a:extLst>
          </p:cNvPr>
          <p:cNvSpPr/>
          <p:nvPr/>
        </p:nvSpPr>
        <p:spPr>
          <a:xfrm>
            <a:off x="8266176" y="1371600"/>
            <a:ext cx="3566160" cy="2240280"/>
          </a:xfrm>
          <a:prstGeom prst="roundRect">
            <a:avLst>
              <a:gd name="adj" fmla="val 4898"/>
            </a:avLst>
          </a:prstGeom>
          <a:solidFill>
            <a:srgbClr val="F6EF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300;p11">
            <a:extLst>
              <a:ext uri="{FF2B5EF4-FFF2-40B4-BE49-F238E27FC236}">
                <a16:creationId xmlns:a16="http://schemas.microsoft.com/office/drawing/2014/main" id="{3F22F5A4-1E7D-6DCF-859B-94E45147C94C}"/>
              </a:ext>
            </a:extLst>
          </p:cNvPr>
          <p:cNvSpPr/>
          <p:nvPr/>
        </p:nvSpPr>
        <p:spPr>
          <a:xfrm>
            <a:off x="8494776" y="1600200"/>
            <a:ext cx="731520" cy="731520"/>
          </a:xfrm>
          <a:prstGeom prst="ellipse">
            <a:avLst/>
          </a:prstGeom>
          <a:solidFill>
            <a:srgbClr val="D9A4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97" name="Google Shape;301;p11" descr="preencoded.png">
            <a:extLst>
              <a:ext uri="{FF2B5EF4-FFF2-40B4-BE49-F238E27FC236}">
                <a16:creationId xmlns:a16="http://schemas.microsoft.com/office/drawing/2014/main" id="{EFC16088-B85A-0771-2F30-39B104E36E59}"/>
              </a:ext>
            </a:extLst>
          </p:cNvPr>
          <p:cNvPicPr preferRelativeResize="0"/>
          <p:nvPr/>
        </p:nvPicPr>
        <p:blipFill rotWithShape="1">
          <a:blip r:embed="rId5">
            <a:alphaModFix/>
          </a:blip>
          <a:srcRect/>
          <a:stretch/>
        </p:blipFill>
        <p:spPr>
          <a:xfrm>
            <a:off x="8684971" y="1790395"/>
            <a:ext cx="351130" cy="351130"/>
          </a:xfrm>
          <a:prstGeom prst="rect">
            <a:avLst/>
          </a:prstGeom>
          <a:noFill/>
          <a:ln>
            <a:noFill/>
          </a:ln>
        </p:spPr>
      </p:pic>
      <p:sp>
        <p:nvSpPr>
          <p:cNvPr id="499" name="Google Shape;302;p11">
            <a:extLst>
              <a:ext uri="{FF2B5EF4-FFF2-40B4-BE49-F238E27FC236}">
                <a16:creationId xmlns:a16="http://schemas.microsoft.com/office/drawing/2014/main" id="{06686509-4DF2-C156-6740-BD54BB330C80}"/>
              </a:ext>
            </a:extLst>
          </p:cNvPr>
          <p:cNvSpPr/>
          <p:nvPr/>
        </p:nvSpPr>
        <p:spPr>
          <a:xfrm>
            <a:off x="9363456" y="1627632"/>
            <a:ext cx="2377440" cy="6858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E2318"/>
              </a:buClr>
              <a:buSzPts val="1350"/>
              <a:buFont typeface="Calibri"/>
              <a:buNone/>
            </a:pPr>
            <a:r>
              <a:rPr lang="en-US" sz="1850" b="1" i="0" u="none" strike="noStrike" cap="none">
                <a:solidFill>
                  <a:srgbClr val="2E2318"/>
                </a:solidFill>
                <a:latin typeface="Calibri"/>
                <a:ea typeface="Calibri"/>
                <a:cs typeface="Calibri"/>
                <a:sym typeface="Calibri"/>
              </a:rPr>
              <a:t>Arquitectura documentada</a:t>
            </a:r>
            <a:endParaRPr sz="1850" b="0" i="0" u="none" strike="noStrike" cap="none">
              <a:solidFill>
                <a:schemeClr val="dk1"/>
              </a:solidFill>
              <a:latin typeface="Calibri"/>
              <a:ea typeface="Calibri"/>
              <a:cs typeface="Calibri"/>
              <a:sym typeface="Calibri"/>
            </a:endParaRPr>
          </a:p>
        </p:txBody>
      </p:sp>
      <p:sp>
        <p:nvSpPr>
          <p:cNvPr id="501" name="Google Shape;303;p11">
            <a:extLst>
              <a:ext uri="{FF2B5EF4-FFF2-40B4-BE49-F238E27FC236}">
                <a16:creationId xmlns:a16="http://schemas.microsoft.com/office/drawing/2014/main" id="{9EDD068F-BADD-0C8D-882A-6120270C505E}"/>
              </a:ext>
            </a:extLst>
          </p:cNvPr>
          <p:cNvSpPr/>
          <p:nvPr/>
        </p:nvSpPr>
        <p:spPr>
          <a:xfrm>
            <a:off x="8522208" y="2450592"/>
            <a:ext cx="3108960" cy="10515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E5F50"/>
              </a:buClr>
              <a:buSzPts val="1130"/>
              <a:buFont typeface="Calibri"/>
              <a:buNone/>
            </a:pPr>
            <a:r>
              <a:rPr lang="en-US" sz="1430" b="0" i="0" u="none" strike="noStrike" cap="none">
                <a:solidFill>
                  <a:srgbClr val="6E5F50"/>
                </a:solidFill>
                <a:latin typeface="Calibri"/>
                <a:ea typeface="Calibri"/>
                <a:cs typeface="Calibri"/>
                <a:sym typeface="Calibri"/>
              </a:rPr>
              <a:t>Modelo de datos y decisiones de diseño con la alternativa descartada y su porqué.</a:t>
            </a:r>
            <a:endParaRPr sz="1430" b="0" i="0" u="none" strike="noStrike" cap="none">
              <a:solidFill>
                <a:schemeClr val="dk1"/>
              </a:solidFill>
              <a:latin typeface="Calibri"/>
              <a:ea typeface="Calibri"/>
              <a:cs typeface="Calibri"/>
              <a:sym typeface="Calibri"/>
            </a:endParaRPr>
          </a:p>
        </p:txBody>
      </p:sp>
      <p:sp>
        <p:nvSpPr>
          <p:cNvPr id="503" name="Google Shape;304;p11">
            <a:extLst>
              <a:ext uri="{FF2B5EF4-FFF2-40B4-BE49-F238E27FC236}">
                <a16:creationId xmlns:a16="http://schemas.microsoft.com/office/drawing/2014/main" id="{EAB5AF3E-AA7F-7914-7C88-6E416693ACBC}"/>
              </a:ext>
            </a:extLst>
          </p:cNvPr>
          <p:cNvSpPr/>
          <p:nvPr/>
        </p:nvSpPr>
        <p:spPr>
          <a:xfrm>
            <a:off x="548640" y="3840480"/>
            <a:ext cx="3566160" cy="2240280"/>
          </a:xfrm>
          <a:prstGeom prst="roundRect">
            <a:avLst>
              <a:gd name="adj" fmla="val 4898"/>
            </a:avLst>
          </a:prstGeom>
          <a:solidFill>
            <a:srgbClr val="F6EF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305;p11">
            <a:extLst>
              <a:ext uri="{FF2B5EF4-FFF2-40B4-BE49-F238E27FC236}">
                <a16:creationId xmlns:a16="http://schemas.microsoft.com/office/drawing/2014/main" id="{B40E84B3-AD1A-721A-31E9-E11DD1B5E8AC}"/>
              </a:ext>
            </a:extLst>
          </p:cNvPr>
          <p:cNvSpPr/>
          <p:nvPr/>
        </p:nvSpPr>
        <p:spPr>
          <a:xfrm>
            <a:off x="777240" y="4069080"/>
            <a:ext cx="731520" cy="731520"/>
          </a:xfrm>
          <a:prstGeom prst="ellipse">
            <a:avLst/>
          </a:prstGeom>
          <a:solidFill>
            <a:srgbClr val="D9A4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07" name="Google Shape;306;p11" descr="preencoded.png">
            <a:extLst>
              <a:ext uri="{FF2B5EF4-FFF2-40B4-BE49-F238E27FC236}">
                <a16:creationId xmlns:a16="http://schemas.microsoft.com/office/drawing/2014/main" id="{CC0892AC-CBBC-147C-3D4D-A8E722861715}"/>
              </a:ext>
            </a:extLst>
          </p:cNvPr>
          <p:cNvPicPr preferRelativeResize="0"/>
          <p:nvPr/>
        </p:nvPicPr>
        <p:blipFill rotWithShape="1">
          <a:blip r:embed="rId6">
            <a:alphaModFix/>
          </a:blip>
          <a:srcRect/>
          <a:stretch/>
        </p:blipFill>
        <p:spPr>
          <a:xfrm>
            <a:off x="967435" y="4259275"/>
            <a:ext cx="351130" cy="351130"/>
          </a:xfrm>
          <a:prstGeom prst="rect">
            <a:avLst/>
          </a:prstGeom>
          <a:noFill/>
          <a:ln>
            <a:noFill/>
          </a:ln>
        </p:spPr>
      </p:pic>
      <p:sp>
        <p:nvSpPr>
          <p:cNvPr id="509" name="Google Shape;307;p11">
            <a:extLst>
              <a:ext uri="{FF2B5EF4-FFF2-40B4-BE49-F238E27FC236}">
                <a16:creationId xmlns:a16="http://schemas.microsoft.com/office/drawing/2014/main" id="{E01676CF-2941-28F7-82E3-638ABA259445}"/>
              </a:ext>
            </a:extLst>
          </p:cNvPr>
          <p:cNvSpPr/>
          <p:nvPr/>
        </p:nvSpPr>
        <p:spPr>
          <a:xfrm>
            <a:off x="1645920" y="4096512"/>
            <a:ext cx="2377440" cy="6858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E2318"/>
              </a:buClr>
              <a:buSzPts val="1350"/>
              <a:buFont typeface="Calibri"/>
              <a:buNone/>
            </a:pPr>
            <a:r>
              <a:rPr lang="en-US" sz="1850" b="1" i="0" u="none" strike="noStrike" cap="none">
                <a:solidFill>
                  <a:srgbClr val="2E2318"/>
                </a:solidFill>
                <a:latin typeface="Calibri"/>
                <a:ea typeface="Calibri"/>
                <a:cs typeface="Calibri"/>
                <a:sym typeface="Calibri"/>
              </a:rPr>
              <a:t>Plan y reporte de pruebas</a:t>
            </a:r>
            <a:endParaRPr sz="1850" b="0" i="0" u="none" strike="noStrike" cap="none">
              <a:solidFill>
                <a:schemeClr val="dk1"/>
              </a:solidFill>
              <a:latin typeface="Calibri"/>
              <a:ea typeface="Calibri"/>
              <a:cs typeface="Calibri"/>
              <a:sym typeface="Calibri"/>
            </a:endParaRPr>
          </a:p>
        </p:txBody>
      </p:sp>
      <p:sp>
        <p:nvSpPr>
          <p:cNvPr id="511" name="Google Shape;308;p11">
            <a:extLst>
              <a:ext uri="{FF2B5EF4-FFF2-40B4-BE49-F238E27FC236}">
                <a16:creationId xmlns:a16="http://schemas.microsoft.com/office/drawing/2014/main" id="{BC697857-C999-7BF9-9793-4BA8DE3EE6EE}"/>
              </a:ext>
            </a:extLst>
          </p:cNvPr>
          <p:cNvSpPr/>
          <p:nvPr/>
        </p:nvSpPr>
        <p:spPr>
          <a:xfrm>
            <a:off x="804672" y="4919472"/>
            <a:ext cx="3108960" cy="10515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E5F50"/>
              </a:buClr>
              <a:buSzPts val="1130"/>
              <a:buFont typeface="Calibri"/>
              <a:buNone/>
            </a:pPr>
            <a:r>
              <a:rPr lang="en-US" sz="1430" b="0" i="0" u="none" strike="noStrike" cap="none">
                <a:solidFill>
                  <a:srgbClr val="6E5F50"/>
                </a:solidFill>
                <a:latin typeface="Calibri"/>
                <a:ea typeface="Calibri"/>
                <a:cs typeface="Calibri"/>
                <a:sym typeface="Calibri"/>
              </a:rPr>
              <a:t>Dominio, sincronización offline y controladores contra simuladores.</a:t>
            </a:r>
            <a:endParaRPr sz="1430" b="0" i="0" u="none" strike="noStrike" cap="none">
              <a:solidFill>
                <a:schemeClr val="dk1"/>
              </a:solidFill>
              <a:latin typeface="Calibri"/>
              <a:ea typeface="Calibri"/>
              <a:cs typeface="Calibri"/>
              <a:sym typeface="Calibri"/>
            </a:endParaRPr>
          </a:p>
        </p:txBody>
      </p:sp>
      <p:sp>
        <p:nvSpPr>
          <p:cNvPr id="513" name="Google Shape;309;p11">
            <a:extLst>
              <a:ext uri="{FF2B5EF4-FFF2-40B4-BE49-F238E27FC236}">
                <a16:creationId xmlns:a16="http://schemas.microsoft.com/office/drawing/2014/main" id="{29CBAFC5-B687-7BEF-3FD0-9C6D2085E34C}"/>
              </a:ext>
            </a:extLst>
          </p:cNvPr>
          <p:cNvSpPr/>
          <p:nvPr/>
        </p:nvSpPr>
        <p:spPr>
          <a:xfrm>
            <a:off x="4407408" y="3840480"/>
            <a:ext cx="3566160" cy="2240280"/>
          </a:xfrm>
          <a:prstGeom prst="roundRect">
            <a:avLst>
              <a:gd name="adj" fmla="val 4898"/>
            </a:avLst>
          </a:prstGeom>
          <a:solidFill>
            <a:srgbClr val="F6EF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310;p11">
            <a:extLst>
              <a:ext uri="{FF2B5EF4-FFF2-40B4-BE49-F238E27FC236}">
                <a16:creationId xmlns:a16="http://schemas.microsoft.com/office/drawing/2014/main" id="{25F699B6-41D6-8E40-15D3-D34FA89B28EB}"/>
              </a:ext>
            </a:extLst>
          </p:cNvPr>
          <p:cNvSpPr/>
          <p:nvPr/>
        </p:nvSpPr>
        <p:spPr>
          <a:xfrm>
            <a:off x="4636008" y="4069080"/>
            <a:ext cx="731520" cy="731520"/>
          </a:xfrm>
          <a:prstGeom prst="ellipse">
            <a:avLst/>
          </a:prstGeom>
          <a:solidFill>
            <a:srgbClr val="D9A4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17" name="Google Shape;311;p11" descr="preencoded.png">
            <a:extLst>
              <a:ext uri="{FF2B5EF4-FFF2-40B4-BE49-F238E27FC236}">
                <a16:creationId xmlns:a16="http://schemas.microsoft.com/office/drawing/2014/main" id="{628DA5E2-C344-5F3E-6BA6-A8ADB59BAB00}"/>
              </a:ext>
            </a:extLst>
          </p:cNvPr>
          <p:cNvPicPr preferRelativeResize="0"/>
          <p:nvPr/>
        </p:nvPicPr>
        <p:blipFill rotWithShape="1">
          <a:blip r:embed="rId7">
            <a:alphaModFix/>
          </a:blip>
          <a:srcRect/>
          <a:stretch/>
        </p:blipFill>
        <p:spPr>
          <a:xfrm>
            <a:off x="4826203" y="4259275"/>
            <a:ext cx="351130" cy="351130"/>
          </a:xfrm>
          <a:prstGeom prst="rect">
            <a:avLst/>
          </a:prstGeom>
          <a:noFill/>
          <a:ln>
            <a:noFill/>
          </a:ln>
        </p:spPr>
      </p:pic>
      <p:sp>
        <p:nvSpPr>
          <p:cNvPr id="519" name="Google Shape;312;p11">
            <a:extLst>
              <a:ext uri="{FF2B5EF4-FFF2-40B4-BE49-F238E27FC236}">
                <a16:creationId xmlns:a16="http://schemas.microsoft.com/office/drawing/2014/main" id="{05F30133-1711-C53A-5B4A-A03B002B5F05}"/>
              </a:ext>
            </a:extLst>
          </p:cNvPr>
          <p:cNvSpPr/>
          <p:nvPr/>
        </p:nvSpPr>
        <p:spPr>
          <a:xfrm>
            <a:off x="5504688" y="4096512"/>
            <a:ext cx="2377440" cy="6858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E2318"/>
              </a:buClr>
              <a:buSzPts val="1350"/>
              <a:buFont typeface="Calibri"/>
              <a:buNone/>
            </a:pPr>
            <a:r>
              <a:rPr lang="en-US" sz="1850" b="1" i="0" u="none" strike="noStrike" cap="none">
                <a:solidFill>
                  <a:srgbClr val="2E2318"/>
                </a:solidFill>
                <a:latin typeface="Calibri"/>
                <a:ea typeface="Calibri"/>
                <a:cs typeface="Calibri"/>
                <a:sym typeface="Calibri"/>
              </a:rPr>
              <a:t>Balanza real en video</a:t>
            </a:r>
            <a:endParaRPr sz="1850" b="0" i="0" u="none" strike="noStrike" cap="none">
              <a:solidFill>
                <a:schemeClr val="dk1"/>
              </a:solidFill>
              <a:latin typeface="Calibri"/>
              <a:ea typeface="Calibri"/>
              <a:cs typeface="Calibri"/>
              <a:sym typeface="Calibri"/>
            </a:endParaRPr>
          </a:p>
        </p:txBody>
      </p:sp>
      <p:sp>
        <p:nvSpPr>
          <p:cNvPr id="521" name="Google Shape;313;p11">
            <a:extLst>
              <a:ext uri="{FF2B5EF4-FFF2-40B4-BE49-F238E27FC236}">
                <a16:creationId xmlns:a16="http://schemas.microsoft.com/office/drawing/2014/main" id="{63BBAEBF-FE27-0CA2-A568-14AB9E5952BB}"/>
              </a:ext>
            </a:extLst>
          </p:cNvPr>
          <p:cNvSpPr/>
          <p:nvPr/>
        </p:nvSpPr>
        <p:spPr>
          <a:xfrm>
            <a:off x="4663440" y="4919472"/>
            <a:ext cx="3108960" cy="10515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E5F50"/>
              </a:buClr>
              <a:buSzPts val="1130"/>
              <a:buFont typeface="Calibri"/>
              <a:buNone/>
            </a:pPr>
            <a:r>
              <a:rPr lang="en-US" sz="1430" b="0" i="0" u="none" strike="noStrike" cap="none">
                <a:solidFill>
                  <a:srgbClr val="6E5F50"/>
                </a:solidFill>
                <a:latin typeface="Calibri"/>
                <a:ea typeface="Calibri"/>
                <a:cs typeface="Calibri"/>
                <a:sym typeface="Calibri"/>
              </a:rPr>
              <a:t>Grabación de la lectura de peso + cambio de controlador en vivo durante la defensa.</a:t>
            </a:r>
            <a:endParaRPr sz="1430" b="0" i="0" u="none" strike="noStrike" cap="none">
              <a:solidFill>
                <a:schemeClr val="dk1"/>
              </a:solidFill>
              <a:latin typeface="Calibri"/>
              <a:ea typeface="Calibri"/>
              <a:cs typeface="Calibri"/>
              <a:sym typeface="Calibri"/>
            </a:endParaRPr>
          </a:p>
        </p:txBody>
      </p:sp>
      <p:sp>
        <p:nvSpPr>
          <p:cNvPr id="523" name="Google Shape;314;p11">
            <a:extLst>
              <a:ext uri="{FF2B5EF4-FFF2-40B4-BE49-F238E27FC236}">
                <a16:creationId xmlns:a16="http://schemas.microsoft.com/office/drawing/2014/main" id="{148A118E-CC53-6751-4386-511BE4B8CAAE}"/>
              </a:ext>
            </a:extLst>
          </p:cNvPr>
          <p:cNvSpPr/>
          <p:nvPr/>
        </p:nvSpPr>
        <p:spPr>
          <a:xfrm>
            <a:off x="8266176" y="3840480"/>
            <a:ext cx="3566160" cy="2240280"/>
          </a:xfrm>
          <a:prstGeom prst="roundRect">
            <a:avLst>
              <a:gd name="adj" fmla="val 4898"/>
            </a:avLst>
          </a:prstGeom>
          <a:solidFill>
            <a:srgbClr val="F6EF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315;p11">
            <a:extLst>
              <a:ext uri="{FF2B5EF4-FFF2-40B4-BE49-F238E27FC236}">
                <a16:creationId xmlns:a16="http://schemas.microsoft.com/office/drawing/2014/main" id="{6DC72747-83B5-9B3A-6084-92C746AFCA7E}"/>
              </a:ext>
            </a:extLst>
          </p:cNvPr>
          <p:cNvSpPr/>
          <p:nvPr/>
        </p:nvSpPr>
        <p:spPr>
          <a:xfrm>
            <a:off x="8494776" y="4069080"/>
            <a:ext cx="731520" cy="731520"/>
          </a:xfrm>
          <a:prstGeom prst="ellipse">
            <a:avLst/>
          </a:prstGeom>
          <a:solidFill>
            <a:srgbClr val="D9A4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27" name="Google Shape;316;p11" descr="preencoded.png">
            <a:extLst>
              <a:ext uri="{FF2B5EF4-FFF2-40B4-BE49-F238E27FC236}">
                <a16:creationId xmlns:a16="http://schemas.microsoft.com/office/drawing/2014/main" id="{9F019755-0727-15BD-1B54-75D161067195}"/>
              </a:ext>
            </a:extLst>
          </p:cNvPr>
          <p:cNvPicPr preferRelativeResize="0"/>
          <p:nvPr/>
        </p:nvPicPr>
        <p:blipFill rotWithShape="1">
          <a:blip r:embed="rId8">
            <a:alphaModFix/>
          </a:blip>
          <a:srcRect/>
          <a:stretch/>
        </p:blipFill>
        <p:spPr>
          <a:xfrm>
            <a:off x="8684971" y="4259275"/>
            <a:ext cx="351130" cy="351130"/>
          </a:xfrm>
          <a:prstGeom prst="rect">
            <a:avLst/>
          </a:prstGeom>
          <a:noFill/>
          <a:ln>
            <a:noFill/>
          </a:ln>
        </p:spPr>
      </p:pic>
      <p:sp>
        <p:nvSpPr>
          <p:cNvPr id="529" name="Google Shape;317;p11">
            <a:extLst>
              <a:ext uri="{FF2B5EF4-FFF2-40B4-BE49-F238E27FC236}">
                <a16:creationId xmlns:a16="http://schemas.microsoft.com/office/drawing/2014/main" id="{0DAA2A8D-6002-91E1-A755-C4F633B566B2}"/>
              </a:ext>
            </a:extLst>
          </p:cNvPr>
          <p:cNvSpPr/>
          <p:nvPr/>
        </p:nvSpPr>
        <p:spPr>
          <a:xfrm>
            <a:off x="9363456" y="4096512"/>
            <a:ext cx="2377440" cy="6858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E2318"/>
              </a:buClr>
              <a:buSzPts val="1350"/>
              <a:buFont typeface="Calibri"/>
              <a:buNone/>
            </a:pPr>
            <a:r>
              <a:rPr lang="en-US" sz="1850" b="1">
                <a:solidFill>
                  <a:srgbClr val="2E2318"/>
                </a:solidFill>
                <a:latin typeface="Calibri"/>
                <a:ea typeface="Calibri"/>
                <a:cs typeface="Calibri"/>
                <a:sym typeface="Calibri"/>
              </a:rPr>
              <a:t>Deployment en otra panadería</a:t>
            </a:r>
            <a:endParaRPr sz="1850" b="0" i="0" u="none" strike="noStrike" cap="none">
              <a:solidFill>
                <a:schemeClr val="dk1"/>
              </a:solidFill>
              <a:latin typeface="Calibri"/>
              <a:ea typeface="Calibri"/>
              <a:cs typeface="Calibri"/>
              <a:sym typeface="Calibri"/>
            </a:endParaRPr>
          </a:p>
        </p:txBody>
      </p:sp>
      <p:sp>
        <p:nvSpPr>
          <p:cNvPr id="531" name="Google Shape;318;p11">
            <a:extLst>
              <a:ext uri="{FF2B5EF4-FFF2-40B4-BE49-F238E27FC236}">
                <a16:creationId xmlns:a16="http://schemas.microsoft.com/office/drawing/2014/main" id="{C470EAE1-BB9F-61B7-0D5C-9076F4558628}"/>
              </a:ext>
            </a:extLst>
          </p:cNvPr>
          <p:cNvSpPr/>
          <p:nvPr/>
        </p:nvSpPr>
        <p:spPr>
          <a:xfrm>
            <a:off x="8522208" y="4919472"/>
            <a:ext cx="3108960" cy="10515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E5F50"/>
              </a:buClr>
              <a:buSzPts val="1130"/>
              <a:buFont typeface="Calibri"/>
              <a:buNone/>
            </a:pPr>
            <a:r>
              <a:rPr lang="en-US" sz="1430" b="0" i="0" u="none" strike="noStrike" cap="none" dirty="0">
                <a:solidFill>
                  <a:srgbClr val="6E5F50"/>
                </a:solidFill>
                <a:latin typeface="Calibri"/>
                <a:ea typeface="Calibri"/>
                <a:cs typeface="Calibri"/>
                <a:sym typeface="Calibri"/>
              </a:rPr>
              <a:t>Segunda </a:t>
            </a:r>
            <a:r>
              <a:rPr lang="en-US" sz="1430" b="0" i="0" u="none" strike="noStrike" cap="none" dirty="0" err="1">
                <a:solidFill>
                  <a:srgbClr val="6E5F50"/>
                </a:solidFill>
                <a:latin typeface="Calibri"/>
                <a:ea typeface="Calibri"/>
                <a:cs typeface="Calibri"/>
                <a:sym typeface="Calibri"/>
              </a:rPr>
              <a:t>panadería</a:t>
            </a:r>
            <a:r>
              <a:rPr lang="en-US" sz="1430" b="0" i="0" u="none" strike="noStrike" cap="none" dirty="0">
                <a:solidFill>
                  <a:srgbClr val="6E5F50"/>
                </a:solidFill>
                <a:latin typeface="Calibri"/>
                <a:ea typeface="Calibri"/>
                <a:cs typeface="Calibri"/>
                <a:sym typeface="Calibri"/>
              </a:rPr>
              <a:t> </a:t>
            </a:r>
            <a:r>
              <a:rPr lang="en-US" sz="1430" b="0" i="0" u="none" strike="noStrike" cap="none" dirty="0" err="1">
                <a:solidFill>
                  <a:srgbClr val="6E5F50"/>
                </a:solidFill>
                <a:latin typeface="Calibri"/>
                <a:ea typeface="Calibri"/>
                <a:cs typeface="Calibri"/>
                <a:sym typeface="Calibri"/>
              </a:rPr>
              <a:t>creada</a:t>
            </a:r>
            <a:r>
              <a:rPr lang="en-US" sz="1430" b="0" i="0" u="none" strike="noStrike" cap="none" dirty="0">
                <a:solidFill>
                  <a:srgbClr val="6E5F50"/>
                </a:solidFill>
                <a:latin typeface="Calibri"/>
                <a:ea typeface="Calibri"/>
                <a:cs typeface="Calibri"/>
                <a:sym typeface="Calibri"/>
              </a:rPr>
              <a:t> solo </a:t>
            </a:r>
            <a:r>
              <a:rPr lang="en-US" sz="1430" b="0" i="0" u="none" strike="noStrike" cap="none" dirty="0" err="1">
                <a:solidFill>
                  <a:srgbClr val="6E5F50"/>
                </a:solidFill>
                <a:latin typeface="Calibri"/>
                <a:ea typeface="Calibri"/>
                <a:cs typeface="Calibri"/>
                <a:sym typeface="Calibri"/>
              </a:rPr>
              <a:t>por</a:t>
            </a:r>
            <a:r>
              <a:rPr lang="en-US" sz="1430" b="0" i="0" u="none" strike="noStrike" cap="none" dirty="0">
                <a:solidFill>
                  <a:srgbClr val="6E5F50"/>
                </a:solidFill>
                <a:latin typeface="Calibri"/>
                <a:ea typeface="Calibri"/>
                <a:cs typeface="Calibri"/>
                <a:sym typeface="Calibri"/>
              </a:rPr>
              <a:t> </a:t>
            </a:r>
            <a:r>
              <a:rPr lang="en-US" sz="1430" b="0" i="0" u="none" strike="noStrike" cap="none" dirty="0" err="1">
                <a:solidFill>
                  <a:srgbClr val="6E5F50"/>
                </a:solidFill>
                <a:latin typeface="Calibri"/>
                <a:ea typeface="Calibri"/>
                <a:cs typeface="Calibri"/>
                <a:sym typeface="Calibri"/>
              </a:rPr>
              <a:t>configuración</a:t>
            </a:r>
            <a:r>
              <a:rPr lang="en-US" sz="1430" b="0" i="0" u="none" strike="noStrike" cap="none" dirty="0">
                <a:solidFill>
                  <a:srgbClr val="6E5F50"/>
                </a:solidFill>
                <a:latin typeface="Calibri"/>
                <a:ea typeface="Calibri"/>
                <a:cs typeface="Calibri"/>
                <a:sym typeface="Calibri"/>
              </a:rPr>
              <a:t>: </a:t>
            </a:r>
            <a:r>
              <a:rPr lang="en-US" sz="1430" b="0" i="0" u="none" strike="noStrike" cap="none" dirty="0" err="1">
                <a:solidFill>
                  <a:srgbClr val="6E5F50"/>
                </a:solidFill>
                <a:latin typeface="Calibri"/>
                <a:ea typeface="Calibri"/>
                <a:cs typeface="Calibri"/>
                <a:sym typeface="Calibri"/>
              </a:rPr>
              <a:t>prueba</a:t>
            </a:r>
            <a:r>
              <a:rPr lang="en-US" sz="1430" b="0" i="0" u="none" strike="noStrike" cap="none" dirty="0">
                <a:solidFill>
                  <a:srgbClr val="6E5F50"/>
                </a:solidFill>
                <a:latin typeface="Calibri"/>
                <a:ea typeface="Calibri"/>
                <a:cs typeface="Calibri"/>
                <a:sym typeface="Calibri"/>
              </a:rPr>
              <a:t> de </a:t>
            </a:r>
            <a:r>
              <a:rPr lang="en-US" sz="1430" b="0" i="0" u="none" strike="noStrike" cap="none" dirty="0" err="1">
                <a:solidFill>
                  <a:srgbClr val="6E5F50"/>
                </a:solidFill>
                <a:latin typeface="Calibri"/>
                <a:ea typeface="Calibri"/>
                <a:cs typeface="Calibri"/>
                <a:sym typeface="Calibri"/>
              </a:rPr>
              <a:t>genericidad</a:t>
            </a:r>
            <a:r>
              <a:rPr lang="en-US" sz="1430" b="0" i="0" u="none" strike="noStrike" cap="none" dirty="0">
                <a:solidFill>
                  <a:srgbClr val="6E5F50"/>
                </a:solidFill>
                <a:latin typeface="Calibri"/>
                <a:ea typeface="Calibri"/>
                <a:cs typeface="Calibri"/>
                <a:sym typeface="Calibri"/>
              </a:rPr>
              <a:t>.</a:t>
            </a:r>
            <a:endParaRPr sz="1430" b="0" i="0" u="none" strike="noStrike" cap="none" dirty="0">
              <a:solidFill>
                <a:schemeClr val="dk1"/>
              </a:solidFill>
              <a:latin typeface="Calibri"/>
              <a:ea typeface="Calibri"/>
              <a:cs typeface="Calibri"/>
              <a:sym typeface="Calibri"/>
            </a:endParaRPr>
          </a:p>
        </p:txBody>
      </p:sp>
      <p:sp>
        <p:nvSpPr>
          <p:cNvPr id="533" name="Google Shape;319;p11">
            <a:extLst>
              <a:ext uri="{FF2B5EF4-FFF2-40B4-BE49-F238E27FC236}">
                <a16:creationId xmlns:a16="http://schemas.microsoft.com/office/drawing/2014/main" id="{E118D8A0-DB6E-737D-888E-67E1FEC56E20}"/>
              </a:ext>
            </a:extLst>
          </p:cNvPr>
          <p:cNvSpPr/>
          <p:nvPr/>
        </p:nvSpPr>
        <p:spPr>
          <a:xfrm>
            <a:off x="11503152" y="6400800"/>
            <a:ext cx="45720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6E5F50"/>
              </a:buClr>
              <a:buSzPts val="1000"/>
              <a:buFont typeface="Calibri"/>
              <a:buNone/>
            </a:pPr>
            <a:r>
              <a:rPr lang="en-US" sz="1000" b="0" i="0" u="none" strike="noStrike" cap="none">
                <a:solidFill>
                  <a:srgbClr val="6E5F50"/>
                </a:solidFill>
                <a:latin typeface="Calibri"/>
                <a:ea typeface="Calibri"/>
                <a:cs typeface="Calibri"/>
                <a:sym typeface="Calibri"/>
              </a:rPr>
              <a:t>11</a:t>
            </a:r>
            <a:endParaRPr sz="1000" b="0" i="0" u="none" strike="noStrike" cap="non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89"/>
        <p:cNvGrpSpPr/>
        <p:nvPr/>
      </p:nvGrpSpPr>
      <p:grpSpPr>
        <a:xfrm>
          <a:off x="0" y="0"/>
          <a:ext cx="0" cy="0"/>
          <a:chOff x="0" y="0"/>
          <a:chExt cx="0" cy="0"/>
        </a:xfrm>
      </p:grpSpPr>
      <p:sp>
        <p:nvSpPr>
          <p:cNvPr id="391" name="Google Shape;391;p13"/>
          <p:cNvSpPr/>
          <p:nvPr/>
        </p:nvSpPr>
        <p:spPr>
          <a:xfrm>
            <a:off x="548640" y="1234440"/>
            <a:ext cx="11091672" cy="384048"/>
          </a:xfrm>
          <a:prstGeom prst="roundRect">
            <a:avLst>
              <a:gd name="adj" fmla="val 11905"/>
            </a:avLst>
          </a:prstGeom>
          <a:solidFill>
            <a:srgbClr val="4A2C1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92" name="Google Shape;392;p13"/>
          <p:cNvSpPr/>
          <p:nvPr/>
        </p:nvSpPr>
        <p:spPr>
          <a:xfrm>
            <a:off x="658368" y="1234440"/>
            <a:ext cx="868680"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D9A441"/>
              </a:buClr>
              <a:buSzPts val="1150"/>
              <a:buFont typeface="Calibri"/>
              <a:buNone/>
            </a:pPr>
            <a:r>
              <a:rPr lang="en-US" sz="1200" b="1" dirty="0">
                <a:solidFill>
                  <a:srgbClr val="D9A441"/>
                </a:solidFill>
                <a:latin typeface="Calibri"/>
                <a:ea typeface="Calibri"/>
                <a:cs typeface="Calibri"/>
                <a:sym typeface="Calibri"/>
              </a:rPr>
              <a:t>Sprint</a:t>
            </a:r>
            <a:endParaRPr sz="1200" dirty="0">
              <a:solidFill>
                <a:schemeClr val="dk1"/>
              </a:solidFill>
              <a:latin typeface="Calibri"/>
              <a:ea typeface="Calibri"/>
              <a:cs typeface="Calibri"/>
              <a:sym typeface="Calibri"/>
            </a:endParaRPr>
          </a:p>
        </p:txBody>
      </p:sp>
      <p:sp>
        <p:nvSpPr>
          <p:cNvPr id="393" name="Google Shape;393;p13"/>
          <p:cNvSpPr/>
          <p:nvPr/>
        </p:nvSpPr>
        <p:spPr>
          <a:xfrm>
            <a:off x="1709928" y="1234440"/>
            <a:ext cx="4251960"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D9A441"/>
              </a:buClr>
              <a:buSzPts val="1150"/>
              <a:buFont typeface="Calibri"/>
              <a:buNone/>
            </a:pPr>
            <a:r>
              <a:rPr lang="en-US" sz="1200" b="1">
                <a:solidFill>
                  <a:srgbClr val="D9A441"/>
                </a:solidFill>
                <a:latin typeface="Calibri"/>
                <a:ea typeface="Calibri"/>
                <a:cs typeface="Calibri"/>
                <a:sym typeface="Calibri"/>
              </a:rPr>
              <a:t>Incremento funcional entregado</a:t>
            </a:r>
            <a:endParaRPr sz="1200">
              <a:solidFill>
                <a:schemeClr val="dk1"/>
              </a:solidFill>
              <a:latin typeface="Calibri"/>
              <a:ea typeface="Calibri"/>
              <a:cs typeface="Calibri"/>
              <a:sym typeface="Calibri"/>
            </a:endParaRPr>
          </a:p>
        </p:txBody>
      </p:sp>
      <p:sp>
        <p:nvSpPr>
          <p:cNvPr id="394" name="Google Shape;394;p13"/>
          <p:cNvSpPr/>
          <p:nvPr/>
        </p:nvSpPr>
        <p:spPr>
          <a:xfrm>
            <a:off x="6144768" y="1234440"/>
            <a:ext cx="5422392"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D9A441"/>
              </a:buClr>
              <a:buSzPts val="1150"/>
              <a:buFont typeface="Calibri"/>
              <a:buNone/>
            </a:pPr>
            <a:r>
              <a:rPr lang="en-US" sz="1200" b="1">
                <a:solidFill>
                  <a:srgbClr val="D9A441"/>
                </a:solidFill>
                <a:latin typeface="Calibri"/>
                <a:ea typeface="Calibri"/>
                <a:cs typeface="Calibri"/>
                <a:sym typeface="Calibri"/>
              </a:rPr>
              <a:t>Evidencia comprometida</a:t>
            </a:r>
            <a:endParaRPr sz="1200">
              <a:solidFill>
                <a:schemeClr val="dk1"/>
              </a:solidFill>
              <a:latin typeface="Calibri"/>
              <a:ea typeface="Calibri"/>
              <a:cs typeface="Calibri"/>
              <a:sym typeface="Calibri"/>
            </a:endParaRPr>
          </a:p>
        </p:txBody>
      </p:sp>
      <p:sp>
        <p:nvSpPr>
          <p:cNvPr id="395" name="Google Shape;395;p13"/>
          <p:cNvSpPr/>
          <p:nvPr/>
        </p:nvSpPr>
        <p:spPr>
          <a:xfrm>
            <a:off x="658368" y="1618488"/>
            <a:ext cx="868680" cy="53492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A2C1A"/>
              </a:buClr>
              <a:buSzPts val="1050"/>
              <a:buFont typeface="Calibri"/>
              <a:buNone/>
            </a:pPr>
            <a:r>
              <a:rPr lang="en-US" sz="1100" b="1">
                <a:solidFill>
                  <a:srgbClr val="4A2C1A"/>
                </a:solidFill>
                <a:latin typeface="Calibri"/>
                <a:ea typeface="Calibri"/>
                <a:cs typeface="Calibri"/>
                <a:sym typeface="Calibri"/>
              </a:rPr>
              <a:t>Sprint 0</a:t>
            </a:r>
            <a:endParaRPr sz="1100">
              <a:solidFill>
                <a:schemeClr val="dk1"/>
              </a:solidFill>
              <a:latin typeface="Calibri"/>
              <a:ea typeface="Calibri"/>
              <a:cs typeface="Calibri"/>
              <a:sym typeface="Calibri"/>
            </a:endParaRPr>
          </a:p>
        </p:txBody>
      </p:sp>
      <p:sp>
        <p:nvSpPr>
          <p:cNvPr id="396" name="Google Shape;396;p13"/>
          <p:cNvSpPr/>
          <p:nvPr/>
        </p:nvSpPr>
        <p:spPr>
          <a:xfrm>
            <a:off x="1709928" y="1618488"/>
            <a:ext cx="4215384" cy="53492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E2318"/>
              </a:buClr>
              <a:buSzPts val="950"/>
              <a:buFont typeface="Calibri"/>
              <a:buNone/>
            </a:pPr>
            <a:r>
              <a:rPr lang="en-US" sz="1000">
                <a:solidFill>
                  <a:srgbClr val="2E2318"/>
                </a:solidFill>
                <a:latin typeface="Calibri"/>
                <a:ea typeface="Calibri"/>
                <a:cs typeface="Calibri"/>
                <a:sym typeface="Calibri"/>
              </a:rPr>
              <a:t>Aplicación mínima que muestra el peso leído desde la balanza, con entorno Azure y CI operativos.</a:t>
            </a:r>
            <a:endParaRPr sz="1000">
              <a:solidFill>
                <a:schemeClr val="dk1"/>
              </a:solidFill>
              <a:latin typeface="Calibri"/>
              <a:ea typeface="Calibri"/>
              <a:cs typeface="Calibri"/>
              <a:sym typeface="Calibri"/>
            </a:endParaRPr>
          </a:p>
        </p:txBody>
      </p:sp>
      <p:sp>
        <p:nvSpPr>
          <p:cNvPr id="397" name="Google Shape;397;p13"/>
          <p:cNvSpPr/>
          <p:nvPr/>
        </p:nvSpPr>
        <p:spPr>
          <a:xfrm>
            <a:off x="6144768" y="1618488"/>
            <a:ext cx="5385816" cy="53492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E5F50"/>
              </a:buClr>
              <a:buSzPts val="950"/>
              <a:buFont typeface="Calibri"/>
              <a:buNone/>
            </a:pPr>
            <a:r>
              <a:rPr lang="en-US" sz="1000">
                <a:solidFill>
                  <a:srgbClr val="6E5F50"/>
                </a:solidFill>
                <a:latin typeface="Calibri"/>
                <a:ea typeface="Calibri"/>
                <a:cs typeface="Calibri"/>
                <a:sym typeface="Calibri"/>
              </a:rPr>
              <a:t>Video de lectura de peso desde balanza real y repositorio con pipeline de integración continua en verde.</a:t>
            </a:r>
            <a:endParaRPr sz="1000">
              <a:solidFill>
                <a:schemeClr val="dk1"/>
              </a:solidFill>
              <a:latin typeface="Calibri"/>
              <a:ea typeface="Calibri"/>
              <a:cs typeface="Calibri"/>
              <a:sym typeface="Calibri"/>
            </a:endParaRPr>
          </a:p>
        </p:txBody>
      </p:sp>
      <p:cxnSp>
        <p:nvCxnSpPr>
          <p:cNvPr id="398" name="Google Shape;398;p13"/>
          <p:cNvCxnSpPr/>
          <p:nvPr/>
        </p:nvCxnSpPr>
        <p:spPr>
          <a:xfrm>
            <a:off x="548640" y="2153412"/>
            <a:ext cx="11091672" cy="0"/>
          </a:xfrm>
          <a:prstGeom prst="straightConnector1">
            <a:avLst/>
          </a:prstGeom>
          <a:noFill/>
          <a:ln w="9525" cap="flat" cmpd="sng">
            <a:solidFill>
              <a:srgbClr val="E5D9C6"/>
            </a:solidFill>
            <a:prstDash val="solid"/>
            <a:round/>
            <a:headEnd type="none" w="sm" len="sm"/>
            <a:tailEnd type="none" w="sm" len="sm"/>
          </a:ln>
        </p:spPr>
      </p:cxnSp>
      <p:sp>
        <p:nvSpPr>
          <p:cNvPr id="399" name="Google Shape;399;p13"/>
          <p:cNvSpPr/>
          <p:nvPr/>
        </p:nvSpPr>
        <p:spPr>
          <a:xfrm>
            <a:off x="548640" y="2153412"/>
            <a:ext cx="11091672" cy="534924"/>
          </a:xfrm>
          <a:prstGeom prst="rect">
            <a:avLst/>
          </a:prstGeom>
          <a:solidFill>
            <a:srgbClr val="F6EFE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00" name="Google Shape;400;p13"/>
          <p:cNvSpPr/>
          <p:nvPr/>
        </p:nvSpPr>
        <p:spPr>
          <a:xfrm>
            <a:off x="658368" y="2153412"/>
            <a:ext cx="868680" cy="53492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A2C1A"/>
              </a:buClr>
              <a:buSzPts val="1050"/>
              <a:buFont typeface="Calibri"/>
              <a:buNone/>
            </a:pPr>
            <a:r>
              <a:rPr lang="en-US" sz="1100" b="1">
                <a:solidFill>
                  <a:srgbClr val="4A2C1A"/>
                </a:solidFill>
                <a:latin typeface="Calibri"/>
                <a:ea typeface="Calibri"/>
                <a:cs typeface="Calibri"/>
                <a:sym typeface="Calibri"/>
              </a:rPr>
              <a:t>Sprint 1</a:t>
            </a:r>
            <a:endParaRPr sz="1100">
              <a:solidFill>
                <a:schemeClr val="dk1"/>
              </a:solidFill>
              <a:latin typeface="Calibri"/>
              <a:ea typeface="Calibri"/>
              <a:cs typeface="Calibri"/>
              <a:sym typeface="Calibri"/>
            </a:endParaRPr>
          </a:p>
        </p:txBody>
      </p:sp>
      <p:sp>
        <p:nvSpPr>
          <p:cNvPr id="401" name="Google Shape;401;p13"/>
          <p:cNvSpPr/>
          <p:nvPr/>
        </p:nvSpPr>
        <p:spPr>
          <a:xfrm>
            <a:off x="1709928" y="2153412"/>
            <a:ext cx="4215384" cy="53492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E2318"/>
              </a:buClr>
              <a:buSzPts val="950"/>
              <a:buFont typeface="Calibri"/>
              <a:buNone/>
            </a:pPr>
            <a:r>
              <a:rPr lang="en-US" sz="1000">
                <a:solidFill>
                  <a:srgbClr val="2E2318"/>
                </a:solidFill>
                <a:latin typeface="Calibri"/>
                <a:ea typeface="Calibri"/>
                <a:cs typeface="Calibri"/>
                <a:sym typeface="Calibri"/>
              </a:rPr>
              <a:t>Punto de venta que registra producto, peso y precio, imprime comprobante y persiste la venta en la nube. Utilizable en producción.</a:t>
            </a:r>
            <a:endParaRPr sz="1000">
              <a:solidFill>
                <a:schemeClr val="dk1"/>
              </a:solidFill>
              <a:latin typeface="Calibri"/>
              <a:ea typeface="Calibri"/>
              <a:cs typeface="Calibri"/>
              <a:sym typeface="Calibri"/>
            </a:endParaRPr>
          </a:p>
        </p:txBody>
      </p:sp>
      <p:sp>
        <p:nvSpPr>
          <p:cNvPr id="402" name="Google Shape;402;p13"/>
          <p:cNvSpPr/>
          <p:nvPr/>
        </p:nvSpPr>
        <p:spPr>
          <a:xfrm>
            <a:off x="6144768" y="2153412"/>
            <a:ext cx="5385816" cy="53492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E5F50"/>
              </a:buClr>
              <a:buSzPts val="950"/>
              <a:buFont typeface="Calibri"/>
              <a:buNone/>
            </a:pPr>
            <a:r>
              <a:rPr lang="en-US" sz="1000">
                <a:solidFill>
                  <a:srgbClr val="6E5F50"/>
                </a:solidFill>
                <a:latin typeface="Calibri"/>
                <a:ea typeface="Calibri"/>
                <a:cs typeface="Calibri"/>
                <a:sym typeface="Calibri"/>
              </a:rPr>
              <a:t>Demostración de venta completa y reporte de ventas del día extraído de la base de datos.</a:t>
            </a:r>
            <a:endParaRPr sz="1000">
              <a:solidFill>
                <a:schemeClr val="dk1"/>
              </a:solidFill>
              <a:latin typeface="Calibri"/>
              <a:ea typeface="Calibri"/>
              <a:cs typeface="Calibri"/>
              <a:sym typeface="Calibri"/>
            </a:endParaRPr>
          </a:p>
        </p:txBody>
      </p:sp>
      <p:cxnSp>
        <p:nvCxnSpPr>
          <p:cNvPr id="403" name="Google Shape;403;p13"/>
          <p:cNvCxnSpPr/>
          <p:nvPr/>
        </p:nvCxnSpPr>
        <p:spPr>
          <a:xfrm>
            <a:off x="548640" y="2688336"/>
            <a:ext cx="11091672" cy="0"/>
          </a:xfrm>
          <a:prstGeom prst="straightConnector1">
            <a:avLst/>
          </a:prstGeom>
          <a:noFill/>
          <a:ln w="9525" cap="flat" cmpd="sng">
            <a:solidFill>
              <a:srgbClr val="E5D9C6"/>
            </a:solidFill>
            <a:prstDash val="solid"/>
            <a:round/>
            <a:headEnd type="none" w="sm" len="sm"/>
            <a:tailEnd type="none" w="sm" len="sm"/>
          </a:ln>
        </p:spPr>
      </p:cxnSp>
      <p:sp>
        <p:nvSpPr>
          <p:cNvPr id="404" name="Google Shape;404;p13"/>
          <p:cNvSpPr/>
          <p:nvPr/>
        </p:nvSpPr>
        <p:spPr>
          <a:xfrm>
            <a:off x="658368" y="2688336"/>
            <a:ext cx="868680" cy="53492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A2C1A"/>
              </a:buClr>
              <a:buSzPts val="1050"/>
              <a:buFont typeface="Calibri"/>
              <a:buNone/>
            </a:pPr>
            <a:r>
              <a:rPr lang="en-US" sz="1100" b="1">
                <a:solidFill>
                  <a:srgbClr val="4A2C1A"/>
                </a:solidFill>
                <a:latin typeface="Calibri"/>
                <a:ea typeface="Calibri"/>
                <a:cs typeface="Calibri"/>
                <a:sym typeface="Calibri"/>
              </a:rPr>
              <a:t>Sprint 2</a:t>
            </a:r>
            <a:endParaRPr sz="1100">
              <a:solidFill>
                <a:schemeClr val="dk1"/>
              </a:solidFill>
              <a:latin typeface="Calibri"/>
              <a:ea typeface="Calibri"/>
              <a:cs typeface="Calibri"/>
              <a:sym typeface="Calibri"/>
            </a:endParaRPr>
          </a:p>
        </p:txBody>
      </p:sp>
      <p:sp>
        <p:nvSpPr>
          <p:cNvPr id="405" name="Google Shape;405;p13"/>
          <p:cNvSpPr/>
          <p:nvPr/>
        </p:nvSpPr>
        <p:spPr>
          <a:xfrm>
            <a:off x="1709928" y="2688336"/>
            <a:ext cx="4215384" cy="53492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E2318"/>
              </a:buClr>
              <a:buSzPts val="950"/>
              <a:buFont typeface="Calibri"/>
              <a:buNone/>
            </a:pPr>
            <a:r>
              <a:rPr lang="en-US" sz="1000">
                <a:solidFill>
                  <a:srgbClr val="2E2318"/>
                </a:solidFill>
                <a:latin typeface="Calibri"/>
                <a:ea typeface="Calibri"/>
                <a:cs typeface="Calibri"/>
                <a:sym typeface="Calibri"/>
              </a:rPr>
              <a:t>Persistencia local y sincronización automática al reconectar, con indicador de estado de red.</a:t>
            </a:r>
            <a:endParaRPr sz="1000">
              <a:solidFill>
                <a:schemeClr val="dk1"/>
              </a:solidFill>
              <a:latin typeface="Calibri"/>
              <a:ea typeface="Calibri"/>
              <a:cs typeface="Calibri"/>
              <a:sym typeface="Calibri"/>
            </a:endParaRPr>
          </a:p>
        </p:txBody>
      </p:sp>
      <p:sp>
        <p:nvSpPr>
          <p:cNvPr id="406" name="Google Shape;406;p13"/>
          <p:cNvSpPr/>
          <p:nvPr/>
        </p:nvSpPr>
        <p:spPr>
          <a:xfrm>
            <a:off x="6144768" y="2688336"/>
            <a:ext cx="5385816" cy="53492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E5F50"/>
              </a:buClr>
              <a:buSzPts val="950"/>
              <a:buFont typeface="Calibri"/>
              <a:buNone/>
            </a:pPr>
            <a:r>
              <a:rPr lang="en-US" sz="1000">
                <a:solidFill>
                  <a:srgbClr val="6E5F50"/>
                </a:solidFill>
                <a:latin typeface="Calibri"/>
                <a:ea typeface="Calibri"/>
                <a:cs typeface="Calibri"/>
                <a:sym typeface="Calibri"/>
              </a:rPr>
              <a:t>Prueba de corte de red con reconciliación posterior verificada y sin duplicación de ventas.</a:t>
            </a:r>
            <a:endParaRPr sz="1000">
              <a:solidFill>
                <a:schemeClr val="dk1"/>
              </a:solidFill>
              <a:latin typeface="Calibri"/>
              <a:ea typeface="Calibri"/>
              <a:cs typeface="Calibri"/>
              <a:sym typeface="Calibri"/>
            </a:endParaRPr>
          </a:p>
        </p:txBody>
      </p:sp>
      <p:cxnSp>
        <p:nvCxnSpPr>
          <p:cNvPr id="407" name="Google Shape;407;p13"/>
          <p:cNvCxnSpPr/>
          <p:nvPr/>
        </p:nvCxnSpPr>
        <p:spPr>
          <a:xfrm>
            <a:off x="548640" y="3223260"/>
            <a:ext cx="11091672" cy="0"/>
          </a:xfrm>
          <a:prstGeom prst="straightConnector1">
            <a:avLst/>
          </a:prstGeom>
          <a:noFill/>
          <a:ln w="9525" cap="flat" cmpd="sng">
            <a:solidFill>
              <a:srgbClr val="E5D9C6"/>
            </a:solidFill>
            <a:prstDash val="solid"/>
            <a:round/>
            <a:headEnd type="none" w="sm" len="sm"/>
            <a:tailEnd type="none" w="sm" len="sm"/>
          </a:ln>
        </p:spPr>
      </p:cxnSp>
      <p:sp>
        <p:nvSpPr>
          <p:cNvPr id="408" name="Google Shape;408;p13"/>
          <p:cNvSpPr/>
          <p:nvPr/>
        </p:nvSpPr>
        <p:spPr>
          <a:xfrm>
            <a:off x="548640" y="3223260"/>
            <a:ext cx="11091672" cy="534924"/>
          </a:xfrm>
          <a:prstGeom prst="rect">
            <a:avLst/>
          </a:prstGeom>
          <a:solidFill>
            <a:srgbClr val="F6EFE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09" name="Google Shape;409;p13"/>
          <p:cNvSpPr/>
          <p:nvPr/>
        </p:nvSpPr>
        <p:spPr>
          <a:xfrm>
            <a:off x="658368" y="3223260"/>
            <a:ext cx="868680" cy="53492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A2C1A"/>
              </a:buClr>
              <a:buSzPts val="1050"/>
              <a:buFont typeface="Calibri"/>
              <a:buNone/>
            </a:pPr>
            <a:r>
              <a:rPr lang="en-US" sz="1100" b="1">
                <a:solidFill>
                  <a:srgbClr val="4A2C1A"/>
                </a:solidFill>
                <a:latin typeface="Calibri"/>
                <a:ea typeface="Calibri"/>
                <a:cs typeface="Calibri"/>
                <a:sym typeface="Calibri"/>
              </a:rPr>
              <a:t>Sprint 3</a:t>
            </a:r>
            <a:endParaRPr sz="1100">
              <a:solidFill>
                <a:schemeClr val="dk1"/>
              </a:solidFill>
              <a:latin typeface="Calibri"/>
              <a:ea typeface="Calibri"/>
              <a:cs typeface="Calibri"/>
              <a:sym typeface="Calibri"/>
            </a:endParaRPr>
          </a:p>
        </p:txBody>
      </p:sp>
      <p:sp>
        <p:nvSpPr>
          <p:cNvPr id="410" name="Google Shape;410;p13"/>
          <p:cNvSpPr/>
          <p:nvPr/>
        </p:nvSpPr>
        <p:spPr>
          <a:xfrm>
            <a:off x="1709928" y="3223260"/>
            <a:ext cx="4215384" cy="53492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E2318"/>
              </a:buClr>
              <a:buSzPts val="950"/>
              <a:buFont typeface="Calibri"/>
              <a:buNone/>
            </a:pPr>
            <a:r>
              <a:rPr lang="en-US" sz="1000">
                <a:solidFill>
                  <a:srgbClr val="2E2318"/>
                </a:solidFill>
                <a:latin typeface="Calibri"/>
                <a:ea typeface="Calibri"/>
                <a:cs typeface="Calibri"/>
                <a:sym typeface="Calibri"/>
              </a:rPr>
              <a:t>Panel web con acceso por rol y mantenedor de catálogo y precios que el punto de venta consume.</a:t>
            </a:r>
            <a:endParaRPr sz="1000">
              <a:solidFill>
                <a:schemeClr val="dk1"/>
              </a:solidFill>
              <a:latin typeface="Calibri"/>
              <a:ea typeface="Calibri"/>
              <a:cs typeface="Calibri"/>
              <a:sym typeface="Calibri"/>
            </a:endParaRPr>
          </a:p>
        </p:txBody>
      </p:sp>
      <p:sp>
        <p:nvSpPr>
          <p:cNvPr id="411" name="Google Shape;411;p13"/>
          <p:cNvSpPr/>
          <p:nvPr/>
        </p:nvSpPr>
        <p:spPr>
          <a:xfrm>
            <a:off x="6144768" y="3223260"/>
            <a:ext cx="5385816" cy="53492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E5F50"/>
              </a:buClr>
              <a:buSzPts val="950"/>
              <a:buFont typeface="Calibri"/>
              <a:buNone/>
            </a:pPr>
            <a:r>
              <a:rPr lang="en-US" sz="1000">
                <a:solidFill>
                  <a:srgbClr val="6E5F50"/>
                </a:solidFill>
                <a:latin typeface="Calibri"/>
                <a:ea typeface="Calibri"/>
                <a:cs typeface="Calibri"/>
                <a:sym typeface="Calibri"/>
              </a:rPr>
              <a:t>Cambio de precio realizado en el panel y reflejado en el punto de venta, registrado en video.</a:t>
            </a:r>
            <a:endParaRPr sz="1000">
              <a:solidFill>
                <a:schemeClr val="dk1"/>
              </a:solidFill>
              <a:latin typeface="Calibri"/>
              <a:ea typeface="Calibri"/>
              <a:cs typeface="Calibri"/>
              <a:sym typeface="Calibri"/>
            </a:endParaRPr>
          </a:p>
        </p:txBody>
      </p:sp>
      <p:cxnSp>
        <p:nvCxnSpPr>
          <p:cNvPr id="412" name="Google Shape;412;p13"/>
          <p:cNvCxnSpPr/>
          <p:nvPr/>
        </p:nvCxnSpPr>
        <p:spPr>
          <a:xfrm>
            <a:off x="548640" y="3758184"/>
            <a:ext cx="11091672" cy="0"/>
          </a:xfrm>
          <a:prstGeom prst="straightConnector1">
            <a:avLst/>
          </a:prstGeom>
          <a:noFill/>
          <a:ln w="9525" cap="flat" cmpd="sng">
            <a:solidFill>
              <a:srgbClr val="E5D9C6"/>
            </a:solidFill>
            <a:prstDash val="solid"/>
            <a:round/>
            <a:headEnd type="none" w="sm" len="sm"/>
            <a:tailEnd type="none" w="sm" len="sm"/>
          </a:ln>
        </p:spPr>
      </p:cxnSp>
      <p:sp>
        <p:nvSpPr>
          <p:cNvPr id="413" name="Google Shape;413;p13"/>
          <p:cNvSpPr/>
          <p:nvPr/>
        </p:nvSpPr>
        <p:spPr>
          <a:xfrm>
            <a:off x="658368" y="3758184"/>
            <a:ext cx="868680" cy="53492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A2C1A"/>
              </a:buClr>
              <a:buSzPts val="1050"/>
              <a:buFont typeface="Calibri"/>
              <a:buNone/>
            </a:pPr>
            <a:r>
              <a:rPr lang="en-US" sz="1100" b="1">
                <a:solidFill>
                  <a:srgbClr val="4A2C1A"/>
                </a:solidFill>
                <a:latin typeface="Calibri"/>
                <a:ea typeface="Calibri"/>
                <a:cs typeface="Calibri"/>
                <a:sym typeface="Calibri"/>
              </a:rPr>
              <a:t>Sprint 4</a:t>
            </a:r>
            <a:endParaRPr sz="1100">
              <a:solidFill>
                <a:schemeClr val="dk1"/>
              </a:solidFill>
              <a:latin typeface="Calibri"/>
              <a:ea typeface="Calibri"/>
              <a:cs typeface="Calibri"/>
              <a:sym typeface="Calibri"/>
            </a:endParaRPr>
          </a:p>
        </p:txBody>
      </p:sp>
      <p:sp>
        <p:nvSpPr>
          <p:cNvPr id="414" name="Google Shape;414;p13"/>
          <p:cNvSpPr/>
          <p:nvPr/>
        </p:nvSpPr>
        <p:spPr>
          <a:xfrm>
            <a:off x="1709928" y="3758184"/>
            <a:ext cx="4215384" cy="53492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E2318"/>
              </a:buClr>
              <a:buSzPts val="950"/>
              <a:buFont typeface="Calibri"/>
              <a:buNone/>
            </a:pPr>
            <a:r>
              <a:rPr lang="en-US" sz="1000">
                <a:solidFill>
                  <a:srgbClr val="2E2318"/>
                </a:solidFill>
                <a:latin typeface="Calibri"/>
                <a:ea typeface="Calibri"/>
                <a:cs typeface="Calibri"/>
                <a:sym typeface="Calibri"/>
              </a:rPr>
              <a:t>Aplicación móvil de producción operativa sin conexión y notificación visible en el punto de venta.</a:t>
            </a:r>
            <a:endParaRPr sz="1000">
              <a:solidFill>
                <a:schemeClr val="dk1"/>
              </a:solidFill>
              <a:latin typeface="Calibri"/>
              <a:ea typeface="Calibri"/>
              <a:cs typeface="Calibri"/>
              <a:sym typeface="Calibri"/>
            </a:endParaRPr>
          </a:p>
        </p:txBody>
      </p:sp>
      <p:sp>
        <p:nvSpPr>
          <p:cNvPr id="415" name="Google Shape;415;p13"/>
          <p:cNvSpPr/>
          <p:nvPr/>
        </p:nvSpPr>
        <p:spPr>
          <a:xfrm>
            <a:off x="6144768" y="3758184"/>
            <a:ext cx="5385816" cy="53492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E5F50"/>
              </a:buClr>
              <a:buSzPts val="950"/>
              <a:buFont typeface="Calibri"/>
              <a:buNone/>
            </a:pPr>
            <a:r>
              <a:rPr lang="en-US" sz="1000">
                <a:solidFill>
                  <a:srgbClr val="6E5F50"/>
                </a:solidFill>
                <a:latin typeface="Calibri"/>
                <a:ea typeface="Calibri"/>
                <a:cs typeface="Calibri"/>
                <a:sym typeface="Calibri"/>
              </a:rPr>
              <a:t>Demostración del ciclo amasado-notificación y pruebas del motor de fórmulas.</a:t>
            </a:r>
            <a:endParaRPr sz="1000">
              <a:solidFill>
                <a:schemeClr val="dk1"/>
              </a:solidFill>
              <a:latin typeface="Calibri"/>
              <a:ea typeface="Calibri"/>
              <a:cs typeface="Calibri"/>
              <a:sym typeface="Calibri"/>
            </a:endParaRPr>
          </a:p>
        </p:txBody>
      </p:sp>
      <p:cxnSp>
        <p:nvCxnSpPr>
          <p:cNvPr id="416" name="Google Shape;416;p13"/>
          <p:cNvCxnSpPr/>
          <p:nvPr/>
        </p:nvCxnSpPr>
        <p:spPr>
          <a:xfrm>
            <a:off x="548640" y="4293108"/>
            <a:ext cx="11091672" cy="0"/>
          </a:xfrm>
          <a:prstGeom prst="straightConnector1">
            <a:avLst/>
          </a:prstGeom>
          <a:noFill/>
          <a:ln w="9525" cap="flat" cmpd="sng">
            <a:solidFill>
              <a:srgbClr val="E5D9C6"/>
            </a:solidFill>
            <a:prstDash val="solid"/>
            <a:round/>
            <a:headEnd type="none" w="sm" len="sm"/>
            <a:tailEnd type="none" w="sm" len="sm"/>
          </a:ln>
        </p:spPr>
      </p:cxnSp>
      <p:sp>
        <p:nvSpPr>
          <p:cNvPr id="417" name="Google Shape;417;p13"/>
          <p:cNvSpPr/>
          <p:nvPr/>
        </p:nvSpPr>
        <p:spPr>
          <a:xfrm>
            <a:off x="548640" y="4293108"/>
            <a:ext cx="11091672" cy="534924"/>
          </a:xfrm>
          <a:prstGeom prst="rect">
            <a:avLst/>
          </a:prstGeom>
          <a:solidFill>
            <a:srgbClr val="F6EFE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18" name="Google Shape;418;p13"/>
          <p:cNvSpPr/>
          <p:nvPr/>
        </p:nvSpPr>
        <p:spPr>
          <a:xfrm>
            <a:off x="658368" y="4293108"/>
            <a:ext cx="868680" cy="53492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A2C1A"/>
              </a:buClr>
              <a:buSzPts val="1050"/>
              <a:buFont typeface="Calibri"/>
              <a:buNone/>
            </a:pPr>
            <a:r>
              <a:rPr lang="en-US" sz="1100" b="1">
                <a:solidFill>
                  <a:srgbClr val="4A2C1A"/>
                </a:solidFill>
                <a:latin typeface="Calibri"/>
                <a:ea typeface="Calibri"/>
                <a:cs typeface="Calibri"/>
                <a:sym typeface="Calibri"/>
              </a:rPr>
              <a:t>Sprint 5</a:t>
            </a:r>
            <a:endParaRPr sz="1100">
              <a:solidFill>
                <a:schemeClr val="dk1"/>
              </a:solidFill>
              <a:latin typeface="Calibri"/>
              <a:ea typeface="Calibri"/>
              <a:cs typeface="Calibri"/>
              <a:sym typeface="Calibri"/>
            </a:endParaRPr>
          </a:p>
        </p:txBody>
      </p:sp>
      <p:sp>
        <p:nvSpPr>
          <p:cNvPr id="419" name="Google Shape;419;p13"/>
          <p:cNvSpPr/>
          <p:nvPr/>
        </p:nvSpPr>
        <p:spPr>
          <a:xfrm>
            <a:off x="1709928" y="4293108"/>
            <a:ext cx="4215384" cy="53492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E2318"/>
              </a:buClr>
              <a:buSzPts val="950"/>
              <a:buFont typeface="Calibri"/>
              <a:buNone/>
            </a:pPr>
            <a:r>
              <a:rPr lang="en-US" sz="1000">
                <a:solidFill>
                  <a:srgbClr val="2E2318"/>
                </a:solidFill>
                <a:latin typeface="Calibri"/>
                <a:ea typeface="Calibri"/>
                <a:cs typeface="Calibri"/>
                <a:sym typeface="Calibri"/>
              </a:rPr>
              <a:t>Descuento automático de insumos por fórmula, registro de existencias y alertas de nivel mínimo.</a:t>
            </a:r>
            <a:endParaRPr sz="1000">
              <a:solidFill>
                <a:schemeClr val="dk1"/>
              </a:solidFill>
              <a:latin typeface="Calibri"/>
              <a:ea typeface="Calibri"/>
              <a:cs typeface="Calibri"/>
              <a:sym typeface="Calibri"/>
            </a:endParaRPr>
          </a:p>
        </p:txBody>
      </p:sp>
      <p:sp>
        <p:nvSpPr>
          <p:cNvPr id="420" name="Google Shape;420;p13"/>
          <p:cNvSpPr/>
          <p:nvPr/>
        </p:nvSpPr>
        <p:spPr>
          <a:xfrm>
            <a:off x="6144768" y="4293108"/>
            <a:ext cx="5385816" cy="53492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E5F50"/>
              </a:buClr>
              <a:buSzPts val="950"/>
              <a:buFont typeface="Calibri"/>
              <a:buNone/>
            </a:pPr>
            <a:r>
              <a:rPr lang="en-US" sz="1000">
                <a:solidFill>
                  <a:srgbClr val="6E5F50"/>
                </a:solidFill>
                <a:latin typeface="Calibri"/>
                <a:ea typeface="Calibri"/>
                <a:cs typeface="Calibri"/>
                <a:sym typeface="Calibri"/>
              </a:rPr>
              <a:t>Informe de inventario reconciliado contra las ventas y amasados de un período de prueba.</a:t>
            </a:r>
            <a:endParaRPr sz="1000">
              <a:solidFill>
                <a:schemeClr val="dk1"/>
              </a:solidFill>
              <a:latin typeface="Calibri"/>
              <a:ea typeface="Calibri"/>
              <a:cs typeface="Calibri"/>
              <a:sym typeface="Calibri"/>
            </a:endParaRPr>
          </a:p>
        </p:txBody>
      </p:sp>
      <p:cxnSp>
        <p:nvCxnSpPr>
          <p:cNvPr id="421" name="Google Shape;421;p13"/>
          <p:cNvCxnSpPr/>
          <p:nvPr/>
        </p:nvCxnSpPr>
        <p:spPr>
          <a:xfrm>
            <a:off x="548640" y="4828032"/>
            <a:ext cx="11091672" cy="0"/>
          </a:xfrm>
          <a:prstGeom prst="straightConnector1">
            <a:avLst/>
          </a:prstGeom>
          <a:noFill/>
          <a:ln w="9525" cap="flat" cmpd="sng">
            <a:solidFill>
              <a:srgbClr val="E5D9C6"/>
            </a:solidFill>
            <a:prstDash val="solid"/>
            <a:round/>
            <a:headEnd type="none" w="sm" len="sm"/>
            <a:tailEnd type="none" w="sm" len="sm"/>
          </a:ln>
        </p:spPr>
      </p:cxnSp>
      <p:sp>
        <p:nvSpPr>
          <p:cNvPr id="422" name="Google Shape;422;p13"/>
          <p:cNvSpPr/>
          <p:nvPr/>
        </p:nvSpPr>
        <p:spPr>
          <a:xfrm>
            <a:off x="658368" y="4828032"/>
            <a:ext cx="868680" cy="53492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A2C1A"/>
              </a:buClr>
              <a:buSzPts val="1050"/>
              <a:buFont typeface="Calibri"/>
              <a:buNone/>
            </a:pPr>
            <a:r>
              <a:rPr lang="en-US" sz="1100" b="1">
                <a:solidFill>
                  <a:srgbClr val="4A2C1A"/>
                </a:solidFill>
                <a:latin typeface="Calibri"/>
                <a:ea typeface="Calibri"/>
                <a:cs typeface="Calibri"/>
                <a:sym typeface="Calibri"/>
              </a:rPr>
              <a:t>Sprint 6</a:t>
            </a:r>
            <a:endParaRPr sz="1100">
              <a:solidFill>
                <a:schemeClr val="dk1"/>
              </a:solidFill>
              <a:latin typeface="Calibri"/>
              <a:ea typeface="Calibri"/>
              <a:cs typeface="Calibri"/>
              <a:sym typeface="Calibri"/>
            </a:endParaRPr>
          </a:p>
        </p:txBody>
      </p:sp>
      <p:sp>
        <p:nvSpPr>
          <p:cNvPr id="423" name="Google Shape;423;p13"/>
          <p:cNvSpPr/>
          <p:nvPr/>
        </p:nvSpPr>
        <p:spPr>
          <a:xfrm>
            <a:off x="1709928" y="4828032"/>
            <a:ext cx="4215384" cy="53492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E2318"/>
              </a:buClr>
              <a:buSzPts val="950"/>
              <a:buFont typeface="Calibri"/>
              <a:buNone/>
            </a:pPr>
            <a:r>
              <a:rPr lang="en-US" sz="1000">
                <a:solidFill>
                  <a:srgbClr val="2E2318"/>
                </a:solidFill>
                <a:latin typeface="Calibri"/>
                <a:ea typeface="Calibri"/>
                <a:cs typeface="Calibri"/>
                <a:sym typeface="Calibri"/>
              </a:rPr>
              <a:t>Panel de indicadores con ventas por producto, sucursal y período, y detalle de mermas.</a:t>
            </a:r>
            <a:endParaRPr sz="1000">
              <a:solidFill>
                <a:schemeClr val="dk1"/>
              </a:solidFill>
              <a:latin typeface="Calibri"/>
              <a:ea typeface="Calibri"/>
              <a:cs typeface="Calibri"/>
              <a:sym typeface="Calibri"/>
            </a:endParaRPr>
          </a:p>
        </p:txBody>
      </p:sp>
      <p:sp>
        <p:nvSpPr>
          <p:cNvPr id="424" name="Google Shape;424;p13"/>
          <p:cNvSpPr/>
          <p:nvPr/>
        </p:nvSpPr>
        <p:spPr>
          <a:xfrm>
            <a:off x="6144768" y="4828032"/>
            <a:ext cx="5385816" cy="53492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E5F50"/>
              </a:buClr>
              <a:buSzPts val="950"/>
              <a:buFont typeface="Calibri"/>
              <a:buNone/>
            </a:pPr>
            <a:r>
              <a:rPr lang="en-US" sz="1000">
                <a:solidFill>
                  <a:srgbClr val="6E5F50"/>
                </a:solidFill>
                <a:latin typeface="Calibri"/>
                <a:ea typeface="Calibri"/>
                <a:cs typeface="Calibri"/>
                <a:sym typeface="Calibri"/>
              </a:rPr>
              <a:t>Panel desplegado con datos reales del período de operación del punto de venta.</a:t>
            </a:r>
            <a:endParaRPr sz="1000">
              <a:solidFill>
                <a:schemeClr val="dk1"/>
              </a:solidFill>
              <a:latin typeface="Calibri"/>
              <a:ea typeface="Calibri"/>
              <a:cs typeface="Calibri"/>
              <a:sym typeface="Calibri"/>
            </a:endParaRPr>
          </a:p>
        </p:txBody>
      </p:sp>
      <p:cxnSp>
        <p:nvCxnSpPr>
          <p:cNvPr id="425" name="Google Shape;425;p13"/>
          <p:cNvCxnSpPr/>
          <p:nvPr/>
        </p:nvCxnSpPr>
        <p:spPr>
          <a:xfrm>
            <a:off x="548640" y="5362956"/>
            <a:ext cx="11091672" cy="0"/>
          </a:xfrm>
          <a:prstGeom prst="straightConnector1">
            <a:avLst/>
          </a:prstGeom>
          <a:noFill/>
          <a:ln w="9525" cap="flat" cmpd="sng">
            <a:solidFill>
              <a:srgbClr val="E5D9C6"/>
            </a:solidFill>
            <a:prstDash val="solid"/>
            <a:round/>
            <a:headEnd type="none" w="sm" len="sm"/>
            <a:tailEnd type="none" w="sm" len="sm"/>
          </a:ln>
        </p:spPr>
      </p:cxnSp>
      <p:sp>
        <p:nvSpPr>
          <p:cNvPr id="426" name="Google Shape;426;p13"/>
          <p:cNvSpPr/>
          <p:nvPr/>
        </p:nvSpPr>
        <p:spPr>
          <a:xfrm>
            <a:off x="548640" y="5362956"/>
            <a:ext cx="11091672" cy="534924"/>
          </a:xfrm>
          <a:prstGeom prst="rect">
            <a:avLst/>
          </a:prstGeom>
          <a:solidFill>
            <a:srgbClr val="F6EFE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27" name="Google Shape;427;p13"/>
          <p:cNvSpPr/>
          <p:nvPr/>
        </p:nvSpPr>
        <p:spPr>
          <a:xfrm>
            <a:off x="658368" y="5362956"/>
            <a:ext cx="868680" cy="53492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A2C1A"/>
              </a:buClr>
              <a:buSzPts val="1050"/>
              <a:buFont typeface="Calibri"/>
              <a:buNone/>
            </a:pPr>
            <a:r>
              <a:rPr lang="en-US" sz="1100" b="1">
                <a:solidFill>
                  <a:srgbClr val="4A2C1A"/>
                </a:solidFill>
                <a:latin typeface="Calibri"/>
                <a:ea typeface="Calibri"/>
                <a:cs typeface="Calibri"/>
                <a:sym typeface="Calibri"/>
              </a:rPr>
              <a:t>Sprint 7</a:t>
            </a:r>
            <a:endParaRPr sz="1100">
              <a:solidFill>
                <a:schemeClr val="dk1"/>
              </a:solidFill>
              <a:latin typeface="Calibri"/>
              <a:ea typeface="Calibri"/>
              <a:cs typeface="Calibri"/>
              <a:sym typeface="Calibri"/>
            </a:endParaRPr>
          </a:p>
        </p:txBody>
      </p:sp>
      <p:sp>
        <p:nvSpPr>
          <p:cNvPr id="428" name="Google Shape;428;p13"/>
          <p:cNvSpPr/>
          <p:nvPr/>
        </p:nvSpPr>
        <p:spPr>
          <a:xfrm>
            <a:off x="1709928" y="5362956"/>
            <a:ext cx="4215384" cy="53492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E2318"/>
              </a:buClr>
              <a:buSzPts val="950"/>
              <a:buFont typeface="Calibri"/>
              <a:buNone/>
            </a:pPr>
            <a:r>
              <a:rPr lang="en-US" sz="1000">
                <a:solidFill>
                  <a:srgbClr val="2E2318"/>
                </a:solidFill>
                <a:latin typeface="Calibri"/>
                <a:ea typeface="Calibri"/>
                <a:cs typeface="Calibri"/>
                <a:sym typeface="Calibri"/>
              </a:rPr>
              <a:t>Servicio de predicción integrado que entrega la producción sugerida del día siguiente.</a:t>
            </a:r>
            <a:endParaRPr sz="1000">
              <a:solidFill>
                <a:schemeClr val="dk1"/>
              </a:solidFill>
              <a:latin typeface="Calibri"/>
              <a:ea typeface="Calibri"/>
              <a:cs typeface="Calibri"/>
              <a:sym typeface="Calibri"/>
            </a:endParaRPr>
          </a:p>
        </p:txBody>
      </p:sp>
      <p:sp>
        <p:nvSpPr>
          <p:cNvPr id="429" name="Google Shape;429;p13"/>
          <p:cNvSpPr/>
          <p:nvPr/>
        </p:nvSpPr>
        <p:spPr>
          <a:xfrm>
            <a:off x="6144768" y="5362956"/>
            <a:ext cx="5385816" cy="53492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E5F50"/>
              </a:buClr>
              <a:buSzPts val="950"/>
              <a:buFont typeface="Calibri"/>
              <a:buNone/>
            </a:pPr>
            <a:r>
              <a:rPr lang="en-US" sz="1000">
                <a:solidFill>
                  <a:srgbClr val="6E5F50"/>
                </a:solidFill>
                <a:latin typeface="Calibri"/>
                <a:ea typeface="Calibri"/>
                <a:cs typeface="Calibri"/>
                <a:sym typeface="Calibri"/>
              </a:rPr>
              <a:t>Informe de evaluación del modelo con MAE y RMSE frente a la línea base documentada.</a:t>
            </a:r>
            <a:endParaRPr sz="1000">
              <a:solidFill>
                <a:schemeClr val="dk1"/>
              </a:solidFill>
              <a:latin typeface="Calibri"/>
              <a:ea typeface="Calibri"/>
              <a:cs typeface="Calibri"/>
              <a:sym typeface="Calibri"/>
            </a:endParaRPr>
          </a:p>
        </p:txBody>
      </p:sp>
      <p:cxnSp>
        <p:nvCxnSpPr>
          <p:cNvPr id="430" name="Google Shape;430;p13"/>
          <p:cNvCxnSpPr/>
          <p:nvPr/>
        </p:nvCxnSpPr>
        <p:spPr>
          <a:xfrm>
            <a:off x="548640" y="5897880"/>
            <a:ext cx="11091672" cy="0"/>
          </a:xfrm>
          <a:prstGeom prst="straightConnector1">
            <a:avLst/>
          </a:prstGeom>
          <a:noFill/>
          <a:ln w="9525" cap="flat" cmpd="sng">
            <a:solidFill>
              <a:srgbClr val="E5D9C6"/>
            </a:solidFill>
            <a:prstDash val="solid"/>
            <a:round/>
            <a:headEnd type="none" w="sm" len="sm"/>
            <a:tailEnd type="none" w="sm" len="sm"/>
          </a:ln>
        </p:spPr>
      </p:cxnSp>
      <p:sp>
        <p:nvSpPr>
          <p:cNvPr id="431" name="Google Shape;431;p13"/>
          <p:cNvSpPr/>
          <p:nvPr/>
        </p:nvSpPr>
        <p:spPr>
          <a:xfrm>
            <a:off x="658368" y="5897880"/>
            <a:ext cx="868680" cy="53492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A2C1A"/>
              </a:buClr>
              <a:buSzPts val="1050"/>
              <a:buFont typeface="Calibri"/>
              <a:buNone/>
            </a:pPr>
            <a:r>
              <a:rPr lang="en-US" sz="1100" b="1">
                <a:solidFill>
                  <a:srgbClr val="4A2C1A"/>
                </a:solidFill>
                <a:latin typeface="Calibri"/>
                <a:ea typeface="Calibri"/>
                <a:cs typeface="Calibri"/>
                <a:sym typeface="Calibri"/>
              </a:rPr>
              <a:t>Sprint 8</a:t>
            </a:r>
            <a:endParaRPr sz="1100">
              <a:solidFill>
                <a:schemeClr val="dk1"/>
              </a:solidFill>
              <a:latin typeface="Calibri"/>
              <a:ea typeface="Calibri"/>
              <a:cs typeface="Calibri"/>
              <a:sym typeface="Calibri"/>
            </a:endParaRPr>
          </a:p>
        </p:txBody>
      </p:sp>
      <p:sp>
        <p:nvSpPr>
          <p:cNvPr id="432" name="Google Shape;432;p13"/>
          <p:cNvSpPr/>
          <p:nvPr/>
        </p:nvSpPr>
        <p:spPr>
          <a:xfrm>
            <a:off x="1709928" y="5897880"/>
            <a:ext cx="4215384" cy="53492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E2318"/>
              </a:buClr>
              <a:buSzPts val="950"/>
              <a:buFont typeface="Calibri"/>
              <a:buNone/>
            </a:pPr>
            <a:r>
              <a:rPr lang="en-US" sz="1000">
                <a:solidFill>
                  <a:srgbClr val="2E2318"/>
                </a:solidFill>
                <a:latin typeface="Calibri"/>
                <a:ea typeface="Calibri"/>
                <a:cs typeface="Calibri"/>
                <a:sym typeface="Calibri"/>
              </a:rPr>
              <a:t>Operación multisucursal validada y segunda panadería instanciada solo por configuración.</a:t>
            </a:r>
            <a:endParaRPr sz="1000">
              <a:solidFill>
                <a:schemeClr val="dk1"/>
              </a:solidFill>
              <a:latin typeface="Calibri"/>
              <a:ea typeface="Calibri"/>
              <a:cs typeface="Calibri"/>
              <a:sym typeface="Calibri"/>
            </a:endParaRPr>
          </a:p>
        </p:txBody>
      </p:sp>
      <p:sp>
        <p:nvSpPr>
          <p:cNvPr id="433" name="Google Shape;433;p13"/>
          <p:cNvSpPr/>
          <p:nvPr/>
        </p:nvSpPr>
        <p:spPr>
          <a:xfrm>
            <a:off x="6144768" y="5897880"/>
            <a:ext cx="5385816" cy="53492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E5F50"/>
              </a:buClr>
              <a:buSzPts val="950"/>
              <a:buFont typeface="Calibri"/>
              <a:buNone/>
            </a:pPr>
            <a:r>
              <a:rPr lang="en-US" sz="1000">
                <a:solidFill>
                  <a:srgbClr val="6E5F50"/>
                </a:solidFill>
                <a:latin typeface="Calibri"/>
                <a:ea typeface="Calibri"/>
                <a:cs typeface="Calibri"/>
                <a:sym typeface="Calibri"/>
              </a:rPr>
              <a:t>Dos panaderías funcionando sobre la misma versión compilada e informe de pruebas final.</a:t>
            </a:r>
            <a:endParaRPr sz="1000">
              <a:solidFill>
                <a:schemeClr val="dk1"/>
              </a:solidFill>
              <a:latin typeface="Calibri"/>
              <a:ea typeface="Calibri"/>
              <a:cs typeface="Calibri"/>
              <a:sym typeface="Calibri"/>
            </a:endParaRPr>
          </a:p>
        </p:txBody>
      </p:sp>
      <p:cxnSp>
        <p:nvCxnSpPr>
          <p:cNvPr id="434" name="Google Shape;434;p13"/>
          <p:cNvCxnSpPr/>
          <p:nvPr/>
        </p:nvCxnSpPr>
        <p:spPr>
          <a:xfrm>
            <a:off x="548640" y="6432804"/>
            <a:ext cx="11091672" cy="0"/>
          </a:xfrm>
          <a:prstGeom prst="straightConnector1">
            <a:avLst/>
          </a:prstGeom>
          <a:noFill/>
          <a:ln w="9525" cap="flat" cmpd="sng">
            <a:solidFill>
              <a:srgbClr val="E5D9C6"/>
            </a:solidFill>
            <a:prstDash val="solid"/>
            <a:round/>
            <a:headEnd type="none" w="sm" len="sm"/>
            <a:tailEnd type="none" w="sm" len="sm"/>
          </a:ln>
        </p:spPr>
      </p:cxnSp>
      <p:sp>
        <p:nvSpPr>
          <p:cNvPr id="435" name="Google Shape;435;p13"/>
          <p:cNvSpPr/>
          <p:nvPr/>
        </p:nvSpPr>
        <p:spPr>
          <a:xfrm>
            <a:off x="11457432" y="6419088"/>
            <a:ext cx="45720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6E5F50"/>
              </a:buClr>
              <a:buSzPts val="1000"/>
              <a:buFont typeface="Calibri"/>
              <a:buNone/>
            </a:pPr>
            <a:r>
              <a:rPr lang="en-US" sz="1050">
                <a:solidFill>
                  <a:srgbClr val="6E5F50"/>
                </a:solidFill>
                <a:latin typeface="Calibri"/>
                <a:ea typeface="Calibri"/>
                <a:cs typeface="Calibri"/>
                <a:sym typeface="Calibri"/>
              </a:rPr>
              <a:t>13</a:t>
            </a:r>
            <a:endParaRPr sz="1050">
              <a:solidFill>
                <a:schemeClr val="dk1"/>
              </a:solidFill>
              <a:latin typeface="Calibri"/>
              <a:ea typeface="Calibri"/>
              <a:cs typeface="Calibri"/>
              <a:sym typeface="Calibri"/>
            </a:endParaRPr>
          </a:p>
        </p:txBody>
      </p:sp>
      <p:sp>
        <p:nvSpPr>
          <p:cNvPr id="3" name="Google Shape;288;p11">
            <a:extLst>
              <a:ext uri="{FF2B5EF4-FFF2-40B4-BE49-F238E27FC236}">
                <a16:creationId xmlns:a16="http://schemas.microsoft.com/office/drawing/2014/main" id="{207CBA46-74CF-BCE4-3052-93775EB405C6}"/>
              </a:ext>
            </a:extLst>
          </p:cNvPr>
          <p:cNvSpPr/>
          <p:nvPr/>
        </p:nvSpPr>
        <p:spPr>
          <a:xfrm>
            <a:off x="548640" y="320040"/>
            <a:ext cx="11091672" cy="6858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D9A441"/>
              </a:buClr>
              <a:buSzPts val="3000"/>
              <a:buFont typeface="Cambria"/>
              <a:buNone/>
            </a:pPr>
            <a:r>
              <a:rPr lang="en-US" sz="3000" b="1" i="0" u="none" strike="noStrike" cap="none" dirty="0" err="1">
                <a:solidFill>
                  <a:srgbClr val="D9A441"/>
                </a:solidFill>
                <a:latin typeface="Calibri"/>
                <a:ea typeface="Calibri"/>
                <a:cs typeface="Calibri"/>
                <a:sym typeface="Calibri"/>
              </a:rPr>
              <a:t>E</a:t>
            </a:r>
            <a:r>
              <a:rPr lang="en-US" sz="3000" b="1" i="0" u="none" strike="noStrike" cap="none" dirty="0" err="1">
                <a:solidFill>
                  <a:srgbClr val="4A2C1A"/>
                </a:solidFill>
                <a:latin typeface="Calibri"/>
                <a:ea typeface="Calibri"/>
                <a:cs typeface="Calibri"/>
                <a:sym typeface="Calibri"/>
              </a:rPr>
              <a:t>videncias</a:t>
            </a:r>
            <a:r>
              <a:rPr lang="en-US" sz="3000" b="1" i="0" u="none" strike="noStrike" cap="none" dirty="0">
                <a:solidFill>
                  <a:srgbClr val="4A2C1A"/>
                </a:solidFill>
                <a:latin typeface="Calibri"/>
                <a:ea typeface="Calibri"/>
                <a:cs typeface="Calibri"/>
                <a:sym typeface="Calibri"/>
              </a:rPr>
              <a:t> </a:t>
            </a:r>
            <a:r>
              <a:rPr lang="en-US" sz="3000" b="1" i="0" u="none" strike="noStrike" cap="none" dirty="0" err="1">
                <a:solidFill>
                  <a:srgbClr val="4A2C1A"/>
                </a:solidFill>
                <a:latin typeface="Calibri"/>
                <a:ea typeface="Calibri"/>
                <a:cs typeface="Calibri"/>
                <a:sym typeface="Calibri"/>
              </a:rPr>
              <a:t>por</a:t>
            </a:r>
            <a:r>
              <a:rPr lang="en-US" sz="3000" b="1" i="0" u="none" strike="noStrike" cap="none" dirty="0">
                <a:solidFill>
                  <a:srgbClr val="4A2C1A"/>
                </a:solidFill>
                <a:latin typeface="Calibri"/>
                <a:ea typeface="Calibri"/>
                <a:cs typeface="Calibri"/>
                <a:sym typeface="Calibri"/>
              </a:rPr>
              <a:t> sprint</a:t>
            </a:r>
            <a:endParaRPr sz="3000" i="0" u="none" strike="noStrike" cap="none" dirty="0">
              <a:solidFill>
                <a:srgbClr val="4A2C1A"/>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40"/>
        <p:cNvGrpSpPr/>
        <p:nvPr/>
      </p:nvGrpSpPr>
      <p:grpSpPr>
        <a:xfrm>
          <a:off x="0" y="0"/>
          <a:ext cx="0" cy="0"/>
          <a:chOff x="0" y="0"/>
          <a:chExt cx="0" cy="0"/>
        </a:xfrm>
      </p:grpSpPr>
      <p:sp>
        <p:nvSpPr>
          <p:cNvPr id="442" name="Google Shape;442;p14"/>
          <p:cNvSpPr/>
          <p:nvPr/>
        </p:nvSpPr>
        <p:spPr>
          <a:xfrm>
            <a:off x="548640" y="1207008"/>
            <a:ext cx="4617720" cy="274320"/>
          </a:xfrm>
          <a:prstGeom prst="rect">
            <a:avLst/>
          </a:pr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43" name="Google Shape;443;p14"/>
          <p:cNvSpPr/>
          <p:nvPr/>
        </p:nvSpPr>
        <p:spPr>
          <a:xfrm>
            <a:off x="5166360" y="1207008"/>
            <a:ext cx="1438656" cy="274320"/>
          </a:xfrm>
          <a:prstGeom prst="rect">
            <a:avLst/>
          </a:prstGeom>
          <a:solidFill>
            <a:srgbClr val="D9A44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44" name="Google Shape;444;p14"/>
          <p:cNvSpPr/>
          <p:nvPr/>
        </p:nvSpPr>
        <p:spPr>
          <a:xfrm>
            <a:off x="5166360" y="1207008"/>
            <a:ext cx="1438656"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4A2C1A"/>
              </a:buClr>
              <a:buSzPts val="950"/>
              <a:buFont typeface="Calibri"/>
              <a:buNone/>
            </a:pPr>
            <a:r>
              <a:rPr lang="en-US" sz="950" b="1">
                <a:solidFill>
                  <a:srgbClr val="4A2C1A"/>
                </a:solidFill>
                <a:latin typeface="Calibri"/>
                <a:ea typeface="Calibri"/>
                <a:cs typeface="Calibri"/>
                <a:sym typeface="Calibri"/>
              </a:rPr>
              <a:t>Fase 1</a:t>
            </a:r>
            <a:endParaRPr sz="950">
              <a:solidFill>
                <a:schemeClr val="dk1"/>
              </a:solidFill>
              <a:latin typeface="Calibri"/>
              <a:ea typeface="Calibri"/>
              <a:cs typeface="Calibri"/>
              <a:sym typeface="Calibri"/>
            </a:endParaRPr>
          </a:p>
        </p:txBody>
      </p:sp>
      <p:sp>
        <p:nvSpPr>
          <p:cNvPr id="445" name="Google Shape;445;p14"/>
          <p:cNvSpPr/>
          <p:nvPr/>
        </p:nvSpPr>
        <p:spPr>
          <a:xfrm>
            <a:off x="6605016" y="1207008"/>
            <a:ext cx="4315968" cy="274320"/>
          </a:xfrm>
          <a:prstGeom prst="rect">
            <a:avLst/>
          </a:prstGeom>
          <a:solidFill>
            <a:srgbClr val="6B422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46" name="Google Shape;446;p14"/>
          <p:cNvSpPr/>
          <p:nvPr/>
        </p:nvSpPr>
        <p:spPr>
          <a:xfrm>
            <a:off x="6605016" y="1207008"/>
            <a:ext cx="4315968"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950"/>
              <a:buFont typeface="Calibri"/>
              <a:buNone/>
            </a:pPr>
            <a:r>
              <a:rPr lang="en-US" sz="950" b="1">
                <a:solidFill>
                  <a:srgbClr val="FFFFFF"/>
                </a:solidFill>
                <a:latin typeface="Calibri"/>
                <a:ea typeface="Calibri"/>
                <a:cs typeface="Calibri"/>
                <a:sym typeface="Calibri"/>
              </a:rPr>
              <a:t>Fase 2</a:t>
            </a:r>
            <a:endParaRPr sz="950">
              <a:solidFill>
                <a:schemeClr val="dk1"/>
              </a:solidFill>
              <a:latin typeface="Calibri"/>
              <a:ea typeface="Calibri"/>
              <a:cs typeface="Calibri"/>
              <a:sym typeface="Calibri"/>
            </a:endParaRPr>
          </a:p>
        </p:txBody>
      </p:sp>
      <p:sp>
        <p:nvSpPr>
          <p:cNvPr id="447" name="Google Shape;447;p14"/>
          <p:cNvSpPr/>
          <p:nvPr/>
        </p:nvSpPr>
        <p:spPr>
          <a:xfrm>
            <a:off x="10920984" y="1207008"/>
            <a:ext cx="719328" cy="274320"/>
          </a:xfrm>
          <a:prstGeom prst="rect">
            <a:avLst/>
          </a:prstGeom>
          <a:solidFill>
            <a:srgbClr val="4A2C1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48" name="Google Shape;448;p14"/>
          <p:cNvSpPr/>
          <p:nvPr/>
        </p:nvSpPr>
        <p:spPr>
          <a:xfrm>
            <a:off x="10920984" y="1207008"/>
            <a:ext cx="719328"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950"/>
              <a:buFont typeface="Calibri"/>
              <a:buNone/>
            </a:pPr>
            <a:r>
              <a:rPr lang="en-US" sz="950" b="1">
                <a:solidFill>
                  <a:srgbClr val="FFFFFF"/>
                </a:solidFill>
                <a:latin typeface="Calibri"/>
                <a:ea typeface="Calibri"/>
                <a:cs typeface="Calibri"/>
                <a:sym typeface="Calibri"/>
              </a:rPr>
              <a:t>Fase 3</a:t>
            </a:r>
            <a:endParaRPr sz="950">
              <a:solidFill>
                <a:schemeClr val="dk1"/>
              </a:solidFill>
              <a:latin typeface="Calibri"/>
              <a:ea typeface="Calibri"/>
              <a:cs typeface="Calibri"/>
              <a:sym typeface="Calibri"/>
            </a:endParaRPr>
          </a:p>
        </p:txBody>
      </p:sp>
      <p:sp>
        <p:nvSpPr>
          <p:cNvPr id="449" name="Google Shape;449;p14"/>
          <p:cNvSpPr/>
          <p:nvPr/>
        </p:nvSpPr>
        <p:spPr>
          <a:xfrm>
            <a:off x="548640" y="1481328"/>
            <a:ext cx="11091672" cy="274320"/>
          </a:xfrm>
          <a:prstGeom prst="rect">
            <a:avLst/>
          </a:prstGeom>
          <a:solidFill>
            <a:srgbClr val="E9DEC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50" name="Google Shape;450;p14"/>
          <p:cNvSpPr/>
          <p:nvPr/>
        </p:nvSpPr>
        <p:spPr>
          <a:xfrm>
            <a:off x="621792" y="1481328"/>
            <a:ext cx="2185416"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E2318"/>
              </a:buClr>
              <a:buSzPts val="900"/>
              <a:buFont typeface="Calibri"/>
              <a:buNone/>
            </a:pPr>
            <a:r>
              <a:rPr lang="en-US" sz="900" b="1">
                <a:solidFill>
                  <a:srgbClr val="2E2318"/>
                </a:solidFill>
                <a:latin typeface="Calibri"/>
                <a:ea typeface="Calibri"/>
                <a:cs typeface="Calibri"/>
                <a:sym typeface="Calibri"/>
              </a:rPr>
              <a:t>Sprint / Actividad</a:t>
            </a:r>
            <a:endParaRPr sz="900">
              <a:solidFill>
                <a:schemeClr val="dk1"/>
              </a:solidFill>
              <a:latin typeface="Calibri"/>
              <a:ea typeface="Calibri"/>
              <a:cs typeface="Calibri"/>
              <a:sym typeface="Calibri"/>
            </a:endParaRPr>
          </a:p>
        </p:txBody>
      </p:sp>
      <p:sp>
        <p:nvSpPr>
          <p:cNvPr id="451" name="Google Shape;451;p14"/>
          <p:cNvSpPr/>
          <p:nvPr/>
        </p:nvSpPr>
        <p:spPr>
          <a:xfrm>
            <a:off x="2953512" y="1481328"/>
            <a:ext cx="2139696"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E2318"/>
              </a:buClr>
              <a:buSzPts val="900"/>
              <a:buFont typeface="Calibri"/>
              <a:buNone/>
            </a:pPr>
            <a:r>
              <a:rPr lang="en-US" sz="900" b="1">
                <a:solidFill>
                  <a:srgbClr val="2E2318"/>
                </a:solidFill>
                <a:latin typeface="Calibri"/>
                <a:ea typeface="Calibri"/>
                <a:cs typeface="Calibri"/>
                <a:sym typeface="Calibri"/>
              </a:rPr>
              <a:t>Historia de usuario principal</a:t>
            </a:r>
            <a:endParaRPr sz="900">
              <a:solidFill>
                <a:schemeClr val="dk1"/>
              </a:solidFill>
              <a:latin typeface="Calibri"/>
              <a:ea typeface="Calibri"/>
              <a:cs typeface="Calibri"/>
              <a:sym typeface="Calibri"/>
            </a:endParaRPr>
          </a:p>
        </p:txBody>
      </p:sp>
      <p:sp>
        <p:nvSpPr>
          <p:cNvPr id="452" name="Google Shape;452;p14"/>
          <p:cNvSpPr/>
          <p:nvPr/>
        </p:nvSpPr>
        <p:spPr>
          <a:xfrm>
            <a:off x="5166360" y="1481328"/>
            <a:ext cx="359664"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E2318"/>
              </a:buClr>
              <a:buSzPts val="750"/>
              <a:buFont typeface="Calibri"/>
              <a:buNone/>
            </a:pPr>
            <a:r>
              <a:rPr lang="en-US" sz="750" b="1">
                <a:solidFill>
                  <a:srgbClr val="2E2318"/>
                </a:solidFill>
                <a:latin typeface="Calibri"/>
                <a:ea typeface="Calibri"/>
                <a:cs typeface="Calibri"/>
                <a:sym typeface="Calibri"/>
              </a:rPr>
              <a:t>S1</a:t>
            </a:r>
            <a:endParaRPr sz="750">
              <a:solidFill>
                <a:schemeClr val="dk1"/>
              </a:solidFill>
              <a:latin typeface="Calibri"/>
              <a:ea typeface="Calibri"/>
              <a:cs typeface="Calibri"/>
              <a:sym typeface="Calibri"/>
            </a:endParaRPr>
          </a:p>
        </p:txBody>
      </p:sp>
      <p:cxnSp>
        <p:nvCxnSpPr>
          <p:cNvPr id="453" name="Google Shape;453;p14"/>
          <p:cNvCxnSpPr/>
          <p:nvPr/>
        </p:nvCxnSpPr>
        <p:spPr>
          <a:xfrm>
            <a:off x="5166360" y="1481328"/>
            <a:ext cx="0" cy="4663440"/>
          </a:xfrm>
          <a:prstGeom prst="straightConnector1">
            <a:avLst/>
          </a:prstGeom>
          <a:noFill/>
          <a:ln w="9525" cap="flat" cmpd="sng">
            <a:solidFill>
              <a:srgbClr val="E5D9C6"/>
            </a:solidFill>
            <a:prstDash val="solid"/>
            <a:round/>
            <a:headEnd type="none" w="sm" len="sm"/>
            <a:tailEnd type="none" w="sm" len="sm"/>
          </a:ln>
        </p:spPr>
      </p:cxnSp>
      <p:sp>
        <p:nvSpPr>
          <p:cNvPr id="454" name="Google Shape;454;p14"/>
          <p:cNvSpPr/>
          <p:nvPr/>
        </p:nvSpPr>
        <p:spPr>
          <a:xfrm>
            <a:off x="5526024" y="1481328"/>
            <a:ext cx="359664"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E2318"/>
              </a:buClr>
              <a:buSzPts val="750"/>
              <a:buFont typeface="Calibri"/>
              <a:buNone/>
            </a:pPr>
            <a:r>
              <a:rPr lang="en-US" sz="750" b="1">
                <a:solidFill>
                  <a:srgbClr val="2E2318"/>
                </a:solidFill>
                <a:latin typeface="Calibri"/>
                <a:ea typeface="Calibri"/>
                <a:cs typeface="Calibri"/>
                <a:sym typeface="Calibri"/>
              </a:rPr>
              <a:t>S2</a:t>
            </a:r>
            <a:endParaRPr sz="750">
              <a:solidFill>
                <a:schemeClr val="dk1"/>
              </a:solidFill>
              <a:latin typeface="Calibri"/>
              <a:ea typeface="Calibri"/>
              <a:cs typeface="Calibri"/>
              <a:sym typeface="Calibri"/>
            </a:endParaRPr>
          </a:p>
        </p:txBody>
      </p:sp>
      <p:cxnSp>
        <p:nvCxnSpPr>
          <p:cNvPr id="455" name="Google Shape;455;p14"/>
          <p:cNvCxnSpPr/>
          <p:nvPr/>
        </p:nvCxnSpPr>
        <p:spPr>
          <a:xfrm>
            <a:off x="5526024" y="1481328"/>
            <a:ext cx="0" cy="4663440"/>
          </a:xfrm>
          <a:prstGeom prst="straightConnector1">
            <a:avLst/>
          </a:prstGeom>
          <a:noFill/>
          <a:ln w="9525" cap="flat" cmpd="sng">
            <a:solidFill>
              <a:srgbClr val="E5D9C6"/>
            </a:solidFill>
            <a:prstDash val="solid"/>
            <a:round/>
            <a:headEnd type="none" w="sm" len="sm"/>
            <a:tailEnd type="none" w="sm" len="sm"/>
          </a:ln>
        </p:spPr>
      </p:cxnSp>
      <p:sp>
        <p:nvSpPr>
          <p:cNvPr id="456" name="Google Shape;456;p14"/>
          <p:cNvSpPr/>
          <p:nvPr/>
        </p:nvSpPr>
        <p:spPr>
          <a:xfrm>
            <a:off x="5885688" y="1481328"/>
            <a:ext cx="359664"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E2318"/>
              </a:buClr>
              <a:buSzPts val="750"/>
              <a:buFont typeface="Calibri"/>
              <a:buNone/>
            </a:pPr>
            <a:r>
              <a:rPr lang="en-US" sz="750" b="1">
                <a:solidFill>
                  <a:srgbClr val="2E2318"/>
                </a:solidFill>
                <a:latin typeface="Calibri"/>
                <a:ea typeface="Calibri"/>
                <a:cs typeface="Calibri"/>
                <a:sym typeface="Calibri"/>
              </a:rPr>
              <a:t>S3</a:t>
            </a:r>
            <a:endParaRPr sz="750">
              <a:solidFill>
                <a:schemeClr val="dk1"/>
              </a:solidFill>
              <a:latin typeface="Calibri"/>
              <a:ea typeface="Calibri"/>
              <a:cs typeface="Calibri"/>
              <a:sym typeface="Calibri"/>
            </a:endParaRPr>
          </a:p>
        </p:txBody>
      </p:sp>
      <p:cxnSp>
        <p:nvCxnSpPr>
          <p:cNvPr id="457" name="Google Shape;457;p14"/>
          <p:cNvCxnSpPr/>
          <p:nvPr/>
        </p:nvCxnSpPr>
        <p:spPr>
          <a:xfrm>
            <a:off x="5885688" y="1481328"/>
            <a:ext cx="0" cy="4663440"/>
          </a:xfrm>
          <a:prstGeom prst="straightConnector1">
            <a:avLst/>
          </a:prstGeom>
          <a:noFill/>
          <a:ln w="9525" cap="flat" cmpd="sng">
            <a:solidFill>
              <a:srgbClr val="E5D9C6"/>
            </a:solidFill>
            <a:prstDash val="solid"/>
            <a:round/>
            <a:headEnd type="none" w="sm" len="sm"/>
            <a:tailEnd type="none" w="sm" len="sm"/>
          </a:ln>
        </p:spPr>
      </p:cxnSp>
      <p:sp>
        <p:nvSpPr>
          <p:cNvPr id="458" name="Google Shape;458;p14"/>
          <p:cNvSpPr/>
          <p:nvPr/>
        </p:nvSpPr>
        <p:spPr>
          <a:xfrm>
            <a:off x="6245352" y="1481328"/>
            <a:ext cx="359664"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E2318"/>
              </a:buClr>
              <a:buSzPts val="750"/>
              <a:buFont typeface="Calibri"/>
              <a:buNone/>
            </a:pPr>
            <a:r>
              <a:rPr lang="en-US" sz="750" b="1">
                <a:solidFill>
                  <a:srgbClr val="2E2318"/>
                </a:solidFill>
                <a:latin typeface="Calibri"/>
                <a:ea typeface="Calibri"/>
                <a:cs typeface="Calibri"/>
                <a:sym typeface="Calibri"/>
              </a:rPr>
              <a:t>S4</a:t>
            </a:r>
            <a:endParaRPr sz="750">
              <a:solidFill>
                <a:schemeClr val="dk1"/>
              </a:solidFill>
              <a:latin typeface="Calibri"/>
              <a:ea typeface="Calibri"/>
              <a:cs typeface="Calibri"/>
              <a:sym typeface="Calibri"/>
            </a:endParaRPr>
          </a:p>
        </p:txBody>
      </p:sp>
      <p:cxnSp>
        <p:nvCxnSpPr>
          <p:cNvPr id="459" name="Google Shape;459;p14"/>
          <p:cNvCxnSpPr/>
          <p:nvPr/>
        </p:nvCxnSpPr>
        <p:spPr>
          <a:xfrm>
            <a:off x="6245352" y="1481328"/>
            <a:ext cx="0" cy="4663440"/>
          </a:xfrm>
          <a:prstGeom prst="straightConnector1">
            <a:avLst/>
          </a:prstGeom>
          <a:noFill/>
          <a:ln w="9525" cap="flat" cmpd="sng">
            <a:solidFill>
              <a:srgbClr val="E5D9C6"/>
            </a:solidFill>
            <a:prstDash val="solid"/>
            <a:round/>
            <a:headEnd type="none" w="sm" len="sm"/>
            <a:tailEnd type="none" w="sm" len="sm"/>
          </a:ln>
        </p:spPr>
      </p:cxnSp>
      <p:sp>
        <p:nvSpPr>
          <p:cNvPr id="460" name="Google Shape;460;p14"/>
          <p:cNvSpPr/>
          <p:nvPr/>
        </p:nvSpPr>
        <p:spPr>
          <a:xfrm>
            <a:off x="6605016" y="1481328"/>
            <a:ext cx="359664"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E2318"/>
              </a:buClr>
              <a:buSzPts val="750"/>
              <a:buFont typeface="Calibri"/>
              <a:buNone/>
            </a:pPr>
            <a:r>
              <a:rPr lang="en-US" sz="750" b="1">
                <a:solidFill>
                  <a:srgbClr val="2E2318"/>
                </a:solidFill>
                <a:latin typeface="Calibri"/>
                <a:ea typeface="Calibri"/>
                <a:cs typeface="Calibri"/>
                <a:sym typeface="Calibri"/>
              </a:rPr>
              <a:t>S5</a:t>
            </a:r>
            <a:endParaRPr sz="750">
              <a:solidFill>
                <a:schemeClr val="dk1"/>
              </a:solidFill>
              <a:latin typeface="Calibri"/>
              <a:ea typeface="Calibri"/>
              <a:cs typeface="Calibri"/>
              <a:sym typeface="Calibri"/>
            </a:endParaRPr>
          </a:p>
        </p:txBody>
      </p:sp>
      <p:cxnSp>
        <p:nvCxnSpPr>
          <p:cNvPr id="461" name="Google Shape;461;p14"/>
          <p:cNvCxnSpPr/>
          <p:nvPr/>
        </p:nvCxnSpPr>
        <p:spPr>
          <a:xfrm>
            <a:off x="6605016" y="1481328"/>
            <a:ext cx="0" cy="4663440"/>
          </a:xfrm>
          <a:prstGeom prst="straightConnector1">
            <a:avLst/>
          </a:prstGeom>
          <a:noFill/>
          <a:ln w="9525" cap="flat" cmpd="sng">
            <a:solidFill>
              <a:srgbClr val="E5D9C6"/>
            </a:solidFill>
            <a:prstDash val="solid"/>
            <a:round/>
            <a:headEnd type="none" w="sm" len="sm"/>
            <a:tailEnd type="none" w="sm" len="sm"/>
          </a:ln>
        </p:spPr>
      </p:cxnSp>
      <p:sp>
        <p:nvSpPr>
          <p:cNvPr id="462" name="Google Shape;462;p14"/>
          <p:cNvSpPr/>
          <p:nvPr/>
        </p:nvSpPr>
        <p:spPr>
          <a:xfrm>
            <a:off x="6964680" y="1481328"/>
            <a:ext cx="359664"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E2318"/>
              </a:buClr>
              <a:buSzPts val="750"/>
              <a:buFont typeface="Calibri"/>
              <a:buNone/>
            </a:pPr>
            <a:r>
              <a:rPr lang="en-US" sz="750" b="1">
                <a:solidFill>
                  <a:srgbClr val="2E2318"/>
                </a:solidFill>
                <a:latin typeface="Calibri"/>
                <a:ea typeface="Calibri"/>
                <a:cs typeface="Calibri"/>
                <a:sym typeface="Calibri"/>
              </a:rPr>
              <a:t>S6</a:t>
            </a:r>
            <a:endParaRPr sz="750">
              <a:solidFill>
                <a:schemeClr val="dk1"/>
              </a:solidFill>
              <a:latin typeface="Calibri"/>
              <a:ea typeface="Calibri"/>
              <a:cs typeface="Calibri"/>
              <a:sym typeface="Calibri"/>
            </a:endParaRPr>
          </a:p>
        </p:txBody>
      </p:sp>
      <p:cxnSp>
        <p:nvCxnSpPr>
          <p:cNvPr id="463" name="Google Shape;463;p14"/>
          <p:cNvCxnSpPr/>
          <p:nvPr/>
        </p:nvCxnSpPr>
        <p:spPr>
          <a:xfrm>
            <a:off x="6964680" y="1481328"/>
            <a:ext cx="0" cy="4663440"/>
          </a:xfrm>
          <a:prstGeom prst="straightConnector1">
            <a:avLst/>
          </a:prstGeom>
          <a:noFill/>
          <a:ln w="9525" cap="flat" cmpd="sng">
            <a:solidFill>
              <a:srgbClr val="E5D9C6"/>
            </a:solidFill>
            <a:prstDash val="solid"/>
            <a:round/>
            <a:headEnd type="none" w="sm" len="sm"/>
            <a:tailEnd type="none" w="sm" len="sm"/>
          </a:ln>
        </p:spPr>
      </p:cxnSp>
      <p:sp>
        <p:nvSpPr>
          <p:cNvPr id="464" name="Google Shape;464;p14"/>
          <p:cNvSpPr/>
          <p:nvPr/>
        </p:nvSpPr>
        <p:spPr>
          <a:xfrm>
            <a:off x="7324344" y="1481328"/>
            <a:ext cx="359664"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E2318"/>
              </a:buClr>
              <a:buSzPts val="750"/>
              <a:buFont typeface="Calibri"/>
              <a:buNone/>
            </a:pPr>
            <a:r>
              <a:rPr lang="en-US" sz="750" b="1">
                <a:solidFill>
                  <a:srgbClr val="2E2318"/>
                </a:solidFill>
                <a:latin typeface="Calibri"/>
                <a:ea typeface="Calibri"/>
                <a:cs typeface="Calibri"/>
                <a:sym typeface="Calibri"/>
              </a:rPr>
              <a:t>S7</a:t>
            </a:r>
            <a:endParaRPr sz="750">
              <a:solidFill>
                <a:schemeClr val="dk1"/>
              </a:solidFill>
              <a:latin typeface="Calibri"/>
              <a:ea typeface="Calibri"/>
              <a:cs typeface="Calibri"/>
              <a:sym typeface="Calibri"/>
            </a:endParaRPr>
          </a:p>
        </p:txBody>
      </p:sp>
      <p:cxnSp>
        <p:nvCxnSpPr>
          <p:cNvPr id="465" name="Google Shape;465;p14"/>
          <p:cNvCxnSpPr/>
          <p:nvPr/>
        </p:nvCxnSpPr>
        <p:spPr>
          <a:xfrm>
            <a:off x="7324344" y="1481328"/>
            <a:ext cx="0" cy="4663440"/>
          </a:xfrm>
          <a:prstGeom prst="straightConnector1">
            <a:avLst/>
          </a:prstGeom>
          <a:noFill/>
          <a:ln w="9525" cap="flat" cmpd="sng">
            <a:solidFill>
              <a:srgbClr val="E5D9C6"/>
            </a:solidFill>
            <a:prstDash val="solid"/>
            <a:round/>
            <a:headEnd type="none" w="sm" len="sm"/>
            <a:tailEnd type="none" w="sm" len="sm"/>
          </a:ln>
        </p:spPr>
      </p:cxnSp>
      <p:sp>
        <p:nvSpPr>
          <p:cNvPr id="466" name="Google Shape;466;p14"/>
          <p:cNvSpPr/>
          <p:nvPr/>
        </p:nvSpPr>
        <p:spPr>
          <a:xfrm>
            <a:off x="7684008" y="1481328"/>
            <a:ext cx="359664"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E2318"/>
              </a:buClr>
              <a:buSzPts val="750"/>
              <a:buFont typeface="Calibri"/>
              <a:buNone/>
            </a:pPr>
            <a:r>
              <a:rPr lang="en-US" sz="750" b="1">
                <a:solidFill>
                  <a:srgbClr val="2E2318"/>
                </a:solidFill>
                <a:latin typeface="Calibri"/>
                <a:ea typeface="Calibri"/>
                <a:cs typeface="Calibri"/>
                <a:sym typeface="Calibri"/>
              </a:rPr>
              <a:t>S8</a:t>
            </a:r>
            <a:endParaRPr sz="750">
              <a:solidFill>
                <a:schemeClr val="dk1"/>
              </a:solidFill>
              <a:latin typeface="Calibri"/>
              <a:ea typeface="Calibri"/>
              <a:cs typeface="Calibri"/>
              <a:sym typeface="Calibri"/>
            </a:endParaRPr>
          </a:p>
        </p:txBody>
      </p:sp>
      <p:cxnSp>
        <p:nvCxnSpPr>
          <p:cNvPr id="467" name="Google Shape;467;p14"/>
          <p:cNvCxnSpPr/>
          <p:nvPr/>
        </p:nvCxnSpPr>
        <p:spPr>
          <a:xfrm>
            <a:off x="7684008" y="1481328"/>
            <a:ext cx="0" cy="4663440"/>
          </a:xfrm>
          <a:prstGeom prst="straightConnector1">
            <a:avLst/>
          </a:prstGeom>
          <a:noFill/>
          <a:ln w="9525" cap="flat" cmpd="sng">
            <a:solidFill>
              <a:srgbClr val="E5D9C6"/>
            </a:solidFill>
            <a:prstDash val="solid"/>
            <a:round/>
            <a:headEnd type="none" w="sm" len="sm"/>
            <a:tailEnd type="none" w="sm" len="sm"/>
          </a:ln>
        </p:spPr>
      </p:cxnSp>
      <p:sp>
        <p:nvSpPr>
          <p:cNvPr id="468" name="Google Shape;468;p14"/>
          <p:cNvSpPr/>
          <p:nvPr/>
        </p:nvSpPr>
        <p:spPr>
          <a:xfrm>
            <a:off x="8043672" y="1481328"/>
            <a:ext cx="359664"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E2318"/>
              </a:buClr>
              <a:buSzPts val="750"/>
              <a:buFont typeface="Calibri"/>
              <a:buNone/>
            </a:pPr>
            <a:r>
              <a:rPr lang="en-US" sz="750" b="1">
                <a:solidFill>
                  <a:srgbClr val="2E2318"/>
                </a:solidFill>
                <a:latin typeface="Calibri"/>
                <a:ea typeface="Calibri"/>
                <a:cs typeface="Calibri"/>
                <a:sym typeface="Calibri"/>
              </a:rPr>
              <a:t>S9</a:t>
            </a:r>
            <a:endParaRPr sz="750">
              <a:solidFill>
                <a:schemeClr val="dk1"/>
              </a:solidFill>
              <a:latin typeface="Calibri"/>
              <a:ea typeface="Calibri"/>
              <a:cs typeface="Calibri"/>
              <a:sym typeface="Calibri"/>
            </a:endParaRPr>
          </a:p>
        </p:txBody>
      </p:sp>
      <p:cxnSp>
        <p:nvCxnSpPr>
          <p:cNvPr id="469" name="Google Shape;469;p14"/>
          <p:cNvCxnSpPr/>
          <p:nvPr/>
        </p:nvCxnSpPr>
        <p:spPr>
          <a:xfrm>
            <a:off x="8043672" y="1481328"/>
            <a:ext cx="0" cy="4663440"/>
          </a:xfrm>
          <a:prstGeom prst="straightConnector1">
            <a:avLst/>
          </a:prstGeom>
          <a:noFill/>
          <a:ln w="9525" cap="flat" cmpd="sng">
            <a:solidFill>
              <a:srgbClr val="E5D9C6"/>
            </a:solidFill>
            <a:prstDash val="solid"/>
            <a:round/>
            <a:headEnd type="none" w="sm" len="sm"/>
            <a:tailEnd type="none" w="sm" len="sm"/>
          </a:ln>
        </p:spPr>
      </p:cxnSp>
      <p:sp>
        <p:nvSpPr>
          <p:cNvPr id="470" name="Google Shape;470;p14"/>
          <p:cNvSpPr/>
          <p:nvPr/>
        </p:nvSpPr>
        <p:spPr>
          <a:xfrm>
            <a:off x="8403336" y="1481328"/>
            <a:ext cx="359664"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E2318"/>
              </a:buClr>
              <a:buSzPts val="750"/>
              <a:buFont typeface="Calibri"/>
              <a:buNone/>
            </a:pPr>
            <a:r>
              <a:rPr lang="en-US" sz="750" b="1">
                <a:solidFill>
                  <a:srgbClr val="2E2318"/>
                </a:solidFill>
                <a:latin typeface="Calibri"/>
                <a:ea typeface="Calibri"/>
                <a:cs typeface="Calibri"/>
                <a:sym typeface="Calibri"/>
              </a:rPr>
              <a:t>S10</a:t>
            </a:r>
            <a:endParaRPr sz="750">
              <a:solidFill>
                <a:schemeClr val="dk1"/>
              </a:solidFill>
              <a:latin typeface="Calibri"/>
              <a:ea typeface="Calibri"/>
              <a:cs typeface="Calibri"/>
              <a:sym typeface="Calibri"/>
            </a:endParaRPr>
          </a:p>
        </p:txBody>
      </p:sp>
      <p:cxnSp>
        <p:nvCxnSpPr>
          <p:cNvPr id="471" name="Google Shape;471;p14"/>
          <p:cNvCxnSpPr/>
          <p:nvPr/>
        </p:nvCxnSpPr>
        <p:spPr>
          <a:xfrm>
            <a:off x="8403336" y="1481328"/>
            <a:ext cx="0" cy="4663440"/>
          </a:xfrm>
          <a:prstGeom prst="straightConnector1">
            <a:avLst/>
          </a:prstGeom>
          <a:noFill/>
          <a:ln w="9525" cap="flat" cmpd="sng">
            <a:solidFill>
              <a:srgbClr val="E5D9C6"/>
            </a:solidFill>
            <a:prstDash val="solid"/>
            <a:round/>
            <a:headEnd type="none" w="sm" len="sm"/>
            <a:tailEnd type="none" w="sm" len="sm"/>
          </a:ln>
        </p:spPr>
      </p:cxnSp>
      <p:sp>
        <p:nvSpPr>
          <p:cNvPr id="472" name="Google Shape;472;p14"/>
          <p:cNvSpPr/>
          <p:nvPr/>
        </p:nvSpPr>
        <p:spPr>
          <a:xfrm>
            <a:off x="8763000" y="1481328"/>
            <a:ext cx="359664"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E2318"/>
              </a:buClr>
              <a:buSzPts val="750"/>
              <a:buFont typeface="Calibri"/>
              <a:buNone/>
            </a:pPr>
            <a:r>
              <a:rPr lang="en-US" sz="750" b="1">
                <a:solidFill>
                  <a:srgbClr val="2E2318"/>
                </a:solidFill>
                <a:latin typeface="Calibri"/>
                <a:ea typeface="Calibri"/>
                <a:cs typeface="Calibri"/>
                <a:sym typeface="Calibri"/>
              </a:rPr>
              <a:t>S11</a:t>
            </a:r>
            <a:endParaRPr sz="750">
              <a:solidFill>
                <a:schemeClr val="dk1"/>
              </a:solidFill>
              <a:latin typeface="Calibri"/>
              <a:ea typeface="Calibri"/>
              <a:cs typeface="Calibri"/>
              <a:sym typeface="Calibri"/>
            </a:endParaRPr>
          </a:p>
        </p:txBody>
      </p:sp>
      <p:cxnSp>
        <p:nvCxnSpPr>
          <p:cNvPr id="473" name="Google Shape;473;p14"/>
          <p:cNvCxnSpPr/>
          <p:nvPr/>
        </p:nvCxnSpPr>
        <p:spPr>
          <a:xfrm>
            <a:off x="8763000" y="1481328"/>
            <a:ext cx="0" cy="4663440"/>
          </a:xfrm>
          <a:prstGeom prst="straightConnector1">
            <a:avLst/>
          </a:prstGeom>
          <a:noFill/>
          <a:ln w="9525" cap="flat" cmpd="sng">
            <a:solidFill>
              <a:srgbClr val="E5D9C6"/>
            </a:solidFill>
            <a:prstDash val="solid"/>
            <a:round/>
            <a:headEnd type="none" w="sm" len="sm"/>
            <a:tailEnd type="none" w="sm" len="sm"/>
          </a:ln>
        </p:spPr>
      </p:cxnSp>
      <p:sp>
        <p:nvSpPr>
          <p:cNvPr id="474" name="Google Shape;474;p14"/>
          <p:cNvSpPr/>
          <p:nvPr/>
        </p:nvSpPr>
        <p:spPr>
          <a:xfrm>
            <a:off x="9122664" y="1481328"/>
            <a:ext cx="359664"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E2318"/>
              </a:buClr>
              <a:buSzPts val="750"/>
              <a:buFont typeface="Calibri"/>
              <a:buNone/>
            </a:pPr>
            <a:r>
              <a:rPr lang="en-US" sz="750" b="1">
                <a:solidFill>
                  <a:srgbClr val="2E2318"/>
                </a:solidFill>
                <a:latin typeface="Calibri"/>
                <a:ea typeface="Calibri"/>
                <a:cs typeface="Calibri"/>
                <a:sym typeface="Calibri"/>
              </a:rPr>
              <a:t>S12</a:t>
            </a:r>
            <a:endParaRPr sz="750">
              <a:solidFill>
                <a:schemeClr val="dk1"/>
              </a:solidFill>
              <a:latin typeface="Calibri"/>
              <a:ea typeface="Calibri"/>
              <a:cs typeface="Calibri"/>
              <a:sym typeface="Calibri"/>
            </a:endParaRPr>
          </a:p>
        </p:txBody>
      </p:sp>
      <p:cxnSp>
        <p:nvCxnSpPr>
          <p:cNvPr id="475" name="Google Shape;475;p14"/>
          <p:cNvCxnSpPr/>
          <p:nvPr/>
        </p:nvCxnSpPr>
        <p:spPr>
          <a:xfrm>
            <a:off x="9122664" y="1481328"/>
            <a:ext cx="0" cy="4663440"/>
          </a:xfrm>
          <a:prstGeom prst="straightConnector1">
            <a:avLst/>
          </a:prstGeom>
          <a:noFill/>
          <a:ln w="9525" cap="flat" cmpd="sng">
            <a:solidFill>
              <a:srgbClr val="E5D9C6"/>
            </a:solidFill>
            <a:prstDash val="solid"/>
            <a:round/>
            <a:headEnd type="none" w="sm" len="sm"/>
            <a:tailEnd type="none" w="sm" len="sm"/>
          </a:ln>
        </p:spPr>
      </p:cxnSp>
      <p:sp>
        <p:nvSpPr>
          <p:cNvPr id="476" name="Google Shape;476;p14"/>
          <p:cNvSpPr/>
          <p:nvPr/>
        </p:nvSpPr>
        <p:spPr>
          <a:xfrm>
            <a:off x="9482328" y="1481328"/>
            <a:ext cx="359664"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E2318"/>
              </a:buClr>
              <a:buSzPts val="750"/>
              <a:buFont typeface="Calibri"/>
              <a:buNone/>
            </a:pPr>
            <a:r>
              <a:rPr lang="en-US" sz="750" b="1">
                <a:solidFill>
                  <a:srgbClr val="2E2318"/>
                </a:solidFill>
                <a:latin typeface="Calibri"/>
                <a:ea typeface="Calibri"/>
                <a:cs typeface="Calibri"/>
                <a:sym typeface="Calibri"/>
              </a:rPr>
              <a:t>S13</a:t>
            </a:r>
            <a:endParaRPr sz="750">
              <a:solidFill>
                <a:schemeClr val="dk1"/>
              </a:solidFill>
              <a:latin typeface="Calibri"/>
              <a:ea typeface="Calibri"/>
              <a:cs typeface="Calibri"/>
              <a:sym typeface="Calibri"/>
            </a:endParaRPr>
          </a:p>
        </p:txBody>
      </p:sp>
      <p:cxnSp>
        <p:nvCxnSpPr>
          <p:cNvPr id="477" name="Google Shape;477;p14"/>
          <p:cNvCxnSpPr/>
          <p:nvPr/>
        </p:nvCxnSpPr>
        <p:spPr>
          <a:xfrm>
            <a:off x="9482328" y="1481328"/>
            <a:ext cx="0" cy="4663440"/>
          </a:xfrm>
          <a:prstGeom prst="straightConnector1">
            <a:avLst/>
          </a:prstGeom>
          <a:noFill/>
          <a:ln w="9525" cap="flat" cmpd="sng">
            <a:solidFill>
              <a:srgbClr val="E5D9C6"/>
            </a:solidFill>
            <a:prstDash val="solid"/>
            <a:round/>
            <a:headEnd type="none" w="sm" len="sm"/>
            <a:tailEnd type="none" w="sm" len="sm"/>
          </a:ln>
        </p:spPr>
      </p:cxnSp>
      <p:sp>
        <p:nvSpPr>
          <p:cNvPr id="478" name="Google Shape;478;p14"/>
          <p:cNvSpPr/>
          <p:nvPr/>
        </p:nvSpPr>
        <p:spPr>
          <a:xfrm>
            <a:off x="9841992" y="1481328"/>
            <a:ext cx="359664"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E2318"/>
              </a:buClr>
              <a:buSzPts val="750"/>
              <a:buFont typeface="Calibri"/>
              <a:buNone/>
            </a:pPr>
            <a:r>
              <a:rPr lang="en-US" sz="750" b="1">
                <a:solidFill>
                  <a:srgbClr val="2E2318"/>
                </a:solidFill>
                <a:latin typeface="Calibri"/>
                <a:ea typeface="Calibri"/>
                <a:cs typeface="Calibri"/>
                <a:sym typeface="Calibri"/>
              </a:rPr>
              <a:t>S14</a:t>
            </a:r>
            <a:endParaRPr sz="750">
              <a:solidFill>
                <a:schemeClr val="dk1"/>
              </a:solidFill>
              <a:latin typeface="Calibri"/>
              <a:ea typeface="Calibri"/>
              <a:cs typeface="Calibri"/>
              <a:sym typeface="Calibri"/>
            </a:endParaRPr>
          </a:p>
        </p:txBody>
      </p:sp>
      <p:cxnSp>
        <p:nvCxnSpPr>
          <p:cNvPr id="479" name="Google Shape;479;p14"/>
          <p:cNvCxnSpPr/>
          <p:nvPr/>
        </p:nvCxnSpPr>
        <p:spPr>
          <a:xfrm>
            <a:off x="9841992" y="1481328"/>
            <a:ext cx="0" cy="4663440"/>
          </a:xfrm>
          <a:prstGeom prst="straightConnector1">
            <a:avLst/>
          </a:prstGeom>
          <a:noFill/>
          <a:ln w="9525" cap="flat" cmpd="sng">
            <a:solidFill>
              <a:srgbClr val="E5D9C6"/>
            </a:solidFill>
            <a:prstDash val="solid"/>
            <a:round/>
            <a:headEnd type="none" w="sm" len="sm"/>
            <a:tailEnd type="none" w="sm" len="sm"/>
          </a:ln>
        </p:spPr>
      </p:cxnSp>
      <p:sp>
        <p:nvSpPr>
          <p:cNvPr id="480" name="Google Shape;480;p14"/>
          <p:cNvSpPr/>
          <p:nvPr/>
        </p:nvSpPr>
        <p:spPr>
          <a:xfrm>
            <a:off x="10201656" y="1481328"/>
            <a:ext cx="359664"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E2318"/>
              </a:buClr>
              <a:buSzPts val="750"/>
              <a:buFont typeface="Calibri"/>
              <a:buNone/>
            </a:pPr>
            <a:r>
              <a:rPr lang="en-US" sz="750" b="1">
                <a:solidFill>
                  <a:srgbClr val="2E2318"/>
                </a:solidFill>
                <a:latin typeface="Calibri"/>
                <a:ea typeface="Calibri"/>
                <a:cs typeface="Calibri"/>
                <a:sym typeface="Calibri"/>
              </a:rPr>
              <a:t>S15</a:t>
            </a:r>
            <a:endParaRPr sz="750">
              <a:solidFill>
                <a:schemeClr val="dk1"/>
              </a:solidFill>
              <a:latin typeface="Calibri"/>
              <a:ea typeface="Calibri"/>
              <a:cs typeface="Calibri"/>
              <a:sym typeface="Calibri"/>
            </a:endParaRPr>
          </a:p>
        </p:txBody>
      </p:sp>
      <p:cxnSp>
        <p:nvCxnSpPr>
          <p:cNvPr id="481" name="Google Shape;481;p14"/>
          <p:cNvCxnSpPr/>
          <p:nvPr/>
        </p:nvCxnSpPr>
        <p:spPr>
          <a:xfrm>
            <a:off x="10201656" y="1481328"/>
            <a:ext cx="0" cy="4663440"/>
          </a:xfrm>
          <a:prstGeom prst="straightConnector1">
            <a:avLst/>
          </a:prstGeom>
          <a:noFill/>
          <a:ln w="9525" cap="flat" cmpd="sng">
            <a:solidFill>
              <a:srgbClr val="E5D9C6"/>
            </a:solidFill>
            <a:prstDash val="solid"/>
            <a:round/>
            <a:headEnd type="none" w="sm" len="sm"/>
            <a:tailEnd type="none" w="sm" len="sm"/>
          </a:ln>
        </p:spPr>
      </p:cxnSp>
      <p:sp>
        <p:nvSpPr>
          <p:cNvPr id="482" name="Google Shape;482;p14"/>
          <p:cNvSpPr/>
          <p:nvPr/>
        </p:nvSpPr>
        <p:spPr>
          <a:xfrm>
            <a:off x="10561320" y="1481328"/>
            <a:ext cx="359664"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E2318"/>
              </a:buClr>
              <a:buSzPts val="750"/>
              <a:buFont typeface="Calibri"/>
              <a:buNone/>
            </a:pPr>
            <a:r>
              <a:rPr lang="en-US" sz="750" b="1">
                <a:solidFill>
                  <a:srgbClr val="2E2318"/>
                </a:solidFill>
                <a:latin typeface="Calibri"/>
                <a:ea typeface="Calibri"/>
                <a:cs typeface="Calibri"/>
                <a:sym typeface="Calibri"/>
              </a:rPr>
              <a:t>S16</a:t>
            </a:r>
            <a:endParaRPr sz="750">
              <a:solidFill>
                <a:schemeClr val="dk1"/>
              </a:solidFill>
              <a:latin typeface="Calibri"/>
              <a:ea typeface="Calibri"/>
              <a:cs typeface="Calibri"/>
              <a:sym typeface="Calibri"/>
            </a:endParaRPr>
          </a:p>
        </p:txBody>
      </p:sp>
      <p:cxnSp>
        <p:nvCxnSpPr>
          <p:cNvPr id="483" name="Google Shape;483;p14"/>
          <p:cNvCxnSpPr/>
          <p:nvPr/>
        </p:nvCxnSpPr>
        <p:spPr>
          <a:xfrm>
            <a:off x="10561320" y="1481328"/>
            <a:ext cx="0" cy="4663440"/>
          </a:xfrm>
          <a:prstGeom prst="straightConnector1">
            <a:avLst/>
          </a:prstGeom>
          <a:noFill/>
          <a:ln w="9525" cap="flat" cmpd="sng">
            <a:solidFill>
              <a:srgbClr val="E5D9C6"/>
            </a:solidFill>
            <a:prstDash val="solid"/>
            <a:round/>
            <a:headEnd type="none" w="sm" len="sm"/>
            <a:tailEnd type="none" w="sm" len="sm"/>
          </a:ln>
        </p:spPr>
      </p:cxnSp>
      <p:sp>
        <p:nvSpPr>
          <p:cNvPr id="484" name="Google Shape;484;p14"/>
          <p:cNvSpPr/>
          <p:nvPr/>
        </p:nvSpPr>
        <p:spPr>
          <a:xfrm>
            <a:off x="10920984" y="1481328"/>
            <a:ext cx="359664"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E2318"/>
              </a:buClr>
              <a:buSzPts val="750"/>
              <a:buFont typeface="Calibri"/>
              <a:buNone/>
            </a:pPr>
            <a:r>
              <a:rPr lang="en-US" sz="750" b="1">
                <a:solidFill>
                  <a:srgbClr val="2E2318"/>
                </a:solidFill>
                <a:latin typeface="Calibri"/>
                <a:ea typeface="Calibri"/>
                <a:cs typeface="Calibri"/>
                <a:sym typeface="Calibri"/>
              </a:rPr>
              <a:t>S17</a:t>
            </a:r>
            <a:endParaRPr sz="750">
              <a:solidFill>
                <a:schemeClr val="dk1"/>
              </a:solidFill>
              <a:latin typeface="Calibri"/>
              <a:ea typeface="Calibri"/>
              <a:cs typeface="Calibri"/>
              <a:sym typeface="Calibri"/>
            </a:endParaRPr>
          </a:p>
        </p:txBody>
      </p:sp>
      <p:cxnSp>
        <p:nvCxnSpPr>
          <p:cNvPr id="485" name="Google Shape;485;p14"/>
          <p:cNvCxnSpPr/>
          <p:nvPr/>
        </p:nvCxnSpPr>
        <p:spPr>
          <a:xfrm>
            <a:off x="10920984" y="1481328"/>
            <a:ext cx="0" cy="4663440"/>
          </a:xfrm>
          <a:prstGeom prst="straightConnector1">
            <a:avLst/>
          </a:prstGeom>
          <a:noFill/>
          <a:ln w="9525" cap="flat" cmpd="sng">
            <a:solidFill>
              <a:srgbClr val="E5D9C6"/>
            </a:solidFill>
            <a:prstDash val="solid"/>
            <a:round/>
            <a:headEnd type="none" w="sm" len="sm"/>
            <a:tailEnd type="none" w="sm" len="sm"/>
          </a:ln>
        </p:spPr>
      </p:cxnSp>
      <p:sp>
        <p:nvSpPr>
          <p:cNvPr id="486" name="Google Shape;486;p14"/>
          <p:cNvSpPr/>
          <p:nvPr/>
        </p:nvSpPr>
        <p:spPr>
          <a:xfrm>
            <a:off x="11280648" y="1481328"/>
            <a:ext cx="359664"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E2318"/>
              </a:buClr>
              <a:buSzPts val="750"/>
              <a:buFont typeface="Calibri"/>
              <a:buNone/>
            </a:pPr>
            <a:r>
              <a:rPr lang="en-US" sz="750" b="1">
                <a:solidFill>
                  <a:srgbClr val="2E2318"/>
                </a:solidFill>
                <a:latin typeface="Calibri"/>
                <a:ea typeface="Calibri"/>
                <a:cs typeface="Calibri"/>
                <a:sym typeface="Calibri"/>
              </a:rPr>
              <a:t>S18</a:t>
            </a:r>
            <a:endParaRPr sz="750">
              <a:solidFill>
                <a:schemeClr val="dk1"/>
              </a:solidFill>
              <a:latin typeface="Calibri"/>
              <a:ea typeface="Calibri"/>
              <a:cs typeface="Calibri"/>
              <a:sym typeface="Calibri"/>
            </a:endParaRPr>
          </a:p>
        </p:txBody>
      </p:sp>
      <p:cxnSp>
        <p:nvCxnSpPr>
          <p:cNvPr id="487" name="Google Shape;487;p14"/>
          <p:cNvCxnSpPr/>
          <p:nvPr/>
        </p:nvCxnSpPr>
        <p:spPr>
          <a:xfrm>
            <a:off x="11280648" y="1481328"/>
            <a:ext cx="0" cy="4663440"/>
          </a:xfrm>
          <a:prstGeom prst="straightConnector1">
            <a:avLst/>
          </a:prstGeom>
          <a:noFill/>
          <a:ln w="9525" cap="flat" cmpd="sng">
            <a:solidFill>
              <a:srgbClr val="E5D9C6"/>
            </a:solidFill>
            <a:prstDash val="solid"/>
            <a:round/>
            <a:headEnd type="none" w="sm" len="sm"/>
            <a:tailEnd type="none" w="sm" len="sm"/>
          </a:ln>
        </p:spPr>
      </p:cxnSp>
      <p:sp>
        <p:nvSpPr>
          <p:cNvPr id="488" name="Google Shape;488;p14"/>
          <p:cNvSpPr/>
          <p:nvPr/>
        </p:nvSpPr>
        <p:spPr>
          <a:xfrm>
            <a:off x="548640" y="1783080"/>
            <a:ext cx="11091672" cy="438912"/>
          </a:xfrm>
          <a:prstGeom prst="rect">
            <a:avLst/>
          </a:prstGeom>
          <a:solidFill>
            <a:srgbClr val="FBF7F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89" name="Google Shape;489;p14"/>
          <p:cNvSpPr/>
          <p:nvPr/>
        </p:nvSpPr>
        <p:spPr>
          <a:xfrm>
            <a:off x="621792" y="1783080"/>
            <a:ext cx="2185416"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E2318"/>
              </a:buClr>
              <a:buSzPts val="850"/>
              <a:buFont typeface="Calibri"/>
              <a:buNone/>
            </a:pPr>
            <a:r>
              <a:rPr lang="en-US" sz="850" b="1">
                <a:solidFill>
                  <a:srgbClr val="2E2318"/>
                </a:solidFill>
                <a:latin typeface="Calibri"/>
                <a:ea typeface="Calibri"/>
                <a:cs typeface="Calibri"/>
                <a:sym typeface="Calibri"/>
              </a:rPr>
              <a:t>Sprint 0 · Validación técnica y entorno</a:t>
            </a:r>
            <a:endParaRPr sz="850">
              <a:solidFill>
                <a:schemeClr val="dk1"/>
              </a:solidFill>
              <a:latin typeface="Calibri"/>
              <a:ea typeface="Calibri"/>
              <a:cs typeface="Calibri"/>
              <a:sym typeface="Calibri"/>
            </a:endParaRPr>
          </a:p>
        </p:txBody>
      </p:sp>
      <p:sp>
        <p:nvSpPr>
          <p:cNvPr id="490" name="Google Shape;490;p14"/>
          <p:cNvSpPr/>
          <p:nvPr/>
        </p:nvSpPr>
        <p:spPr>
          <a:xfrm>
            <a:off x="2953512" y="1783080"/>
            <a:ext cx="2139696"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E5F50"/>
              </a:buClr>
              <a:buSzPts val="780"/>
              <a:buFont typeface="Calibri"/>
              <a:buNone/>
            </a:pPr>
            <a:r>
              <a:rPr lang="en-US" sz="780">
                <a:solidFill>
                  <a:srgbClr val="6E5F50"/>
                </a:solidFill>
                <a:latin typeface="Calibri"/>
                <a:ea typeface="Calibri"/>
                <a:cs typeface="Calibri"/>
                <a:sym typeface="Calibri"/>
              </a:rPr>
              <a:t>Verificar lectura de peso por software</a:t>
            </a:r>
            <a:endParaRPr sz="780">
              <a:solidFill>
                <a:schemeClr val="dk1"/>
              </a:solidFill>
              <a:latin typeface="Calibri"/>
              <a:ea typeface="Calibri"/>
              <a:cs typeface="Calibri"/>
              <a:sym typeface="Calibri"/>
            </a:endParaRPr>
          </a:p>
        </p:txBody>
      </p:sp>
      <p:sp>
        <p:nvSpPr>
          <p:cNvPr id="491" name="Google Shape;491;p14"/>
          <p:cNvSpPr/>
          <p:nvPr/>
        </p:nvSpPr>
        <p:spPr>
          <a:xfrm>
            <a:off x="5193792" y="1856232"/>
            <a:ext cx="664464" cy="292608"/>
          </a:xfrm>
          <a:prstGeom prst="roundRect">
            <a:avLst>
              <a:gd name="adj" fmla="val 12500"/>
            </a:avLst>
          </a:prstGeom>
          <a:solidFill>
            <a:srgbClr val="D9A44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92" name="Google Shape;492;p14"/>
          <p:cNvSpPr/>
          <p:nvPr/>
        </p:nvSpPr>
        <p:spPr>
          <a:xfrm>
            <a:off x="621792" y="2221992"/>
            <a:ext cx="2185416"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E2318"/>
              </a:buClr>
              <a:buSzPts val="850"/>
              <a:buFont typeface="Calibri"/>
              <a:buNone/>
            </a:pPr>
            <a:r>
              <a:rPr lang="en-US" sz="850" b="1">
                <a:solidFill>
                  <a:srgbClr val="2E2318"/>
                </a:solidFill>
                <a:latin typeface="Calibri"/>
                <a:ea typeface="Calibri"/>
                <a:cs typeface="Calibri"/>
                <a:sym typeface="Calibri"/>
              </a:rPr>
              <a:t>Sprint 1 · Venta operativa en caja</a:t>
            </a:r>
            <a:endParaRPr sz="850">
              <a:solidFill>
                <a:schemeClr val="dk1"/>
              </a:solidFill>
              <a:latin typeface="Calibri"/>
              <a:ea typeface="Calibri"/>
              <a:cs typeface="Calibri"/>
              <a:sym typeface="Calibri"/>
            </a:endParaRPr>
          </a:p>
        </p:txBody>
      </p:sp>
      <p:sp>
        <p:nvSpPr>
          <p:cNvPr id="493" name="Google Shape;493;p14"/>
          <p:cNvSpPr/>
          <p:nvPr/>
        </p:nvSpPr>
        <p:spPr>
          <a:xfrm>
            <a:off x="2953512" y="2221992"/>
            <a:ext cx="2139696"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E5F50"/>
              </a:buClr>
              <a:buSzPts val="780"/>
              <a:buFont typeface="Calibri"/>
              <a:buNone/>
            </a:pPr>
            <a:r>
              <a:rPr lang="en-US" sz="780">
                <a:solidFill>
                  <a:srgbClr val="6E5F50"/>
                </a:solidFill>
                <a:latin typeface="Calibri"/>
                <a:ea typeface="Calibri"/>
                <a:cs typeface="Calibri"/>
                <a:sym typeface="Calibri"/>
              </a:rPr>
              <a:t>Registrar una venta por peso y emitir comprobante</a:t>
            </a:r>
            <a:endParaRPr sz="780">
              <a:solidFill>
                <a:schemeClr val="dk1"/>
              </a:solidFill>
              <a:latin typeface="Calibri"/>
              <a:ea typeface="Calibri"/>
              <a:cs typeface="Calibri"/>
              <a:sym typeface="Calibri"/>
            </a:endParaRPr>
          </a:p>
        </p:txBody>
      </p:sp>
      <p:sp>
        <p:nvSpPr>
          <p:cNvPr id="494" name="Google Shape;494;p14"/>
          <p:cNvSpPr/>
          <p:nvPr/>
        </p:nvSpPr>
        <p:spPr>
          <a:xfrm>
            <a:off x="5913120" y="2295144"/>
            <a:ext cx="664464" cy="292608"/>
          </a:xfrm>
          <a:prstGeom prst="roundRect">
            <a:avLst>
              <a:gd name="adj" fmla="val 12500"/>
            </a:avLst>
          </a:prstGeom>
          <a:solidFill>
            <a:srgbClr val="D9A44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95" name="Google Shape;495;p14"/>
          <p:cNvSpPr/>
          <p:nvPr/>
        </p:nvSpPr>
        <p:spPr>
          <a:xfrm>
            <a:off x="548640" y="2660904"/>
            <a:ext cx="11091672" cy="438912"/>
          </a:xfrm>
          <a:prstGeom prst="rect">
            <a:avLst/>
          </a:prstGeom>
          <a:solidFill>
            <a:srgbClr val="FBF7F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96" name="Google Shape;496;p14"/>
          <p:cNvSpPr/>
          <p:nvPr/>
        </p:nvSpPr>
        <p:spPr>
          <a:xfrm>
            <a:off x="621792" y="2660904"/>
            <a:ext cx="2185416"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E2318"/>
              </a:buClr>
              <a:buSzPts val="850"/>
              <a:buFont typeface="Calibri"/>
              <a:buNone/>
            </a:pPr>
            <a:r>
              <a:rPr lang="en-US" sz="850" b="1">
                <a:solidFill>
                  <a:srgbClr val="2E2318"/>
                </a:solidFill>
                <a:latin typeface="Calibri"/>
                <a:ea typeface="Calibri"/>
                <a:cs typeface="Calibri"/>
                <a:sym typeface="Calibri"/>
              </a:rPr>
              <a:t>Sprint 2 · Continuidad sin conexión</a:t>
            </a:r>
            <a:endParaRPr sz="850">
              <a:solidFill>
                <a:schemeClr val="dk1"/>
              </a:solidFill>
              <a:latin typeface="Calibri"/>
              <a:ea typeface="Calibri"/>
              <a:cs typeface="Calibri"/>
              <a:sym typeface="Calibri"/>
            </a:endParaRPr>
          </a:p>
        </p:txBody>
      </p:sp>
      <p:sp>
        <p:nvSpPr>
          <p:cNvPr id="497" name="Google Shape;497;p14"/>
          <p:cNvSpPr/>
          <p:nvPr/>
        </p:nvSpPr>
        <p:spPr>
          <a:xfrm>
            <a:off x="2953512" y="2660904"/>
            <a:ext cx="2139696"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E5F50"/>
              </a:buClr>
              <a:buSzPts val="780"/>
              <a:buFont typeface="Calibri"/>
              <a:buNone/>
            </a:pPr>
            <a:r>
              <a:rPr lang="en-US" sz="780">
                <a:solidFill>
                  <a:srgbClr val="6E5F50"/>
                </a:solidFill>
                <a:latin typeface="Calibri"/>
                <a:ea typeface="Calibri"/>
                <a:cs typeface="Calibri"/>
                <a:sym typeface="Calibri"/>
              </a:rPr>
              <a:t>Vender con el enlace interrumpido</a:t>
            </a:r>
            <a:endParaRPr sz="780">
              <a:solidFill>
                <a:schemeClr val="dk1"/>
              </a:solidFill>
              <a:latin typeface="Calibri"/>
              <a:ea typeface="Calibri"/>
              <a:cs typeface="Calibri"/>
              <a:sym typeface="Calibri"/>
            </a:endParaRPr>
          </a:p>
        </p:txBody>
      </p:sp>
      <p:sp>
        <p:nvSpPr>
          <p:cNvPr id="498" name="Google Shape;498;p14"/>
          <p:cNvSpPr/>
          <p:nvPr/>
        </p:nvSpPr>
        <p:spPr>
          <a:xfrm>
            <a:off x="6632448" y="2734056"/>
            <a:ext cx="664464" cy="292608"/>
          </a:xfrm>
          <a:prstGeom prst="roundRect">
            <a:avLst>
              <a:gd name="adj" fmla="val 12500"/>
            </a:avLst>
          </a:prstGeom>
          <a:solidFill>
            <a:srgbClr val="D9A44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99" name="Google Shape;499;p14"/>
          <p:cNvSpPr/>
          <p:nvPr/>
        </p:nvSpPr>
        <p:spPr>
          <a:xfrm>
            <a:off x="621792" y="3099816"/>
            <a:ext cx="2185416"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E2318"/>
              </a:buClr>
              <a:buSzPts val="850"/>
              <a:buFont typeface="Calibri"/>
              <a:buNone/>
            </a:pPr>
            <a:r>
              <a:rPr lang="en-US" sz="850" b="1">
                <a:solidFill>
                  <a:srgbClr val="2E2318"/>
                </a:solidFill>
                <a:latin typeface="Calibri"/>
                <a:ea typeface="Calibri"/>
                <a:cs typeface="Calibri"/>
                <a:sym typeface="Calibri"/>
              </a:rPr>
              <a:t>Sprint 3 · Administración de catálogo</a:t>
            </a:r>
            <a:endParaRPr sz="850">
              <a:solidFill>
                <a:schemeClr val="dk1"/>
              </a:solidFill>
              <a:latin typeface="Calibri"/>
              <a:ea typeface="Calibri"/>
              <a:cs typeface="Calibri"/>
              <a:sym typeface="Calibri"/>
            </a:endParaRPr>
          </a:p>
        </p:txBody>
      </p:sp>
      <p:sp>
        <p:nvSpPr>
          <p:cNvPr id="500" name="Google Shape;500;p14"/>
          <p:cNvSpPr/>
          <p:nvPr/>
        </p:nvSpPr>
        <p:spPr>
          <a:xfrm>
            <a:off x="2953512" y="3099816"/>
            <a:ext cx="2139696"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E5F50"/>
              </a:buClr>
              <a:buSzPts val="780"/>
              <a:buFont typeface="Calibri"/>
              <a:buNone/>
            </a:pPr>
            <a:r>
              <a:rPr lang="en-US" sz="780">
                <a:solidFill>
                  <a:srgbClr val="6E5F50"/>
                </a:solidFill>
                <a:latin typeface="Calibri"/>
                <a:ea typeface="Calibri"/>
                <a:cs typeface="Calibri"/>
                <a:sym typeface="Calibri"/>
              </a:rPr>
              <a:t>Mantener catálogo y precios sin desarrollo</a:t>
            </a:r>
            <a:endParaRPr sz="780">
              <a:solidFill>
                <a:schemeClr val="dk1"/>
              </a:solidFill>
              <a:latin typeface="Calibri"/>
              <a:ea typeface="Calibri"/>
              <a:cs typeface="Calibri"/>
              <a:sym typeface="Calibri"/>
            </a:endParaRPr>
          </a:p>
        </p:txBody>
      </p:sp>
      <p:sp>
        <p:nvSpPr>
          <p:cNvPr id="501" name="Google Shape;501;p14"/>
          <p:cNvSpPr/>
          <p:nvPr/>
        </p:nvSpPr>
        <p:spPr>
          <a:xfrm>
            <a:off x="7351776" y="3172968"/>
            <a:ext cx="664464" cy="292608"/>
          </a:xfrm>
          <a:prstGeom prst="roundRect">
            <a:avLst>
              <a:gd name="adj" fmla="val 12500"/>
            </a:avLst>
          </a:prstGeom>
          <a:solidFill>
            <a:srgbClr val="D9A44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02" name="Google Shape;502;p14"/>
          <p:cNvSpPr/>
          <p:nvPr/>
        </p:nvSpPr>
        <p:spPr>
          <a:xfrm>
            <a:off x="548640" y="3538728"/>
            <a:ext cx="11091672" cy="438912"/>
          </a:xfrm>
          <a:prstGeom prst="rect">
            <a:avLst/>
          </a:prstGeom>
          <a:solidFill>
            <a:srgbClr val="FBF7F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03" name="Google Shape;503;p14"/>
          <p:cNvSpPr/>
          <p:nvPr/>
        </p:nvSpPr>
        <p:spPr>
          <a:xfrm>
            <a:off x="621792" y="3538728"/>
            <a:ext cx="2185416"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E2318"/>
              </a:buClr>
              <a:buSzPts val="850"/>
              <a:buFont typeface="Calibri"/>
              <a:buNone/>
            </a:pPr>
            <a:r>
              <a:rPr lang="en-US" sz="850" b="1">
                <a:solidFill>
                  <a:srgbClr val="2E2318"/>
                </a:solidFill>
                <a:latin typeface="Calibri"/>
                <a:ea typeface="Calibri"/>
                <a:cs typeface="Calibri"/>
                <a:sym typeface="Calibri"/>
              </a:rPr>
              <a:t>Sprint 4 · Producción y disponibilidad</a:t>
            </a:r>
            <a:endParaRPr sz="850">
              <a:solidFill>
                <a:schemeClr val="dk1"/>
              </a:solidFill>
              <a:latin typeface="Calibri"/>
              <a:ea typeface="Calibri"/>
              <a:cs typeface="Calibri"/>
              <a:sym typeface="Calibri"/>
            </a:endParaRPr>
          </a:p>
        </p:txBody>
      </p:sp>
      <p:sp>
        <p:nvSpPr>
          <p:cNvPr id="504" name="Google Shape;504;p14"/>
          <p:cNvSpPr/>
          <p:nvPr/>
        </p:nvSpPr>
        <p:spPr>
          <a:xfrm>
            <a:off x="2953512" y="3538728"/>
            <a:ext cx="2139696"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E5F50"/>
              </a:buClr>
              <a:buSzPts val="780"/>
              <a:buFont typeface="Calibri"/>
              <a:buNone/>
            </a:pPr>
            <a:r>
              <a:rPr lang="en-US" sz="780">
                <a:solidFill>
                  <a:srgbClr val="6E5F50"/>
                </a:solidFill>
                <a:latin typeface="Calibri"/>
                <a:ea typeface="Calibri"/>
                <a:cs typeface="Calibri"/>
                <a:sym typeface="Calibri"/>
              </a:rPr>
              <a:t>Registrar amasado e informar disponibilidad</a:t>
            </a:r>
            <a:endParaRPr sz="780">
              <a:solidFill>
                <a:schemeClr val="dk1"/>
              </a:solidFill>
              <a:latin typeface="Calibri"/>
              <a:ea typeface="Calibri"/>
              <a:cs typeface="Calibri"/>
              <a:sym typeface="Calibri"/>
            </a:endParaRPr>
          </a:p>
        </p:txBody>
      </p:sp>
      <p:sp>
        <p:nvSpPr>
          <p:cNvPr id="505" name="Google Shape;505;p14"/>
          <p:cNvSpPr/>
          <p:nvPr/>
        </p:nvSpPr>
        <p:spPr>
          <a:xfrm>
            <a:off x="8071104" y="3611880"/>
            <a:ext cx="664464" cy="292608"/>
          </a:xfrm>
          <a:prstGeom prst="roundRect">
            <a:avLst>
              <a:gd name="adj" fmla="val 12500"/>
            </a:avLst>
          </a:prstGeom>
          <a:solidFill>
            <a:srgbClr val="D9A44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06" name="Google Shape;506;p14"/>
          <p:cNvSpPr/>
          <p:nvPr/>
        </p:nvSpPr>
        <p:spPr>
          <a:xfrm>
            <a:off x="621792" y="3977640"/>
            <a:ext cx="2185416"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E2318"/>
              </a:buClr>
              <a:buSzPts val="850"/>
              <a:buFont typeface="Calibri"/>
              <a:buNone/>
            </a:pPr>
            <a:r>
              <a:rPr lang="en-US" sz="850" b="1">
                <a:solidFill>
                  <a:srgbClr val="2E2318"/>
                </a:solidFill>
                <a:latin typeface="Calibri"/>
                <a:ea typeface="Calibri"/>
                <a:cs typeface="Calibri"/>
                <a:sym typeface="Calibri"/>
              </a:rPr>
              <a:t>Sprint 5 · Inventario de insumos</a:t>
            </a:r>
            <a:endParaRPr sz="850">
              <a:solidFill>
                <a:schemeClr val="dk1"/>
              </a:solidFill>
              <a:latin typeface="Calibri"/>
              <a:ea typeface="Calibri"/>
              <a:cs typeface="Calibri"/>
              <a:sym typeface="Calibri"/>
            </a:endParaRPr>
          </a:p>
        </p:txBody>
      </p:sp>
      <p:sp>
        <p:nvSpPr>
          <p:cNvPr id="507" name="Google Shape;507;p14"/>
          <p:cNvSpPr/>
          <p:nvPr/>
        </p:nvSpPr>
        <p:spPr>
          <a:xfrm>
            <a:off x="2953512" y="3977640"/>
            <a:ext cx="2139696"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E5F50"/>
              </a:buClr>
              <a:buSzPts val="780"/>
              <a:buFont typeface="Calibri"/>
              <a:buNone/>
            </a:pPr>
            <a:r>
              <a:rPr lang="en-US" sz="780">
                <a:solidFill>
                  <a:srgbClr val="6E5F50"/>
                </a:solidFill>
                <a:latin typeface="Calibri"/>
                <a:ea typeface="Calibri"/>
                <a:cs typeface="Calibri"/>
                <a:sym typeface="Calibri"/>
              </a:rPr>
              <a:t>Conocer el stock de insumos y sus alertas</a:t>
            </a:r>
            <a:endParaRPr sz="780">
              <a:solidFill>
                <a:schemeClr val="dk1"/>
              </a:solidFill>
              <a:latin typeface="Calibri"/>
              <a:ea typeface="Calibri"/>
              <a:cs typeface="Calibri"/>
              <a:sym typeface="Calibri"/>
            </a:endParaRPr>
          </a:p>
        </p:txBody>
      </p:sp>
      <p:sp>
        <p:nvSpPr>
          <p:cNvPr id="508" name="Google Shape;508;p14"/>
          <p:cNvSpPr/>
          <p:nvPr/>
        </p:nvSpPr>
        <p:spPr>
          <a:xfrm>
            <a:off x="8790432" y="4050792"/>
            <a:ext cx="664464" cy="292608"/>
          </a:xfrm>
          <a:prstGeom prst="roundRect">
            <a:avLst>
              <a:gd name="adj" fmla="val 12500"/>
            </a:avLst>
          </a:prstGeom>
          <a:solidFill>
            <a:srgbClr val="D9A44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09" name="Google Shape;509;p14"/>
          <p:cNvSpPr/>
          <p:nvPr/>
        </p:nvSpPr>
        <p:spPr>
          <a:xfrm>
            <a:off x="548640" y="4416552"/>
            <a:ext cx="11091672" cy="438912"/>
          </a:xfrm>
          <a:prstGeom prst="rect">
            <a:avLst/>
          </a:prstGeom>
          <a:solidFill>
            <a:srgbClr val="FBF7F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10" name="Google Shape;510;p14"/>
          <p:cNvSpPr/>
          <p:nvPr/>
        </p:nvSpPr>
        <p:spPr>
          <a:xfrm>
            <a:off x="621792" y="4416552"/>
            <a:ext cx="2185416"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E2318"/>
              </a:buClr>
              <a:buSzPts val="850"/>
              <a:buFont typeface="Calibri"/>
              <a:buNone/>
            </a:pPr>
            <a:r>
              <a:rPr lang="en-US" sz="850" b="1">
                <a:solidFill>
                  <a:srgbClr val="2E2318"/>
                </a:solidFill>
                <a:latin typeface="Calibri"/>
                <a:ea typeface="Calibri"/>
                <a:cs typeface="Calibri"/>
                <a:sym typeface="Calibri"/>
              </a:rPr>
              <a:t>Sprint 6 · Indicadores de gestión</a:t>
            </a:r>
            <a:endParaRPr sz="850">
              <a:solidFill>
                <a:schemeClr val="dk1"/>
              </a:solidFill>
              <a:latin typeface="Calibri"/>
              <a:ea typeface="Calibri"/>
              <a:cs typeface="Calibri"/>
              <a:sym typeface="Calibri"/>
            </a:endParaRPr>
          </a:p>
        </p:txBody>
      </p:sp>
      <p:sp>
        <p:nvSpPr>
          <p:cNvPr id="511" name="Google Shape;511;p14"/>
          <p:cNvSpPr/>
          <p:nvPr/>
        </p:nvSpPr>
        <p:spPr>
          <a:xfrm>
            <a:off x="2953512" y="4416552"/>
            <a:ext cx="2139696"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E5F50"/>
              </a:buClr>
              <a:buSzPts val="780"/>
              <a:buFont typeface="Calibri"/>
              <a:buNone/>
            </a:pPr>
            <a:r>
              <a:rPr lang="en-US" sz="780">
                <a:solidFill>
                  <a:srgbClr val="6E5F50"/>
                </a:solidFill>
                <a:latin typeface="Calibri"/>
                <a:ea typeface="Calibri"/>
                <a:cs typeface="Calibri"/>
                <a:sym typeface="Calibri"/>
              </a:rPr>
              <a:t>Ver ventas por producto, sucursal y período</a:t>
            </a:r>
            <a:endParaRPr sz="780">
              <a:solidFill>
                <a:schemeClr val="dk1"/>
              </a:solidFill>
              <a:latin typeface="Calibri"/>
              <a:ea typeface="Calibri"/>
              <a:cs typeface="Calibri"/>
              <a:sym typeface="Calibri"/>
            </a:endParaRPr>
          </a:p>
        </p:txBody>
      </p:sp>
      <p:sp>
        <p:nvSpPr>
          <p:cNvPr id="512" name="Google Shape;512;p14"/>
          <p:cNvSpPr/>
          <p:nvPr/>
        </p:nvSpPr>
        <p:spPr>
          <a:xfrm>
            <a:off x="9509760" y="4489704"/>
            <a:ext cx="664464" cy="292608"/>
          </a:xfrm>
          <a:prstGeom prst="roundRect">
            <a:avLst>
              <a:gd name="adj" fmla="val 12500"/>
            </a:avLst>
          </a:prstGeom>
          <a:solidFill>
            <a:srgbClr val="D9A44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13" name="Google Shape;513;p14"/>
          <p:cNvSpPr/>
          <p:nvPr/>
        </p:nvSpPr>
        <p:spPr>
          <a:xfrm>
            <a:off x="621792" y="4855464"/>
            <a:ext cx="2185416"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E2318"/>
              </a:buClr>
              <a:buSzPts val="850"/>
              <a:buFont typeface="Calibri"/>
              <a:buNone/>
            </a:pPr>
            <a:r>
              <a:rPr lang="en-US" sz="850" b="1">
                <a:solidFill>
                  <a:srgbClr val="2E2318"/>
                </a:solidFill>
                <a:latin typeface="Calibri"/>
                <a:ea typeface="Calibri"/>
                <a:cs typeface="Calibri"/>
                <a:sym typeface="Calibri"/>
              </a:rPr>
              <a:t>Sprint 7 · Predicción de demanda</a:t>
            </a:r>
            <a:endParaRPr sz="850">
              <a:solidFill>
                <a:schemeClr val="dk1"/>
              </a:solidFill>
              <a:latin typeface="Calibri"/>
              <a:ea typeface="Calibri"/>
              <a:cs typeface="Calibri"/>
              <a:sym typeface="Calibri"/>
            </a:endParaRPr>
          </a:p>
        </p:txBody>
      </p:sp>
      <p:sp>
        <p:nvSpPr>
          <p:cNvPr id="514" name="Google Shape;514;p14"/>
          <p:cNvSpPr/>
          <p:nvPr/>
        </p:nvSpPr>
        <p:spPr>
          <a:xfrm>
            <a:off x="2953512" y="4855464"/>
            <a:ext cx="2139696"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E5F50"/>
              </a:buClr>
              <a:buSzPts val="780"/>
              <a:buFont typeface="Calibri"/>
              <a:buNone/>
            </a:pPr>
            <a:r>
              <a:rPr lang="en-US" sz="780">
                <a:solidFill>
                  <a:srgbClr val="6E5F50"/>
                </a:solidFill>
                <a:latin typeface="Calibri"/>
                <a:ea typeface="Calibri"/>
                <a:cs typeface="Calibri"/>
                <a:sym typeface="Calibri"/>
              </a:rPr>
              <a:t>Obtener la producción sugerida del día siguiente</a:t>
            </a:r>
            <a:endParaRPr sz="780">
              <a:solidFill>
                <a:schemeClr val="dk1"/>
              </a:solidFill>
              <a:latin typeface="Calibri"/>
              <a:ea typeface="Calibri"/>
              <a:cs typeface="Calibri"/>
              <a:sym typeface="Calibri"/>
            </a:endParaRPr>
          </a:p>
        </p:txBody>
      </p:sp>
      <p:sp>
        <p:nvSpPr>
          <p:cNvPr id="515" name="Google Shape;515;p14"/>
          <p:cNvSpPr/>
          <p:nvPr/>
        </p:nvSpPr>
        <p:spPr>
          <a:xfrm>
            <a:off x="10229088" y="4928616"/>
            <a:ext cx="664464" cy="292608"/>
          </a:xfrm>
          <a:prstGeom prst="roundRect">
            <a:avLst>
              <a:gd name="adj" fmla="val 12500"/>
            </a:avLst>
          </a:prstGeom>
          <a:solidFill>
            <a:srgbClr val="D9A44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16" name="Google Shape;516;p14"/>
          <p:cNvSpPr/>
          <p:nvPr/>
        </p:nvSpPr>
        <p:spPr>
          <a:xfrm>
            <a:off x="548640" y="5294376"/>
            <a:ext cx="11091672" cy="438912"/>
          </a:xfrm>
          <a:prstGeom prst="rect">
            <a:avLst/>
          </a:prstGeom>
          <a:solidFill>
            <a:srgbClr val="FBF7F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17" name="Google Shape;517;p14"/>
          <p:cNvSpPr/>
          <p:nvPr/>
        </p:nvSpPr>
        <p:spPr>
          <a:xfrm>
            <a:off x="621792" y="5294376"/>
            <a:ext cx="2185416"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E2318"/>
              </a:buClr>
              <a:buSzPts val="850"/>
              <a:buFont typeface="Calibri"/>
              <a:buNone/>
            </a:pPr>
            <a:r>
              <a:rPr lang="en-US" sz="850" b="1">
                <a:solidFill>
                  <a:srgbClr val="2E2318"/>
                </a:solidFill>
                <a:latin typeface="Calibri"/>
                <a:ea typeface="Calibri"/>
                <a:cs typeface="Calibri"/>
                <a:sym typeface="Calibri"/>
              </a:rPr>
              <a:t>Sprint 8 · Multisucursal y cierre</a:t>
            </a:r>
            <a:endParaRPr sz="850">
              <a:solidFill>
                <a:schemeClr val="dk1"/>
              </a:solidFill>
              <a:latin typeface="Calibri"/>
              <a:ea typeface="Calibri"/>
              <a:cs typeface="Calibri"/>
              <a:sym typeface="Calibri"/>
            </a:endParaRPr>
          </a:p>
        </p:txBody>
      </p:sp>
      <p:sp>
        <p:nvSpPr>
          <p:cNvPr id="518" name="Google Shape;518;p14"/>
          <p:cNvSpPr/>
          <p:nvPr/>
        </p:nvSpPr>
        <p:spPr>
          <a:xfrm>
            <a:off x="2953512" y="5294376"/>
            <a:ext cx="2139696"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E5F50"/>
              </a:buClr>
              <a:buSzPts val="780"/>
              <a:buFont typeface="Calibri"/>
              <a:buNone/>
            </a:pPr>
            <a:r>
              <a:rPr lang="en-US" sz="780">
                <a:solidFill>
                  <a:srgbClr val="6E5F50"/>
                </a:solidFill>
                <a:latin typeface="Calibri"/>
                <a:ea typeface="Calibri"/>
                <a:cs typeface="Calibri"/>
                <a:sym typeface="Calibri"/>
              </a:rPr>
              <a:t>Operar más de una sucursal</a:t>
            </a:r>
            <a:endParaRPr sz="780">
              <a:solidFill>
                <a:schemeClr val="dk1"/>
              </a:solidFill>
              <a:latin typeface="Calibri"/>
              <a:ea typeface="Calibri"/>
              <a:cs typeface="Calibri"/>
              <a:sym typeface="Calibri"/>
            </a:endParaRPr>
          </a:p>
        </p:txBody>
      </p:sp>
      <p:sp>
        <p:nvSpPr>
          <p:cNvPr id="519" name="Google Shape;519;p14"/>
          <p:cNvSpPr/>
          <p:nvPr/>
        </p:nvSpPr>
        <p:spPr>
          <a:xfrm>
            <a:off x="10948416" y="5367528"/>
            <a:ext cx="664464" cy="292608"/>
          </a:xfrm>
          <a:prstGeom prst="roundRect">
            <a:avLst>
              <a:gd name="adj" fmla="val 12500"/>
            </a:avLst>
          </a:prstGeom>
          <a:solidFill>
            <a:srgbClr val="D9A44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20" name="Google Shape;520;p14"/>
          <p:cNvSpPr/>
          <p:nvPr/>
        </p:nvSpPr>
        <p:spPr>
          <a:xfrm>
            <a:off x="548640" y="5733288"/>
            <a:ext cx="11091672" cy="384048"/>
          </a:xfrm>
          <a:prstGeom prst="rect">
            <a:avLst/>
          </a:prstGeom>
          <a:solidFill>
            <a:srgbClr val="E9DEC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21" name="Google Shape;521;p14"/>
          <p:cNvSpPr/>
          <p:nvPr/>
        </p:nvSpPr>
        <p:spPr>
          <a:xfrm>
            <a:off x="621792" y="5733288"/>
            <a:ext cx="4471416"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E2318"/>
              </a:buClr>
              <a:buSzPts val="900"/>
              <a:buFont typeface="Calibri"/>
              <a:buNone/>
            </a:pPr>
            <a:r>
              <a:rPr lang="en-US" sz="900" b="1">
                <a:solidFill>
                  <a:srgbClr val="2E2318"/>
                </a:solidFill>
                <a:latin typeface="Calibri"/>
                <a:ea typeface="Calibri"/>
                <a:cs typeface="Calibri"/>
                <a:sym typeface="Calibri"/>
              </a:rPr>
              <a:t>Hitos de entrega</a:t>
            </a:r>
            <a:endParaRPr sz="900">
              <a:solidFill>
                <a:schemeClr val="dk1"/>
              </a:solidFill>
              <a:latin typeface="Calibri"/>
              <a:ea typeface="Calibri"/>
              <a:cs typeface="Calibri"/>
              <a:sym typeface="Calibri"/>
            </a:endParaRPr>
          </a:p>
        </p:txBody>
      </p:sp>
      <p:sp>
        <p:nvSpPr>
          <p:cNvPr id="522" name="Google Shape;522;p14"/>
          <p:cNvSpPr/>
          <p:nvPr/>
        </p:nvSpPr>
        <p:spPr>
          <a:xfrm>
            <a:off x="6522720" y="5843016"/>
            <a:ext cx="164592" cy="164592"/>
          </a:xfrm>
          <a:prstGeom prst="diamond">
            <a:avLst/>
          </a:prstGeom>
          <a:solidFill>
            <a:srgbClr val="4A2C1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23" name="Google Shape;523;p14"/>
          <p:cNvSpPr/>
          <p:nvPr/>
        </p:nvSpPr>
        <p:spPr>
          <a:xfrm>
            <a:off x="5370576" y="6044184"/>
            <a:ext cx="2468880" cy="25603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4A2C1A"/>
              </a:buClr>
              <a:buSzPts val="800"/>
              <a:buFont typeface="Calibri"/>
              <a:buNone/>
            </a:pPr>
            <a:r>
              <a:rPr lang="en-US" sz="800" b="1">
                <a:solidFill>
                  <a:srgbClr val="4A2C1A"/>
                </a:solidFill>
                <a:latin typeface="Calibri"/>
                <a:ea typeface="Calibri"/>
                <a:cs typeface="Calibri"/>
                <a:sym typeface="Calibri"/>
              </a:rPr>
              <a:t>Caja operativa</a:t>
            </a:r>
            <a:endParaRPr sz="800">
              <a:solidFill>
                <a:schemeClr val="dk1"/>
              </a:solidFill>
              <a:latin typeface="Calibri"/>
              <a:ea typeface="Calibri"/>
              <a:cs typeface="Calibri"/>
              <a:sym typeface="Calibri"/>
            </a:endParaRPr>
          </a:p>
        </p:txBody>
      </p:sp>
      <p:sp>
        <p:nvSpPr>
          <p:cNvPr id="524" name="Google Shape;524;p14"/>
          <p:cNvSpPr/>
          <p:nvPr/>
        </p:nvSpPr>
        <p:spPr>
          <a:xfrm>
            <a:off x="9400032" y="5843016"/>
            <a:ext cx="164592" cy="164592"/>
          </a:xfrm>
          <a:prstGeom prst="diamond">
            <a:avLst/>
          </a:prstGeom>
          <a:solidFill>
            <a:srgbClr val="4A2C1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25" name="Google Shape;525;p14"/>
          <p:cNvSpPr/>
          <p:nvPr/>
        </p:nvSpPr>
        <p:spPr>
          <a:xfrm>
            <a:off x="8247888" y="6044184"/>
            <a:ext cx="2468880" cy="25603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4A2C1A"/>
              </a:buClr>
              <a:buSzPts val="800"/>
              <a:buFont typeface="Calibri"/>
              <a:buNone/>
            </a:pPr>
            <a:r>
              <a:rPr lang="en-US" sz="800" b="1">
                <a:solidFill>
                  <a:srgbClr val="4A2C1A"/>
                </a:solidFill>
                <a:latin typeface="Calibri"/>
                <a:ea typeface="Calibri"/>
                <a:cs typeface="Calibri"/>
                <a:sym typeface="Calibri"/>
              </a:rPr>
              <a:t>Inventario integrado</a:t>
            </a:r>
            <a:endParaRPr sz="800">
              <a:solidFill>
                <a:schemeClr val="dk1"/>
              </a:solidFill>
              <a:latin typeface="Calibri"/>
              <a:ea typeface="Calibri"/>
              <a:cs typeface="Calibri"/>
              <a:sym typeface="Calibri"/>
            </a:endParaRPr>
          </a:p>
        </p:txBody>
      </p:sp>
      <p:sp>
        <p:nvSpPr>
          <p:cNvPr id="526" name="Google Shape;526;p14"/>
          <p:cNvSpPr/>
          <p:nvPr/>
        </p:nvSpPr>
        <p:spPr>
          <a:xfrm>
            <a:off x="11558016" y="5843016"/>
            <a:ext cx="164592" cy="164592"/>
          </a:xfrm>
          <a:prstGeom prst="diamond">
            <a:avLst/>
          </a:prstGeom>
          <a:solidFill>
            <a:srgbClr val="4A2C1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27" name="Google Shape;527;p14"/>
          <p:cNvSpPr/>
          <p:nvPr/>
        </p:nvSpPr>
        <p:spPr>
          <a:xfrm>
            <a:off x="9445752" y="6044184"/>
            <a:ext cx="2194560" cy="256032"/>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4A2C1A"/>
              </a:buClr>
              <a:buSzPts val="800"/>
              <a:buFont typeface="Calibri"/>
              <a:buNone/>
            </a:pPr>
            <a:r>
              <a:rPr lang="en-US" sz="800" b="1">
                <a:solidFill>
                  <a:srgbClr val="4A2C1A"/>
                </a:solidFill>
                <a:latin typeface="Calibri"/>
                <a:ea typeface="Calibri"/>
                <a:cs typeface="Calibri"/>
                <a:sym typeface="Calibri"/>
              </a:rPr>
              <a:t>Producto validado</a:t>
            </a:r>
            <a:endParaRPr sz="800">
              <a:solidFill>
                <a:schemeClr val="dk1"/>
              </a:solidFill>
              <a:latin typeface="Calibri"/>
              <a:ea typeface="Calibri"/>
              <a:cs typeface="Calibri"/>
              <a:sym typeface="Calibri"/>
            </a:endParaRPr>
          </a:p>
        </p:txBody>
      </p:sp>
      <p:sp>
        <p:nvSpPr>
          <p:cNvPr id="529" name="Google Shape;529;p14"/>
          <p:cNvSpPr/>
          <p:nvPr/>
        </p:nvSpPr>
        <p:spPr>
          <a:xfrm>
            <a:off x="11457432" y="6419088"/>
            <a:ext cx="45720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6E5F50"/>
              </a:buClr>
              <a:buSzPts val="1000"/>
              <a:buFont typeface="Calibri"/>
              <a:buNone/>
            </a:pPr>
            <a:r>
              <a:rPr lang="en-US" sz="1000">
                <a:solidFill>
                  <a:srgbClr val="6E5F50"/>
                </a:solidFill>
                <a:latin typeface="Calibri"/>
                <a:ea typeface="Calibri"/>
                <a:cs typeface="Calibri"/>
                <a:sym typeface="Calibri"/>
              </a:rPr>
              <a:t>14</a:t>
            </a:r>
            <a:endParaRPr sz="1000">
              <a:solidFill>
                <a:schemeClr val="dk1"/>
              </a:solidFill>
              <a:latin typeface="Calibri"/>
              <a:ea typeface="Calibri"/>
              <a:cs typeface="Calibri"/>
              <a:sym typeface="Calibri"/>
            </a:endParaRPr>
          </a:p>
        </p:txBody>
      </p:sp>
      <p:sp>
        <p:nvSpPr>
          <p:cNvPr id="3" name="Google Shape;74;p3">
            <a:extLst>
              <a:ext uri="{FF2B5EF4-FFF2-40B4-BE49-F238E27FC236}">
                <a16:creationId xmlns:a16="http://schemas.microsoft.com/office/drawing/2014/main" id="{8FA38B61-1657-446D-7B89-775AD1DE0F65}"/>
              </a:ext>
            </a:extLst>
          </p:cNvPr>
          <p:cNvSpPr/>
          <p:nvPr/>
        </p:nvSpPr>
        <p:spPr>
          <a:xfrm>
            <a:off x="548640" y="320040"/>
            <a:ext cx="11091672" cy="6858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D9A441"/>
              </a:buClr>
              <a:buSzPts val="3000"/>
              <a:buFont typeface="Cambria"/>
              <a:buNone/>
            </a:pPr>
            <a:r>
              <a:rPr lang="en-US" sz="3000" b="1" i="0" u="none" strike="noStrike" cap="none" dirty="0">
                <a:solidFill>
                  <a:srgbClr val="D9A441"/>
                </a:solidFill>
                <a:latin typeface="Calibri"/>
                <a:ea typeface="Calibri"/>
                <a:cs typeface="Calibri"/>
                <a:sym typeface="Calibri"/>
              </a:rPr>
              <a:t>C</a:t>
            </a:r>
            <a:r>
              <a:rPr lang="en-US" sz="3000" b="1" dirty="0">
                <a:solidFill>
                  <a:srgbClr val="4A2C1A"/>
                </a:solidFill>
                <a:latin typeface="Calibri"/>
                <a:ea typeface="Calibri"/>
                <a:cs typeface="Calibri"/>
                <a:sym typeface="Calibri"/>
              </a:rPr>
              <a:t>arta </a:t>
            </a:r>
            <a:r>
              <a:rPr lang="en-US" sz="3000" b="1" dirty="0">
                <a:solidFill>
                  <a:srgbClr val="D9A441"/>
                </a:solidFill>
                <a:latin typeface="Calibri"/>
                <a:ea typeface="Calibri"/>
                <a:cs typeface="Calibri"/>
                <a:sym typeface="Calibri"/>
              </a:rPr>
              <a:t>G</a:t>
            </a:r>
            <a:r>
              <a:rPr lang="en-US" sz="3000" b="1" dirty="0">
                <a:solidFill>
                  <a:srgbClr val="4A2C1A"/>
                </a:solidFill>
                <a:latin typeface="Calibri"/>
                <a:ea typeface="Calibri"/>
                <a:cs typeface="Calibri"/>
                <a:sym typeface="Calibri"/>
              </a:rPr>
              <a:t>antt</a:t>
            </a:r>
            <a:endParaRPr sz="3000" i="0" u="none" strike="noStrike" cap="none" dirty="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34"/>
        <p:cNvGrpSpPr/>
        <p:nvPr/>
      </p:nvGrpSpPr>
      <p:grpSpPr>
        <a:xfrm>
          <a:off x="0" y="0"/>
          <a:ext cx="0" cy="0"/>
          <a:chOff x="0" y="0"/>
          <a:chExt cx="0" cy="0"/>
        </a:xfrm>
      </p:grpSpPr>
      <p:sp>
        <p:nvSpPr>
          <p:cNvPr id="3" name="Google Shape;397;p13">
            <a:extLst>
              <a:ext uri="{FF2B5EF4-FFF2-40B4-BE49-F238E27FC236}">
                <a16:creationId xmlns:a16="http://schemas.microsoft.com/office/drawing/2014/main" id="{817CA6CF-098C-96F6-21D0-00A1CA45F5D1}"/>
              </a:ext>
            </a:extLst>
          </p:cNvPr>
          <p:cNvSpPr/>
          <p:nvPr/>
        </p:nvSpPr>
        <p:spPr>
          <a:xfrm>
            <a:off x="548640" y="1371600"/>
            <a:ext cx="5394960" cy="2240280"/>
          </a:xfrm>
          <a:prstGeom prst="roundRect">
            <a:avLst>
              <a:gd name="adj" fmla="val 4898"/>
            </a:avLst>
          </a:prstGeom>
          <a:solidFill>
            <a:srgbClr val="F6EF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398;p13">
            <a:extLst>
              <a:ext uri="{FF2B5EF4-FFF2-40B4-BE49-F238E27FC236}">
                <a16:creationId xmlns:a16="http://schemas.microsoft.com/office/drawing/2014/main" id="{7D95A066-387C-51A2-9A6B-1A17044CF17B}"/>
              </a:ext>
            </a:extLst>
          </p:cNvPr>
          <p:cNvSpPr/>
          <p:nvPr/>
        </p:nvSpPr>
        <p:spPr>
          <a:xfrm>
            <a:off x="777240" y="1600200"/>
            <a:ext cx="594360" cy="594360"/>
          </a:xfrm>
          <a:prstGeom prst="ellipse">
            <a:avLst/>
          </a:prstGeom>
          <a:solidFill>
            <a:srgbClr val="D9A4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7" name="Google Shape;399;p13" descr="preencoded.png">
            <a:extLst>
              <a:ext uri="{FF2B5EF4-FFF2-40B4-BE49-F238E27FC236}">
                <a16:creationId xmlns:a16="http://schemas.microsoft.com/office/drawing/2014/main" id="{0C5B55EB-C186-68C7-D1B1-CAB0AF7206D4}"/>
              </a:ext>
            </a:extLst>
          </p:cNvPr>
          <p:cNvPicPr preferRelativeResize="0"/>
          <p:nvPr/>
        </p:nvPicPr>
        <p:blipFill rotWithShape="1">
          <a:blip r:embed="rId3">
            <a:alphaModFix/>
          </a:blip>
          <a:srcRect/>
          <a:stretch/>
        </p:blipFill>
        <p:spPr>
          <a:xfrm>
            <a:off x="931774" y="1754734"/>
            <a:ext cx="285293" cy="285293"/>
          </a:xfrm>
          <a:prstGeom prst="rect">
            <a:avLst/>
          </a:prstGeom>
          <a:noFill/>
          <a:ln>
            <a:noFill/>
          </a:ln>
        </p:spPr>
      </p:pic>
      <p:sp>
        <p:nvSpPr>
          <p:cNvPr id="9" name="Google Shape;400;p13">
            <a:extLst>
              <a:ext uri="{FF2B5EF4-FFF2-40B4-BE49-F238E27FC236}">
                <a16:creationId xmlns:a16="http://schemas.microsoft.com/office/drawing/2014/main" id="{94CC74DA-5DB8-9E81-EB51-260386D4BB76}"/>
              </a:ext>
            </a:extLst>
          </p:cNvPr>
          <p:cNvSpPr/>
          <p:nvPr/>
        </p:nvSpPr>
        <p:spPr>
          <a:xfrm>
            <a:off x="1508760" y="1627632"/>
            <a:ext cx="420624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D9A441"/>
              </a:buClr>
              <a:buSzPts val="1450"/>
              <a:buFont typeface="Calibri"/>
              <a:buNone/>
            </a:pPr>
            <a:r>
              <a:rPr lang="en-US" sz="1650" b="1" i="0" u="none" strike="noStrike" cap="none">
                <a:solidFill>
                  <a:srgbClr val="4A2C1A"/>
                </a:solidFill>
                <a:latin typeface="Calibri"/>
                <a:ea typeface="Calibri"/>
                <a:cs typeface="Calibri"/>
                <a:sym typeface="Calibri"/>
              </a:rPr>
              <a:t>Fernando Belmar</a:t>
            </a:r>
            <a:endParaRPr sz="1650" b="0" i="0" u="none" strike="noStrike" cap="none">
              <a:solidFill>
                <a:srgbClr val="4A2C1A"/>
              </a:solidFill>
              <a:latin typeface="Calibri"/>
              <a:ea typeface="Calibri"/>
              <a:cs typeface="Calibri"/>
              <a:sym typeface="Calibri"/>
            </a:endParaRPr>
          </a:p>
        </p:txBody>
      </p:sp>
      <p:sp>
        <p:nvSpPr>
          <p:cNvPr id="11" name="Google Shape;401;p13">
            <a:extLst>
              <a:ext uri="{FF2B5EF4-FFF2-40B4-BE49-F238E27FC236}">
                <a16:creationId xmlns:a16="http://schemas.microsoft.com/office/drawing/2014/main" id="{61E64D11-B9F6-AB65-03BE-4EC9893322CB}"/>
              </a:ext>
            </a:extLst>
          </p:cNvPr>
          <p:cNvSpPr/>
          <p:nvPr/>
        </p:nvSpPr>
        <p:spPr>
          <a:xfrm>
            <a:off x="822960" y="2286000"/>
            <a:ext cx="4846320" cy="1234440"/>
          </a:xfrm>
          <a:prstGeom prst="rect">
            <a:avLst/>
          </a:prstGeom>
          <a:noFill/>
          <a:ln>
            <a:noFill/>
          </a:ln>
        </p:spPr>
        <p:txBody>
          <a:bodyPr spcFirstLastPara="1" wrap="square" lIns="0" tIns="0" rIns="0" bIns="0" anchor="ctr" anchorCtr="0">
            <a:noAutofit/>
          </a:bodyPr>
          <a:lstStyle/>
          <a:p>
            <a:pPr marL="0" marR="0" lvl="0" indent="0" algn="just" rtl="0">
              <a:spcBef>
                <a:spcPts val="0"/>
              </a:spcBef>
              <a:spcAft>
                <a:spcPts val="0"/>
              </a:spcAft>
              <a:buClr>
                <a:srgbClr val="F3EADC"/>
              </a:buClr>
              <a:buSzPts val="1130"/>
              <a:buFont typeface="Calibri"/>
              <a:buNone/>
            </a:pPr>
            <a:r>
              <a:rPr lang="en-US" sz="1130">
                <a:solidFill>
                  <a:srgbClr val="6E5F50"/>
                </a:solidFill>
                <a:latin typeface="Calibri"/>
                <a:ea typeface="Calibri"/>
                <a:cs typeface="Calibri"/>
                <a:sym typeface="Calibri"/>
              </a:rPr>
              <a:t>Declarar que el inventario de pan terminado es aproximado, que el terminal de pago va simulado y que no soportamos periféricos arbitrarios parecía debilitar la propuesta. Hace lo contrario: cada exclusión es defendible, coincide con lo que hacen los productos comerciales y cambia una afirmación que no resistiría preguntas por una que sí.</a:t>
            </a:r>
            <a:endParaRPr sz="1130" b="0" i="0" u="none" strike="noStrike" cap="none">
              <a:solidFill>
                <a:srgbClr val="6E5F50"/>
              </a:solidFill>
              <a:latin typeface="Calibri"/>
              <a:ea typeface="Calibri"/>
              <a:cs typeface="Calibri"/>
              <a:sym typeface="Calibri"/>
            </a:endParaRPr>
          </a:p>
        </p:txBody>
      </p:sp>
      <p:sp>
        <p:nvSpPr>
          <p:cNvPr id="13" name="Google Shape;402;p13">
            <a:extLst>
              <a:ext uri="{FF2B5EF4-FFF2-40B4-BE49-F238E27FC236}">
                <a16:creationId xmlns:a16="http://schemas.microsoft.com/office/drawing/2014/main" id="{6181B7A3-1EA2-BA05-AAFE-0BA50E7DC66F}"/>
              </a:ext>
            </a:extLst>
          </p:cNvPr>
          <p:cNvSpPr/>
          <p:nvPr/>
        </p:nvSpPr>
        <p:spPr>
          <a:xfrm>
            <a:off x="6263640" y="1371600"/>
            <a:ext cx="5394960" cy="2240280"/>
          </a:xfrm>
          <a:prstGeom prst="roundRect">
            <a:avLst>
              <a:gd name="adj" fmla="val 4898"/>
            </a:avLst>
          </a:prstGeom>
          <a:solidFill>
            <a:srgbClr val="F6EF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403;p13">
            <a:extLst>
              <a:ext uri="{FF2B5EF4-FFF2-40B4-BE49-F238E27FC236}">
                <a16:creationId xmlns:a16="http://schemas.microsoft.com/office/drawing/2014/main" id="{EACEFF71-8DE6-4C15-1477-E30A459A2DE5}"/>
              </a:ext>
            </a:extLst>
          </p:cNvPr>
          <p:cNvSpPr/>
          <p:nvPr/>
        </p:nvSpPr>
        <p:spPr>
          <a:xfrm>
            <a:off x="6492240" y="1600200"/>
            <a:ext cx="594360" cy="594360"/>
          </a:xfrm>
          <a:prstGeom prst="ellipse">
            <a:avLst/>
          </a:prstGeom>
          <a:solidFill>
            <a:srgbClr val="D9A4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7" name="Google Shape;404;p13" descr="preencoded.png">
            <a:extLst>
              <a:ext uri="{FF2B5EF4-FFF2-40B4-BE49-F238E27FC236}">
                <a16:creationId xmlns:a16="http://schemas.microsoft.com/office/drawing/2014/main" id="{B7A2E959-7F8F-BDB2-27C1-9765CEFD5555}"/>
              </a:ext>
            </a:extLst>
          </p:cNvPr>
          <p:cNvPicPr preferRelativeResize="0"/>
          <p:nvPr/>
        </p:nvPicPr>
        <p:blipFill rotWithShape="1">
          <a:blip r:embed="rId3">
            <a:alphaModFix/>
          </a:blip>
          <a:srcRect/>
          <a:stretch/>
        </p:blipFill>
        <p:spPr>
          <a:xfrm>
            <a:off x="6646774" y="1754734"/>
            <a:ext cx="285293" cy="285293"/>
          </a:xfrm>
          <a:prstGeom prst="rect">
            <a:avLst/>
          </a:prstGeom>
          <a:noFill/>
          <a:ln>
            <a:noFill/>
          </a:ln>
        </p:spPr>
      </p:pic>
      <p:sp>
        <p:nvSpPr>
          <p:cNvPr id="19" name="Google Shape;405;p13">
            <a:extLst>
              <a:ext uri="{FF2B5EF4-FFF2-40B4-BE49-F238E27FC236}">
                <a16:creationId xmlns:a16="http://schemas.microsoft.com/office/drawing/2014/main" id="{5620F25E-0AA2-4EB7-C8B7-CC752B83A3E8}"/>
              </a:ext>
            </a:extLst>
          </p:cNvPr>
          <p:cNvSpPr/>
          <p:nvPr/>
        </p:nvSpPr>
        <p:spPr>
          <a:xfrm>
            <a:off x="7223760" y="1627632"/>
            <a:ext cx="420624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A2C1A"/>
              </a:buClr>
              <a:buSzPts val="1450"/>
              <a:buFont typeface="Calibri"/>
              <a:buNone/>
            </a:pPr>
            <a:r>
              <a:rPr lang="en-US" sz="1650" b="1">
                <a:solidFill>
                  <a:srgbClr val="4A2C1A"/>
                </a:solidFill>
                <a:latin typeface="Calibri"/>
                <a:ea typeface="Calibri"/>
                <a:cs typeface="Calibri"/>
                <a:sym typeface="Calibri"/>
              </a:rPr>
              <a:t>Diego Maldonado</a:t>
            </a:r>
            <a:endParaRPr sz="1650" b="0" i="0" u="none" strike="noStrike" cap="none">
              <a:solidFill>
                <a:schemeClr val="dk1"/>
              </a:solidFill>
              <a:latin typeface="Calibri"/>
              <a:ea typeface="Calibri"/>
              <a:cs typeface="Calibri"/>
              <a:sym typeface="Calibri"/>
            </a:endParaRPr>
          </a:p>
        </p:txBody>
      </p:sp>
      <p:sp>
        <p:nvSpPr>
          <p:cNvPr id="21" name="Google Shape;406;p13">
            <a:extLst>
              <a:ext uri="{FF2B5EF4-FFF2-40B4-BE49-F238E27FC236}">
                <a16:creationId xmlns:a16="http://schemas.microsoft.com/office/drawing/2014/main" id="{363055C2-FA92-54F0-989B-A509FB814B35}"/>
              </a:ext>
            </a:extLst>
          </p:cNvPr>
          <p:cNvSpPr/>
          <p:nvPr/>
        </p:nvSpPr>
        <p:spPr>
          <a:xfrm>
            <a:off x="6537960" y="2263138"/>
            <a:ext cx="4846200" cy="1234500"/>
          </a:xfrm>
          <a:prstGeom prst="rect">
            <a:avLst/>
          </a:prstGeom>
          <a:noFill/>
          <a:ln>
            <a:noFill/>
          </a:ln>
        </p:spPr>
        <p:txBody>
          <a:bodyPr spcFirstLastPara="1" wrap="square" lIns="0" tIns="0" rIns="0" bIns="0" anchor="ctr" anchorCtr="0">
            <a:noAutofit/>
          </a:bodyPr>
          <a:lstStyle/>
          <a:p>
            <a:pPr marL="0" marR="0" lvl="0" indent="0" algn="just" rtl="0">
              <a:spcBef>
                <a:spcPts val="0"/>
              </a:spcBef>
              <a:spcAft>
                <a:spcPts val="0"/>
              </a:spcAft>
              <a:buClr>
                <a:srgbClr val="6E5F50"/>
              </a:buClr>
              <a:buSzPts val="1130"/>
              <a:buFont typeface="Calibri"/>
              <a:buNone/>
            </a:pPr>
            <a:r>
              <a:rPr lang="en-US" sz="1130">
                <a:solidFill>
                  <a:srgbClr val="6E5F50"/>
                </a:solidFill>
                <a:latin typeface="Calibri"/>
                <a:ea typeface="Calibri"/>
                <a:cs typeface="Calibri"/>
                <a:sym typeface="Calibri"/>
              </a:rPr>
              <a:t>Siendo el puente entre el cliente y el equipo de desarrollo, considero que se han determinado correctamente las historias de usuarios; Los obstáculos más evidentes han sido identificados y ya se han propuesto planes para reaccionar ante ellos según aparezcan, el proyecto es factible y tenemos un equipo que cuenta con la experiencia y conocimientos para terminarlo.</a:t>
            </a:r>
            <a:endParaRPr sz="1130" b="0" u="none" strike="noStrike" cap="none">
              <a:solidFill>
                <a:schemeClr val="dk1"/>
              </a:solidFill>
              <a:latin typeface="Calibri"/>
              <a:ea typeface="Calibri"/>
              <a:cs typeface="Calibri"/>
              <a:sym typeface="Calibri"/>
            </a:endParaRPr>
          </a:p>
        </p:txBody>
      </p:sp>
      <p:sp>
        <p:nvSpPr>
          <p:cNvPr id="23" name="Google Shape;407;p13">
            <a:extLst>
              <a:ext uri="{FF2B5EF4-FFF2-40B4-BE49-F238E27FC236}">
                <a16:creationId xmlns:a16="http://schemas.microsoft.com/office/drawing/2014/main" id="{AA040112-50E9-2003-EBBB-E2990E8B039A}"/>
              </a:ext>
            </a:extLst>
          </p:cNvPr>
          <p:cNvSpPr/>
          <p:nvPr/>
        </p:nvSpPr>
        <p:spPr>
          <a:xfrm>
            <a:off x="548640" y="3840480"/>
            <a:ext cx="5394960" cy="2240280"/>
          </a:xfrm>
          <a:prstGeom prst="roundRect">
            <a:avLst>
              <a:gd name="adj" fmla="val 4898"/>
            </a:avLst>
          </a:prstGeom>
          <a:solidFill>
            <a:srgbClr val="F6EF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408;p13">
            <a:extLst>
              <a:ext uri="{FF2B5EF4-FFF2-40B4-BE49-F238E27FC236}">
                <a16:creationId xmlns:a16="http://schemas.microsoft.com/office/drawing/2014/main" id="{9A751518-E3CC-A5C6-6128-46F30A181B48}"/>
              </a:ext>
            </a:extLst>
          </p:cNvPr>
          <p:cNvSpPr/>
          <p:nvPr/>
        </p:nvSpPr>
        <p:spPr>
          <a:xfrm>
            <a:off x="777240" y="4069080"/>
            <a:ext cx="594360" cy="594360"/>
          </a:xfrm>
          <a:prstGeom prst="ellipse">
            <a:avLst/>
          </a:prstGeom>
          <a:solidFill>
            <a:srgbClr val="D9A4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7" name="Google Shape;409;p13" descr="preencoded.png">
            <a:extLst>
              <a:ext uri="{FF2B5EF4-FFF2-40B4-BE49-F238E27FC236}">
                <a16:creationId xmlns:a16="http://schemas.microsoft.com/office/drawing/2014/main" id="{156E83AA-A49F-99D6-088F-4D8F1F7BC1A2}"/>
              </a:ext>
            </a:extLst>
          </p:cNvPr>
          <p:cNvPicPr preferRelativeResize="0"/>
          <p:nvPr/>
        </p:nvPicPr>
        <p:blipFill rotWithShape="1">
          <a:blip r:embed="rId3">
            <a:alphaModFix/>
          </a:blip>
          <a:srcRect/>
          <a:stretch/>
        </p:blipFill>
        <p:spPr>
          <a:xfrm>
            <a:off x="931774" y="4223614"/>
            <a:ext cx="285293" cy="285293"/>
          </a:xfrm>
          <a:prstGeom prst="rect">
            <a:avLst/>
          </a:prstGeom>
          <a:noFill/>
          <a:ln>
            <a:noFill/>
          </a:ln>
        </p:spPr>
      </p:pic>
      <p:sp>
        <p:nvSpPr>
          <p:cNvPr id="29" name="Google Shape;410;p13">
            <a:extLst>
              <a:ext uri="{FF2B5EF4-FFF2-40B4-BE49-F238E27FC236}">
                <a16:creationId xmlns:a16="http://schemas.microsoft.com/office/drawing/2014/main" id="{FFE74027-AE4D-E0D8-5862-9353FB41B46F}"/>
              </a:ext>
            </a:extLst>
          </p:cNvPr>
          <p:cNvSpPr/>
          <p:nvPr/>
        </p:nvSpPr>
        <p:spPr>
          <a:xfrm>
            <a:off x="1508760" y="4096512"/>
            <a:ext cx="420624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A2C1A"/>
              </a:buClr>
              <a:buSzPts val="1450"/>
              <a:buFont typeface="Calibri"/>
              <a:buNone/>
            </a:pPr>
            <a:r>
              <a:rPr lang="en-US" sz="1650" b="1">
                <a:solidFill>
                  <a:srgbClr val="4A2C1A"/>
                </a:solidFill>
                <a:latin typeface="Calibri"/>
                <a:ea typeface="Calibri"/>
                <a:cs typeface="Calibri"/>
                <a:sym typeface="Calibri"/>
              </a:rPr>
              <a:t>Juan Pablo Pérez</a:t>
            </a:r>
            <a:endParaRPr sz="1650" b="0" i="0" u="none" strike="noStrike" cap="none">
              <a:solidFill>
                <a:schemeClr val="dk1"/>
              </a:solidFill>
              <a:latin typeface="Calibri"/>
              <a:ea typeface="Calibri"/>
              <a:cs typeface="Calibri"/>
              <a:sym typeface="Calibri"/>
            </a:endParaRPr>
          </a:p>
        </p:txBody>
      </p:sp>
      <p:sp>
        <p:nvSpPr>
          <p:cNvPr id="31" name="Google Shape;411;p13">
            <a:extLst>
              <a:ext uri="{FF2B5EF4-FFF2-40B4-BE49-F238E27FC236}">
                <a16:creationId xmlns:a16="http://schemas.microsoft.com/office/drawing/2014/main" id="{3F8B8A5E-A083-EFA5-0A69-C7AC04BAE8B5}"/>
              </a:ext>
            </a:extLst>
          </p:cNvPr>
          <p:cNvSpPr/>
          <p:nvPr/>
        </p:nvSpPr>
        <p:spPr>
          <a:xfrm>
            <a:off x="822960" y="4754880"/>
            <a:ext cx="4846320" cy="1234440"/>
          </a:xfrm>
          <a:prstGeom prst="rect">
            <a:avLst/>
          </a:prstGeom>
          <a:noFill/>
          <a:ln>
            <a:noFill/>
          </a:ln>
        </p:spPr>
        <p:txBody>
          <a:bodyPr spcFirstLastPara="1" wrap="square" lIns="0" tIns="0" rIns="0" bIns="0" anchor="ctr" anchorCtr="0">
            <a:noAutofit/>
          </a:bodyPr>
          <a:lstStyle/>
          <a:p>
            <a:pPr marL="0" marR="0" lvl="0" indent="0" algn="just" rtl="0">
              <a:spcBef>
                <a:spcPts val="0"/>
              </a:spcBef>
              <a:spcAft>
                <a:spcPts val="0"/>
              </a:spcAft>
              <a:buClr>
                <a:srgbClr val="6E5F50"/>
              </a:buClr>
              <a:buSzPts val="1130"/>
              <a:buFont typeface="Calibri"/>
              <a:buNone/>
            </a:pPr>
            <a:r>
              <a:rPr lang="en-US" sz="1130">
                <a:solidFill>
                  <a:srgbClr val="6E5F50"/>
                </a:solidFill>
                <a:latin typeface="Calibri"/>
                <a:ea typeface="Calibri"/>
                <a:cs typeface="Calibri"/>
                <a:sym typeface="Calibri"/>
              </a:rPr>
              <a:t>El mayor desafío que enfrentamos como equipo radica en integrar la predicción de demanda sin interferir en el flujo de trabajo del negocio, demostrando cómo una solución offline-first y basada en datos puede transformar procesos empíricos en decisiones eficientes. Más allá de lo técnico, lo que más me entusiasma es ver cómo el software resuelve problemas reales y genera un impacto positivo en la panadería, mejorando sus procesos diarios.</a:t>
            </a:r>
            <a:endParaRPr sz="1130" b="0" i="0" u="none" strike="noStrike" cap="none">
              <a:solidFill>
                <a:srgbClr val="6E5F50"/>
              </a:solidFill>
              <a:latin typeface="Calibri"/>
              <a:ea typeface="Calibri"/>
              <a:cs typeface="Calibri"/>
              <a:sym typeface="Calibri"/>
            </a:endParaRPr>
          </a:p>
        </p:txBody>
      </p:sp>
      <p:sp>
        <p:nvSpPr>
          <p:cNvPr id="33" name="Google Shape;412;p13">
            <a:extLst>
              <a:ext uri="{FF2B5EF4-FFF2-40B4-BE49-F238E27FC236}">
                <a16:creationId xmlns:a16="http://schemas.microsoft.com/office/drawing/2014/main" id="{93846CD2-7793-F787-C0E7-3E5C4B1C1D74}"/>
              </a:ext>
            </a:extLst>
          </p:cNvPr>
          <p:cNvSpPr/>
          <p:nvPr/>
        </p:nvSpPr>
        <p:spPr>
          <a:xfrm>
            <a:off x="6263640" y="3840480"/>
            <a:ext cx="5394900" cy="2240400"/>
          </a:xfrm>
          <a:prstGeom prst="roundRect">
            <a:avLst>
              <a:gd name="adj" fmla="val 4898"/>
            </a:avLst>
          </a:prstGeom>
          <a:solidFill>
            <a:srgbClr val="F6EF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413;p13">
            <a:extLst>
              <a:ext uri="{FF2B5EF4-FFF2-40B4-BE49-F238E27FC236}">
                <a16:creationId xmlns:a16="http://schemas.microsoft.com/office/drawing/2014/main" id="{D4C803A6-EF4E-0AF1-A17D-B1907685C8D5}"/>
              </a:ext>
            </a:extLst>
          </p:cNvPr>
          <p:cNvSpPr/>
          <p:nvPr/>
        </p:nvSpPr>
        <p:spPr>
          <a:xfrm>
            <a:off x="6492240" y="4069080"/>
            <a:ext cx="594360" cy="594360"/>
          </a:xfrm>
          <a:prstGeom prst="ellipse">
            <a:avLst/>
          </a:prstGeom>
          <a:solidFill>
            <a:srgbClr val="D9A4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7" name="Google Shape;414;p13" descr="preencoded.png">
            <a:extLst>
              <a:ext uri="{FF2B5EF4-FFF2-40B4-BE49-F238E27FC236}">
                <a16:creationId xmlns:a16="http://schemas.microsoft.com/office/drawing/2014/main" id="{EB87B94A-BBA0-9C77-0508-88DA11852E6A}"/>
              </a:ext>
            </a:extLst>
          </p:cNvPr>
          <p:cNvPicPr preferRelativeResize="0"/>
          <p:nvPr/>
        </p:nvPicPr>
        <p:blipFill rotWithShape="1">
          <a:blip r:embed="rId3">
            <a:alphaModFix/>
          </a:blip>
          <a:srcRect/>
          <a:stretch/>
        </p:blipFill>
        <p:spPr>
          <a:xfrm>
            <a:off x="6646774" y="4223614"/>
            <a:ext cx="285293" cy="285293"/>
          </a:xfrm>
          <a:prstGeom prst="rect">
            <a:avLst/>
          </a:prstGeom>
          <a:noFill/>
          <a:ln>
            <a:noFill/>
          </a:ln>
        </p:spPr>
      </p:pic>
      <p:sp>
        <p:nvSpPr>
          <p:cNvPr id="39" name="Google Shape;415;p13">
            <a:extLst>
              <a:ext uri="{FF2B5EF4-FFF2-40B4-BE49-F238E27FC236}">
                <a16:creationId xmlns:a16="http://schemas.microsoft.com/office/drawing/2014/main" id="{2A7780E1-BD86-2428-8BAB-425A9232F43D}"/>
              </a:ext>
            </a:extLst>
          </p:cNvPr>
          <p:cNvSpPr/>
          <p:nvPr/>
        </p:nvSpPr>
        <p:spPr>
          <a:xfrm>
            <a:off x="7223760" y="4096512"/>
            <a:ext cx="420624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A2C1A"/>
              </a:buClr>
              <a:buSzPts val="1450"/>
              <a:buFont typeface="Calibri"/>
              <a:buNone/>
            </a:pPr>
            <a:r>
              <a:rPr lang="en-US" sz="1650" b="1">
                <a:solidFill>
                  <a:srgbClr val="4A2C1A"/>
                </a:solidFill>
                <a:latin typeface="Calibri"/>
                <a:ea typeface="Calibri"/>
                <a:cs typeface="Calibri"/>
                <a:sym typeface="Calibri"/>
              </a:rPr>
              <a:t>Rodrigo Mancilla</a:t>
            </a:r>
            <a:endParaRPr sz="1650" b="0" i="0" u="none" strike="noStrike" cap="none">
              <a:solidFill>
                <a:schemeClr val="dk1"/>
              </a:solidFill>
              <a:latin typeface="Calibri"/>
              <a:ea typeface="Calibri"/>
              <a:cs typeface="Calibri"/>
              <a:sym typeface="Calibri"/>
            </a:endParaRPr>
          </a:p>
        </p:txBody>
      </p:sp>
      <p:sp>
        <p:nvSpPr>
          <p:cNvPr id="41" name="Google Shape;416;p13">
            <a:extLst>
              <a:ext uri="{FF2B5EF4-FFF2-40B4-BE49-F238E27FC236}">
                <a16:creationId xmlns:a16="http://schemas.microsoft.com/office/drawing/2014/main" id="{4A97A896-1888-CE6C-20E4-D9A9F95E000C}"/>
              </a:ext>
            </a:extLst>
          </p:cNvPr>
          <p:cNvSpPr/>
          <p:nvPr/>
        </p:nvSpPr>
        <p:spPr>
          <a:xfrm>
            <a:off x="6537960" y="4754880"/>
            <a:ext cx="4846320" cy="12344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E5F50"/>
              </a:buClr>
              <a:buSzPts val="1130"/>
              <a:buFont typeface="Calibri"/>
              <a:buNone/>
            </a:pPr>
            <a:endParaRPr sz="1130" b="0" i="0" u="none" strike="noStrike" cap="none">
              <a:solidFill>
                <a:schemeClr val="dk1"/>
              </a:solidFill>
              <a:latin typeface="Calibri"/>
              <a:ea typeface="Calibri"/>
              <a:cs typeface="Calibri"/>
              <a:sym typeface="Calibri"/>
            </a:endParaRPr>
          </a:p>
        </p:txBody>
      </p:sp>
      <p:sp>
        <p:nvSpPr>
          <p:cNvPr id="43" name="Google Shape;418;p13">
            <a:extLst>
              <a:ext uri="{FF2B5EF4-FFF2-40B4-BE49-F238E27FC236}">
                <a16:creationId xmlns:a16="http://schemas.microsoft.com/office/drawing/2014/main" id="{4EA520EA-3F81-5F5A-2E08-2048A85FDB4E}"/>
              </a:ext>
            </a:extLst>
          </p:cNvPr>
          <p:cNvSpPr/>
          <p:nvPr/>
        </p:nvSpPr>
        <p:spPr>
          <a:xfrm>
            <a:off x="6538035" y="4754850"/>
            <a:ext cx="4846200" cy="1234500"/>
          </a:xfrm>
          <a:prstGeom prst="rect">
            <a:avLst/>
          </a:prstGeom>
          <a:noFill/>
          <a:ln>
            <a:noFill/>
          </a:ln>
        </p:spPr>
        <p:txBody>
          <a:bodyPr spcFirstLastPara="1" wrap="square" lIns="0" tIns="0" rIns="0" bIns="0" anchor="ctr" anchorCtr="0">
            <a:noAutofit/>
          </a:bodyPr>
          <a:lstStyle/>
          <a:p>
            <a:pPr marL="0" marR="0" lvl="0" indent="0" algn="just" rtl="0">
              <a:spcBef>
                <a:spcPts val="0"/>
              </a:spcBef>
              <a:spcAft>
                <a:spcPts val="0"/>
              </a:spcAft>
              <a:buClr>
                <a:srgbClr val="6E5F50"/>
              </a:buClr>
              <a:buSzPts val="1130"/>
              <a:buFont typeface="Calibri"/>
              <a:buNone/>
            </a:pPr>
            <a:r>
              <a:rPr lang="en-US" sz="1130">
                <a:solidFill>
                  <a:srgbClr val="6E5F50"/>
                </a:solidFill>
                <a:latin typeface="Calibri"/>
                <a:ea typeface="Calibri"/>
                <a:cs typeface="Calibri"/>
                <a:sym typeface="Calibri"/>
              </a:rPr>
              <a:t>Siendo lo que más valoro es la ciberseguridad, Duoc me ha dado las herramientas necesarias para poder implementarlas en nuestro proyecto, tales como el acceso por roles, el aislamiento de datos entre distintas panaderías y metodología offline-first para las BD. Este proyecto me permitió crecer en lo que más aprecio, qué es la de convertir datos en decisiones.</a:t>
            </a:r>
            <a:endParaRPr sz="1130" b="0" u="none" strike="noStrike" cap="none">
              <a:solidFill>
                <a:schemeClr val="dk1"/>
              </a:solidFill>
              <a:latin typeface="Calibri"/>
              <a:ea typeface="Calibri"/>
              <a:cs typeface="Calibri"/>
              <a:sym typeface="Calibri"/>
            </a:endParaRPr>
          </a:p>
        </p:txBody>
      </p:sp>
      <p:sp>
        <p:nvSpPr>
          <p:cNvPr id="45" name="Google Shape;396;p13">
            <a:extLst>
              <a:ext uri="{FF2B5EF4-FFF2-40B4-BE49-F238E27FC236}">
                <a16:creationId xmlns:a16="http://schemas.microsoft.com/office/drawing/2014/main" id="{22936721-9137-2455-A0B2-FC5296C3DC27}"/>
              </a:ext>
            </a:extLst>
          </p:cNvPr>
          <p:cNvSpPr/>
          <p:nvPr/>
        </p:nvSpPr>
        <p:spPr>
          <a:xfrm>
            <a:off x="548640" y="320040"/>
            <a:ext cx="11091672" cy="6858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D9A441"/>
              </a:buClr>
              <a:buSzPts val="3000"/>
              <a:buFont typeface="Cambria"/>
              <a:buNone/>
            </a:pPr>
            <a:r>
              <a:rPr lang="en-US" sz="3000" b="1" i="0" u="none" strike="noStrike" cap="none" dirty="0" err="1">
                <a:solidFill>
                  <a:srgbClr val="D9A441"/>
                </a:solidFill>
                <a:latin typeface="Calibri"/>
                <a:ea typeface="Calibri"/>
                <a:cs typeface="Calibri"/>
                <a:sym typeface="Calibri"/>
              </a:rPr>
              <a:t>C</a:t>
            </a:r>
            <a:r>
              <a:rPr lang="en-US" sz="3000" b="1" i="0" u="none" strike="noStrike" cap="none" dirty="0" err="1">
                <a:solidFill>
                  <a:srgbClr val="4A2C1A"/>
                </a:solidFill>
                <a:latin typeface="Calibri"/>
                <a:ea typeface="Calibri"/>
                <a:cs typeface="Calibri"/>
                <a:sym typeface="Calibri"/>
              </a:rPr>
              <a:t>onclusiones</a:t>
            </a:r>
            <a:r>
              <a:rPr lang="en-US" sz="3000" b="1" i="0" u="none" strike="noStrike" cap="none" dirty="0">
                <a:solidFill>
                  <a:srgbClr val="D9A441"/>
                </a:solidFill>
                <a:latin typeface="Calibri"/>
                <a:ea typeface="Calibri"/>
                <a:cs typeface="Calibri"/>
                <a:sym typeface="Calibri"/>
              </a:rPr>
              <a:t> </a:t>
            </a:r>
            <a:r>
              <a:rPr lang="en-US" sz="3000" b="1" i="0" u="none" strike="noStrike" cap="none" dirty="0">
                <a:solidFill>
                  <a:srgbClr val="2E2318"/>
                </a:solidFill>
                <a:latin typeface="Calibri"/>
                <a:ea typeface="Calibri"/>
                <a:cs typeface="Calibri"/>
                <a:sym typeface="Calibri"/>
              </a:rPr>
              <a:t>y </a:t>
            </a:r>
            <a:r>
              <a:rPr lang="en-US" sz="3000" b="1" i="0" u="none" strike="noStrike" cap="none" dirty="0" err="1">
                <a:solidFill>
                  <a:srgbClr val="2E2318"/>
                </a:solidFill>
                <a:latin typeface="Calibri"/>
                <a:ea typeface="Calibri"/>
                <a:cs typeface="Calibri"/>
                <a:sym typeface="Calibri"/>
              </a:rPr>
              <a:t>reflexiones</a:t>
            </a:r>
            <a:endParaRPr sz="3000" i="0" u="none" strike="noStrike" cap="none" dirty="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4A2C1A"/>
        </a:solidFill>
        <a:effectLst/>
      </p:bgPr>
    </p:bg>
    <p:spTree>
      <p:nvGrpSpPr>
        <p:cNvPr id="1" name="Shape 561"/>
        <p:cNvGrpSpPr/>
        <p:nvPr/>
      </p:nvGrpSpPr>
      <p:grpSpPr>
        <a:xfrm>
          <a:off x="0" y="0"/>
          <a:ext cx="0" cy="0"/>
          <a:chOff x="0" y="0"/>
          <a:chExt cx="0" cy="0"/>
        </a:xfrm>
      </p:grpSpPr>
      <p:sp>
        <p:nvSpPr>
          <p:cNvPr id="3" name="Google Shape;424;p14">
            <a:extLst>
              <a:ext uri="{FF2B5EF4-FFF2-40B4-BE49-F238E27FC236}">
                <a16:creationId xmlns:a16="http://schemas.microsoft.com/office/drawing/2014/main" id="{F4A6ACB7-146C-E83D-D659-F983D9CF254E}"/>
              </a:ext>
            </a:extLst>
          </p:cNvPr>
          <p:cNvSpPr/>
          <p:nvPr/>
        </p:nvSpPr>
        <p:spPr>
          <a:xfrm>
            <a:off x="5591556" y="2423155"/>
            <a:ext cx="1005900" cy="1005900"/>
          </a:xfrm>
          <a:prstGeom prst="ellipse">
            <a:avLst/>
          </a:prstGeom>
          <a:solidFill>
            <a:srgbClr val="D9A4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 name="Google Shape;425;p14" descr="preencoded.png">
            <a:extLst>
              <a:ext uri="{FF2B5EF4-FFF2-40B4-BE49-F238E27FC236}">
                <a16:creationId xmlns:a16="http://schemas.microsoft.com/office/drawing/2014/main" id="{7A05AF54-BE43-EE5A-E1F9-899574C86726}"/>
              </a:ext>
            </a:extLst>
          </p:cNvPr>
          <p:cNvPicPr preferRelativeResize="0"/>
          <p:nvPr/>
        </p:nvPicPr>
        <p:blipFill rotWithShape="1">
          <a:blip r:embed="rId3">
            <a:alphaModFix/>
          </a:blip>
          <a:srcRect/>
          <a:stretch/>
        </p:blipFill>
        <p:spPr>
          <a:xfrm>
            <a:off x="5853074" y="2684673"/>
            <a:ext cx="482803" cy="482803"/>
          </a:xfrm>
          <a:prstGeom prst="rect">
            <a:avLst/>
          </a:prstGeom>
          <a:noFill/>
          <a:ln>
            <a:noFill/>
          </a:ln>
        </p:spPr>
      </p:pic>
      <p:sp>
        <p:nvSpPr>
          <p:cNvPr id="7" name="Google Shape;426;p14">
            <a:extLst>
              <a:ext uri="{FF2B5EF4-FFF2-40B4-BE49-F238E27FC236}">
                <a16:creationId xmlns:a16="http://schemas.microsoft.com/office/drawing/2014/main" id="{8465F3DA-DBBB-AE67-E3B0-7711A80201B5}"/>
              </a:ext>
            </a:extLst>
          </p:cNvPr>
          <p:cNvSpPr/>
          <p:nvPr/>
        </p:nvSpPr>
        <p:spPr>
          <a:xfrm>
            <a:off x="-25" y="3520448"/>
            <a:ext cx="12189000" cy="9144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5800"/>
              <a:buFont typeface="Cambria"/>
              <a:buNone/>
            </a:pPr>
            <a:r>
              <a:rPr lang="en-US" sz="5800" b="1">
                <a:solidFill>
                  <a:srgbClr val="FFFFFF"/>
                </a:solidFill>
                <a:latin typeface="Calibri"/>
                <a:ea typeface="Calibri"/>
                <a:cs typeface="Calibri"/>
                <a:sym typeface="Calibri"/>
              </a:rPr>
              <a:t>Muchas gracias</a:t>
            </a:r>
            <a:endParaRPr sz="5800" b="1"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TotalTime>
  <Words>2087</Words>
  <Application>Microsoft Office PowerPoint</Application>
  <PresentationFormat>Custom</PresentationFormat>
  <Paragraphs>287</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PptxGenJS</dc:creator>
  <cp:lastModifiedBy>ryujin ­</cp:lastModifiedBy>
  <cp:revision>4</cp:revision>
  <dcterms:created xsi:type="dcterms:W3CDTF">2026-08-28T02:15:31Z</dcterms:created>
  <dcterms:modified xsi:type="dcterms:W3CDTF">2026-08-30T23:09:39Z</dcterms:modified>
</cp:coreProperties>
</file>