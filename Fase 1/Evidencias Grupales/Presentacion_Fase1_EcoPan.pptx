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88950"/>
  <p:notesSz cx="6858000" cy="121889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gzlRwXYzDg2OhEaUApFohs6Nm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2" name="Google Shape;3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3.png"/><Relationship Id="rId4" Type="http://schemas.openxmlformats.org/officeDocument/2006/relationships/image" Target="../media/image9.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3.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17.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2.png"/><Relationship Id="rId5" Type="http://schemas.openxmlformats.org/officeDocument/2006/relationships/image" Target="../media/image5.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4.png"/><Relationship Id="rId4" Type="http://schemas.openxmlformats.org/officeDocument/2006/relationships/image" Target="../media/image30.png"/><Relationship Id="rId5" Type="http://schemas.openxmlformats.org/officeDocument/2006/relationships/image" Target="../media/image36.png"/><Relationship Id="rId6" Type="http://schemas.openxmlformats.org/officeDocument/2006/relationships/image" Target="../media/image38.png"/><Relationship Id="rId7" Type="http://schemas.openxmlformats.org/officeDocument/2006/relationships/image" Target="../media/image29.png"/><Relationship Id="rId8"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2C1A"/>
        </a:solidFill>
      </p:bgPr>
    </p:bg>
    <p:spTree>
      <p:nvGrpSpPr>
        <p:cNvPr id="15" name="Shape 15"/>
        <p:cNvGrpSpPr/>
        <p:nvPr/>
      </p:nvGrpSpPr>
      <p:grpSpPr>
        <a:xfrm>
          <a:off x="0" y="0"/>
          <a:ext cx="0" cy="0"/>
          <a:chOff x="0" y="0"/>
          <a:chExt cx="0" cy="0"/>
        </a:xfrm>
      </p:grpSpPr>
      <p:sp>
        <p:nvSpPr>
          <p:cNvPr id="16" name="Google Shape;16;p1"/>
          <p:cNvSpPr/>
          <p:nvPr/>
        </p:nvSpPr>
        <p:spPr>
          <a:xfrm>
            <a:off x="5527548" y="1223140"/>
            <a:ext cx="1134000" cy="11340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
          <p:cNvPicPr preferRelativeResize="0"/>
          <p:nvPr/>
        </p:nvPicPr>
        <p:blipFill rotWithShape="1">
          <a:blip r:embed="rId3">
            <a:alphaModFix/>
          </a:blip>
          <a:srcRect b="0" l="0" r="0" t="0"/>
          <a:stretch/>
        </p:blipFill>
        <p:spPr>
          <a:xfrm>
            <a:off x="5822351" y="1517943"/>
            <a:ext cx="544251" cy="544251"/>
          </a:xfrm>
          <a:prstGeom prst="rect">
            <a:avLst/>
          </a:prstGeom>
          <a:noFill/>
          <a:ln>
            <a:noFill/>
          </a:ln>
        </p:spPr>
      </p:pic>
      <p:sp>
        <p:nvSpPr>
          <p:cNvPr id="18" name="Google Shape;18;p1"/>
          <p:cNvSpPr/>
          <p:nvPr/>
        </p:nvSpPr>
        <p:spPr>
          <a:xfrm>
            <a:off x="0" y="2411860"/>
            <a:ext cx="121890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800"/>
              <a:buFont typeface="Cambria"/>
              <a:buNone/>
            </a:pPr>
            <a:r>
              <a:rPr b="1" i="0" lang="en-US" sz="7200" u="none" cap="none" strike="noStrike">
                <a:solidFill>
                  <a:srgbClr val="FFFFFF"/>
                </a:solidFill>
                <a:latin typeface="Calibri"/>
                <a:ea typeface="Calibri"/>
                <a:cs typeface="Calibri"/>
                <a:sym typeface="Calibri"/>
              </a:rPr>
              <a:t>E</a:t>
            </a:r>
            <a:r>
              <a:rPr b="1" lang="en-US" sz="7200">
                <a:solidFill>
                  <a:srgbClr val="FFFFFF"/>
                </a:solidFill>
                <a:latin typeface="Calibri"/>
                <a:ea typeface="Calibri"/>
                <a:cs typeface="Calibri"/>
                <a:sym typeface="Calibri"/>
              </a:rPr>
              <a:t>co</a:t>
            </a:r>
            <a:r>
              <a:rPr b="1" i="0" lang="en-US" sz="7200" u="none" cap="none" strike="noStrike">
                <a:solidFill>
                  <a:srgbClr val="FFFFFF"/>
                </a:solidFill>
                <a:latin typeface="Calibri"/>
                <a:ea typeface="Calibri"/>
                <a:cs typeface="Calibri"/>
                <a:sym typeface="Calibri"/>
              </a:rPr>
              <a:t>P</a:t>
            </a:r>
            <a:r>
              <a:rPr b="1" lang="en-US" sz="7200">
                <a:solidFill>
                  <a:srgbClr val="FFFFFF"/>
                </a:solidFill>
                <a:latin typeface="Calibri"/>
                <a:ea typeface="Calibri"/>
                <a:cs typeface="Calibri"/>
                <a:sym typeface="Calibri"/>
              </a:rPr>
              <a:t>an</a:t>
            </a:r>
            <a:endParaRPr b="1" i="0" sz="7200" u="none" cap="none" strike="noStrike">
              <a:solidFill>
                <a:schemeClr val="dk1"/>
              </a:solidFill>
              <a:latin typeface="Calibri"/>
              <a:ea typeface="Calibri"/>
              <a:cs typeface="Calibri"/>
              <a:sym typeface="Calibri"/>
            </a:endParaRPr>
          </a:p>
        </p:txBody>
      </p:sp>
      <p:sp>
        <p:nvSpPr>
          <p:cNvPr id="19" name="Google Shape;19;p1"/>
          <p:cNvSpPr/>
          <p:nvPr/>
        </p:nvSpPr>
        <p:spPr>
          <a:xfrm>
            <a:off x="1371600" y="3326260"/>
            <a:ext cx="94458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A441"/>
              </a:buClr>
              <a:buSzPts val="2100"/>
              <a:buFont typeface="Cambria"/>
              <a:buNone/>
            </a:pPr>
            <a:r>
              <a:rPr lang="en-US" sz="1900" u="none" cap="none" strike="noStrike">
                <a:solidFill>
                  <a:srgbClr val="D9A441"/>
                </a:solidFill>
                <a:latin typeface="Calibri"/>
                <a:ea typeface="Calibri"/>
                <a:cs typeface="Calibri"/>
                <a:sym typeface="Calibri"/>
              </a:rPr>
              <a:t>Sistema de gestión y predicción de demanda para panaderías</a:t>
            </a:r>
            <a:endParaRPr sz="1900" u="none" cap="none" strike="noStrike">
              <a:solidFill>
                <a:schemeClr val="dk1"/>
              </a:solidFill>
              <a:latin typeface="Calibri"/>
              <a:ea typeface="Calibri"/>
              <a:cs typeface="Calibri"/>
              <a:sym typeface="Calibri"/>
            </a:endParaRPr>
          </a:p>
        </p:txBody>
      </p:sp>
      <p:sp>
        <p:nvSpPr>
          <p:cNvPr id="20" name="Google Shape;20;p1"/>
          <p:cNvSpPr/>
          <p:nvPr/>
        </p:nvSpPr>
        <p:spPr>
          <a:xfrm>
            <a:off x="1371600" y="4663440"/>
            <a:ext cx="94457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A441"/>
              </a:buClr>
              <a:buSzPts val="1400"/>
              <a:buFont typeface="Calibri"/>
              <a:buNone/>
            </a:pPr>
            <a:r>
              <a:rPr b="1" i="0" lang="en-US" sz="1600" u="none" cap="none" strike="noStrike">
                <a:solidFill>
                  <a:srgbClr val="D9A441"/>
                </a:solidFill>
                <a:latin typeface="Calibri"/>
                <a:ea typeface="Calibri"/>
                <a:cs typeface="Calibri"/>
                <a:sym typeface="Calibri"/>
              </a:rPr>
              <a:t>Integrantes: </a:t>
            </a:r>
            <a:r>
              <a:rPr b="0" i="0" lang="en-US" sz="1600" u="none" cap="none" strike="noStrike">
                <a:solidFill>
                  <a:srgbClr val="FFFFFF"/>
                </a:solidFill>
                <a:latin typeface="Calibri"/>
                <a:ea typeface="Calibri"/>
                <a:cs typeface="Calibri"/>
                <a:sym typeface="Calibri"/>
              </a:rPr>
              <a:t>Fernando Belmar · </a:t>
            </a:r>
            <a:r>
              <a:rPr lang="en-US" sz="1600">
                <a:solidFill>
                  <a:srgbClr val="FFFFFF"/>
                </a:solidFill>
                <a:latin typeface="Calibri"/>
                <a:ea typeface="Calibri"/>
                <a:cs typeface="Calibri"/>
                <a:sym typeface="Calibri"/>
              </a:rPr>
              <a:t>Rodrigo Mancilla</a:t>
            </a:r>
            <a:r>
              <a:rPr b="0" i="0" lang="en-US" sz="1600" u="none" cap="none" strike="noStrike">
                <a:solidFill>
                  <a:srgbClr val="FFFFFF"/>
                </a:solidFill>
                <a:latin typeface="Calibri"/>
                <a:ea typeface="Calibri"/>
                <a:cs typeface="Calibri"/>
                <a:sym typeface="Calibri"/>
              </a:rPr>
              <a:t> · </a:t>
            </a:r>
            <a:r>
              <a:rPr lang="en-US" sz="1600">
                <a:solidFill>
                  <a:srgbClr val="FFFFFF"/>
                </a:solidFill>
                <a:latin typeface="Calibri"/>
                <a:ea typeface="Calibri"/>
                <a:cs typeface="Calibri"/>
                <a:sym typeface="Calibri"/>
              </a:rPr>
              <a:t>Diego Maldonado</a:t>
            </a:r>
            <a:r>
              <a:rPr b="0" i="0" lang="en-US" sz="1600" u="none" cap="none" strike="noStrike">
                <a:solidFill>
                  <a:srgbClr val="FFFFFF"/>
                </a:solidFill>
                <a:latin typeface="Calibri"/>
                <a:ea typeface="Calibri"/>
                <a:cs typeface="Calibri"/>
                <a:sym typeface="Calibri"/>
              </a:rPr>
              <a:t> · </a:t>
            </a:r>
            <a:r>
              <a:rPr lang="en-US" sz="1600">
                <a:solidFill>
                  <a:srgbClr val="FFFFFF"/>
                </a:solidFill>
                <a:latin typeface="Calibri"/>
                <a:ea typeface="Calibri"/>
                <a:cs typeface="Calibri"/>
                <a:sym typeface="Calibri"/>
              </a:rPr>
              <a:t>Juan Pablo Pérez</a:t>
            </a:r>
            <a:endParaRPr b="0" i="0" sz="1600" u="none" cap="none" strike="noStrike">
              <a:solidFill>
                <a:schemeClr val="dk1"/>
              </a:solidFill>
              <a:latin typeface="Calibri"/>
              <a:ea typeface="Calibri"/>
              <a:cs typeface="Calibri"/>
              <a:sym typeface="Calibri"/>
            </a:endParaRPr>
          </a:p>
        </p:txBody>
      </p:sp>
      <p:sp>
        <p:nvSpPr>
          <p:cNvPr id="21" name="Google Shape;21;p1"/>
          <p:cNvSpPr/>
          <p:nvPr/>
        </p:nvSpPr>
        <p:spPr>
          <a:xfrm>
            <a:off x="1371600" y="5074920"/>
            <a:ext cx="9445752"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D9A441"/>
              </a:buClr>
              <a:buSzPts val="1400"/>
              <a:buFont typeface="Calibri"/>
              <a:buNone/>
            </a:pPr>
            <a:r>
              <a:rPr b="1" i="0" lang="en-US" sz="1600" u="none" cap="none" strike="noStrike">
                <a:solidFill>
                  <a:srgbClr val="D9A441"/>
                </a:solidFill>
                <a:latin typeface="Calibri"/>
                <a:ea typeface="Calibri"/>
                <a:cs typeface="Calibri"/>
                <a:sym typeface="Calibri"/>
              </a:rPr>
              <a:t>Docente: </a:t>
            </a:r>
            <a:r>
              <a:rPr lang="en-US" sz="1600">
                <a:solidFill>
                  <a:srgbClr val="FFFFFF"/>
                </a:solidFill>
                <a:latin typeface="Calibri"/>
                <a:ea typeface="Calibri"/>
                <a:cs typeface="Calibri"/>
                <a:sym typeface="Calibri"/>
              </a:rPr>
              <a:t>Mauricio Figueroa</a:t>
            </a:r>
            <a:r>
              <a:rPr b="0" i="0" lang="en-US" sz="1600" u="none" cap="none" strike="noStrike">
                <a:solidFill>
                  <a:srgbClr val="FFFFFF"/>
                </a:solidFill>
                <a:latin typeface="Calibri"/>
                <a:ea typeface="Calibri"/>
                <a:cs typeface="Calibri"/>
                <a:sym typeface="Calibri"/>
              </a:rPr>
              <a:t>    </a:t>
            </a:r>
            <a:r>
              <a:rPr b="1" i="0" lang="en-US" sz="1600" u="none" cap="none" strike="noStrike">
                <a:solidFill>
                  <a:srgbClr val="D9A441"/>
                </a:solidFill>
                <a:latin typeface="Calibri"/>
                <a:ea typeface="Calibri"/>
                <a:cs typeface="Calibri"/>
                <a:sym typeface="Calibri"/>
              </a:rPr>
              <a:t>Asignatura: </a:t>
            </a:r>
            <a:r>
              <a:rPr b="0" i="0" lang="en-US" sz="1600" u="none" cap="none" strike="noStrike">
                <a:solidFill>
                  <a:srgbClr val="FFFFFF"/>
                </a:solidFill>
                <a:latin typeface="Calibri"/>
                <a:ea typeface="Calibri"/>
                <a:cs typeface="Calibri"/>
                <a:sym typeface="Calibri"/>
              </a:rPr>
              <a:t>Capstone (PTY4614)</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T</a:t>
            </a:r>
            <a:r>
              <a:rPr b="1" i="0" lang="en-US" sz="3000" u="none" cap="none" strike="noStrike">
                <a:solidFill>
                  <a:srgbClr val="4A2C1A"/>
                </a:solidFill>
                <a:latin typeface="Calibri"/>
                <a:ea typeface="Calibri"/>
                <a:cs typeface="Calibri"/>
                <a:sym typeface="Calibri"/>
              </a:rPr>
              <a:t>abla de</a:t>
            </a:r>
            <a:r>
              <a:rPr b="1" i="0" lang="en-US" sz="3000" u="none" cap="none" strike="noStrike">
                <a:solidFill>
                  <a:srgbClr val="D9A441"/>
                </a:solidFill>
                <a:latin typeface="Calibri"/>
                <a:ea typeface="Calibri"/>
                <a:cs typeface="Calibri"/>
                <a:sym typeface="Calibri"/>
              </a:rPr>
              <a:t> C</a:t>
            </a:r>
            <a:r>
              <a:rPr b="1" i="0" lang="en-US" sz="3000" u="none" cap="none" strike="noStrike">
                <a:solidFill>
                  <a:srgbClr val="2E2318"/>
                </a:solidFill>
                <a:latin typeface="Calibri"/>
                <a:ea typeface="Calibri"/>
                <a:cs typeface="Calibri"/>
                <a:sym typeface="Calibri"/>
              </a:rPr>
              <a:t>ontenidos</a:t>
            </a:r>
            <a:endParaRPr i="0" sz="3000" u="none" cap="none" strike="noStrike">
              <a:solidFill>
                <a:schemeClr val="dk1"/>
              </a:solidFill>
              <a:latin typeface="Calibri"/>
              <a:ea typeface="Calibri"/>
              <a:cs typeface="Calibri"/>
              <a:sym typeface="Calibri"/>
            </a:endParaRPr>
          </a:p>
        </p:txBody>
      </p:sp>
      <p:sp>
        <p:nvSpPr>
          <p:cNvPr id="28" name="Google Shape;28;p2"/>
          <p:cNvSpPr/>
          <p:nvPr/>
        </p:nvSpPr>
        <p:spPr>
          <a:xfrm>
            <a:off x="731520" y="1417320"/>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29" name="Google Shape;29;p2"/>
          <p:cNvSpPr/>
          <p:nvPr/>
        </p:nvSpPr>
        <p:spPr>
          <a:xfrm>
            <a:off x="859536" y="1536192"/>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0" name="Google Shape;30;p2"/>
          <p:cNvSpPr/>
          <p:nvPr/>
        </p:nvSpPr>
        <p:spPr>
          <a:xfrm>
            <a:off x="859536" y="1536192"/>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01</a:t>
            </a:r>
            <a:endParaRPr i="0" sz="1600" u="none" cap="none" strike="noStrike">
              <a:solidFill>
                <a:schemeClr val="dk1"/>
              </a:solidFill>
              <a:latin typeface="Calibri"/>
              <a:ea typeface="Calibri"/>
              <a:cs typeface="Calibri"/>
              <a:sym typeface="Calibri"/>
            </a:endParaRPr>
          </a:p>
        </p:txBody>
      </p:sp>
      <p:sp>
        <p:nvSpPr>
          <p:cNvPr id="31" name="Google Shape;31;p2"/>
          <p:cNvSpPr/>
          <p:nvPr/>
        </p:nvSpPr>
        <p:spPr>
          <a:xfrm>
            <a:off x="1554480" y="1536192"/>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Contexto</a:t>
            </a:r>
            <a:endParaRPr i="0" sz="1500" u="none" cap="none" strike="noStrike">
              <a:solidFill>
                <a:schemeClr val="dk1"/>
              </a:solidFill>
              <a:latin typeface="Calibri"/>
              <a:ea typeface="Calibri"/>
              <a:cs typeface="Calibri"/>
              <a:sym typeface="Calibri"/>
            </a:endParaRPr>
          </a:p>
        </p:txBody>
      </p:sp>
      <p:sp>
        <p:nvSpPr>
          <p:cNvPr id="32" name="Google Shape;32;p2"/>
          <p:cNvSpPr/>
          <p:nvPr/>
        </p:nvSpPr>
        <p:spPr>
          <a:xfrm>
            <a:off x="731520" y="2386584"/>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3" name="Google Shape;33;p2"/>
          <p:cNvSpPr/>
          <p:nvPr/>
        </p:nvSpPr>
        <p:spPr>
          <a:xfrm>
            <a:off x="859536" y="2505456"/>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4" name="Google Shape;34;p2"/>
          <p:cNvSpPr/>
          <p:nvPr/>
        </p:nvSpPr>
        <p:spPr>
          <a:xfrm>
            <a:off x="859536" y="250545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02</a:t>
            </a:r>
            <a:endParaRPr i="0" sz="1600" u="none" cap="none" strike="noStrike">
              <a:solidFill>
                <a:schemeClr val="dk1"/>
              </a:solidFill>
              <a:latin typeface="Calibri"/>
              <a:ea typeface="Calibri"/>
              <a:cs typeface="Calibri"/>
              <a:sym typeface="Calibri"/>
            </a:endParaRPr>
          </a:p>
        </p:txBody>
      </p:sp>
      <p:sp>
        <p:nvSpPr>
          <p:cNvPr id="35" name="Google Shape;35;p2"/>
          <p:cNvSpPr/>
          <p:nvPr/>
        </p:nvSpPr>
        <p:spPr>
          <a:xfrm>
            <a:off x="1554480" y="2505456"/>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Problema</a:t>
            </a:r>
            <a:endParaRPr i="0" sz="1500" u="none" cap="none" strike="noStrike">
              <a:solidFill>
                <a:schemeClr val="dk1"/>
              </a:solidFill>
              <a:latin typeface="Calibri"/>
              <a:ea typeface="Calibri"/>
              <a:cs typeface="Calibri"/>
              <a:sym typeface="Calibri"/>
            </a:endParaRPr>
          </a:p>
        </p:txBody>
      </p:sp>
      <p:sp>
        <p:nvSpPr>
          <p:cNvPr id="36" name="Google Shape;36;p2"/>
          <p:cNvSpPr/>
          <p:nvPr/>
        </p:nvSpPr>
        <p:spPr>
          <a:xfrm>
            <a:off x="731520" y="3355848"/>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7" name="Google Shape;37;p2"/>
          <p:cNvSpPr/>
          <p:nvPr/>
        </p:nvSpPr>
        <p:spPr>
          <a:xfrm>
            <a:off x="859536" y="3474720"/>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8" name="Google Shape;38;p2"/>
          <p:cNvSpPr/>
          <p:nvPr/>
        </p:nvSpPr>
        <p:spPr>
          <a:xfrm>
            <a:off x="859536" y="34747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03</a:t>
            </a:r>
            <a:endParaRPr i="0" sz="1600" u="none" cap="none" strike="noStrike">
              <a:solidFill>
                <a:schemeClr val="dk1"/>
              </a:solidFill>
              <a:latin typeface="Calibri"/>
              <a:ea typeface="Calibri"/>
              <a:cs typeface="Calibri"/>
              <a:sym typeface="Calibri"/>
            </a:endParaRPr>
          </a:p>
        </p:txBody>
      </p:sp>
      <p:sp>
        <p:nvSpPr>
          <p:cNvPr id="39" name="Google Shape;39;p2"/>
          <p:cNvSpPr/>
          <p:nvPr/>
        </p:nvSpPr>
        <p:spPr>
          <a:xfrm>
            <a:off x="1554480" y="3474720"/>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Necesidad</a:t>
            </a:r>
            <a:endParaRPr i="0" sz="1500" u="none" cap="none" strike="noStrike">
              <a:solidFill>
                <a:schemeClr val="dk1"/>
              </a:solidFill>
              <a:latin typeface="Calibri"/>
              <a:ea typeface="Calibri"/>
              <a:cs typeface="Calibri"/>
              <a:sym typeface="Calibri"/>
            </a:endParaRPr>
          </a:p>
        </p:txBody>
      </p:sp>
      <p:sp>
        <p:nvSpPr>
          <p:cNvPr id="40" name="Google Shape;40;p2"/>
          <p:cNvSpPr/>
          <p:nvPr/>
        </p:nvSpPr>
        <p:spPr>
          <a:xfrm>
            <a:off x="731520" y="4325112"/>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1" name="Google Shape;41;p2"/>
          <p:cNvSpPr/>
          <p:nvPr/>
        </p:nvSpPr>
        <p:spPr>
          <a:xfrm>
            <a:off x="859536" y="4443984"/>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2" name="Google Shape;42;p2"/>
          <p:cNvSpPr/>
          <p:nvPr/>
        </p:nvSpPr>
        <p:spPr>
          <a:xfrm>
            <a:off x="859536" y="4443984"/>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04</a:t>
            </a:r>
            <a:endParaRPr i="0" sz="1600" u="none" cap="none" strike="noStrike">
              <a:solidFill>
                <a:schemeClr val="dk1"/>
              </a:solidFill>
              <a:latin typeface="Calibri"/>
              <a:ea typeface="Calibri"/>
              <a:cs typeface="Calibri"/>
              <a:sym typeface="Calibri"/>
            </a:endParaRPr>
          </a:p>
        </p:txBody>
      </p:sp>
      <p:sp>
        <p:nvSpPr>
          <p:cNvPr id="43" name="Google Shape;43;p2"/>
          <p:cNvSpPr/>
          <p:nvPr/>
        </p:nvSpPr>
        <p:spPr>
          <a:xfrm>
            <a:off x="1554480" y="4443984"/>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Solución</a:t>
            </a:r>
            <a:endParaRPr i="0" sz="1500" u="none" cap="none" strike="noStrike">
              <a:solidFill>
                <a:schemeClr val="dk1"/>
              </a:solidFill>
              <a:latin typeface="Calibri"/>
              <a:ea typeface="Calibri"/>
              <a:cs typeface="Calibri"/>
              <a:sym typeface="Calibri"/>
            </a:endParaRPr>
          </a:p>
        </p:txBody>
      </p:sp>
      <p:sp>
        <p:nvSpPr>
          <p:cNvPr id="44" name="Google Shape;44;p2"/>
          <p:cNvSpPr/>
          <p:nvPr/>
        </p:nvSpPr>
        <p:spPr>
          <a:xfrm>
            <a:off x="731520" y="5294376"/>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5" name="Google Shape;45;p2"/>
          <p:cNvSpPr/>
          <p:nvPr/>
        </p:nvSpPr>
        <p:spPr>
          <a:xfrm>
            <a:off x="859536" y="5413248"/>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6" name="Google Shape;46;p2"/>
          <p:cNvSpPr/>
          <p:nvPr/>
        </p:nvSpPr>
        <p:spPr>
          <a:xfrm>
            <a:off x="859536" y="5413248"/>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05</a:t>
            </a:r>
            <a:endParaRPr i="0" sz="1600" u="none" cap="none" strike="noStrike">
              <a:solidFill>
                <a:schemeClr val="dk1"/>
              </a:solidFill>
              <a:latin typeface="Calibri"/>
              <a:ea typeface="Calibri"/>
              <a:cs typeface="Calibri"/>
              <a:sym typeface="Calibri"/>
            </a:endParaRPr>
          </a:p>
        </p:txBody>
      </p:sp>
      <p:sp>
        <p:nvSpPr>
          <p:cNvPr id="47" name="Google Shape;47;p2"/>
          <p:cNvSpPr/>
          <p:nvPr/>
        </p:nvSpPr>
        <p:spPr>
          <a:xfrm>
            <a:off x="1554480" y="5413248"/>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Requerimientos, épicas e historias</a:t>
            </a:r>
            <a:endParaRPr i="0" sz="1500" u="none" cap="none" strike="noStrike">
              <a:solidFill>
                <a:schemeClr val="dk1"/>
              </a:solidFill>
              <a:latin typeface="Calibri"/>
              <a:ea typeface="Calibri"/>
              <a:cs typeface="Calibri"/>
              <a:sym typeface="Calibri"/>
            </a:endParaRPr>
          </a:p>
        </p:txBody>
      </p:sp>
      <p:sp>
        <p:nvSpPr>
          <p:cNvPr id="48" name="Google Shape;48;p2"/>
          <p:cNvSpPr/>
          <p:nvPr/>
        </p:nvSpPr>
        <p:spPr>
          <a:xfrm>
            <a:off x="6400800" y="1417320"/>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49" name="Google Shape;49;p2"/>
          <p:cNvSpPr/>
          <p:nvPr/>
        </p:nvSpPr>
        <p:spPr>
          <a:xfrm>
            <a:off x="6528816" y="1536192"/>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0" name="Google Shape;50;p2"/>
          <p:cNvSpPr/>
          <p:nvPr/>
        </p:nvSpPr>
        <p:spPr>
          <a:xfrm>
            <a:off x="6528816" y="1536192"/>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06</a:t>
            </a:r>
            <a:endParaRPr i="0" sz="1600" u="none" cap="none" strike="noStrike">
              <a:solidFill>
                <a:schemeClr val="dk1"/>
              </a:solidFill>
              <a:latin typeface="Calibri"/>
              <a:ea typeface="Calibri"/>
              <a:cs typeface="Calibri"/>
              <a:sym typeface="Calibri"/>
            </a:endParaRPr>
          </a:p>
        </p:txBody>
      </p:sp>
      <p:sp>
        <p:nvSpPr>
          <p:cNvPr id="51" name="Google Shape;51;p2"/>
          <p:cNvSpPr/>
          <p:nvPr/>
        </p:nvSpPr>
        <p:spPr>
          <a:xfrm>
            <a:off x="7223760" y="1536192"/>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Arquitectura</a:t>
            </a:r>
            <a:endParaRPr i="0" sz="1500" u="none" cap="none" strike="noStrike">
              <a:solidFill>
                <a:schemeClr val="dk1"/>
              </a:solidFill>
              <a:latin typeface="Calibri"/>
              <a:ea typeface="Calibri"/>
              <a:cs typeface="Calibri"/>
              <a:sym typeface="Calibri"/>
            </a:endParaRPr>
          </a:p>
        </p:txBody>
      </p:sp>
      <p:sp>
        <p:nvSpPr>
          <p:cNvPr id="52" name="Google Shape;52;p2"/>
          <p:cNvSpPr/>
          <p:nvPr/>
        </p:nvSpPr>
        <p:spPr>
          <a:xfrm>
            <a:off x="6400800" y="2386584"/>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3" name="Google Shape;53;p2"/>
          <p:cNvSpPr/>
          <p:nvPr/>
        </p:nvSpPr>
        <p:spPr>
          <a:xfrm>
            <a:off x="6528816" y="2505456"/>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4" name="Google Shape;54;p2"/>
          <p:cNvSpPr/>
          <p:nvPr/>
        </p:nvSpPr>
        <p:spPr>
          <a:xfrm>
            <a:off x="6528816" y="2505456"/>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07</a:t>
            </a:r>
            <a:endParaRPr i="0" sz="1600" u="none" cap="none" strike="noStrike">
              <a:solidFill>
                <a:schemeClr val="dk1"/>
              </a:solidFill>
              <a:latin typeface="Calibri"/>
              <a:ea typeface="Calibri"/>
              <a:cs typeface="Calibri"/>
              <a:sym typeface="Calibri"/>
            </a:endParaRPr>
          </a:p>
        </p:txBody>
      </p:sp>
      <p:sp>
        <p:nvSpPr>
          <p:cNvPr id="55" name="Google Shape;55;p2"/>
          <p:cNvSpPr/>
          <p:nvPr/>
        </p:nvSpPr>
        <p:spPr>
          <a:xfrm>
            <a:off x="7223760" y="2505456"/>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Metodología</a:t>
            </a:r>
            <a:endParaRPr i="0" sz="1500" u="none" cap="none" strike="noStrike">
              <a:solidFill>
                <a:schemeClr val="dk1"/>
              </a:solidFill>
              <a:latin typeface="Calibri"/>
              <a:ea typeface="Calibri"/>
              <a:cs typeface="Calibri"/>
              <a:sym typeface="Calibri"/>
            </a:endParaRPr>
          </a:p>
        </p:txBody>
      </p:sp>
      <p:sp>
        <p:nvSpPr>
          <p:cNvPr id="56" name="Google Shape;56;p2"/>
          <p:cNvSpPr/>
          <p:nvPr/>
        </p:nvSpPr>
        <p:spPr>
          <a:xfrm>
            <a:off x="6400800" y="3355848"/>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7" name="Google Shape;57;p2"/>
          <p:cNvSpPr/>
          <p:nvPr/>
        </p:nvSpPr>
        <p:spPr>
          <a:xfrm>
            <a:off x="6528816" y="3474720"/>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58" name="Google Shape;58;p2"/>
          <p:cNvSpPr/>
          <p:nvPr/>
        </p:nvSpPr>
        <p:spPr>
          <a:xfrm>
            <a:off x="6528816" y="3474720"/>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08</a:t>
            </a:r>
            <a:endParaRPr i="0" sz="1600" u="none" cap="none" strike="noStrike">
              <a:solidFill>
                <a:schemeClr val="dk1"/>
              </a:solidFill>
              <a:latin typeface="Calibri"/>
              <a:ea typeface="Calibri"/>
              <a:cs typeface="Calibri"/>
              <a:sym typeface="Calibri"/>
            </a:endParaRPr>
          </a:p>
        </p:txBody>
      </p:sp>
      <p:sp>
        <p:nvSpPr>
          <p:cNvPr id="59" name="Google Shape;59;p2"/>
          <p:cNvSpPr/>
          <p:nvPr/>
        </p:nvSpPr>
        <p:spPr>
          <a:xfrm>
            <a:off x="7223760" y="3474720"/>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Evidencias</a:t>
            </a:r>
            <a:endParaRPr i="0" sz="1500" u="none" cap="none" strike="noStrike">
              <a:solidFill>
                <a:schemeClr val="dk1"/>
              </a:solidFill>
              <a:latin typeface="Calibri"/>
              <a:ea typeface="Calibri"/>
              <a:cs typeface="Calibri"/>
              <a:sym typeface="Calibri"/>
            </a:endParaRPr>
          </a:p>
        </p:txBody>
      </p:sp>
      <p:sp>
        <p:nvSpPr>
          <p:cNvPr id="60" name="Google Shape;60;p2"/>
          <p:cNvSpPr/>
          <p:nvPr/>
        </p:nvSpPr>
        <p:spPr>
          <a:xfrm>
            <a:off x="6400800" y="4325112"/>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1" name="Google Shape;61;p2"/>
          <p:cNvSpPr/>
          <p:nvPr/>
        </p:nvSpPr>
        <p:spPr>
          <a:xfrm>
            <a:off x="6528816" y="4443984"/>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2" name="Google Shape;62;p2"/>
          <p:cNvSpPr/>
          <p:nvPr/>
        </p:nvSpPr>
        <p:spPr>
          <a:xfrm>
            <a:off x="6528816" y="4443984"/>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09</a:t>
            </a:r>
            <a:endParaRPr i="0" sz="1600" u="none" cap="none" strike="noStrike">
              <a:solidFill>
                <a:schemeClr val="dk1"/>
              </a:solidFill>
              <a:latin typeface="Calibri"/>
              <a:ea typeface="Calibri"/>
              <a:cs typeface="Calibri"/>
              <a:sym typeface="Calibri"/>
            </a:endParaRPr>
          </a:p>
        </p:txBody>
      </p:sp>
      <p:sp>
        <p:nvSpPr>
          <p:cNvPr id="63" name="Google Shape;63;p2"/>
          <p:cNvSpPr/>
          <p:nvPr/>
        </p:nvSpPr>
        <p:spPr>
          <a:xfrm>
            <a:off x="7223760" y="4443984"/>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Cronograma</a:t>
            </a:r>
            <a:endParaRPr i="0" sz="1500" u="none" cap="none" strike="noStrike">
              <a:solidFill>
                <a:schemeClr val="dk1"/>
              </a:solidFill>
              <a:latin typeface="Calibri"/>
              <a:ea typeface="Calibri"/>
              <a:cs typeface="Calibri"/>
              <a:sym typeface="Calibri"/>
            </a:endParaRPr>
          </a:p>
        </p:txBody>
      </p:sp>
      <p:sp>
        <p:nvSpPr>
          <p:cNvPr id="64" name="Google Shape;64;p2"/>
          <p:cNvSpPr/>
          <p:nvPr/>
        </p:nvSpPr>
        <p:spPr>
          <a:xfrm>
            <a:off x="6400800" y="5294376"/>
            <a:ext cx="5074920" cy="786384"/>
          </a:xfrm>
          <a:prstGeom prst="roundRect">
            <a:avLst>
              <a:gd fmla="val 116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5" name="Google Shape;65;p2"/>
          <p:cNvSpPr/>
          <p:nvPr/>
        </p:nvSpPr>
        <p:spPr>
          <a:xfrm>
            <a:off x="6528816" y="5413248"/>
            <a:ext cx="548640" cy="548640"/>
          </a:xfrm>
          <a:prstGeom prst="roundRect">
            <a:avLst>
              <a:gd fmla="val 1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66" name="Google Shape;66;p2"/>
          <p:cNvSpPr/>
          <p:nvPr/>
        </p:nvSpPr>
        <p:spPr>
          <a:xfrm>
            <a:off x="6528816" y="5413248"/>
            <a:ext cx="5486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600"/>
              <a:buFont typeface="Cambria"/>
              <a:buNone/>
            </a:pPr>
            <a:r>
              <a:rPr b="1" i="0" lang="en-US" sz="1600" u="none" cap="none" strike="noStrike">
                <a:solidFill>
                  <a:srgbClr val="D9A441"/>
                </a:solidFill>
                <a:latin typeface="Calibri"/>
                <a:ea typeface="Calibri"/>
                <a:cs typeface="Calibri"/>
                <a:sym typeface="Calibri"/>
              </a:rPr>
              <a:t>10</a:t>
            </a:r>
            <a:endParaRPr i="0" sz="1600" u="none" cap="none" strike="noStrike">
              <a:solidFill>
                <a:schemeClr val="dk1"/>
              </a:solidFill>
              <a:latin typeface="Calibri"/>
              <a:ea typeface="Calibri"/>
              <a:cs typeface="Calibri"/>
              <a:sym typeface="Calibri"/>
            </a:endParaRPr>
          </a:p>
        </p:txBody>
      </p:sp>
      <p:sp>
        <p:nvSpPr>
          <p:cNvPr id="67" name="Google Shape;67;p2"/>
          <p:cNvSpPr/>
          <p:nvPr/>
        </p:nvSpPr>
        <p:spPr>
          <a:xfrm>
            <a:off x="7223760" y="5413248"/>
            <a:ext cx="41148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500"/>
              <a:buFont typeface="Calibri"/>
              <a:buNone/>
            </a:pPr>
            <a:r>
              <a:rPr b="1" i="0" lang="en-US" sz="1500" u="none" cap="none" strike="noStrike">
                <a:solidFill>
                  <a:srgbClr val="2E2318"/>
                </a:solidFill>
                <a:latin typeface="Calibri"/>
                <a:ea typeface="Calibri"/>
                <a:cs typeface="Calibri"/>
                <a:sym typeface="Calibri"/>
              </a:rPr>
              <a:t>Conclusiones y reflexiones</a:t>
            </a:r>
            <a:endParaRPr i="0" sz="1500" u="none" cap="none" strike="noStrike">
              <a:solidFill>
                <a:schemeClr val="dk1"/>
              </a:solidFill>
              <a:latin typeface="Calibri"/>
              <a:ea typeface="Calibri"/>
              <a:cs typeface="Calibri"/>
              <a:sym typeface="Calibri"/>
            </a:endParaRPr>
          </a:p>
        </p:txBody>
      </p:sp>
      <p:sp>
        <p:nvSpPr>
          <p:cNvPr id="68" name="Google Shape;68;p2"/>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3"/>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ontexto</a:t>
            </a:r>
            <a:endParaRPr i="0" sz="3000" u="none" cap="none" strike="noStrike">
              <a:solidFill>
                <a:schemeClr val="dk1"/>
              </a:solidFill>
              <a:latin typeface="Calibri"/>
              <a:ea typeface="Calibri"/>
              <a:cs typeface="Calibri"/>
              <a:sym typeface="Calibri"/>
            </a:endParaRPr>
          </a:p>
        </p:txBody>
      </p:sp>
      <p:sp>
        <p:nvSpPr>
          <p:cNvPr id="75" name="Google Shape;75;p3"/>
          <p:cNvSpPr/>
          <p:nvPr/>
        </p:nvSpPr>
        <p:spPr>
          <a:xfrm>
            <a:off x="548640" y="1371600"/>
            <a:ext cx="5120640" cy="4846320"/>
          </a:xfrm>
          <a:prstGeom prst="roundRect">
            <a:avLst>
              <a:gd fmla="val 2264"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868680" y="1691640"/>
            <a:ext cx="44805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700"/>
              <a:buFont typeface="Cambria"/>
              <a:buNone/>
            </a:pPr>
            <a:r>
              <a:rPr b="1" i="0" lang="en-US" sz="2000" u="none" cap="none" strike="noStrike">
                <a:solidFill>
                  <a:srgbClr val="D9A441"/>
                </a:solidFill>
                <a:latin typeface="Calibri"/>
                <a:ea typeface="Calibri"/>
                <a:cs typeface="Calibri"/>
                <a:sym typeface="Calibri"/>
              </a:rPr>
              <a:t>El caso que origina el proyecto</a:t>
            </a:r>
            <a:endParaRPr i="0" sz="2000" u="none" cap="none" strike="noStrike">
              <a:solidFill>
                <a:schemeClr val="dk1"/>
              </a:solidFill>
              <a:latin typeface="Calibri"/>
              <a:ea typeface="Calibri"/>
              <a:cs typeface="Calibri"/>
              <a:sym typeface="Calibri"/>
            </a:endParaRPr>
          </a:p>
        </p:txBody>
      </p:sp>
      <p:sp>
        <p:nvSpPr>
          <p:cNvPr id="77" name="Google Shape;77;p3"/>
          <p:cNvSpPr/>
          <p:nvPr/>
        </p:nvSpPr>
        <p:spPr>
          <a:xfrm>
            <a:off x="868680" y="2194560"/>
            <a:ext cx="4480560" cy="2743200"/>
          </a:xfrm>
          <a:prstGeom prst="rect">
            <a:avLst/>
          </a:prstGeom>
          <a:noFill/>
          <a:ln>
            <a:noFill/>
          </a:ln>
        </p:spPr>
        <p:txBody>
          <a:bodyPr anchorCtr="0" anchor="ctr" bIns="0" lIns="0" spcFirstLastPara="1" rIns="0" wrap="square" tIns="0">
            <a:noAutofit/>
          </a:bodyPr>
          <a:lstStyle/>
          <a:p>
            <a:pPr indent="-361950" lvl="0" marL="342900" marR="0" rtl="0" algn="l">
              <a:spcBef>
                <a:spcPts val="0"/>
              </a:spcBef>
              <a:spcAft>
                <a:spcPts val="0"/>
              </a:spcAft>
              <a:buClr>
                <a:srgbClr val="F3EADC"/>
              </a:buClr>
              <a:buSzPts val="1750"/>
              <a:buFont typeface="Calibri"/>
              <a:buChar char="•"/>
            </a:pPr>
            <a:r>
              <a:rPr i="0" lang="en-US" sz="1750" u="none" cap="none" strike="noStrike">
                <a:solidFill>
                  <a:srgbClr val="F3EADC"/>
                </a:solidFill>
                <a:latin typeface="Calibri"/>
                <a:ea typeface="Calibri"/>
                <a:cs typeface="Calibri"/>
                <a:sym typeface="Calibri"/>
              </a:rPr>
              <a:t>Panadería urbana de la zona central de Chile.</a:t>
            </a:r>
            <a:endParaRPr i="0" sz="1750" u="none" cap="none" strike="noStrike">
              <a:solidFill>
                <a:schemeClr val="dk1"/>
              </a:solidFill>
              <a:latin typeface="Calibri"/>
              <a:ea typeface="Calibri"/>
              <a:cs typeface="Calibri"/>
              <a:sym typeface="Calibri"/>
            </a:endParaRPr>
          </a:p>
          <a:p>
            <a:pPr indent="-361950" lvl="0" marL="342900" marR="0" rtl="0" algn="l">
              <a:spcBef>
                <a:spcPts val="1000"/>
              </a:spcBef>
              <a:spcAft>
                <a:spcPts val="0"/>
              </a:spcAft>
              <a:buClr>
                <a:srgbClr val="F3EADC"/>
              </a:buClr>
              <a:buSzPts val="1750"/>
              <a:buFont typeface="Calibri"/>
              <a:buChar char="•"/>
            </a:pPr>
            <a:r>
              <a:rPr i="0" lang="en-US" sz="1750" u="none" cap="none" strike="noStrike">
                <a:solidFill>
                  <a:srgbClr val="F3EADC"/>
                </a:solidFill>
                <a:latin typeface="Calibri"/>
                <a:ea typeface="Calibri"/>
                <a:cs typeface="Calibri"/>
                <a:sym typeface="Calibri"/>
              </a:rPr>
              <a:t>Vende pan a peso, con balanza e impresora de etiquetas ajenas al software.</a:t>
            </a:r>
            <a:endParaRPr i="0" sz="1750" u="none" cap="none" strike="noStrike">
              <a:solidFill>
                <a:schemeClr val="dk1"/>
              </a:solidFill>
              <a:latin typeface="Calibri"/>
              <a:ea typeface="Calibri"/>
              <a:cs typeface="Calibri"/>
              <a:sym typeface="Calibri"/>
            </a:endParaRPr>
          </a:p>
          <a:p>
            <a:pPr indent="-361950" lvl="0" marL="342900" marR="0" rtl="0" algn="l">
              <a:spcBef>
                <a:spcPts val="1000"/>
              </a:spcBef>
              <a:spcAft>
                <a:spcPts val="0"/>
              </a:spcAft>
              <a:buClr>
                <a:srgbClr val="F3EADC"/>
              </a:buClr>
              <a:buSzPts val="1750"/>
              <a:buFont typeface="Calibri"/>
              <a:buChar char="•"/>
            </a:pPr>
            <a:r>
              <a:rPr i="0" lang="en-US" sz="1750" u="none" cap="none" strike="noStrike">
                <a:solidFill>
                  <a:srgbClr val="F3EADC"/>
                </a:solidFill>
                <a:latin typeface="Calibri"/>
                <a:ea typeface="Calibri"/>
                <a:cs typeface="Calibri"/>
                <a:sym typeface="Calibri"/>
              </a:rPr>
              <a:t>La cocina no tiene conectividad confiable.</a:t>
            </a:r>
            <a:endParaRPr i="0" sz="1750" u="none" cap="none" strike="noStrike">
              <a:solidFill>
                <a:schemeClr val="dk1"/>
              </a:solidFill>
              <a:latin typeface="Calibri"/>
              <a:ea typeface="Calibri"/>
              <a:cs typeface="Calibri"/>
              <a:sym typeface="Calibri"/>
            </a:endParaRPr>
          </a:p>
          <a:p>
            <a:pPr indent="-361950" lvl="0" marL="342900" marR="0" rtl="0" algn="l">
              <a:spcBef>
                <a:spcPts val="1000"/>
              </a:spcBef>
              <a:spcAft>
                <a:spcPts val="0"/>
              </a:spcAft>
              <a:buClr>
                <a:srgbClr val="F3EADC"/>
              </a:buClr>
              <a:buSzPts val="1750"/>
              <a:buFont typeface="Calibri"/>
              <a:buChar char="•"/>
            </a:pPr>
            <a:r>
              <a:rPr i="0" lang="en-US" sz="1750" u="none" cap="none" strike="noStrike">
                <a:solidFill>
                  <a:srgbClr val="F3EADC"/>
                </a:solidFill>
                <a:latin typeface="Calibri"/>
                <a:ea typeface="Calibri"/>
                <a:cs typeface="Calibri"/>
                <a:sym typeface="Calibri"/>
              </a:rPr>
              <a:t>Una misma persona produce y administra el negocio.</a:t>
            </a:r>
            <a:endParaRPr i="0" sz="1750" u="none" cap="none" strike="noStrike">
              <a:solidFill>
                <a:schemeClr val="dk1"/>
              </a:solidFill>
              <a:latin typeface="Calibri"/>
              <a:ea typeface="Calibri"/>
              <a:cs typeface="Calibri"/>
              <a:sym typeface="Calibri"/>
            </a:endParaRPr>
          </a:p>
        </p:txBody>
      </p:sp>
      <p:sp>
        <p:nvSpPr>
          <p:cNvPr id="78" name="Google Shape;78;p3"/>
          <p:cNvSpPr/>
          <p:nvPr/>
        </p:nvSpPr>
        <p:spPr>
          <a:xfrm>
            <a:off x="868680" y="5074920"/>
            <a:ext cx="44805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250"/>
              <a:buFont typeface="Calibri"/>
              <a:buNone/>
            </a:pPr>
            <a:r>
              <a:rPr b="0" i="1" lang="en-US" sz="1550" u="none" cap="none" strike="noStrike">
                <a:solidFill>
                  <a:srgbClr val="D9A441"/>
                </a:solidFill>
                <a:latin typeface="Calibri"/>
                <a:ea typeface="Calibri"/>
                <a:cs typeface="Calibri"/>
                <a:sym typeface="Calibri"/>
              </a:rPr>
              <a:t>El caso se instala como un perfil de configuración: el producto se diseña genérico para panaderías pequeñas y medianas.</a:t>
            </a:r>
            <a:endParaRPr b="0" i="1" sz="1550" u="none" cap="none" strike="noStrike">
              <a:solidFill>
                <a:schemeClr val="dk1"/>
              </a:solidFill>
              <a:latin typeface="Calibri"/>
              <a:ea typeface="Calibri"/>
              <a:cs typeface="Calibri"/>
              <a:sym typeface="Calibri"/>
            </a:endParaRPr>
          </a:p>
        </p:txBody>
      </p:sp>
      <p:sp>
        <p:nvSpPr>
          <p:cNvPr id="79" name="Google Shape;79;p3"/>
          <p:cNvSpPr/>
          <p:nvPr/>
        </p:nvSpPr>
        <p:spPr>
          <a:xfrm>
            <a:off x="6126480" y="1888230"/>
            <a:ext cx="777300" cy="7773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0" name="Google Shape;80;p3"/>
          <p:cNvPicPr preferRelativeResize="0"/>
          <p:nvPr/>
        </p:nvPicPr>
        <p:blipFill rotWithShape="1">
          <a:blip r:embed="rId3">
            <a:alphaModFix/>
          </a:blip>
          <a:srcRect b="0" l="0" r="0" t="0"/>
          <a:stretch/>
        </p:blipFill>
        <p:spPr>
          <a:xfrm>
            <a:off x="6328562" y="2090312"/>
            <a:ext cx="373075" cy="373075"/>
          </a:xfrm>
          <a:prstGeom prst="rect">
            <a:avLst/>
          </a:prstGeom>
          <a:noFill/>
          <a:ln>
            <a:noFill/>
          </a:ln>
        </p:spPr>
      </p:pic>
      <p:sp>
        <p:nvSpPr>
          <p:cNvPr id="81" name="Google Shape;81;p3"/>
          <p:cNvSpPr/>
          <p:nvPr/>
        </p:nvSpPr>
        <p:spPr>
          <a:xfrm>
            <a:off x="7068300" y="1888217"/>
            <a:ext cx="457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Operación fragmentada</a:t>
            </a:r>
            <a:endParaRPr b="0" i="0" sz="1600" u="none" cap="none" strike="noStrike">
              <a:solidFill>
                <a:schemeClr val="dk1"/>
              </a:solidFill>
              <a:latin typeface="Calibri"/>
              <a:ea typeface="Calibri"/>
              <a:cs typeface="Calibri"/>
              <a:sym typeface="Calibri"/>
            </a:endParaRPr>
          </a:p>
        </p:txBody>
      </p:sp>
      <p:sp>
        <p:nvSpPr>
          <p:cNvPr id="82" name="Google Shape;82;p3"/>
          <p:cNvSpPr/>
          <p:nvPr/>
        </p:nvSpPr>
        <p:spPr>
          <a:xfrm>
            <a:off x="7068300" y="2235700"/>
            <a:ext cx="4572000" cy="5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Los negocios pequeños funcionan con procesos manuales y sin sistemas de gestión.</a:t>
            </a:r>
            <a:endParaRPr b="0" i="0" sz="1300" u="none" cap="none" strike="noStrike">
              <a:solidFill>
                <a:schemeClr val="dk1"/>
              </a:solidFill>
              <a:latin typeface="Calibri"/>
              <a:ea typeface="Calibri"/>
              <a:cs typeface="Calibri"/>
              <a:sym typeface="Calibri"/>
            </a:endParaRPr>
          </a:p>
        </p:txBody>
      </p:sp>
      <p:sp>
        <p:nvSpPr>
          <p:cNvPr id="83" name="Google Shape;83;p3"/>
          <p:cNvSpPr/>
          <p:nvPr/>
        </p:nvSpPr>
        <p:spPr>
          <a:xfrm>
            <a:off x="6126480" y="3321555"/>
            <a:ext cx="777300" cy="7773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3"/>
          <p:cNvPicPr preferRelativeResize="0"/>
          <p:nvPr/>
        </p:nvPicPr>
        <p:blipFill rotWithShape="1">
          <a:blip r:embed="rId4">
            <a:alphaModFix/>
          </a:blip>
          <a:srcRect b="0" l="0" r="0" t="0"/>
          <a:stretch/>
        </p:blipFill>
        <p:spPr>
          <a:xfrm>
            <a:off x="6328562" y="3523637"/>
            <a:ext cx="373075" cy="373075"/>
          </a:xfrm>
          <a:prstGeom prst="rect">
            <a:avLst/>
          </a:prstGeom>
          <a:noFill/>
          <a:ln>
            <a:noFill/>
          </a:ln>
        </p:spPr>
      </p:pic>
      <p:sp>
        <p:nvSpPr>
          <p:cNvPr id="85" name="Google Shape;85;p3"/>
          <p:cNvSpPr/>
          <p:nvPr/>
        </p:nvSpPr>
        <p:spPr>
          <a:xfrm>
            <a:off x="7086600" y="3328412"/>
            <a:ext cx="457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Sin registro de ventas</a:t>
            </a:r>
            <a:endParaRPr b="0" i="0" sz="1600" u="none" cap="none" strike="noStrike">
              <a:solidFill>
                <a:schemeClr val="dk1"/>
              </a:solidFill>
              <a:latin typeface="Calibri"/>
              <a:ea typeface="Calibri"/>
              <a:cs typeface="Calibri"/>
              <a:sym typeface="Calibri"/>
            </a:endParaRPr>
          </a:p>
        </p:txBody>
      </p:sp>
      <p:sp>
        <p:nvSpPr>
          <p:cNvPr id="86" name="Google Shape;86;p3"/>
          <p:cNvSpPr/>
          <p:nvPr/>
        </p:nvSpPr>
        <p:spPr>
          <a:xfrm>
            <a:off x="7086600" y="3669025"/>
            <a:ext cx="4572000" cy="5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No existe historial por producto en ningún formato: la venta ocurre y desaparece.</a:t>
            </a:r>
            <a:endParaRPr b="0" i="0" sz="1300" u="none" cap="none" strike="noStrike">
              <a:solidFill>
                <a:schemeClr val="dk1"/>
              </a:solidFill>
              <a:latin typeface="Calibri"/>
              <a:ea typeface="Calibri"/>
              <a:cs typeface="Calibri"/>
              <a:sym typeface="Calibri"/>
            </a:endParaRPr>
          </a:p>
        </p:txBody>
      </p:sp>
      <p:sp>
        <p:nvSpPr>
          <p:cNvPr id="87" name="Google Shape;87;p3"/>
          <p:cNvSpPr/>
          <p:nvPr/>
        </p:nvSpPr>
        <p:spPr>
          <a:xfrm>
            <a:off x="6126480" y="4754880"/>
            <a:ext cx="777240" cy="77724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8" name="Google Shape;88;p3"/>
          <p:cNvPicPr preferRelativeResize="0"/>
          <p:nvPr/>
        </p:nvPicPr>
        <p:blipFill rotWithShape="1">
          <a:blip r:embed="rId5">
            <a:alphaModFix/>
          </a:blip>
          <a:srcRect b="0" l="0" r="0" t="0"/>
          <a:stretch/>
        </p:blipFill>
        <p:spPr>
          <a:xfrm>
            <a:off x="6328562" y="4956962"/>
            <a:ext cx="373075" cy="373075"/>
          </a:xfrm>
          <a:prstGeom prst="rect">
            <a:avLst/>
          </a:prstGeom>
          <a:noFill/>
          <a:ln>
            <a:noFill/>
          </a:ln>
        </p:spPr>
      </p:pic>
      <p:sp>
        <p:nvSpPr>
          <p:cNvPr id="89" name="Google Shape;89;p3"/>
          <p:cNvSpPr/>
          <p:nvPr/>
        </p:nvSpPr>
        <p:spPr>
          <a:xfrm>
            <a:off x="7086600" y="4768592"/>
            <a:ext cx="4572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Hardware aislado</a:t>
            </a:r>
            <a:endParaRPr b="0" i="0" sz="1600" u="none" cap="none" strike="noStrike">
              <a:solidFill>
                <a:schemeClr val="dk1"/>
              </a:solidFill>
              <a:latin typeface="Calibri"/>
              <a:ea typeface="Calibri"/>
              <a:cs typeface="Calibri"/>
              <a:sym typeface="Calibri"/>
            </a:endParaRPr>
          </a:p>
        </p:txBody>
      </p:sp>
      <p:sp>
        <p:nvSpPr>
          <p:cNvPr id="90" name="Google Shape;90;p3"/>
          <p:cNvSpPr/>
          <p:nvPr/>
        </p:nvSpPr>
        <p:spPr>
          <a:xfrm>
            <a:off x="7086600" y="5102350"/>
            <a:ext cx="4572000" cy="5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300" u="none" cap="none" strike="noStrike">
                <a:solidFill>
                  <a:srgbClr val="6E5F50"/>
                </a:solidFill>
                <a:latin typeface="Calibri"/>
                <a:ea typeface="Calibri"/>
                <a:cs typeface="Calibri"/>
                <a:sym typeface="Calibri"/>
              </a:rPr>
              <a:t>Balanza, impresora y caja operan desconectadas del software del negocio.</a:t>
            </a:r>
            <a:endParaRPr b="0" i="0" sz="1300" u="none" cap="none" strike="noStrike">
              <a:solidFill>
                <a:schemeClr val="dk1"/>
              </a:solidFill>
              <a:latin typeface="Calibri"/>
              <a:ea typeface="Calibri"/>
              <a:cs typeface="Calibri"/>
              <a:sym typeface="Calibri"/>
            </a:endParaRPr>
          </a:p>
        </p:txBody>
      </p:sp>
      <p:sp>
        <p:nvSpPr>
          <p:cNvPr id="91" name="Google Shape;91;p3"/>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4"/>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P</a:t>
            </a:r>
            <a:r>
              <a:rPr b="1" i="0" lang="en-US" sz="3000" u="none" cap="none" strike="noStrike">
                <a:solidFill>
                  <a:srgbClr val="4A2C1A"/>
                </a:solidFill>
                <a:latin typeface="Calibri"/>
                <a:ea typeface="Calibri"/>
                <a:cs typeface="Calibri"/>
                <a:sym typeface="Calibri"/>
              </a:rPr>
              <a:t>roblema</a:t>
            </a:r>
            <a:endParaRPr i="0" sz="3000" u="none" cap="none" strike="noStrike">
              <a:solidFill>
                <a:schemeClr val="dk1"/>
              </a:solidFill>
              <a:latin typeface="Calibri"/>
              <a:ea typeface="Calibri"/>
              <a:cs typeface="Calibri"/>
              <a:sym typeface="Calibri"/>
            </a:endParaRPr>
          </a:p>
        </p:txBody>
      </p:sp>
      <p:sp>
        <p:nvSpPr>
          <p:cNvPr id="98" name="Google Shape;98;p4"/>
          <p:cNvSpPr/>
          <p:nvPr/>
        </p:nvSpPr>
        <p:spPr>
          <a:xfrm>
            <a:off x="548640" y="1371600"/>
            <a:ext cx="5394960" cy="1874520"/>
          </a:xfrm>
          <a:prstGeom prst="roundRect">
            <a:avLst>
              <a:gd fmla="val 5854"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777240" y="1874520"/>
            <a:ext cx="822960" cy="82296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 name="Google Shape;100;p4"/>
          <p:cNvPicPr preferRelativeResize="0"/>
          <p:nvPr/>
        </p:nvPicPr>
        <p:blipFill rotWithShape="1">
          <a:blip r:embed="rId3">
            <a:alphaModFix/>
          </a:blip>
          <a:srcRect b="0" l="0" r="0" t="0"/>
          <a:stretch/>
        </p:blipFill>
        <p:spPr>
          <a:xfrm>
            <a:off x="991210" y="2088490"/>
            <a:ext cx="395021" cy="395021"/>
          </a:xfrm>
          <a:prstGeom prst="rect">
            <a:avLst/>
          </a:prstGeom>
          <a:noFill/>
          <a:ln>
            <a:noFill/>
          </a:ln>
        </p:spPr>
      </p:pic>
      <p:sp>
        <p:nvSpPr>
          <p:cNvPr id="101" name="Google Shape;101;p4"/>
          <p:cNvSpPr/>
          <p:nvPr/>
        </p:nvSpPr>
        <p:spPr>
          <a:xfrm>
            <a:off x="1783055" y="1874518"/>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POS</a:t>
            </a:r>
            <a:endParaRPr b="0" i="0" sz="1600" u="none" cap="none" strike="noStrike">
              <a:solidFill>
                <a:schemeClr val="dk1"/>
              </a:solidFill>
              <a:latin typeface="Calibri"/>
              <a:ea typeface="Calibri"/>
              <a:cs typeface="Calibri"/>
              <a:sym typeface="Calibri"/>
            </a:endParaRPr>
          </a:p>
        </p:txBody>
      </p:sp>
      <p:sp>
        <p:nvSpPr>
          <p:cNvPr id="102" name="Google Shape;102;p4"/>
          <p:cNvSpPr/>
          <p:nvPr/>
        </p:nvSpPr>
        <p:spPr>
          <a:xfrm>
            <a:off x="1783075" y="1956825"/>
            <a:ext cx="3977700" cy="93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250"/>
              <a:buFont typeface="Calibri"/>
              <a:buNone/>
            </a:pPr>
            <a:r>
              <a:rPr b="0" i="0" lang="en-US" sz="1250" u="none" cap="none" strike="noStrike">
                <a:solidFill>
                  <a:srgbClr val="6E5F50"/>
                </a:solidFill>
                <a:latin typeface="Calibri"/>
                <a:ea typeface="Calibri"/>
                <a:cs typeface="Calibri"/>
                <a:sym typeface="Calibri"/>
              </a:rPr>
              <a:t>El punto de venta solo consulta precios: ninguna transacción queda registrada con detalle de producto.</a:t>
            </a:r>
            <a:endParaRPr b="0" i="0" sz="1250" u="none" cap="none" strike="noStrike">
              <a:solidFill>
                <a:schemeClr val="dk1"/>
              </a:solidFill>
              <a:latin typeface="Calibri"/>
              <a:ea typeface="Calibri"/>
              <a:cs typeface="Calibri"/>
              <a:sym typeface="Calibri"/>
            </a:endParaRPr>
          </a:p>
        </p:txBody>
      </p:sp>
      <p:sp>
        <p:nvSpPr>
          <p:cNvPr id="103" name="Google Shape;103;p4"/>
          <p:cNvSpPr/>
          <p:nvPr/>
        </p:nvSpPr>
        <p:spPr>
          <a:xfrm>
            <a:off x="6263640" y="1371600"/>
            <a:ext cx="5394960" cy="1874520"/>
          </a:xfrm>
          <a:prstGeom prst="roundRect">
            <a:avLst>
              <a:gd fmla="val 5854"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
          <p:cNvSpPr/>
          <p:nvPr/>
        </p:nvSpPr>
        <p:spPr>
          <a:xfrm>
            <a:off x="6492240" y="1874520"/>
            <a:ext cx="822960" cy="82296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4"/>
          <p:cNvPicPr preferRelativeResize="0"/>
          <p:nvPr/>
        </p:nvPicPr>
        <p:blipFill rotWithShape="1">
          <a:blip r:embed="rId4">
            <a:alphaModFix/>
          </a:blip>
          <a:srcRect b="0" l="0" r="0" t="0"/>
          <a:stretch/>
        </p:blipFill>
        <p:spPr>
          <a:xfrm>
            <a:off x="6706210" y="2088490"/>
            <a:ext cx="395021" cy="395021"/>
          </a:xfrm>
          <a:prstGeom prst="rect">
            <a:avLst/>
          </a:prstGeom>
          <a:noFill/>
          <a:ln>
            <a:noFill/>
          </a:ln>
        </p:spPr>
      </p:pic>
      <p:sp>
        <p:nvSpPr>
          <p:cNvPr id="106" name="Google Shape;106;p4"/>
          <p:cNvSpPr/>
          <p:nvPr/>
        </p:nvSpPr>
        <p:spPr>
          <a:xfrm>
            <a:off x="7498080" y="1874518"/>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Inventario a ojo</a:t>
            </a:r>
            <a:endParaRPr b="0" i="0" sz="1600" u="none" cap="none" strike="noStrike">
              <a:solidFill>
                <a:schemeClr val="dk1"/>
              </a:solidFill>
              <a:latin typeface="Calibri"/>
              <a:ea typeface="Calibri"/>
              <a:cs typeface="Calibri"/>
              <a:sym typeface="Calibri"/>
            </a:endParaRPr>
          </a:p>
        </p:txBody>
      </p:sp>
      <p:sp>
        <p:nvSpPr>
          <p:cNvPr id="107" name="Google Shape;107;p4"/>
          <p:cNvSpPr/>
          <p:nvPr/>
        </p:nvSpPr>
        <p:spPr>
          <a:xfrm>
            <a:off x="7498075" y="1956823"/>
            <a:ext cx="3977700" cy="93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250"/>
              <a:buFont typeface="Calibri"/>
              <a:buNone/>
            </a:pPr>
            <a:r>
              <a:rPr b="0" i="0" lang="en-US" sz="1250" u="none" cap="none" strike="noStrike">
                <a:solidFill>
                  <a:srgbClr val="6E5F50"/>
                </a:solidFill>
                <a:latin typeface="Calibri"/>
                <a:ea typeface="Calibri"/>
                <a:cs typeface="Calibri"/>
                <a:sym typeface="Calibri"/>
              </a:rPr>
              <a:t>Las materias primas y el pan en vitrina se controlan visualmente, sin registro </a:t>
            </a:r>
            <a:r>
              <a:rPr lang="en-US" sz="1250">
                <a:solidFill>
                  <a:srgbClr val="6E5F50"/>
                </a:solidFill>
                <a:latin typeface="Calibri"/>
                <a:ea typeface="Calibri"/>
                <a:cs typeface="Calibri"/>
                <a:sym typeface="Calibri"/>
              </a:rPr>
              <a:t>reconcilable</a:t>
            </a:r>
            <a:r>
              <a:rPr b="0" i="0" lang="en-US" sz="1250" u="none" cap="none" strike="noStrike">
                <a:solidFill>
                  <a:srgbClr val="6E5F50"/>
                </a:solidFill>
                <a:latin typeface="Calibri"/>
                <a:ea typeface="Calibri"/>
                <a:cs typeface="Calibri"/>
                <a:sym typeface="Calibri"/>
              </a:rPr>
              <a:t>.</a:t>
            </a:r>
            <a:endParaRPr b="0" i="0" sz="1250" u="none" cap="none" strike="noStrike">
              <a:solidFill>
                <a:schemeClr val="dk1"/>
              </a:solidFill>
              <a:latin typeface="Calibri"/>
              <a:ea typeface="Calibri"/>
              <a:cs typeface="Calibri"/>
              <a:sym typeface="Calibri"/>
            </a:endParaRPr>
          </a:p>
        </p:txBody>
      </p:sp>
      <p:sp>
        <p:nvSpPr>
          <p:cNvPr id="108" name="Google Shape;108;p4"/>
          <p:cNvSpPr/>
          <p:nvPr/>
        </p:nvSpPr>
        <p:spPr>
          <a:xfrm>
            <a:off x="548640" y="3474720"/>
            <a:ext cx="5394960" cy="1874520"/>
          </a:xfrm>
          <a:prstGeom prst="roundRect">
            <a:avLst>
              <a:gd fmla="val 5854"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p:nvPr/>
        </p:nvSpPr>
        <p:spPr>
          <a:xfrm>
            <a:off x="777240" y="3977640"/>
            <a:ext cx="822960" cy="82296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4"/>
          <p:cNvPicPr preferRelativeResize="0"/>
          <p:nvPr/>
        </p:nvPicPr>
        <p:blipFill rotWithShape="1">
          <a:blip r:embed="rId5">
            <a:alphaModFix/>
          </a:blip>
          <a:srcRect b="0" l="0" r="0" t="0"/>
          <a:stretch/>
        </p:blipFill>
        <p:spPr>
          <a:xfrm>
            <a:off x="991210" y="4191610"/>
            <a:ext cx="395021" cy="395021"/>
          </a:xfrm>
          <a:prstGeom prst="rect">
            <a:avLst/>
          </a:prstGeom>
          <a:noFill/>
          <a:ln>
            <a:noFill/>
          </a:ln>
        </p:spPr>
      </p:pic>
      <p:sp>
        <p:nvSpPr>
          <p:cNvPr id="111" name="Google Shape;111;p4"/>
          <p:cNvSpPr/>
          <p:nvPr/>
        </p:nvSpPr>
        <p:spPr>
          <a:xfrm>
            <a:off x="1783080" y="3977638"/>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Coordinación a gritos</a:t>
            </a:r>
            <a:endParaRPr b="0" i="0" sz="1600" u="none" cap="none" strike="noStrike">
              <a:solidFill>
                <a:schemeClr val="dk1"/>
              </a:solidFill>
              <a:latin typeface="Calibri"/>
              <a:ea typeface="Calibri"/>
              <a:cs typeface="Calibri"/>
              <a:sym typeface="Calibri"/>
            </a:endParaRPr>
          </a:p>
        </p:txBody>
      </p:sp>
      <p:sp>
        <p:nvSpPr>
          <p:cNvPr id="112" name="Google Shape;112;p4"/>
          <p:cNvSpPr/>
          <p:nvPr/>
        </p:nvSpPr>
        <p:spPr>
          <a:xfrm>
            <a:off x="1783075" y="4059925"/>
            <a:ext cx="3977700" cy="938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250"/>
              <a:buFont typeface="Calibri"/>
              <a:buNone/>
            </a:pPr>
            <a:r>
              <a:rPr b="0" i="0" lang="en-US" sz="1250" u="none" cap="none" strike="noStrike">
                <a:solidFill>
                  <a:srgbClr val="6E5F50"/>
                </a:solidFill>
                <a:latin typeface="Calibri"/>
                <a:ea typeface="Calibri"/>
                <a:cs typeface="Calibri"/>
                <a:sym typeface="Calibri"/>
              </a:rPr>
              <a:t>Cocina y mostrador se comunican con desplazamientos físicos repetidos durante toda la jornada.</a:t>
            </a:r>
            <a:endParaRPr b="0" i="0" sz="1250" u="none" cap="none" strike="noStrike">
              <a:solidFill>
                <a:schemeClr val="dk1"/>
              </a:solidFill>
              <a:latin typeface="Calibri"/>
              <a:ea typeface="Calibri"/>
              <a:cs typeface="Calibri"/>
              <a:sym typeface="Calibri"/>
            </a:endParaRPr>
          </a:p>
        </p:txBody>
      </p:sp>
      <p:sp>
        <p:nvSpPr>
          <p:cNvPr id="113" name="Google Shape;113;p4"/>
          <p:cNvSpPr/>
          <p:nvPr/>
        </p:nvSpPr>
        <p:spPr>
          <a:xfrm>
            <a:off x="6263640" y="3474720"/>
            <a:ext cx="5394960" cy="1874520"/>
          </a:xfrm>
          <a:prstGeom prst="roundRect">
            <a:avLst>
              <a:gd fmla="val 5854"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6492240" y="3977640"/>
            <a:ext cx="822960" cy="82296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5" name="Google Shape;115;p4"/>
          <p:cNvPicPr preferRelativeResize="0"/>
          <p:nvPr/>
        </p:nvPicPr>
        <p:blipFill rotWithShape="1">
          <a:blip r:embed="rId6">
            <a:alphaModFix/>
          </a:blip>
          <a:srcRect b="0" l="0" r="0" t="0"/>
          <a:stretch/>
        </p:blipFill>
        <p:spPr>
          <a:xfrm>
            <a:off x="6706210" y="4191610"/>
            <a:ext cx="395021" cy="395021"/>
          </a:xfrm>
          <a:prstGeom prst="rect">
            <a:avLst/>
          </a:prstGeom>
          <a:noFill/>
          <a:ln>
            <a:noFill/>
          </a:ln>
        </p:spPr>
      </p:pic>
      <p:sp>
        <p:nvSpPr>
          <p:cNvPr id="116" name="Google Shape;116;p4"/>
          <p:cNvSpPr/>
          <p:nvPr/>
        </p:nvSpPr>
        <p:spPr>
          <a:xfrm>
            <a:off x="7452305" y="3977638"/>
            <a:ext cx="39777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00"/>
              <a:buFont typeface="Calibri"/>
              <a:buNone/>
            </a:pPr>
            <a:r>
              <a:rPr b="1" i="0" lang="en-US" sz="1600" u="none" cap="none" strike="noStrike">
                <a:solidFill>
                  <a:srgbClr val="2E2318"/>
                </a:solidFill>
                <a:latin typeface="Calibri"/>
                <a:ea typeface="Calibri"/>
                <a:cs typeface="Calibri"/>
                <a:sym typeface="Calibri"/>
              </a:rPr>
              <a:t>Producción por intuición</a:t>
            </a:r>
            <a:endParaRPr b="0" i="0" sz="1600" u="none" cap="none" strike="noStrike">
              <a:solidFill>
                <a:schemeClr val="dk1"/>
              </a:solidFill>
              <a:latin typeface="Calibri"/>
              <a:ea typeface="Calibri"/>
              <a:cs typeface="Calibri"/>
              <a:sym typeface="Calibri"/>
            </a:endParaRPr>
          </a:p>
        </p:txBody>
      </p:sp>
      <p:sp>
        <p:nvSpPr>
          <p:cNvPr id="117" name="Google Shape;117;p4"/>
          <p:cNvSpPr/>
          <p:nvPr/>
        </p:nvSpPr>
        <p:spPr>
          <a:xfrm>
            <a:off x="7452330" y="3957486"/>
            <a:ext cx="39777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250"/>
              <a:buFont typeface="Calibri"/>
              <a:buNone/>
            </a:pPr>
            <a:r>
              <a:rPr b="0" i="0" lang="en-US" sz="1250" u="none" cap="none" strike="noStrike">
                <a:solidFill>
                  <a:srgbClr val="6E5F50"/>
                </a:solidFill>
                <a:latin typeface="Calibri"/>
                <a:ea typeface="Calibri"/>
                <a:cs typeface="Calibri"/>
                <a:sym typeface="Calibri"/>
              </a:rPr>
              <a:t>Sin historial de ventas no hay base para decidir cuánto producir cada día.</a:t>
            </a:r>
            <a:endParaRPr b="0" i="0" sz="1250" u="none" cap="none" strike="noStrike">
              <a:solidFill>
                <a:schemeClr val="dk1"/>
              </a:solidFill>
              <a:latin typeface="Calibri"/>
              <a:ea typeface="Calibri"/>
              <a:cs typeface="Calibri"/>
              <a:sym typeface="Calibri"/>
            </a:endParaRPr>
          </a:p>
        </p:txBody>
      </p:sp>
      <p:sp>
        <p:nvSpPr>
          <p:cNvPr id="118" name="Google Shape;118;p4"/>
          <p:cNvSpPr/>
          <p:nvPr/>
        </p:nvSpPr>
        <p:spPr>
          <a:xfrm>
            <a:off x="548640" y="5577840"/>
            <a:ext cx="11091672" cy="731520"/>
          </a:xfrm>
          <a:prstGeom prst="roundRect">
            <a:avLst>
              <a:gd fmla="val 12500" name="adj"/>
            </a:avLst>
          </a:prstGeom>
          <a:solidFill>
            <a:srgbClr val="EA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822960" y="5577840"/>
            <a:ext cx="1060704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450"/>
              <a:buFont typeface="Calibri"/>
              <a:buNone/>
            </a:pPr>
            <a:r>
              <a:rPr b="1" i="0" lang="en-US" sz="1950" u="none" cap="none" strike="noStrike">
                <a:solidFill>
                  <a:srgbClr val="4A2C1A"/>
                </a:solidFill>
                <a:latin typeface="Calibri"/>
                <a:ea typeface="Calibri"/>
                <a:cs typeface="Calibri"/>
                <a:sym typeface="Calibri"/>
              </a:rPr>
              <a:t>Consecuencia: sobreproducción, venta perdida por subproducción y cero visibilidad para administrar.</a:t>
            </a:r>
            <a:endParaRPr b="1" i="0" sz="1950" u="none" cap="none" strike="noStrike">
              <a:solidFill>
                <a:srgbClr val="4A2C1A"/>
              </a:solidFill>
              <a:latin typeface="Calibri"/>
              <a:ea typeface="Calibri"/>
              <a:cs typeface="Calibri"/>
              <a:sym typeface="Calibri"/>
            </a:endParaRPr>
          </a:p>
        </p:txBody>
      </p:sp>
      <p:sp>
        <p:nvSpPr>
          <p:cNvPr id="120" name="Google Shape;120;p4"/>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5"/>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N</a:t>
            </a:r>
            <a:r>
              <a:rPr b="1" i="0" lang="en-US" sz="3000" u="none" cap="none" strike="noStrike">
                <a:solidFill>
                  <a:srgbClr val="4A2C1A"/>
                </a:solidFill>
                <a:latin typeface="Calibri"/>
                <a:ea typeface="Calibri"/>
                <a:cs typeface="Calibri"/>
                <a:sym typeface="Calibri"/>
              </a:rPr>
              <a:t>ecesidad</a:t>
            </a:r>
            <a:endParaRPr b="1" i="0" sz="3000" u="none" cap="none" strike="noStrike">
              <a:solidFill>
                <a:srgbClr val="4A2C1A"/>
              </a:solidFill>
              <a:latin typeface="Calibri"/>
              <a:ea typeface="Calibri"/>
              <a:cs typeface="Calibri"/>
              <a:sym typeface="Calibri"/>
            </a:endParaRPr>
          </a:p>
        </p:txBody>
      </p:sp>
      <p:sp>
        <p:nvSpPr>
          <p:cNvPr id="127" name="Google Shape;127;p5"/>
          <p:cNvSpPr/>
          <p:nvPr/>
        </p:nvSpPr>
        <p:spPr>
          <a:xfrm>
            <a:off x="731520" y="1417320"/>
            <a:ext cx="822960" cy="82296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8" name="Google Shape;128;p5"/>
          <p:cNvPicPr preferRelativeResize="0"/>
          <p:nvPr/>
        </p:nvPicPr>
        <p:blipFill rotWithShape="1">
          <a:blip r:embed="rId3">
            <a:alphaModFix/>
          </a:blip>
          <a:srcRect b="0" l="0" r="0" t="0"/>
          <a:stretch/>
        </p:blipFill>
        <p:spPr>
          <a:xfrm>
            <a:off x="945490" y="1631290"/>
            <a:ext cx="395021" cy="395021"/>
          </a:xfrm>
          <a:prstGeom prst="rect">
            <a:avLst/>
          </a:prstGeom>
          <a:noFill/>
          <a:ln>
            <a:noFill/>
          </a:ln>
        </p:spPr>
      </p:pic>
      <p:sp>
        <p:nvSpPr>
          <p:cNvPr id="129" name="Google Shape;129;p5"/>
          <p:cNvSpPr/>
          <p:nvPr/>
        </p:nvSpPr>
        <p:spPr>
          <a:xfrm>
            <a:off x="1783080" y="1435608"/>
            <a:ext cx="4572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50"/>
              <a:buFont typeface="Calibri"/>
              <a:buNone/>
            </a:pPr>
            <a:r>
              <a:rPr b="1" i="0" lang="en-US" sz="1650" u="none" cap="none" strike="noStrike">
                <a:solidFill>
                  <a:srgbClr val="2E2318"/>
                </a:solidFill>
                <a:latin typeface="Calibri"/>
                <a:ea typeface="Calibri"/>
                <a:cs typeface="Calibri"/>
                <a:sym typeface="Calibri"/>
              </a:rPr>
              <a:t>Registrar el 100% de las ventas</a:t>
            </a:r>
            <a:endParaRPr b="0" i="0" sz="1650" u="none" cap="none" strike="noStrike">
              <a:solidFill>
                <a:schemeClr val="dk1"/>
              </a:solidFill>
              <a:latin typeface="Calibri"/>
              <a:ea typeface="Calibri"/>
              <a:cs typeface="Calibri"/>
              <a:sym typeface="Calibri"/>
            </a:endParaRPr>
          </a:p>
        </p:txBody>
      </p:sp>
      <p:sp>
        <p:nvSpPr>
          <p:cNvPr id="130" name="Google Shape;130;p5"/>
          <p:cNvSpPr/>
          <p:nvPr/>
        </p:nvSpPr>
        <p:spPr>
          <a:xfrm>
            <a:off x="6492240" y="1435608"/>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500" u="none" cap="none" strike="noStrike">
                <a:solidFill>
                  <a:srgbClr val="6E5F50"/>
                </a:solidFill>
                <a:latin typeface="Calibri"/>
                <a:ea typeface="Calibri"/>
                <a:cs typeface="Calibri"/>
                <a:sym typeface="Calibri"/>
              </a:rPr>
              <a:t>Cada transacción con tipo de pan, peso y precio, capturados en el momento de la venta.</a:t>
            </a:r>
            <a:endParaRPr b="0" i="0" sz="1500" u="none" cap="none" strike="noStrike">
              <a:solidFill>
                <a:schemeClr val="dk1"/>
              </a:solidFill>
              <a:latin typeface="Calibri"/>
              <a:ea typeface="Calibri"/>
              <a:cs typeface="Calibri"/>
              <a:sym typeface="Calibri"/>
            </a:endParaRPr>
          </a:p>
        </p:txBody>
      </p:sp>
      <p:cxnSp>
        <p:nvCxnSpPr>
          <p:cNvPr id="131" name="Google Shape;131;p5"/>
          <p:cNvCxnSpPr/>
          <p:nvPr/>
        </p:nvCxnSpPr>
        <p:spPr>
          <a:xfrm>
            <a:off x="1783080" y="2441448"/>
            <a:ext cx="9829800" cy="0"/>
          </a:xfrm>
          <a:prstGeom prst="straightConnector1">
            <a:avLst/>
          </a:prstGeom>
          <a:noFill/>
          <a:ln cap="flat" cmpd="sng" w="12700">
            <a:solidFill>
              <a:srgbClr val="E5D9C6"/>
            </a:solidFill>
            <a:prstDash val="solid"/>
            <a:round/>
            <a:headEnd len="sm" w="sm" type="none"/>
            <a:tailEnd len="sm" w="sm" type="none"/>
          </a:ln>
        </p:spPr>
      </p:cxnSp>
      <p:sp>
        <p:nvSpPr>
          <p:cNvPr id="132" name="Google Shape;132;p5"/>
          <p:cNvSpPr/>
          <p:nvPr/>
        </p:nvSpPr>
        <p:spPr>
          <a:xfrm>
            <a:off x="731520" y="2624328"/>
            <a:ext cx="822960" cy="82296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3" name="Google Shape;133;p5"/>
          <p:cNvPicPr preferRelativeResize="0"/>
          <p:nvPr/>
        </p:nvPicPr>
        <p:blipFill rotWithShape="1">
          <a:blip r:embed="rId4">
            <a:alphaModFix/>
          </a:blip>
          <a:srcRect b="0" l="0" r="0" t="0"/>
          <a:stretch/>
        </p:blipFill>
        <p:spPr>
          <a:xfrm>
            <a:off x="945490" y="2838298"/>
            <a:ext cx="395021" cy="395021"/>
          </a:xfrm>
          <a:prstGeom prst="rect">
            <a:avLst/>
          </a:prstGeom>
          <a:noFill/>
          <a:ln>
            <a:noFill/>
          </a:ln>
        </p:spPr>
      </p:pic>
      <p:sp>
        <p:nvSpPr>
          <p:cNvPr id="134" name="Google Shape;134;p5"/>
          <p:cNvSpPr/>
          <p:nvPr/>
        </p:nvSpPr>
        <p:spPr>
          <a:xfrm>
            <a:off x="1783080" y="2642616"/>
            <a:ext cx="4572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50"/>
              <a:buFont typeface="Calibri"/>
              <a:buNone/>
            </a:pPr>
            <a:r>
              <a:rPr b="1" i="0" lang="en-US" sz="1650" u="none" cap="none" strike="noStrike">
                <a:solidFill>
                  <a:srgbClr val="2E2318"/>
                </a:solidFill>
                <a:latin typeface="Calibri"/>
                <a:ea typeface="Calibri"/>
                <a:cs typeface="Calibri"/>
                <a:sym typeface="Calibri"/>
              </a:rPr>
              <a:t>Vender aunque no haya internet</a:t>
            </a:r>
            <a:endParaRPr b="0" i="0" sz="1650" u="none" cap="none" strike="noStrike">
              <a:solidFill>
                <a:schemeClr val="dk1"/>
              </a:solidFill>
              <a:latin typeface="Calibri"/>
              <a:ea typeface="Calibri"/>
              <a:cs typeface="Calibri"/>
              <a:sym typeface="Calibri"/>
            </a:endParaRPr>
          </a:p>
        </p:txBody>
      </p:sp>
      <p:sp>
        <p:nvSpPr>
          <p:cNvPr id="135" name="Google Shape;135;p5"/>
          <p:cNvSpPr/>
          <p:nvPr/>
        </p:nvSpPr>
        <p:spPr>
          <a:xfrm>
            <a:off x="6492250" y="2642625"/>
            <a:ext cx="51207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lang="en-US" sz="1500">
                <a:solidFill>
                  <a:srgbClr val="6E5F50"/>
                </a:solidFill>
                <a:latin typeface="Calibri"/>
                <a:ea typeface="Calibri"/>
                <a:cs typeface="Calibri"/>
                <a:sym typeface="Calibri"/>
              </a:rPr>
              <a:t>Si se cae la conectividad </a:t>
            </a:r>
            <a:r>
              <a:rPr b="0" i="0" lang="en-US" sz="1500" u="none" cap="none" strike="noStrike">
                <a:solidFill>
                  <a:srgbClr val="6E5F50"/>
                </a:solidFill>
                <a:latin typeface="Calibri"/>
                <a:ea typeface="Calibri"/>
                <a:cs typeface="Calibri"/>
                <a:sym typeface="Calibri"/>
              </a:rPr>
              <a:t>no se puede detener la caja ni perder registros.</a:t>
            </a:r>
            <a:endParaRPr b="0" i="0" sz="1500" u="none" cap="none" strike="noStrike">
              <a:solidFill>
                <a:schemeClr val="dk1"/>
              </a:solidFill>
              <a:latin typeface="Calibri"/>
              <a:ea typeface="Calibri"/>
              <a:cs typeface="Calibri"/>
              <a:sym typeface="Calibri"/>
            </a:endParaRPr>
          </a:p>
        </p:txBody>
      </p:sp>
      <p:cxnSp>
        <p:nvCxnSpPr>
          <p:cNvPr id="136" name="Google Shape;136;p5"/>
          <p:cNvCxnSpPr/>
          <p:nvPr/>
        </p:nvCxnSpPr>
        <p:spPr>
          <a:xfrm>
            <a:off x="1783080" y="3648456"/>
            <a:ext cx="9829800" cy="0"/>
          </a:xfrm>
          <a:prstGeom prst="straightConnector1">
            <a:avLst/>
          </a:prstGeom>
          <a:noFill/>
          <a:ln cap="flat" cmpd="sng" w="12700">
            <a:solidFill>
              <a:srgbClr val="E5D9C6"/>
            </a:solidFill>
            <a:prstDash val="solid"/>
            <a:round/>
            <a:headEnd len="sm" w="sm" type="none"/>
            <a:tailEnd len="sm" w="sm" type="none"/>
          </a:ln>
        </p:spPr>
      </p:cxnSp>
      <p:sp>
        <p:nvSpPr>
          <p:cNvPr id="137" name="Google Shape;137;p5"/>
          <p:cNvSpPr/>
          <p:nvPr/>
        </p:nvSpPr>
        <p:spPr>
          <a:xfrm>
            <a:off x="731520" y="3831336"/>
            <a:ext cx="822960" cy="82296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5"/>
          <p:cNvPicPr preferRelativeResize="0"/>
          <p:nvPr/>
        </p:nvPicPr>
        <p:blipFill rotWithShape="1">
          <a:blip r:embed="rId5">
            <a:alphaModFix/>
          </a:blip>
          <a:srcRect b="0" l="0" r="0" t="0"/>
          <a:stretch/>
        </p:blipFill>
        <p:spPr>
          <a:xfrm>
            <a:off x="945490" y="4045306"/>
            <a:ext cx="395021" cy="395021"/>
          </a:xfrm>
          <a:prstGeom prst="rect">
            <a:avLst/>
          </a:prstGeom>
          <a:noFill/>
          <a:ln>
            <a:noFill/>
          </a:ln>
        </p:spPr>
      </p:pic>
      <p:sp>
        <p:nvSpPr>
          <p:cNvPr id="139" name="Google Shape;139;p5"/>
          <p:cNvSpPr/>
          <p:nvPr/>
        </p:nvSpPr>
        <p:spPr>
          <a:xfrm>
            <a:off x="1783080" y="3849624"/>
            <a:ext cx="4572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50"/>
              <a:buFont typeface="Calibri"/>
              <a:buNone/>
            </a:pPr>
            <a:r>
              <a:rPr b="1" i="0" lang="en-US" sz="1650" u="none" cap="none" strike="noStrike">
                <a:solidFill>
                  <a:srgbClr val="2E2318"/>
                </a:solidFill>
                <a:latin typeface="Calibri"/>
                <a:ea typeface="Calibri"/>
                <a:cs typeface="Calibri"/>
                <a:sym typeface="Calibri"/>
              </a:rPr>
              <a:t>Coordinar cocina y mostrador</a:t>
            </a:r>
            <a:endParaRPr b="0" i="0" sz="1650" u="none" cap="none" strike="noStrike">
              <a:solidFill>
                <a:schemeClr val="dk1"/>
              </a:solidFill>
              <a:latin typeface="Calibri"/>
              <a:ea typeface="Calibri"/>
              <a:cs typeface="Calibri"/>
              <a:sym typeface="Calibri"/>
            </a:endParaRPr>
          </a:p>
        </p:txBody>
      </p:sp>
      <p:sp>
        <p:nvSpPr>
          <p:cNvPr id="140" name="Google Shape;140;p5"/>
          <p:cNvSpPr/>
          <p:nvPr/>
        </p:nvSpPr>
        <p:spPr>
          <a:xfrm>
            <a:off x="6492240" y="3849624"/>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500" u="none" cap="none" strike="noStrike">
                <a:solidFill>
                  <a:srgbClr val="6E5F50"/>
                </a:solidFill>
                <a:latin typeface="Calibri"/>
                <a:ea typeface="Calibri"/>
                <a:cs typeface="Calibri"/>
                <a:sym typeface="Calibri"/>
              </a:rPr>
              <a:t>Saber qué pan está listo sin interrumpir a quien amasa ni caminar a la cocina.</a:t>
            </a:r>
            <a:endParaRPr b="0" i="0" sz="1500" u="none" cap="none" strike="noStrike">
              <a:solidFill>
                <a:schemeClr val="dk1"/>
              </a:solidFill>
              <a:latin typeface="Calibri"/>
              <a:ea typeface="Calibri"/>
              <a:cs typeface="Calibri"/>
              <a:sym typeface="Calibri"/>
            </a:endParaRPr>
          </a:p>
        </p:txBody>
      </p:sp>
      <p:cxnSp>
        <p:nvCxnSpPr>
          <p:cNvPr id="141" name="Google Shape;141;p5"/>
          <p:cNvCxnSpPr/>
          <p:nvPr/>
        </p:nvCxnSpPr>
        <p:spPr>
          <a:xfrm>
            <a:off x="1783080" y="4855464"/>
            <a:ext cx="9829800" cy="0"/>
          </a:xfrm>
          <a:prstGeom prst="straightConnector1">
            <a:avLst/>
          </a:prstGeom>
          <a:noFill/>
          <a:ln cap="flat" cmpd="sng" w="12700">
            <a:solidFill>
              <a:srgbClr val="E5D9C6"/>
            </a:solidFill>
            <a:prstDash val="solid"/>
            <a:round/>
            <a:headEnd len="sm" w="sm" type="none"/>
            <a:tailEnd len="sm" w="sm" type="none"/>
          </a:ln>
        </p:spPr>
      </p:cxnSp>
      <p:sp>
        <p:nvSpPr>
          <p:cNvPr id="142" name="Google Shape;142;p5"/>
          <p:cNvSpPr/>
          <p:nvPr/>
        </p:nvSpPr>
        <p:spPr>
          <a:xfrm>
            <a:off x="731520" y="5038344"/>
            <a:ext cx="822960" cy="82296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3" name="Google Shape;143;p5"/>
          <p:cNvPicPr preferRelativeResize="0"/>
          <p:nvPr/>
        </p:nvPicPr>
        <p:blipFill rotWithShape="1">
          <a:blip r:embed="rId6">
            <a:alphaModFix/>
          </a:blip>
          <a:srcRect b="0" l="0" r="0" t="0"/>
          <a:stretch/>
        </p:blipFill>
        <p:spPr>
          <a:xfrm>
            <a:off x="945490" y="5252314"/>
            <a:ext cx="395021" cy="395021"/>
          </a:xfrm>
          <a:prstGeom prst="rect">
            <a:avLst/>
          </a:prstGeom>
          <a:noFill/>
          <a:ln>
            <a:noFill/>
          </a:ln>
        </p:spPr>
      </p:pic>
      <p:sp>
        <p:nvSpPr>
          <p:cNvPr id="144" name="Google Shape;144;p5"/>
          <p:cNvSpPr/>
          <p:nvPr/>
        </p:nvSpPr>
        <p:spPr>
          <a:xfrm>
            <a:off x="1783080" y="5056632"/>
            <a:ext cx="45720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650"/>
              <a:buFont typeface="Calibri"/>
              <a:buNone/>
            </a:pPr>
            <a:r>
              <a:rPr b="1" i="0" lang="en-US" sz="1650" u="none" cap="none" strike="noStrike">
                <a:solidFill>
                  <a:srgbClr val="2E2318"/>
                </a:solidFill>
                <a:latin typeface="Calibri"/>
                <a:ea typeface="Calibri"/>
                <a:cs typeface="Calibri"/>
                <a:sym typeface="Calibri"/>
              </a:rPr>
              <a:t>Planificar con datos</a:t>
            </a:r>
            <a:endParaRPr b="0" i="0" sz="1650" u="none" cap="none" strike="noStrike">
              <a:solidFill>
                <a:schemeClr val="dk1"/>
              </a:solidFill>
              <a:latin typeface="Calibri"/>
              <a:ea typeface="Calibri"/>
              <a:cs typeface="Calibri"/>
              <a:sym typeface="Calibri"/>
            </a:endParaRPr>
          </a:p>
        </p:txBody>
      </p:sp>
      <p:sp>
        <p:nvSpPr>
          <p:cNvPr id="145" name="Google Shape;145;p5"/>
          <p:cNvSpPr/>
          <p:nvPr/>
        </p:nvSpPr>
        <p:spPr>
          <a:xfrm>
            <a:off x="6492240" y="5056632"/>
            <a:ext cx="51206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300"/>
              <a:buFont typeface="Calibri"/>
              <a:buNone/>
            </a:pPr>
            <a:r>
              <a:rPr b="0" i="0" lang="en-US" sz="1500" u="none" cap="none" strike="noStrike">
                <a:solidFill>
                  <a:srgbClr val="6E5F50"/>
                </a:solidFill>
                <a:latin typeface="Calibri"/>
                <a:ea typeface="Calibri"/>
                <a:cs typeface="Calibri"/>
                <a:sym typeface="Calibri"/>
              </a:rPr>
              <a:t>Convertir el historial de ventas en una estimación de cuánto producir mañana.</a:t>
            </a:r>
            <a:endParaRPr b="0" i="0" sz="1500" u="none" cap="none" strike="noStrike">
              <a:solidFill>
                <a:schemeClr val="dk1"/>
              </a:solidFill>
              <a:latin typeface="Calibri"/>
              <a:ea typeface="Calibri"/>
              <a:cs typeface="Calibri"/>
              <a:sym typeface="Calibri"/>
            </a:endParaRPr>
          </a:p>
        </p:txBody>
      </p:sp>
      <p:sp>
        <p:nvSpPr>
          <p:cNvPr id="146" name="Google Shape;146;p5"/>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sp>
        <p:nvSpPr>
          <p:cNvPr id="152" name="Google Shape;152;p6"/>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S</a:t>
            </a:r>
            <a:r>
              <a:rPr b="1" i="0" lang="en-US" sz="3000" u="none" cap="none" strike="noStrike">
                <a:solidFill>
                  <a:srgbClr val="4A2C1A"/>
                </a:solidFill>
                <a:latin typeface="Calibri"/>
                <a:ea typeface="Calibri"/>
                <a:cs typeface="Calibri"/>
                <a:sym typeface="Calibri"/>
              </a:rPr>
              <a:t>olución</a:t>
            </a:r>
            <a:endParaRPr i="0" sz="3000" u="none" cap="none" strike="noStrike">
              <a:solidFill>
                <a:schemeClr val="dk1"/>
              </a:solidFill>
              <a:latin typeface="Calibri"/>
              <a:ea typeface="Calibri"/>
              <a:cs typeface="Calibri"/>
              <a:sym typeface="Calibri"/>
            </a:endParaRPr>
          </a:p>
        </p:txBody>
      </p:sp>
      <p:sp>
        <p:nvSpPr>
          <p:cNvPr id="153" name="Google Shape;153;p6"/>
          <p:cNvSpPr/>
          <p:nvPr/>
        </p:nvSpPr>
        <p:spPr>
          <a:xfrm>
            <a:off x="548640" y="1783075"/>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1920260" y="2039570"/>
            <a:ext cx="777300" cy="7773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5" name="Google Shape;155;p6"/>
          <p:cNvPicPr preferRelativeResize="0"/>
          <p:nvPr/>
        </p:nvPicPr>
        <p:blipFill rotWithShape="1">
          <a:blip r:embed="rId3">
            <a:alphaModFix/>
          </a:blip>
          <a:srcRect b="0" l="0" r="0" t="0"/>
          <a:stretch/>
        </p:blipFill>
        <p:spPr>
          <a:xfrm>
            <a:off x="2122342" y="2241652"/>
            <a:ext cx="373075" cy="373075"/>
          </a:xfrm>
          <a:prstGeom prst="rect">
            <a:avLst/>
          </a:prstGeom>
          <a:noFill/>
          <a:ln>
            <a:noFill/>
          </a:ln>
        </p:spPr>
      </p:pic>
      <p:sp>
        <p:nvSpPr>
          <p:cNvPr id="156" name="Google Shape;156;p6"/>
          <p:cNvSpPr/>
          <p:nvPr/>
        </p:nvSpPr>
        <p:spPr>
          <a:xfrm>
            <a:off x="822960" y="2971795"/>
            <a:ext cx="3017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Escritorio</a:t>
            </a:r>
            <a:r>
              <a:rPr b="1" lang="en-US" sz="1850">
                <a:solidFill>
                  <a:srgbClr val="D9A441"/>
                </a:solidFill>
                <a:latin typeface="Calibri"/>
                <a:ea typeface="Calibri"/>
                <a:cs typeface="Calibri"/>
                <a:sym typeface="Calibri"/>
              </a:rPr>
              <a:t>:</a:t>
            </a:r>
            <a:r>
              <a:rPr b="1" i="0" lang="en-US" sz="1850" u="none" cap="none" strike="noStrike">
                <a:solidFill>
                  <a:srgbClr val="D9A441"/>
                </a:solidFill>
                <a:latin typeface="Calibri"/>
                <a:ea typeface="Calibri"/>
                <a:cs typeface="Calibri"/>
                <a:sym typeface="Calibri"/>
              </a:rPr>
              <a:t> P</a:t>
            </a:r>
            <a:r>
              <a:rPr b="1" lang="en-US" sz="1850">
                <a:solidFill>
                  <a:srgbClr val="D9A441"/>
                </a:solidFill>
                <a:latin typeface="Calibri"/>
                <a:ea typeface="Calibri"/>
                <a:cs typeface="Calibri"/>
                <a:sym typeface="Calibri"/>
              </a:rPr>
              <a:t>OS</a:t>
            </a:r>
            <a:endParaRPr b="0" i="0" sz="1850" u="none" cap="none" strike="noStrike">
              <a:solidFill>
                <a:schemeClr val="dk1"/>
              </a:solidFill>
              <a:latin typeface="Calibri"/>
              <a:ea typeface="Calibri"/>
              <a:cs typeface="Calibri"/>
              <a:sym typeface="Calibri"/>
            </a:endParaRPr>
          </a:p>
        </p:txBody>
      </p:sp>
      <p:sp>
        <p:nvSpPr>
          <p:cNvPr id="157" name="Google Shape;157;p6"/>
          <p:cNvSpPr/>
          <p:nvPr/>
        </p:nvSpPr>
        <p:spPr>
          <a:xfrm>
            <a:off x="822960" y="3520435"/>
            <a:ext cx="30633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EADC"/>
              </a:buClr>
              <a:buSzPts val="1150"/>
              <a:buFont typeface="Calibri"/>
              <a:buNone/>
            </a:pPr>
            <a:r>
              <a:rPr b="0" i="0" lang="en-US" sz="1450" u="none" cap="none" strike="noStrike">
                <a:solidFill>
                  <a:srgbClr val="F3EADC"/>
                </a:solidFill>
                <a:latin typeface="Calibri"/>
                <a:ea typeface="Calibri"/>
                <a:cs typeface="Calibri"/>
                <a:sym typeface="Calibri"/>
              </a:rPr>
              <a:t>Integra la balanza para registrar tipo, peso y precio</a:t>
            </a:r>
            <a:r>
              <a:rPr lang="en-US" sz="1450">
                <a:solidFill>
                  <a:srgbClr val="F3EADC"/>
                </a:solidFill>
                <a:latin typeface="Calibri"/>
                <a:ea typeface="Calibri"/>
                <a:cs typeface="Calibri"/>
                <a:sym typeface="Calibri"/>
              </a:rPr>
              <a:t>,</a:t>
            </a:r>
            <a:r>
              <a:rPr b="0" i="0" lang="en-US" sz="1450" u="none" cap="none" strike="noStrike">
                <a:solidFill>
                  <a:srgbClr val="F3EADC"/>
                </a:solidFill>
                <a:latin typeface="Calibri"/>
                <a:ea typeface="Calibri"/>
                <a:cs typeface="Calibri"/>
                <a:sym typeface="Calibri"/>
              </a:rPr>
              <a:t> admite venta por unidad</a:t>
            </a:r>
            <a:r>
              <a:rPr lang="en-US" sz="1450">
                <a:solidFill>
                  <a:srgbClr val="F3EADC"/>
                </a:solidFill>
                <a:latin typeface="Calibri"/>
                <a:ea typeface="Calibri"/>
                <a:cs typeface="Calibri"/>
                <a:sym typeface="Calibri"/>
              </a:rPr>
              <a:t>,</a:t>
            </a:r>
            <a:r>
              <a:rPr b="0" i="0" lang="en-US" sz="1450" u="none" cap="none" strike="noStrike">
                <a:solidFill>
                  <a:srgbClr val="F3EADC"/>
                </a:solidFill>
                <a:latin typeface="Calibri"/>
                <a:ea typeface="Calibri"/>
                <a:cs typeface="Calibri"/>
                <a:sym typeface="Calibri"/>
              </a:rPr>
              <a:t> opera sin conexión y sincroniza en segundo plano.</a:t>
            </a:r>
            <a:endParaRPr b="0" i="0" sz="1450" u="none" cap="none" strike="noStrike">
              <a:solidFill>
                <a:schemeClr val="dk1"/>
              </a:solidFill>
              <a:latin typeface="Calibri"/>
              <a:ea typeface="Calibri"/>
              <a:cs typeface="Calibri"/>
              <a:sym typeface="Calibri"/>
            </a:endParaRPr>
          </a:p>
        </p:txBody>
      </p:sp>
      <p:sp>
        <p:nvSpPr>
          <p:cNvPr id="158" name="Google Shape;158;p6"/>
          <p:cNvSpPr/>
          <p:nvPr/>
        </p:nvSpPr>
        <p:spPr>
          <a:xfrm>
            <a:off x="4407408" y="1783075"/>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5705828" y="2080258"/>
            <a:ext cx="777300" cy="777300"/>
          </a:xfrm>
          <a:prstGeom prst="ellipse">
            <a:avLst/>
          </a:prstGeom>
          <a:solidFill>
            <a:srgbClr val="274E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0" name="Google Shape;160;p6"/>
          <p:cNvPicPr preferRelativeResize="0"/>
          <p:nvPr/>
        </p:nvPicPr>
        <p:blipFill rotWithShape="1">
          <a:blip r:embed="rId4">
            <a:alphaModFix/>
          </a:blip>
          <a:srcRect b="0" l="0" r="0" t="0"/>
          <a:stretch/>
        </p:blipFill>
        <p:spPr>
          <a:xfrm>
            <a:off x="5907935" y="2282340"/>
            <a:ext cx="373075" cy="373075"/>
          </a:xfrm>
          <a:prstGeom prst="rect">
            <a:avLst/>
          </a:prstGeom>
          <a:noFill/>
          <a:ln>
            <a:noFill/>
          </a:ln>
        </p:spPr>
      </p:pic>
      <p:sp>
        <p:nvSpPr>
          <p:cNvPr id="161" name="Google Shape;161;p6"/>
          <p:cNvSpPr/>
          <p:nvPr/>
        </p:nvSpPr>
        <p:spPr>
          <a:xfrm>
            <a:off x="4681728" y="2971795"/>
            <a:ext cx="3017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Móvil</a:t>
            </a:r>
            <a:r>
              <a:rPr b="1" lang="en-US" sz="1850">
                <a:solidFill>
                  <a:srgbClr val="D9A441"/>
                </a:solidFill>
                <a:latin typeface="Calibri"/>
                <a:ea typeface="Calibri"/>
                <a:cs typeface="Calibri"/>
                <a:sym typeface="Calibri"/>
              </a:rPr>
              <a:t>:</a:t>
            </a:r>
            <a:r>
              <a:rPr b="1" i="0" lang="en-US" sz="1850" u="none" cap="none" strike="noStrike">
                <a:solidFill>
                  <a:srgbClr val="D9A441"/>
                </a:solidFill>
                <a:latin typeface="Calibri"/>
                <a:ea typeface="Calibri"/>
                <a:cs typeface="Calibri"/>
                <a:sym typeface="Calibri"/>
              </a:rPr>
              <a:t> Panadero</a:t>
            </a:r>
            <a:endParaRPr b="0" i="0" sz="1850" u="none" cap="none" strike="noStrike">
              <a:solidFill>
                <a:schemeClr val="dk1"/>
              </a:solidFill>
              <a:latin typeface="Calibri"/>
              <a:ea typeface="Calibri"/>
              <a:cs typeface="Calibri"/>
              <a:sym typeface="Calibri"/>
            </a:endParaRPr>
          </a:p>
        </p:txBody>
      </p:sp>
      <p:sp>
        <p:nvSpPr>
          <p:cNvPr id="162" name="Google Shape;162;p6"/>
          <p:cNvSpPr/>
          <p:nvPr/>
        </p:nvSpPr>
        <p:spPr>
          <a:xfrm>
            <a:off x="4658841" y="3520485"/>
            <a:ext cx="30633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EADC"/>
              </a:buClr>
              <a:buSzPts val="1150"/>
              <a:buFont typeface="Calibri"/>
              <a:buNone/>
            </a:pPr>
            <a:r>
              <a:rPr b="0" i="0" lang="en-US" sz="1450" u="none" cap="none" strike="noStrike">
                <a:solidFill>
                  <a:srgbClr val="F3EADC"/>
                </a:solidFill>
                <a:latin typeface="Calibri"/>
                <a:ea typeface="Calibri"/>
                <a:cs typeface="Calibri"/>
                <a:sym typeface="Calibri"/>
              </a:rPr>
              <a:t>Registra peso de masa y tipo por amasado; el sistema descuenta materias primas por fórmula de porcentaje panadero y avisa al mostrador.</a:t>
            </a:r>
            <a:endParaRPr b="0" i="0" sz="1450" u="none" cap="none" strike="noStrike">
              <a:solidFill>
                <a:schemeClr val="dk1"/>
              </a:solidFill>
              <a:latin typeface="Calibri"/>
              <a:ea typeface="Calibri"/>
              <a:cs typeface="Calibri"/>
              <a:sym typeface="Calibri"/>
            </a:endParaRPr>
          </a:p>
        </p:txBody>
      </p:sp>
      <p:sp>
        <p:nvSpPr>
          <p:cNvPr id="163" name="Google Shape;163;p6"/>
          <p:cNvSpPr/>
          <p:nvPr/>
        </p:nvSpPr>
        <p:spPr>
          <a:xfrm>
            <a:off x="8266176" y="1783075"/>
            <a:ext cx="3566100" cy="3291900"/>
          </a:xfrm>
          <a:prstGeom prst="roundRect">
            <a:avLst>
              <a:gd fmla="val 3333"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9660634" y="2080258"/>
            <a:ext cx="777300" cy="777300"/>
          </a:xfrm>
          <a:prstGeom prst="ellipse">
            <a:avLst/>
          </a:prstGeom>
          <a:solidFill>
            <a:srgbClr val="783F0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5" name="Google Shape;165;p6"/>
          <p:cNvPicPr preferRelativeResize="0"/>
          <p:nvPr/>
        </p:nvPicPr>
        <p:blipFill rotWithShape="1">
          <a:blip r:embed="rId5">
            <a:alphaModFix/>
          </a:blip>
          <a:srcRect b="0" l="0" r="0" t="0"/>
          <a:stretch/>
        </p:blipFill>
        <p:spPr>
          <a:xfrm>
            <a:off x="9862716" y="2282340"/>
            <a:ext cx="373075" cy="373075"/>
          </a:xfrm>
          <a:prstGeom prst="rect">
            <a:avLst/>
          </a:prstGeom>
          <a:noFill/>
          <a:ln>
            <a:noFill/>
          </a:ln>
        </p:spPr>
      </p:pic>
      <p:sp>
        <p:nvSpPr>
          <p:cNvPr id="166" name="Google Shape;166;p6"/>
          <p:cNvSpPr/>
          <p:nvPr/>
        </p:nvSpPr>
        <p:spPr>
          <a:xfrm>
            <a:off x="8540496" y="2971795"/>
            <a:ext cx="3017400" cy="567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450"/>
              <a:buFont typeface="Calibri"/>
              <a:buNone/>
            </a:pPr>
            <a:r>
              <a:rPr b="1" i="0" lang="en-US" sz="1850" u="none" cap="none" strike="noStrike">
                <a:solidFill>
                  <a:srgbClr val="D9A441"/>
                </a:solidFill>
                <a:latin typeface="Calibri"/>
                <a:ea typeface="Calibri"/>
                <a:cs typeface="Calibri"/>
                <a:sym typeface="Calibri"/>
              </a:rPr>
              <a:t>Web</a:t>
            </a:r>
            <a:r>
              <a:rPr b="1" lang="en-US" sz="1850">
                <a:solidFill>
                  <a:srgbClr val="D9A441"/>
                </a:solidFill>
                <a:latin typeface="Calibri"/>
                <a:ea typeface="Calibri"/>
                <a:cs typeface="Calibri"/>
                <a:sym typeface="Calibri"/>
              </a:rPr>
              <a:t>:</a:t>
            </a:r>
            <a:r>
              <a:rPr b="1" i="0" lang="en-US" sz="1850" u="none" cap="none" strike="noStrike">
                <a:solidFill>
                  <a:srgbClr val="D9A441"/>
                </a:solidFill>
                <a:latin typeface="Calibri"/>
                <a:ea typeface="Calibri"/>
                <a:cs typeface="Calibri"/>
                <a:sym typeface="Calibri"/>
              </a:rPr>
              <a:t> Gestión</a:t>
            </a:r>
            <a:endParaRPr b="0" i="0" sz="1850" u="none" cap="none" strike="noStrike">
              <a:solidFill>
                <a:schemeClr val="dk1"/>
              </a:solidFill>
              <a:latin typeface="Calibri"/>
              <a:ea typeface="Calibri"/>
              <a:cs typeface="Calibri"/>
              <a:sym typeface="Calibri"/>
            </a:endParaRPr>
          </a:p>
        </p:txBody>
      </p:sp>
      <p:sp>
        <p:nvSpPr>
          <p:cNvPr id="167" name="Google Shape;167;p6"/>
          <p:cNvSpPr/>
          <p:nvPr/>
        </p:nvSpPr>
        <p:spPr>
          <a:xfrm>
            <a:off x="8540496" y="3520435"/>
            <a:ext cx="3063300" cy="1463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3EADC"/>
              </a:buClr>
              <a:buSzPts val="1150"/>
              <a:buFont typeface="Calibri"/>
              <a:buNone/>
            </a:pPr>
            <a:r>
              <a:rPr b="0" i="0" lang="en-US" sz="1550" u="none" cap="none" strike="noStrike">
                <a:solidFill>
                  <a:srgbClr val="F3EADC"/>
                </a:solidFill>
                <a:latin typeface="Calibri"/>
                <a:ea typeface="Calibri"/>
                <a:cs typeface="Calibri"/>
                <a:sym typeface="Calibri"/>
              </a:rPr>
              <a:t>Indicadores del negocio y administración: catálogo, precios, fórmulas, políticas, sucursales y módulos por panadería.</a:t>
            </a:r>
            <a:endParaRPr b="0" i="0" sz="1550" u="none" cap="none" strike="noStrike">
              <a:solidFill>
                <a:schemeClr val="dk1"/>
              </a:solidFill>
              <a:latin typeface="Calibri"/>
              <a:ea typeface="Calibri"/>
              <a:cs typeface="Calibri"/>
              <a:sym typeface="Calibri"/>
            </a:endParaRPr>
          </a:p>
        </p:txBody>
      </p:sp>
      <p:sp>
        <p:nvSpPr>
          <p:cNvPr id="168" name="Google Shape;168;p6"/>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7"/>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R</a:t>
            </a:r>
            <a:r>
              <a:rPr b="1" i="0" lang="en-US" sz="3000" u="none" cap="none" strike="noStrike">
                <a:solidFill>
                  <a:srgbClr val="4A2C1A"/>
                </a:solidFill>
                <a:latin typeface="Calibri"/>
                <a:ea typeface="Calibri"/>
                <a:cs typeface="Calibri"/>
                <a:sym typeface="Calibri"/>
              </a:rPr>
              <a:t>equerimientos</a:t>
            </a:r>
            <a:r>
              <a:rPr b="1" i="0" lang="en-US" sz="3000" u="none" cap="none" strike="noStrike">
                <a:solidFill>
                  <a:srgbClr val="D9A441"/>
                </a:solidFill>
                <a:latin typeface="Calibri"/>
                <a:ea typeface="Calibri"/>
                <a:cs typeface="Calibri"/>
                <a:sym typeface="Calibri"/>
              </a:rPr>
              <a:t> </a:t>
            </a:r>
            <a:r>
              <a:rPr b="1" i="0" lang="en-US" sz="3000" u="none" cap="none" strike="noStrike">
                <a:solidFill>
                  <a:srgbClr val="2E2318"/>
                </a:solidFill>
                <a:latin typeface="Calibri"/>
                <a:ea typeface="Calibri"/>
                <a:cs typeface="Calibri"/>
                <a:sym typeface="Calibri"/>
              </a:rPr>
              <a:t>funcionales y no funcionales</a:t>
            </a:r>
            <a:endParaRPr i="0" sz="3000" u="none" cap="none" strike="noStrike">
              <a:solidFill>
                <a:schemeClr val="dk1"/>
              </a:solidFill>
              <a:latin typeface="Calibri"/>
              <a:ea typeface="Calibri"/>
              <a:cs typeface="Calibri"/>
              <a:sym typeface="Calibri"/>
            </a:endParaRPr>
          </a:p>
        </p:txBody>
      </p:sp>
      <p:sp>
        <p:nvSpPr>
          <p:cNvPr id="175" name="Google Shape;175;p7"/>
          <p:cNvSpPr/>
          <p:nvPr/>
        </p:nvSpPr>
        <p:spPr>
          <a:xfrm>
            <a:off x="548640" y="1371600"/>
            <a:ext cx="5486400" cy="4937760"/>
          </a:xfrm>
          <a:prstGeom prst="roundRect">
            <a:avLst>
              <a:gd fmla="val 2222"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7"/>
          <p:cNvSpPr/>
          <p:nvPr/>
        </p:nvSpPr>
        <p:spPr>
          <a:xfrm>
            <a:off x="868680" y="1600200"/>
            <a:ext cx="48463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800"/>
              <a:buFont typeface="Cambria"/>
              <a:buNone/>
            </a:pPr>
            <a:r>
              <a:rPr b="1" i="0" lang="en-US" sz="2400" u="none" cap="none" strike="noStrike">
                <a:solidFill>
                  <a:srgbClr val="BC8E39"/>
                </a:solidFill>
                <a:latin typeface="Calibri"/>
                <a:ea typeface="Calibri"/>
                <a:cs typeface="Calibri"/>
                <a:sym typeface="Calibri"/>
              </a:rPr>
              <a:t>Funcionales</a:t>
            </a:r>
            <a:endParaRPr i="0" sz="2400" u="none" cap="none" strike="noStrike">
              <a:solidFill>
                <a:srgbClr val="BC8E39"/>
              </a:solidFill>
              <a:latin typeface="Calibri"/>
              <a:ea typeface="Calibri"/>
              <a:cs typeface="Calibri"/>
              <a:sym typeface="Calibri"/>
            </a:endParaRPr>
          </a:p>
        </p:txBody>
      </p:sp>
      <p:sp>
        <p:nvSpPr>
          <p:cNvPr id="177" name="Google Shape;177;p7"/>
          <p:cNvSpPr/>
          <p:nvPr/>
        </p:nvSpPr>
        <p:spPr>
          <a:xfrm>
            <a:off x="868680" y="2103120"/>
            <a:ext cx="4892040" cy="4023360"/>
          </a:xfrm>
          <a:prstGeom prst="rect">
            <a:avLst/>
          </a:prstGeom>
          <a:noFill/>
          <a:ln>
            <a:noFill/>
          </a:ln>
        </p:spPr>
        <p:txBody>
          <a:bodyPr anchorCtr="0" anchor="ctr" bIns="0" lIns="0" spcFirstLastPara="1" rIns="0" wrap="square" tIns="0">
            <a:noAutofit/>
          </a:bodyPr>
          <a:lstStyle/>
          <a:p>
            <a:pPr indent="-361950" lvl="0" marL="342900" marR="0" rtl="0" algn="l">
              <a:spcBef>
                <a:spcPts val="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Venta por peso con lectura de balanza y venta por unidad.</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Registro local sin conexión y sincronización automática al reconectar.</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Registro de amasado y descuento de materias primas por fórmula.</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Aviso de producción de cocina a mostrador.</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Administración de catálogo, precios, fórmulas y política de pan del día anterior.</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Predicción de demanda diaria por sucursal y producto.</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2E2318"/>
              </a:buClr>
              <a:buSzPts val="1600"/>
              <a:buFont typeface="Calibri"/>
              <a:buChar char="•"/>
            </a:pPr>
            <a:r>
              <a:rPr b="0" i="0" lang="en-US" sz="1600" u="none" cap="none" strike="noStrike">
                <a:solidFill>
                  <a:srgbClr val="2E2318"/>
                </a:solidFill>
                <a:latin typeface="Calibri"/>
                <a:ea typeface="Calibri"/>
                <a:cs typeface="Calibri"/>
                <a:sym typeface="Calibri"/>
              </a:rPr>
              <a:t>Panel de indicadores y gestión multisucursal con roles.</a:t>
            </a:r>
            <a:endParaRPr b="0" i="0" sz="1600" u="none" cap="none" strike="noStrike">
              <a:solidFill>
                <a:schemeClr val="dk1"/>
              </a:solidFill>
              <a:latin typeface="Calibri"/>
              <a:ea typeface="Calibri"/>
              <a:cs typeface="Calibri"/>
              <a:sym typeface="Calibri"/>
            </a:endParaRPr>
          </a:p>
        </p:txBody>
      </p:sp>
      <p:sp>
        <p:nvSpPr>
          <p:cNvPr id="178" name="Google Shape;178;p7"/>
          <p:cNvSpPr/>
          <p:nvPr/>
        </p:nvSpPr>
        <p:spPr>
          <a:xfrm>
            <a:off x="6309360" y="1371600"/>
            <a:ext cx="5349240" cy="4937760"/>
          </a:xfrm>
          <a:prstGeom prst="roundRect">
            <a:avLst>
              <a:gd fmla="val 222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
          <p:cNvSpPr/>
          <p:nvPr/>
        </p:nvSpPr>
        <p:spPr>
          <a:xfrm>
            <a:off x="6629400" y="160020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800"/>
              <a:buFont typeface="Cambria"/>
              <a:buNone/>
            </a:pPr>
            <a:r>
              <a:rPr b="1" i="0" lang="en-US" sz="2400" u="none" cap="none" strike="noStrike">
                <a:solidFill>
                  <a:srgbClr val="D9A441"/>
                </a:solidFill>
                <a:latin typeface="Calibri"/>
                <a:ea typeface="Calibri"/>
                <a:cs typeface="Calibri"/>
                <a:sym typeface="Calibri"/>
              </a:rPr>
              <a:t>No funcionales</a:t>
            </a:r>
            <a:endParaRPr i="0" sz="2400" u="none" cap="none" strike="noStrike">
              <a:solidFill>
                <a:schemeClr val="dk1"/>
              </a:solidFill>
              <a:latin typeface="Calibri"/>
              <a:ea typeface="Calibri"/>
              <a:cs typeface="Calibri"/>
              <a:sym typeface="Calibri"/>
            </a:endParaRPr>
          </a:p>
        </p:txBody>
      </p:sp>
      <p:sp>
        <p:nvSpPr>
          <p:cNvPr id="180" name="Google Shape;180;p7"/>
          <p:cNvSpPr/>
          <p:nvPr/>
        </p:nvSpPr>
        <p:spPr>
          <a:xfrm>
            <a:off x="6629400" y="2103120"/>
            <a:ext cx="4754880" cy="4023360"/>
          </a:xfrm>
          <a:prstGeom prst="rect">
            <a:avLst/>
          </a:prstGeom>
          <a:noFill/>
          <a:ln>
            <a:noFill/>
          </a:ln>
        </p:spPr>
        <p:txBody>
          <a:bodyPr anchorCtr="0" anchor="ctr" bIns="0" lIns="0" spcFirstLastPara="1" rIns="0" wrap="square" tIns="0">
            <a:noAutofit/>
          </a:bodyPr>
          <a:lstStyle/>
          <a:p>
            <a:pPr indent="-361950" lvl="0" marL="342900" marR="0" rtl="0" algn="l">
              <a:spcBef>
                <a:spcPts val="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Disponibilidad: el POS y la app del panadero operan offline-first.</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Seguridad: autenticación, autorización por rol y aislamiento de datos por panadería.</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Escalabilidad: arquitectura multi-tenant y multi-sucursal desde el diseño.</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Mantenibilidad: capa de abstracción de dispositivos; agregar hardware = agregar un controlador.</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Usabilidad: flujo de venta apto para hora punta y para personal no técnico.</a:t>
            </a:r>
            <a:endParaRPr b="0" i="0" sz="1600" u="none" cap="none" strike="noStrike">
              <a:solidFill>
                <a:schemeClr val="dk1"/>
              </a:solidFill>
              <a:latin typeface="Calibri"/>
              <a:ea typeface="Calibri"/>
              <a:cs typeface="Calibri"/>
              <a:sym typeface="Calibri"/>
            </a:endParaRPr>
          </a:p>
          <a:p>
            <a:pPr indent="-361950" lvl="0" marL="342900" marR="0" rtl="0" algn="l">
              <a:spcBef>
                <a:spcPts val="900"/>
              </a:spcBef>
              <a:spcAft>
                <a:spcPts val="0"/>
              </a:spcAft>
              <a:buClr>
                <a:srgbClr val="F3EADC"/>
              </a:buClr>
              <a:buSzPts val="1600"/>
              <a:buFont typeface="Calibri"/>
              <a:buChar char="•"/>
            </a:pPr>
            <a:r>
              <a:rPr b="0" i="0" lang="en-US" sz="1600" u="none" cap="none" strike="noStrike">
                <a:solidFill>
                  <a:srgbClr val="F3EADC"/>
                </a:solidFill>
                <a:latin typeface="Calibri"/>
                <a:ea typeface="Calibri"/>
                <a:cs typeface="Calibri"/>
                <a:sym typeface="Calibri"/>
              </a:rPr>
              <a:t>Integridad: ventas y materias primas exactas y reconciliables; sin duplicados tras reconexión.</a:t>
            </a:r>
            <a:endParaRPr b="0" i="0" sz="1600" u="none" cap="none" strike="noStrike">
              <a:solidFill>
                <a:schemeClr val="dk1"/>
              </a:solidFill>
              <a:latin typeface="Calibri"/>
              <a:ea typeface="Calibri"/>
              <a:cs typeface="Calibri"/>
              <a:sym typeface="Calibri"/>
            </a:endParaRPr>
          </a:p>
        </p:txBody>
      </p:sp>
      <p:sp>
        <p:nvSpPr>
          <p:cNvPr id="181" name="Google Shape;181;p7"/>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8"/>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É</a:t>
            </a:r>
            <a:r>
              <a:rPr b="1" i="0" lang="en-US" sz="3000" u="none" cap="none" strike="noStrike">
                <a:solidFill>
                  <a:srgbClr val="4A2C1A"/>
                </a:solidFill>
                <a:latin typeface="Calibri"/>
                <a:ea typeface="Calibri"/>
                <a:cs typeface="Calibri"/>
                <a:sym typeface="Calibri"/>
              </a:rPr>
              <a:t>picas e historias de usuario</a:t>
            </a:r>
            <a:endParaRPr i="0" sz="3000" u="none" cap="none" strike="noStrike">
              <a:solidFill>
                <a:srgbClr val="4A2C1A"/>
              </a:solidFill>
              <a:latin typeface="Calibri"/>
              <a:ea typeface="Calibri"/>
              <a:cs typeface="Calibri"/>
              <a:sym typeface="Calibri"/>
            </a:endParaRPr>
          </a:p>
        </p:txBody>
      </p:sp>
      <p:sp>
        <p:nvSpPr>
          <p:cNvPr id="188" name="Google Shape;188;p8"/>
          <p:cNvSpPr/>
          <p:nvPr/>
        </p:nvSpPr>
        <p:spPr>
          <a:xfrm>
            <a:off x="548640"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1920240"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0" name="Google Shape;190;p8"/>
          <p:cNvPicPr preferRelativeResize="0"/>
          <p:nvPr/>
        </p:nvPicPr>
        <p:blipFill rotWithShape="1">
          <a:blip r:embed="rId3">
            <a:alphaModFix/>
          </a:blip>
          <a:srcRect b="0" l="0" r="0" t="0"/>
          <a:stretch/>
        </p:blipFill>
        <p:spPr>
          <a:xfrm>
            <a:off x="2134210" y="1859890"/>
            <a:ext cx="395021" cy="395021"/>
          </a:xfrm>
          <a:prstGeom prst="rect">
            <a:avLst/>
          </a:prstGeom>
          <a:noFill/>
          <a:ln>
            <a:noFill/>
          </a:ln>
        </p:spPr>
      </p:pic>
      <p:sp>
        <p:nvSpPr>
          <p:cNvPr id="191" name="Google Shape;191;p8"/>
          <p:cNvSpPr/>
          <p:nvPr/>
        </p:nvSpPr>
        <p:spPr>
          <a:xfrm>
            <a:off x="548640" y="2606040"/>
            <a:ext cx="3566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Vendedor</a:t>
            </a:r>
            <a:endParaRPr i="0" sz="2400" u="none" cap="none" strike="noStrike">
              <a:solidFill>
                <a:schemeClr val="dk1"/>
              </a:solidFill>
              <a:latin typeface="Calibri"/>
              <a:ea typeface="Calibri"/>
              <a:cs typeface="Calibri"/>
              <a:sym typeface="Calibri"/>
            </a:endParaRPr>
          </a:p>
        </p:txBody>
      </p:sp>
      <p:sp>
        <p:nvSpPr>
          <p:cNvPr id="192" name="Google Shape;192;p8"/>
          <p:cNvSpPr/>
          <p:nvPr/>
        </p:nvSpPr>
        <p:spPr>
          <a:xfrm>
            <a:off x="731520" y="297180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Vender rápido y sin perder registros</a:t>
            </a:r>
            <a:endParaRPr b="0" i="0" sz="1200" u="none" cap="none" strike="noStrike">
              <a:solidFill>
                <a:schemeClr val="dk1"/>
              </a:solidFill>
              <a:latin typeface="Calibri"/>
              <a:ea typeface="Calibri"/>
              <a:cs typeface="Calibri"/>
              <a:sym typeface="Calibri"/>
            </a:endParaRPr>
          </a:p>
        </p:txBody>
      </p:sp>
      <p:sp>
        <p:nvSpPr>
          <p:cNvPr id="193" name="Google Shape;193;p8"/>
          <p:cNvSpPr/>
          <p:nvPr/>
        </p:nvSpPr>
        <p:spPr>
          <a:xfrm>
            <a:off x="749808"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896112" y="3639312"/>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b="0" i="1" lang="en-US" sz="1280" u="none" cap="none" strike="noStrike">
                <a:solidFill>
                  <a:srgbClr val="2E2318"/>
                </a:solidFill>
                <a:latin typeface="Calibri"/>
                <a:ea typeface="Calibri"/>
                <a:cs typeface="Calibri"/>
                <a:sym typeface="Calibri"/>
              </a:rPr>
              <a:t>Como vendedor, quiero pesar el pan directo desde la balanza para cobrar sin digitar el peso."</a:t>
            </a:r>
            <a:endParaRPr b="0" i="1" sz="1280" u="none" cap="none" strike="noStrike">
              <a:solidFill>
                <a:schemeClr val="dk1"/>
              </a:solidFill>
              <a:latin typeface="Calibri"/>
              <a:ea typeface="Calibri"/>
              <a:cs typeface="Calibri"/>
              <a:sym typeface="Calibri"/>
            </a:endParaRPr>
          </a:p>
        </p:txBody>
      </p:sp>
      <p:sp>
        <p:nvSpPr>
          <p:cNvPr id="195" name="Google Shape;195;p8"/>
          <p:cNvSpPr/>
          <p:nvPr/>
        </p:nvSpPr>
        <p:spPr>
          <a:xfrm>
            <a:off x="749808"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
          <p:cNvSpPr/>
          <p:nvPr/>
        </p:nvSpPr>
        <p:spPr>
          <a:xfrm>
            <a:off x="896112" y="4937760"/>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b="0" i="1" lang="en-US" sz="1280" u="none" cap="none" strike="noStrike">
                <a:solidFill>
                  <a:srgbClr val="2E2318"/>
                </a:solidFill>
                <a:latin typeface="Calibri"/>
                <a:ea typeface="Calibri"/>
                <a:cs typeface="Calibri"/>
                <a:sym typeface="Calibri"/>
              </a:rPr>
              <a:t>Como vendedor, quiero que la caja siga operando sin internet para no detener la venta."</a:t>
            </a:r>
            <a:endParaRPr b="0" i="1" sz="1280" u="none" cap="none" strike="noStrike">
              <a:solidFill>
                <a:schemeClr val="dk1"/>
              </a:solidFill>
              <a:latin typeface="Calibri"/>
              <a:ea typeface="Calibri"/>
              <a:cs typeface="Calibri"/>
              <a:sym typeface="Calibri"/>
            </a:endParaRPr>
          </a:p>
        </p:txBody>
      </p:sp>
      <p:sp>
        <p:nvSpPr>
          <p:cNvPr id="197" name="Google Shape;197;p8"/>
          <p:cNvSpPr/>
          <p:nvPr/>
        </p:nvSpPr>
        <p:spPr>
          <a:xfrm>
            <a:off x="4407408"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8"/>
          <p:cNvSpPr/>
          <p:nvPr/>
        </p:nvSpPr>
        <p:spPr>
          <a:xfrm>
            <a:off x="5779008"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9" name="Google Shape;199;p8"/>
          <p:cNvPicPr preferRelativeResize="0"/>
          <p:nvPr/>
        </p:nvPicPr>
        <p:blipFill rotWithShape="1">
          <a:blip r:embed="rId4">
            <a:alphaModFix/>
          </a:blip>
          <a:srcRect b="0" l="0" r="0" t="0"/>
          <a:stretch/>
        </p:blipFill>
        <p:spPr>
          <a:xfrm>
            <a:off x="5992978" y="1859890"/>
            <a:ext cx="395021" cy="395021"/>
          </a:xfrm>
          <a:prstGeom prst="rect">
            <a:avLst/>
          </a:prstGeom>
          <a:noFill/>
          <a:ln>
            <a:noFill/>
          </a:ln>
        </p:spPr>
      </p:pic>
      <p:sp>
        <p:nvSpPr>
          <p:cNvPr id="200" name="Google Shape;200;p8"/>
          <p:cNvSpPr/>
          <p:nvPr/>
        </p:nvSpPr>
        <p:spPr>
          <a:xfrm>
            <a:off x="4407408" y="2606040"/>
            <a:ext cx="3566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Panadero</a:t>
            </a:r>
            <a:endParaRPr i="0" sz="2400" u="none" cap="none" strike="noStrike">
              <a:solidFill>
                <a:schemeClr val="dk1"/>
              </a:solidFill>
              <a:latin typeface="Calibri"/>
              <a:ea typeface="Calibri"/>
              <a:cs typeface="Calibri"/>
              <a:sym typeface="Calibri"/>
            </a:endParaRPr>
          </a:p>
        </p:txBody>
      </p:sp>
      <p:sp>
        <p:nvSpPr>
          <p:cNvPr id="201" name="Google Shape;201;p8"/>
          <p:cNvSpPr/>
          <p:nvPr/>
        </p:nvSpPr>
        <p:spPr>
          <a:xfrm>
            <a:off x="4590288" y="297180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Producir sin papeleo ni interrupciones</a:t>
            </a:r>
            <a:endParaRPr b="0" i="0" sz="1200" u="none" cap="none" strike="noStrike">
              <a:solidFill>
                <a:schemeClr val="dk1"/>
              </a:solidFill>
              <a:latin typeface="Calibri"/>
              <a:ea typeface="Calibri"/>
              <a:cs typeface="Calibri"/>
              <a:sym typeface="Calibri"/>
            </a:endParaRPr>
          </a:p>
        </p:txBody>
      </p:sp>
      <p:sp>
        <p:nvSpPr>
          <p:cNvPr id="202" name="Google Shape;202;p8"/>
          <p:cNvSpPr/>
          <p:nvPr/>
        </p:nvSpPr>
        <p:spPr>
          <a:xfrm>
            <a:off x="4608576"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4754880" y="3639312"/>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b="0" i="1" lang="en-US" sz="1280" u="none" cap="none" strike="noStrike">
                <a:solidFill>
                  <a:srgbClr val="2E2318"/>
                </a:solidFill>
                <a:latin typeface="Calibri"/>
                <a:ea typeface="Calibri"/>
                <a:cs typeface="Calibri"/>
                <a:sym typeface="Calibri"/>
              </a:rPr>
              <a:t>Como panadero, quiero registrar peso y tipo de cada masa para que el sistema descuente los insumos por mí."</a:t>
            </a:r>
            <a:endParaRPr b="0" i="1" sz="1280" u="none" cap="none" strike="noStrike">
              <a:solidFill>
                <a:schemeClr val="dk1"/>
              </a:solidFill>
              <a:latin typeface="Calibri"/>
              <a:ea typeface="Calibri"/>
              <a:cs typeface="Calibri"/>
              <a:sym typeface="Calibri"/>
            </a:endParaRPr>
          </a:p>
        </p:txBody>
      </p:sp>
      <p:sp>
        <p:nvSpPr>
          <p:cNvPr id="204" name="Google Shape;204;p8"/>
          <p:cNvSpPr/>
          <p:nvPr/>
        </p:nvSpPr>
        <p:spPr>
          <a:xfrm>
            <a:off x="4608576"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4754880" y="4937760"/>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b="0" i="1" lang="en-US" sz="1280" u="none" cap="none" strike="noStrike">
                <a:solidFill>
                  <a:srgbClr val="2E2318"/>
                </a:solidFill>
                <a:latin typeface="Calibri"/>
                <a:ea typeface="Calibri"/>
                <a:cs typeface="Calibri"/>
                <a:sym typeface="Calibri"/>
              </a:rPr>
              <a:t>Como panadero, quiero avisar al mostrador que hay pan listo sin salir de la cocina. "</a:t>
            </a:r>
            <a:endParaRPr b="0" i="1" sz="1280" u="none" cap="none" strike="noStrike">
              <a:solidFill>
                <a:schemeClr val="dk1"/>
              </a:solidFill>
              <a:latin typeface="Calibri"/>
              <a:ea typeface="Calibri"/>
              <a:cs typeface="Calibri"/>
              <a:sym typeface="Calibri"/>
            </a:endParaRPr>
          </a:p>
        </p:txBody>
      </p:sp>
      <p:sp>
        <p:nvSpPr>
          <p:cNvPr id="206" name="Google Shape;206;p8"/>
          <p:cNvSpPr/>
          <p:nvPr/>
        </p:nvSpPr>
        <p:spPr>
          <a:xfrm>
            <a:off x="8266176" y="1371600"/>
            <a:ext cx="3566160" cy="4892040"/>
          </a:xfrm>
          <a:prstGeom prst="roundRect">
            <a:avLst>
              <a:gd fmla="val 3077"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9637776" y="1645920"/>
            <a:ext cx="822960" cy="8229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8" name="Google Shape;208;p8"/>
          <p:cNvPicPr preferRelativeResize="0"/>
          <p:nvPr/>
        </p:nvPicPr>
        <p:blipFill rotWithShape="1">
          <a:blip r:embed="rId5">
            <a:alphaModFix/>
          </a:blip>
          <a:srcRect b="0" l="0" r="0" t="0"/>
          <a:stretch/>
        </p:blipFill>
        <p:spPr>
          <a:xfrm>
            <a:off x="9851746" y="1859890"/>
            <a:ext cx="395021" cy="395021"/>
          </a:xfrm>
          <a:prstGeom prst="rect">
            <a:avLst/>
          </a:prstGeom>
          <a:noFill/>
          <a:ln>
            <a:noFill/>
          </a:ln>
        </p:spPr>
      </p:pic>
      <p:sp>
        <p:nvSpPr>
          <p:cNvPr id="209" name="Google Shape;209;p8"/>
          <p:cNvSpPr/>
          <p:nvPr/>
        </p:nvSpPr>
        <p:spPr>
          <a:xfrm>
            <a:off x="8266176" y="2606040"/>
            <a:ext cx="35661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Administrador</a:t>
            </a:r>
            <a:endParaRPr i="0" sz="2400" u="none" cap="none" strike="noStrike">
              <a:solidFill>
                <a:schemeClr val="dk1"/>
              </a:solidFill>
              <a:latin typeface="Calibri"/>
              <a:ea typeface="Calibri"/>
              <a:cs typeface="Calibri"/>
              <a:sym typeface="Calibri"/>
            </a:endParaRPr>
          </a:p>
        </p:txBody>
      </p:sp>
      <p:sp>
        <p:nvSpPr>
          <p:cNvPr id="210" name="Google Shape;210;p8"/>
          <p:cNvSpPr/>
          <p:nvPr/>
        </p:nvSpPr>
        <p:spPr>
          <a:xfrm>
            <a:off x="8449056" y="2971800"/>
            <a:ext cx="320040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5F50"/>
              </a:buClr>
              <a:buSzPts val="1200"/>
              <a:buFont typeface="Calibri"/>
              <a:buNone/>
            </a:pPr>
            <a:r>
              <a:rPr b="0" i="1" lang="en-US" sz="1200" u="none" cap="none" strike="noStrike">
                <a:solidFill>
                  <a:srgbClr val="6E5F50"/>
                </a:solidFill>
                <a:latin typeface="Calibri"/>
                <a:ea typeface="Calibri"/>
                <a:cs typeface="Calibri"/>
                <a:sym typeface="Calibri"/>
              </a:rPr>
              <a:t>Decidir </a:t>
            </a:r>
            <a:r>
              <a:rPr i="1" lang="en-US" sz="1200">
                <a:solidFill>
                  <a:srgbClr val="6E5F50"/>
                </a:solidFill>
                <a:latin typeface="Calibri"/>
                <a:ea typeface="Calibri"/>
                <a:cs typeface="Calibri"/>
                <a:sym typeface="Calibri"/>
              </a:rPr>
              <a:t>a través de</a:t>
            </a:r>
            <a:r>
              <a:rPr b="0" i="1" lang="en-US" sz="1200" u="none" cap="none" strike="noStrike">
                <a:solidFill>
                  <a:srgbClr val="6E5F50"/>
                </a:solidFill>
                <a:latin typeface="Calibri"/>
                <a:ea typeface="Calibri"/>
                <a:cs typeface="Calibri"/>
                <a:sym typeface="Calibri"/>
              </a:rPr>
              <a:t> datos, no intuición</a:t>
            </a:r>
            <a:endParaRPr b="0" i="0" sz="1200" u="none" cap="none" strike="noStrike">
              <a:solidFill>
                <a:schemeClr val="dk1"/>
              </a:solidFill>
              <a:latin typeface="Calibri"/>
              <a:ea typeface="Calibri"/>
              <a:cs typeface="Calibri"/>
              <a:sym typeface="Calibri"/>
            </a:endParaRPr>
          </a:p>
        </p:txBody>
      </p:sp>
      <p:sp>
        <p:nvSpPr>
          <p:cNvPr id="211" name="Google Shape;211;p8"/>
          <p:cNvSpPr/>
          <p:nvPr/>
        </p:nvSpPr>
        <p:spPr>
          <a:xfrm>
            <a:off x="8467344" y="3566160"/>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8613648" y="3639312"/>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b="0" i="1" lang="en-US" sz="1280" u="none" cap="none" strike="noStrike">
                <a:solidFill>
                  <a:srgbClr val="2E2318"/>
                </a:solidFill>
                <a:latin typeface="Calibri"/>
                <a:ea typeface="Calibri"/>
                <a:cs typeface="Calibri"/>
                <a:sym typeface="Calibri"/>
              </a:rPr>
              <a:t>Como administrador, quiero ver la demanda proyectada por producto para decidir cuánto producir."</a:t>
            </a:r>
            <a:endParaRPr b="0" i="1" sz="1280" u="none" cap="none" strike="noStrike">
              <a:solidFill>
                <a:schemeClr val="dk1"/>
              </a:solidFill>
              <a:latin typeface="Calibri"/>
              <a:ea typeface="Calibri"/>
              <a:cs typeface="Calibri"/>
              <a:sym typeface="Calibri"/>
            </a:endParaRPr>
          </a:p>
        </p:txBody>
      </p:sp>
      <p:sp>
        <p:nvSpPr>
          <p:cNvPr id="213" name="Google Shape;213;p8"/>
          <p:cNvSpPr/>
          <p:nvPr/>
        </p:nvSpPr>
        <p:spPr>
          <a:xfrm>
            <a:off x="8467344" y="4864608"/>
            <a:ext cx="3163824" cy="1170432"/>
          </a:xfrm>
          <a:prstGeom prst="roundRect">
            <a:avLst>
              <a:gd fmla="val 625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8613648" y="4937760"/>
            <a:ext cx="2889504" cy="10241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2318"/>
              </a:buClr>
              <a:buSzPts val="1080"/>
              <a:buFont typeface="Calibri"/>
              <a:buNone/>
            </a:pPr>
            <a:r>
              <a:rPr i="1" lang="en-US" sz="1280">
                <a:solidFill>
                  <a:srgbClr val="2E2318"/>
                </a:solidFill>
                <a:latin typeface="Calibri"/>
                <a:ea typeface="Calibri"/>
                <a:cs typeface="Calibri"/>
                <a:sym typeface="Calibri"/>
              </a:rPr>
              <a:t>"</a:t>
            </a:r>
            <a:r>
              <a:rPr i="1" lang="en-US" sz="1280" u="none" cap="none" strike="noStrike">
                <a:solidFill>
                  <a:srgbClr val="2E2318"/>
                </a:solidFill>
                <a:latin typeface="Calibri"/>
                <a:ea typeface="Calibri"/>
                <a:cs typeface="Calibri"/>
                <a:sym typeface="Calibri"/>
              </a:rPr>
              <a:t>Como administrador, quiero configurar catálogo, precios y fórmulas por sucursal."</a:t>
            </a:r>
            <a:endParaRPr i="1" sz="1280" u="none" cap="none" strike="noStrike">
              <a:solidFill>
                <a:schemeClr val="dk1"/>
              </a:solidFill>
              <a:latin typeface="Calibri"/>
              <a:ea typeface="Calibri"/>
              <a:cs typeface="Calibri"/>
              <a:sym typeface="Calibri"/>
            </a:endParaRPr>
          </a:p>
        </p:txBody>
      </p:sp>
      <p:sp>
        <p:nvSpPr>
          <p:cNvPr id="215" name="Google Shape;215;p8"/>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9"/>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A</a:t>
            </a:r>
            <a:r>
              <a:rPr b="1" i="0" lang="en-US" sz="3000" u="none" cap="none" strike="noStrike">
                <a:solidFill>
                  <a:srgbClr val="4A2C1A"/>
                </a:solidFill>
                <a:latin typeface="Calibri"/>
                <a:ea typeface="Calibri"/>
                <a:cs typeface="Calibri"/>
                <a:sym typeface="Calibri"/>
              </a:rPr>
              <a:t>rquitectura</a:t>
            </a:r>
            <a:endParaRPr i="0" sz="3000" u="none" cap="none" strike="noStrike">
              <a:solidFill>
                <a:srgbClr val="4A2C1A"/>
              </a:solidFill>
              <a:latin typeface="Calibri"/>
              <a:ea typeface="Calibri"/>
              <a:cs typeface="Calibri"/>
              <a:sym typeface="Calibri"/>
            </a:endParaRPr>
          </a:p>
        </p:txBody>
      </p:sp>
      <p:sp>
        <p:nvSpPr>
          <p:cNvPr id="222" name="Google Shape;222;p9"/>
          <p:cNvSpPr/>
          <p:nvPr/>
        </p:nvSpPr>
        <p:spPr>
          <a:xfrm>
            <a:off x="640080" y="1371600"/>
            <a:ext cx="3017520" cy="1417320"/>
          </a:xfrm>
          <a:prstGeom prst="roundRect">
            <a:avLst>
              <a:gd fmla="val 645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9"/>
          <p:cNvSpPr/>
          <p:nvPr/>
        </p:nvSpPr>
        <p:spPr>
          <a:xfrm>
            <a:off x="841248" y="1760225"/>
            <a:ext cx="640200" cy="640200"/>
          </a:xfrm>
          <a:prstGeom prst="ellipse">
            <a:avLst/>
          </a:prstGeom>
          <a:solidFill>
            <a:srgbClr val="1C45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9"/>
          <p:cNvPicPr preferRelativeResize="0"/>
          <p:nvPr/>
        </p:nvPicPr>
        <p:blipFill rotWithShape="1">
          <a:blip r:embed="rId3">
            <a:alphaModFix/>
          </a:blip>
          <a:srcRect b="0" l="0" r="0" t="0"/>
          <a:stretch/>
        </p:blipFill>
        <p:spPr>
          <a:xfrm>
            <a:off x="1007669" y="1926646"/>
            <a:ext cx="307238" cy="307238"/>
          </a:xfrm>
          <a:prstGeom prst="rect">
            <a:avLst/>
          </a:prstGeom>
          <a:noFill/>
          <a:ln>
            <a:noFill/>
          </a:ln>
        </p:spPr>
      </p:pic>
      <p:sp>
        <p:nvSpPr>
          <p:cNvPr id="225" name="Google Shape;225;p9"/>
          <p:cNvSpPr/>
          <p:nvPr/>
        </p:nvSpPr>
        <p:spPr>
          <a:xfrm>
            <a:off x="1600075" y="1755689"/>
            <a:ext cx="20118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POS Escritorio</a:t>
            </a:r>
            <a:endParaRPr b="0" i="0" sz="1400" u="none" cap="none" strike="noStrike">
              <a:solidFill>
                <a:schemeClr val="dk1"/>
              </a:solidFill>
              <a:latin typeface="Calibri"/>
              <a:ea typeface="Calibri"/>
              <a:cs typeface="Calibri"/>
              <a:sym typeface="Calibri"/>
            </a:endParaRPr>
          </a:p>
        </p:txBody>
      </p:sp>
      <p:sp>
        <p:nvSpPr>
          <p:cNvPr id="226" name="Google Shape;226;p9"/>
          <p:cNvSpPr/>
          <p:nvPr/>
        </p:nvSpPr>
        <p:spPr>
          <a:xfrm>
            <a:off x="1600075" y="1874458"/>
            <a:ext cx="2011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100"/>
              <a:buFont typeface="Calibri"/>
              <a:buNone/>
            </a:pPr>
            <a:r>
              <a:rPr b="0" i="0" lang="en-US" u="none" cap="none" strike="noStrike">
                <a:solidFill>
                  <a:srgbClr val="D9A441"/>
                </a:solidFill>
                <a:latin typeface="Calibri"/>
                <a:ea typeface="Calibri"/>
                <a:cs typeface="Calibri"/>
                <a:sym typeface="Calibri"/>
              </a:rPr>
              <a:t>BD local</a:t>
            </a:r>
            <a:r>
              <a:rPr lang="en-US">
                <a:solidFill>
                  <a:srgbClr val="D9A441"/>
                </a:solidFill>
                <a:latin typeface="Calibri"/>
                <a:ea typeface="Calibri"/>
                <a:cs typeface="Calibri"/>
                <a:sym typeface="Calibri"/>
              </a:rPr>
              <a:t>,</a:t>
            </a:r>
            <a:r>
              <a:rPr b="0" i="0" lang="en-US" u="none" cap="none" strike="noStrike">
                <a:solidFill>
                  <a:srgbClr val="D9A441"/>
                </a:solidFill>
                <a:latin typeface="Calibri"/>
                <a:ea typeface="Calibri"/>
                <a:cs typeface="Calibri"/>
                <a:sym typeface="Calibri"/>
              </a:rPr>
              <a:t> offline-first</a:t>
            </a:r>
            <a:endParaRPr b="0" i="0" u="none" cap="none" strike="noStrike">
              <a:solidFill>
                <a:schemeClr val="dk1"/>
              </a:solidFill>
              <a:latin typeface="Calibri"/>
              <a:ea typeface="Calibri"/>
              <a:cs typeface="Calibri"/>
              <a:sym typeface="Calibri"/>
            </a:endParaRPr>
          </a:p>
        </p:txBody>
      </p:sp>
      <p:sp>
        <p:nvSpPr>
          <p:cNvPr id="227" name="Google Shape;227;p9"/>
          <p:cNvSpPr/>
          <p:nvPr/>
        </p:nvSpPr>
        <p:spPr>
          <a:xfrm>
            <a:off x="4572000" y="1371600"/>
            <a:ext cx="3017520" cy="1417320"/>
          </a:xfrm>
          <a:prstGeom prst="roundRect">
            <a:avLst>
              <a:gd fmla="val 645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9"/>
          <p:cNvSpPr/>
          <p:nvPr/>
        </p:nvSpPr>
        <p:spPr>
          <a:xfrm>
            <a:off x="4795993" y="1755775"/>
            <a:ext cx="640200" cy="640200"/>
          </a:xfrm>
          <a:prstGeom prst="ellipse">
            <a:avLst/>
          </a:prstGeom>
          <a:solidFill>
            <a:srgbClr val="274E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9" name="Google Shape;229;p9"/>
          <p:cNvPicPr preferRelativeResize="0"/>
          <p:nvPr/>
        </p:nvPicPr>
        <p:blipFill rotWithShape="1">
          <a:blip r:embed="rId4">
            <a:alphaModFix/>
          </a:blip>
          <a:srcRect b="0" l="0" r="0" t="0"/>
          <a:stretch/>
        </p:blipFill>
        <p:spPr>
          <a:xfrm>
            <a:off x="4962414" y="1922196"/>
            <a:ext cx="307238" cy="307238"/>
          </a:xfrm>
          <a:prstGeom prst="rect">
            <a:avLst/>
          </a:prstGeom>
          <a:noFill/>
          <a:ln>
            <a:noFill/>
          </a:ln>
        </p:spPr>
      </p:pic>
      <p:sp>
        <p:nvSpPr>
          <p:cNvPr id="230" name="Google Shape;230;p9"/>
          <p:cNvSpPr/>
          <p:nvPr/>
        </p:nvSpPr>
        <p:spPr>
          <a:xfrm>
            <a:off x="5554925" y="1760288"/>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App Panadero</a:t>
            </a:r>
            <a:endParaRPr b="0" i="0" sz="1400" u="none" cap="none" strike="noStrike">
              <a:solidFill>
                <a:schemeClr val="dk1"/>
              </a:solidFill>
              <a:latin typeface="Calibri"/>
              <a:ea typeface="Calibri"/>
              <a:cs typeface="Calibri"/>
              <a:sym typeface="Calibri"/>
            </a:endParaRPr>
          </a:p>
        </p:txBody>
      </p:sp>
      <p:sp>
        <p:nvSpPr>
          <p:cNvPr id="231" name="Google Shape;231;p9"/>
          <p:cNvSpPr/>
          <p:nvPr/>
        </p:nvSpPr>
        <p:spPr>
          <a:xfrm>
            <a:off x="5554913" y="2057447"/>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100"/>
              <a:buFont typeface="Calibri"/>
              <a:buNone/>
            </a:pPr>
            <a:r>
              <a:rPr b="0" i="0" lang="en-US" u="none" cap="none" strike="noStrike">
                <a:solidFill>
                  <a:srgbClr val="D9A441"/>
                </a:solidFill>
                <a:latin typeface="Calibri"/>
                <a:ea typeface="Calibri"/>
                <a:cs typeface="Calibri"/>
                <a:sym typeface="Calibri"/>
              </a:rPr>
              <a:t>BD local</a:t>
            </a:r>
            <a:r>
              <a:rPr lang="en-US">
                <a:solidFill>
                  <a:srgbClr val="D9A441"/>
                </a:solidFill>
                <a:latin typeface="Calibri"/>
                <a:ea typeface="Calibri"/>
                <a:cs typeface="Calibri"/>
                <a:sym typeface="Calibri"/>
              </a:rPr>
              <a:t>,</a:t>
            </a:r>
            <a:r>
              <a:rPr b="0" i="0" lang="en-US" u="none" cap="none" strike="noStrike">
                <a:solidFill>
                  <a:srgbClr val="D9A441"/>
                </a:solidFill>
                <a:latin typeface="Calibri"/>
                <a:ea typeface="Calibri"/>
                <a:cs typeface="Calibri"/>
                <a:sym typeface="Calibri"/>
              </a:rPr>
              <a:t> offline-first</a:t>
            </a:r>
            <a:endParaRPr b="0" i="0" u="none" cap="none" strike="noStrike">
              <a:solidFill>
                <a:schemeClr val="dk1"/>
              </a:solidFill>
              <a:latin typeface="Calibri"/>
              <a:ea typeface="Calibri"/>
              <a:cs typeface="Calibri"/>
              <a:sym typeface="Calibri"/>
            </a:endParaRPr>
          </a:p>
        </p:txBody>
      </p:sp>
      <p:sp>
        <p:nvSpPr>
          <p:cNvPr id="232" name="Google Shape;232;p9"/>
          <p:cNvSpPr/>
          <p:nvPr/>
        </p:nvSpPr>
        <p:spPr>
          <a:xfrm>
            <a:off x="8503920" y="1371600"/>
            <a:ext cx="3017520" cy="1417320"/>
          </a:xfrm>
          <a:prstGeom prst="roundRect">
            <a:avLst>
              <a:gd fmla="val 645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9"/>
          <p:cNvSpPr/>
          <p:nvPr/>
        </p:nvSpPr>
        <p:spPr>
          <a:xfrm>
            <a:off x="8714013" y="1755775"/>
            <a:ext cx="640200" cy="640200"/>
          </a:xfrm>
          <a:prstGeom prst="ellipse">
            <a:avLst/>
          </a:prstGeom>
          <a:solidFill>
            <a:srgbClr val="6B422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4" name="Google Shape;234;p9"/>
          <p:cNvPicPr preferRelativeResize="0"/>
          <p:nvPr/>
        </p:nvPicPr>
        <p:blipFill rotWithShape="1">
          <a:blip r:embed="rId5">
            <a:alphaModFix/>
          </a:blip>
          <a:srcRect b="0" l="0" r="0" t="0"/>
          <a:stretch/>
        </p:blipFill>
        <p:spPr>
          <a:xfrm>
            <a:off x="8880434" y="1922196"/>
            <a:ext cx="307238" cy="307238"/>
          </a:xfrm>
          <a:prstGeom prst="rect">
            <a:avLst/>
          </a:prstGeom>
          <a:noFill/>
          <a:ln>
            <a:noFill/>
          </a:ln>
        </p:spPr>
      </p:pic>
      <p:sp>
        <p:nvSpPr>
          <p:cNvPr id="235" name="Google Shape;235;p9"/>
          <p:cNvSpPr/>
          <p:nvPr/>
        </p:nvSpPr>
        <p:spPr>
          <a:xfrm>
            <a:off x="9464050" y="1760303"/>
            <a:ext cx="201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Panel Web</a:t>
            </a:r>
            <a:endParaRPr b="0" i="0" sz="1400" u="none" cap="none" strike="noStrike">
              <a:solidFill>
                <a:schemeClr val="dk1"/>
              </a:solidFill>
              <a:latin typeface="Calibri"/>
              <a:ea typeface="Calibri"/>
              <a:cs typeface="Calibri"/>
              <a:sym typeface="Calibri"/>
            </a:endParaRPr>
          </a:p>
        </p:txBody>
      </p:sp>
      <p:sp>
        <p:nvSpPr>
          <p:cNvPr id="236" name="Google Shape;236;p9"/>
          <p:cNvSpPr/>
          <p:nvPr/>
        </p:nvSpPr>
        <p:spPr>
          <a:xfrm>
            <a:off x="9464050" y="2040947"/>
            <a:ext cx="2011800" cy="30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100"/>
              <a:buFont typeface="Calibri"/>
              <a:buNone/>
            </a:pPr>
            <a:r>
              <a:rPr lang="en-US">
                <a:solidFill>
                  <a:srgbClr val="D9A441"/>
                </a:solidFill>
                <a:latin typeface="Calibri"/>
                <a:ea typeface="Calibri"/>
                <a:cs typeface="Calibri"/>
                <a:sym typeface="Calibri"/>
              </a:rPr>
              <a:t>R</a:t>
            </a:r>
            <a:r>
              <a:rPr b="0" i="0" lang="en-US" u="none" cap="none" strike="noStrike">
                <a:solidFill>
                  <a:srgbClr val="D9A441"/>
                </a:solidFill>
                <a:latin typeface="Calibri"/>
                <a:ea typeface="Calibri"/>
                <a:cs typeface="Calibri"/>
                <a:sym typeface="Calibri"/>
              </a:rPr>
              <a:t>equiere conexión</a:t>
            </a:r>
            <a:endParaRPr b="0" i="0" u="none" cap="none" strike="noStrike">
              <a:solidFill>
                <a:schemeClr val="dk1"/>
              </a:solidFill>
              <a:latin typeface="Calibri"/>
              <a:ea typeface="Calibri"/>
              <a:cs typeface="Calibri"/>
              <a:sym typeface="Calibri"/>
            </a:endParaRPr>
          </a:p>
        </p:txBody>
      </p:sp>
      <p:sp>
        <p:nvSpPr>
          <p:cNvPr id="237" name="Google Shape;237;p9"/>
          <p:cNvSpPr/>
          <p:nvPr/>
        </p:nvSpPr>
        <p:spPr>
          <a:xfrm>
            <a:off x="640080" y="3017520"/>
            <a:ext cx="2606040" cy="1188720"/>
          </a:xfrm>
          <a:prstGeom prst="roundRect">
            <a:avLst>
              <a:gd fmla="val 7692" name="adj"/>
            </a:avLst>
          </a:prstGeom>
          <a:solidFill>
            <a:srgbClr val="F6EFE6"/>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9"/>
          <p:cNvSpPr/>
          <p:nvPr/>
        </p:nvSpPr>
        <p:spPr>
          <a:xfrm>
            <a:off x="804672" y="3090672"/>
            <a:ext cx="2331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4A2C1A"/>
              </a:buClr>
              <a:buSzPts val="1150"/>
              <a:buFont typeface="Calibri"/>
              <a:buNone/>
            </a:pPr>
            <a:r>
              <a:rPr b="1" i="0" lang="en-US" sz="1150" u="none" cap="none" strike="noStrike">
                <a:solidFill>
                  <a:srgbClr val="4A2C1A"/>
                </a:solidFill>
                <a:latin typeface="Calibri"/>
                <a:ea typeface="Calibri"/>
                <a:cs typeface="Calibri"/>
                <a:sym typeface="Calibri"/>
              </a:rPr>
              <a:t>Capa de abstracción de dispositivos</a:t>
            </a:r>
            <a:endParaRPr b="0" i="0" sz="1150" u="none" cap="none" strike="noStrike">
              <a:solidFill>
                <a:schemeClr val="dk1"/>
              </a:solidFill>
              <a:latin typeface="Calibri"/>
              <a:ea typeface="Calibri"/>
              <a:cs typeface="Calibri"/>
              <a:sym typeface="Calibri"/>
            </a:endParaRPr>
          </a:p>
        </p:txBody>
      </p:sp>
      <p:sp>
        <p:nvSpPr>
          <p:cNvPr id="239" name="Google Shape;239;p9"/>
          <p:cNvSpPr/>
          <p:nvPr/>
        </p:nvSpPr>
        <p:spPr>
          <a:xfrm>
            <a:off x="804672" y="3451859"/>
            <a:ext cx="2331600" cy="640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E5F50"/>
              </a:buClr>
              <a:buSzPts val="880"/>
              <a:buFont typeface="Calibri"/>
              <a:buNone/>
            </a:pPr>
            <a:r>
              <a:rPr b="0" i="0" lang="en-US" sz="1180" u="none" cap="none" strike="noStrike">
                <a:solidFill>
                  <a:srgbClr val="6E5F50"/>
                </a:solidFill>
                <a:latin typeface="Calibri"/>
                <a:ea typeface="Calibri"/>
                <a:cs typeface="Calibri"/>
                <a:sym typeface="Calibri"/>
              </a:rPr>
              <a:t>Balanza · impresora · cajón · escáner · terminal simulado</a:t>
            </a:r>
            <a:endParaRPr b="0" i="0" sz="1180" u="none" cap="none" strike="noStrike">
              <a:solidFill>
                <a:schemeClr val="dk1"/>
              </a:solidFill>
              <a:latin typeface="Calibri"/>
              <a:ea typeface="Calibri"/>
              <a:cs typeface="Calibri"/>
              <a:sym typeface="Calibri"/>
            </a:endParaRPr>
          </a:p>
        </p:txBody>
      </p:sp>
      <p:cxnSp>
        <p:nvCxnSpPr>
          <p:cNvPr id="240" name="Google Shape;240;p9"/>
          <p:cNvCxnSpPr/>
          <p:nvPr/>
        </p:nvCxnSpPr>
        <p:spPr>
          <a:xfrm>
            <a:off x="1371600" y="2788920"/>
            <a:ext cx="0" cy="228600"/>
          </a:xfrm>
          <a:prstGeom prst="straightConnector1">
            <a:avLst/>
          </a:prstGeom>
          <a:noFill/>
          <a:ln cap="flat" cmpd="sng" w="25400">
            <a:solidFill>
              <a:srgbClr val="B7B7B7"/>
            </a:solidFill>
            <a:prstDash val="solid"/>
            <a:round/>
            <a:headEnd len="sm" w="sm" type="none"/>
            <a:tailEnd len="sm" w="sm" type="none"/>
          </a:ln>
        </p:spPr>
      </p:cxnSp>
      <p:cxnSp>
        <p:nvCxnSpPr>
          <p:cNvPr id="241" name="Google Shape;241;p9"/>
          <p:cNvCxnSpPr/>
          <p:nvPr/>
        </p:nvCxnSpPr>
        <p:spPr>
          <a:xfrm>
            <a:off x="3493008" y="2788920"/>
            <a:ext cx="0" cy="1737360"/>
          </a:xfrm>
          <a:prstGeom prst="straightConnector1">
            <a:avLst/>
          </a:prstGeom>
          <a:noFill/>
          <a:ln cap="flat" cmpd="sng" w="25400">
            <a:solidFill>
              <a:srgbClr val="6B4226"/>
            </a:solidFill>
            <a:prstDash val="solid"/>
            <a:round/>
            <a:headEnd len="med" w="med" type="stealth"/>
            <a:tailEnd len="med" w="med" type="stealth"/>
          </a:ln>
        </p:spPr>
      </p:cxnSp>
      <p:cxnSp>
        <p:nvCxnSpPr>
          <p:cNvPr id="242" name="Google Shape;242;p9"/>
          <p:cNvCxnSpPr/>
          <p:nvPr/>
        </p:nvCxnSpPr>
        <p:spPr>
          <a:xfrm>
            <a:off x="6080760" y="2788920"/>
            <a:ext cx="0" cy="1737360"/>
          </a:xfrm>
          <a:prstGeom prst="straightConnector1">
            <a:avLst/>
          </a:prstGeom>
          <a:noFill/>
          <a:ln cap="flat" cmpd="sng" w="25400">
            <a:solidFill>
              <a:srgbClr val="6B4226"/>
            </a:solidFill>
            <a:prstDash val="solid"/>
            <a:round/>
            <a:headEnd len="med" w="med" type="stealth"/>
            <a:tailEnd len="med" w="med" type="stealth"/>
          </a:ln>
        </p:spPr>
      </p:cxnSp>
      <p:cxnSp>
        <p:nvCxnSpPr>
          <p:cNvPr id="243" name="Google Shape;243;p9"/>
          <p:cNvCxnSpPr/>
          <p:nvPr/>
        </p:nvCxnSpPr>
        <p:spPr>
          <a:xfrm>
            <a:off x="10012680" y="2788920"/>
            <a:ext cx="0" cy="1737360"/>
          </a:xfrm>
          <a:prstGeom prst="straightConnector1">
            <a:avLst/>
          </a:prstGeom>
          <a:noFill/>
          <a:ln cap="flat" cmpd="sng" w="25400">
            <a:solidFill>
              <a:srgbClr val="6B4226"/>
            </a:solidFill>
            <a:prstDash val="solid"/>
            <a:round/>
            <a:headEnd len="sm" w="sm" type="none"/>
            <a:tailEnd len="med" w="med" type="stealth"/>
          </a:ln>
        </p:spPr>
      </p:cxnSp>
      <p:sp>
        <p:nvSpPr>
          <p:cNvPr id="244" name="Google Shape;244;p9"/>
          <p:cNvSpPr/>
          <p:nvPr/>
        </p:nvSpPr>
        <p:spPr>
          <a:xfrm>
            <a:off x="3611868" y="343722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50"/>
              <a:buFont typeface="Calibri"/>
              <a:buNone/>
            </a:pPr>
            <a:r>
              <a:rPr i="1" lang="en-US" sz="1350">
                <a:solidFill>
                  <a:srgbClr val="6E5F50"/>
                </a:solidFill>
                <a:latin typeface="Calibri"/>
                <a:ea typeface="Calibri"/>
                <a:cs typeface="Calibri"/>
                <a:sym typeface="Calibri"/>
              </a:rPr>
              <a:t>Sync</a:t>
            </a:r>
            <a:endParaRPr b="0" i="0" sz="1350" u="none" cap="none" strike="noStrike">
              <a:solidFill>
                <a:schemeClr val="dk1"/>
              </a:solidFill>
              <a:latin typeface="Calibri"/>
              <a:ea typeface="Calibri"/>
              <a:cs typeface="Calibri"/>
              <a:sym typeface="Calibri"/>
            </a:endParaRPr>
          </a:p>
        </p:txBody>
      </p:sp>
      <p:sp>
        <p:nvSpPr>
          <p:cNvPr id="245" name="Google Shape;245;p9"/>
          <p:cNvSpPr/>
          <p:nvPr/>
        </p:nvSpPr>
        <p:spPr>
          <a:xfrm>
            <a:off x="640080" y="4526280"/>
            <a:ext cx="10908792" cy="1783080"/>
          </a:xfrm>
          <a:prstGeom prst="roundRect">
            <a:avLst>
              <a:gd fmla="val 512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9"/>
          <p:cNvSpPr/>
          <p:nvPr/>
        </p:nvSpPr>
        <p:spPr>
          <a:xfrm>
            <a:off x="914400" y="4645152"/>
            <a:ext cx="10332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500"/>
              <a:buFont typeface="Calibri"/>
              <a:buNone/>
            </a:pPr>
            <a:r>
              <a:rPr b="1" i="0" lang="en-US" sz="1500" u="none" cap="none" strike="noStrike">
                <a:solidFill>
                  <a:srgbClr val="4A2C1A"/>
                </a:solidFill>
                <a:latin typeface="Calibri"/>
                <a:ea typeface="Calibri"/>
                <a:cs typeface="Calibri"/>
                <a:sym typeface="Calibri"/>
              </a:rPr>
              <a:t>Backend en la nube (Azure)</a:t>
            </a:r>
            <a:endParaRPr b="0" i="0" sz="1500" u="none" cap="none" strike="noStrike">
              <a:solidFill>
                <a:schemeClr val="dk1"/>
              </a:solidFill>
              <a:latin typeface="Calibri"/>
              <a:ea typeface="Calibri"/>
              <a:cs typeface="Calibri"/>
              <a:sym typeface="Calibri"/>
            </a:endParaRPr>
          </a:p>
        </p:txBody>
      </p:sp>
      <p:sp>
        <p:nvSpPr>
          <p:cNvPr id="247" name="Google Shape;247;p9"/>
          <p:cNvSpPr/>
          <p:nvPr/>
        </p:nvSpPr>
        <p:spPr>
          <a:xfrm>
            <a:off x="914400" y="5230395"/>
            <a:ext cx="640200" cy="6402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8" name="Google Shape;248;p9"/>
          <p:cNvPicPr preferRelativeResize="0"/>
          <p:nvPr/>
        </p:nvPicPr>
        <p:blipFill rotWithShape="1">
          <a:blip r:embed="rId6">
            <a:alphaModFix/>
          </a:blip>
          <a:srcRect b="0" l="0" r="0" t="0"/>
          <a:stretch/>
        </p:blipFill>
        <p:spPr>
          <a:xfrm>
            <a:off x="1080821" y="5396816"/>
            <a:ext cx="307238" cy="307238"/>
          </a:xfrm>
          <a:prstGeom prst="rect">
            <a:avLst/>
          </a:prstGeom>
          <a:noFill/>
          <a:ln>
            <a:noFill/>
          </a:ln>
        </p:spPr>
      </p:pic>
      <p:sp>
        <p:nvSpPr>
          <p:cNvPr id="249" name="Google Shape;249;p9"/>
          <p:cNvSpPr/>
          <p:nvPr/>
        </p:nvSpPr>
        <p:spPr>
          <a:xfrm>
            <a:off x="1664150" y="5326425"/>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150"/>
              <a:buFont typeface="Calibri"/>
              <a:buNone/>
            </a:pPr>
            <a:r>
              <a:rPr b="1" i="0" lang="en-US" sz="1150" u="none" cap="none" strike="noStrike">
                <a:solidFill>
                  <a:srgbClr val="2E2318"/>
                </a:solidFill>
                <a:latin typeface="Calibri"/>
                <a:ea typeface="Calibri"/>
                <a:cs typeface="Calibri"/>
                <a:sym typeface="Calibri"/>
              </a:rPr>
              <a:t>API de servicios</a:t>
            </a:r>
            <a:endParaRPr b="0" i="0" sz="1150" u="none" cap="none" strike="noStrike">
              <a:solidFill>
                <a:schemeClr val="dk1"/>
              </a:solidFill>
              <a:latin typeface="Calibri"/>
              <a:ea typeface="Calibri"/>
              <a:cs typeface="Calibri"/>
              <a:sym typeface="Calibri"/>
            </a:endParaRPr>
          </a:p>
        </p:txBody>
      </p:sp>
      <p:sp>
        <p:nvSpPr>
          <p:cNvPr id="250" name="Google Shape;250;p9"/>
          <p:cNvSpPr/>
          <p:nvPr/>
        </p:nvSpPr>
        <p:spPr>
          <a:xfrm>
            <a:off x="1664150" y="5528013"/>
            <a:ext cx="1920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80"/>
              <a:buFont typeface="Calibri"/>
              <a:buNone/>
            </a:pPr>
            <a:r>
              <a:rPr b="0" i="0" lang="en-US" sz="980" u="none" cap="none" strike="noStrike">
                <a:solidFill>
                  <a:srgbClr val="6E5F50"/>
                </a:solidFill>
                <a:latin typeface="Calibri"/>
                <a:ea typeface="Calibri"/>
                <a:cs typeface="Calibri"/>
                <a:sym typeface="Calibri"/>
              </a:rPr>
              <a:t>autenticación y reglas de negocio</a:t>
            </a:r>
            <a:endParaRPr b="0" i="0" sz="980" u="none" cap="none" strike="noStrike">
              <a:solidFill>
                <a:schemeClr val="dk1"/>
              </a:solidFill>
              <a:latin typeface="Calibri"/>
              <a:ea typeface="Calibri"/>
              <a:cs typeface="Calibri"/>
              <a:sym typeface="Calibri"/>
            </a:endParaRPr>
          </a:p>
        </p:txBody>
      </p:sp>
      <p:sp>
        <p:nvSpPr>
          <p:cNvPr id="251" name="Google Shape;251;p9"/>
          <p:cNvSpPr/>
          <p:nvPr/>
        </p:nvSpPr>
        <p:spPr>
          <a:xfrm>
            <a:off x="3611880" y="5230395"/>
            <a:ext cx="640200" cy="6402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2" name="Google Shape;252;p9"/>
          <p:cNvPicPr preferRelativeResize="0"/>
          <p:nvPr/>
        </p:nvPicPr>
        <p:blipFill rotWithShape="1">
          <a:blip r:embed="rId7">
            <a:alphaModFix/>
          </a:blip>
          <a:srcRect b="0" l="0" r="0" t="0"/>
          <a:stretch/>
        </p:blipFill>
        <p:spPr>
          <a:xfrm>
            <a:off x="3778301" y="5396816"/>
            <a:ext cx="307238" cy="307238"/>
          </a:xfrm>
          <a:prstGeom prst="rect">
            <a:avLst/>
          </a:prstGeom>
          <a:noFill/>
          <a:ln>
            <a:noFill/>
          </a:ln>
        </p:spPr>
      </p:pic>
      <p:sp>
        <p:nvSpPr>
          <p:cNvPr id="253" name="Google Shape;253;p9"/>
          <p:cNvSpPr/>
          <p:nvPr/>
        </p:nvSpPr>
        <p:spPr>
          <a:xfrm>
            <a:off x="4361638" y="5353825"/>
            <a:ext cx="1920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150"/>
              <a:buFont typeface="Calibri"/>
              <a:buNone/>
            </a:pPr>
            <a:r>
              <a:rPr b="1" i="0" lang="en-US" sz="1150" u="none" cap="none" strike="noStrike">
                <a:solidFill>
                  <a:srgbClr val="2E2318"/>
                </a:solidFill>
                <a:latin typeface="Calibri"/>
                <a:ea typeface="Calibri"/>
                <a:cs typeface="Calibri"/>
                <a:sym typeface="Calibri"/>
              </a:rPr>
              <a:t>BD multi-tenant</a:t>
            </a:r>
            <a:endParaRPr b="0" i="0" sz="1150" u="none" cap="none" strike="noStrike">
              <a:solidFill>
                <a:schemeClr val="dk1"/>
              </a:solidFill>
              <a:latin typeface="Calibri"/>
              <a:ea typeface="Calibri"/>
              <a:cs typeface="Calibri"/>
              <a:sym typeface="Calibri"/>
            </a:endParaRPr>
          </a:p>
        </p:txBody>
      </p:sp>
      <p:sp>
        <p:nvSpPr>
          <p:cNvPr id="254" name="Google Shape;254;p9"/>
          <p:cNvSpPr/>
          <p:nvPr/>
        </p:nvSpPr>
        <p:spPr>
          <a:xfrm>
            <a:off x="4361650" y="5504493"/>
            <a:ext cx="19203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80"/>
              <a:buFont typeface="Calibri"/>
              <a:buNone/>
            </a:pPr>
            <a:r>
              <a:rPr b="0" i="0" lang="en-US" sz="980" u="none" cap="none" strike="noStrike">
                <a:solidFill>
                  <a:srgbClr val="6E5F50"/>
                </a:solidFill>
                <a:latin typeface="Calibri"/>
                <a:ea typeface="Calibri"/>
                <a:cs typeface="Calibri"/>
                <a:sym typeface="Calibri"/>
              </a:rPr>
              <a:t>aislamiento por panadería</a:t>
            </a:r>
            <a:endParaRPr b="0" i="0" sz="980" u="none" cap="none" strike="noStrike">
              <a:solidFill>
                <a:schemeClr val="dk1"/>
              </a:solidFill>
              <a:latin typeface="Calibri"/>
              <a:ea typeface="Calibri"/>
              <a:cs typeface="Calibri"/>
              <a:sym typeface="Calibri"/>
            </a:endParaRPr>
          </a:p>
        </p:txBody>
      </p:sp>
      <p:sp>
        <p:nvSpPr>
          <p:cNvPr id="255" name="Google Shape;255;p9"/>
          <p:cNvSpPr/>
          <p:nvPr/>
        </p:nvSpPr>
        <p:spPr>
          <a:xfrm>
            <a:off x="6309360" y="5230395"/>
            <a:ext cx="640200" cy="6402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6" name="Google Shape;256;p9"/>
          <p:cNvPicPr preferRelativeResize="0"/>
          <p:nvPr/>
        </p:nvPicPr>
        <p:blipFill rotWithShape="1">
          <a:blip r:embed="rId8">
            <a:alphaModFix/>
          </a:blip>
          <a:srcRect b="0" l="0" r="0" t="0"/>
          <a:stretch/>
        </p:blipFill>
        <p:spPr>
          <a:xfrm>
            <a:off x="6475781" y="5396816"/>
            <a:ext cx="307238" cy="307238"/>
          </a:xfrm>
          <a:prstGeom prst="rect">
            <a:avLst/>
          </a:prstGeom>
          <a:noFill/>
          <a:ln>
            <a:noFill/>
          </a:ln>
        </p:spPr>
      </p:pic>
      <p:sp>
        <p:nvSpPr>
          <p:cNvPr id="257" name="Google Shape;257;p9"/>
          <p:cNvSpPr/>
          <p:nvPr/>
        </p:nvSpPr>
        <p:spPr>
          <a:xfrm>
            <a:off x="7050207" y="5344413"/>
            <a:ext cx="1920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150"/>
              <a:buFont typeface="Calibri"/>
              <a:buNone/>
            </a:pPr>
            <a:r>
              <a:rPr b="1" i="0" lang="en-US" sz="1150" u="none" cap="none" strike="noStrike">
                <a:solidFill>
                  <a:srgbClr val="2E2318"/>
                </a:solidFill>
                <a:latin typeface="Calibri"/>
                <a:ea typeface="Calibri"/>
                <a:cs typeface="Calibri"/>
                <a:sym typeface="Calibri"/>
              </a:rPr>
              <a:t>Servicio de predicción</a:t>
            </a:r>
            <a:endParaRPr b="0" i="0" sz="1150" u="none" cap="none" strike="noStrike">
              <a:solidFill>
                <a:schemeClr val="dk1"/>
              </a:solidFill>
              <a:latin typeface="Calibri"/>
              <a:ea typeface="Calibri"/>
              <a:cs typeface="Calibri"/>
              <a:sym typeface="Calibri"/>
            </a:endParaRPr>
          </a:p>
        </p:txBody>
      </p:sp>
      <p:sp>
        <p:nvSpPr>
          <p:cNvPr id="258" name="Google Shape;258;p9"/>
          <p:cNvSpPr/>
          <p:nvPr/>
        </p:nvSpPr>
        <p:spPr>
          <a:xfrm>
            <a:off x="7050232" y="5527983"/>
            <a:ext cx="19203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80"/>
              <a:buFont typeface="Calibri"/>
              <a:buNone/>
            </a:pPr>
            <a:r>
              <a:rPr b="0" i="0" lang="en-US" sz="980" u="none" cap="none" strike="noStrike">
                <a:solidFill>
                  <a:srgbClr val="6E5F50"/>
                </a:solidFill>
                <a:latin typeface="Calibri"/>
                <a:ea typeface="Calibri"/>
                <a:cs typeface="Calibri"/>
                <a:sym typeface="Calibri"/>
              </a:rPr>
              <a:t>demanda diaria por producto</a:t>
            </a:r>
            <a:endParaRPr b="0" i="0" sz="980" u="none" cap="none" strike="noStrike">
              <a:solidFill>
                <a:schemeClr val="dk1"/>
              </a:solidFill>
              <a:latin typeface="Calibri"/>
              <a:ea typeface="Calibri"/>
              <a:cs typeface="Calibri"/>
              <a:sym typeface="Calibri"/>
            </a:endParaRPr>
          </a:p>
        </p:txBody>
      </p:sp>
      <p:sp>
        <p:nvSpPr>
          <p:cNvPr id="259" name="Google Shape;259;p9"/>
          <p:cNvSpPr/>
          <p:nvPr/>
        </p:nvSpPr>
        <p:spPr>
          <a:xfrm>
            <a:off x="9006840" y="5230395"/>
            <a:ext cx="640200" cy="6402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0" name="Google Shape;260;p9"/>
          <p:cNvPicPr preferRelativeResize="0"/>
          <p:nvPr/>
        </p:nvPicPr>
        <p:blipFill rotWithShape="1">
          <a:blip r:embed="rId9">
            <a:alphaModFix/>
          </a:blip>
          <a:srcRect b="0" l="0" r="0" t="0"/>
          <a:stretch/>
        </p:blipFill>
        <p:spPr>
          <a:xfrm>
            <a:off x="9173261" y="5396816"/>
            <a:ext cx="307238" cy="307238"/>
          </a:xfrm>
          <a:prstGeom prst="rect">
            <a:avLst/>
          </a:prstGeom>
          <a:noFill/>
          <a:ln>
            <a:noFill/>
          </a:ln>
        </p:spPr>
      </p:pic>
      <p:sp>
        <p:nvSpPr>
          <p:cNvPr id="261" name="Google Shape;261;p9"/>
          <p:cNvSpPr/>
          <p:nvPr/>
        </p:nvSpPr>
        <p:spPr>
          <a:xfrm>
            <a:off x="9756648" y="5234963"/>
            <a:ext cx="1920300" cy="329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150"/>
              <a:buFont typeface="Calibri"/>
              <a:buNone/>
            </a:pPr>
            <a:r>
              <a:rPr b="1" i="0" lang="en-US" sz="1150" u="none" cap="none" strike="noStrike">
                <a:solidFill>
                  <a:srgbClr val="2E2318"/>
                </a:solidFill>
                <a:latin typeface="Calibri"/>
                <a:ea typeface="Calibri"/>
                <a:cs typeface="Calibri"/>
                <a:sym typeface="Calibri"/>
              </a:rPr>
              <a:t>Configuración</a:t>
            </a:r>
            <a:endParaRPr b="0" i="0" sz="1150" u="none" cap="none" strike="noStrike">
              <a:solidFill>
                <a:schemeClr val="dk1"/>
              </a:solidFill>
              <a:latin typeface="Calibri"/>
              <a:ea typeface="Calibri"/>
              <a:cs typeface="Calibri"/>
              <a:sym typeface="Calibri"/>
            </a:endParaRPr>
          </a:p>
        </p:txBody>
      </p:sp>
      <p:sp>
        <p:nvSpPr>
          <p:cNvPr id="262" name="Google Shape;262;p9"/>
          <p:cNvSpPr/>
          <p:nvPr/>
        </p:nvSpPr>
        <p:spPr>
          <a:xfrm>
            <a:off x="9756650" y="5477739"/>
            <a:ext cx="1490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80"/>
              <a:buFont typeface="Calibri"/>
              <a:buNone/>
            </a:pPr>
            <a:r>
              <a:rPr b="0" i="0" lang="en-US" sz="980" u="none" cap="none" strike="noStrike">
                <a:solidFill>
                  <a:srgbClr val="6E5F50"/>
                </a:solidFill>
                <a:latin typeface="Calibri"/>
                <a:ea typeface="Calibri"/>
                <a:cs typeface="Calibri"/>
                <a:sym typeface="Calibri"/>
              </a:rPr>
              <a:t>módulos, fórmulas y políticas por perfil</a:t>
            </a:r>
            <a:endParaRPr b="0" i="0" sz="980" u="none" cap="none" strike="noStrike">
              <a:solidFill>
                <a:schemeClr val="dk1"/>
              </a:solidFill>
              <a:latin typeface="Calibri"/>
              <a:ea typeface="Calibri"/>
              <a:cs typeface="Calibri"/>
              <a:sym typeface="Calibri"/>
            </a:endParaRPr>
          </a:p>
        </p:txBody>
      </p:sp>
      <p:sp>
        <p:nvSpPr>
          <p:cNvPr id="263" name="Google Shape;263;p9"/>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264" name="Google Shape;264;p9"/>
          <p:cNvSpPr/>
          <p:nvPr/>
        </p:nvSpPr>
        <p:spPr>
          <a:xfrm>
            <a:off x="6172193" y="344277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50"/>
              <a:buFont typeface="Calibri"/>
              <a:buNone/>
            </a:pPr>
            <a:r>
              <a:rPr i="1" lang="en-US" sz="1350">
                <a:solidFill>
                  <a:srgbClr val="6E5F50"/>
                </a:solidFill>
                <a:latin typeface="Calibri"/>
                <a:ea typeface="Calibri"/>
                <a:cs typeface="Calibri"/>
                <a:sym typeface="Calibri"/>
              </a:rPr>
              <a:t>Sync</a:t>
            </a:r>
            <a:endParaRPr b="0" i="0" sz="1350" u="none" cap="none" strike="noStrike">
              <a:solidFill>
                <a:schemeClr val="dk1"/>
              </a:solidFill>
              <a:latin typeface="Calibri"/>
              <a:ea typeface="Calibri"/>
              <a:cs typeface="Calibri"/>
              <a:sym typeface="Calibri"/>
            </a:endParaRPr>
          </a:p>
        </p:txBody>
      </p:sp>
      <p:sp>
        <p:nvSpPr>
          <p:cNvPr id="265" name="Google Shape;265;p9"/>
          <p:cNvSpPr/>
          <p:nvPr/>
        </p:nvSpPr>
        <p:spPr>
          <a:xfrm>
            <a:off x="10104118" y="3442770"/>
            <a:ext cx="1371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50"/>
              <a:buFont typeface="Calibri"/>
              <a:buNone/>
            </a:pPr>
            <a:r>
              <a:rPr i="1" lang="en-US" sz="1350">
                <a:solidFill>
                  <a:srgbClr val="6E5F50"/>
                </a:solidFill>
                <a:latin typeface="Calibri"/>
                <a:ea typeface="Calibri"/>
                <a:cs typeface="Calibri"/>
                <a:sym typeface="Calibri"/>
              </a:rPr>
              <a:t>Query</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0" name="Shape 270"/>
        <p:cNvGrpSpPr/>
        <p:nvPr/>
      </p:nvGrpSpPr>
      <p:grpSpPr>
        <a:xfrm>
          <a:off x="0" y="0"/>
          <a:ext cx="0" cy="0"/>
          <a:chOff x="0" y="0"/>
          <a:chExt cx="0" cy="0"/>
        </a:xfrm>
      </p:grpSpPr>
      <p:sp>
        <p:nvSpPr>
          <p:cNvPr id="271" name="Google Shape;271;p10"/>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M</a:t>
            </a:r>
            <a:r>
              <a:rPr b="1" i="0" lang="en-US" sz="3000" u="none" cap="none" strike="noStrike">
                <a:solidFill>
                  <a:srgbClr val="4A2C1A"/>
                </a:solidFill>
                <a:latin typeface="Calibri"/>
                <a:ea typeface="Calibri"/>
                <a:cs typeface="Calibri"/>
                <a:sym typeface="Calibri"/>
              </a:rPr>
              <a:t>etodología</a:t>
            </a:r>
            <a:endParaRPr i="0" sz="3000" u="none" cap="none" strike="noStrike">
              <a:solidFill>
                <a:srgbClr val="D9A441"/>
              </a:solidFill>
              <a:latin typeface="Calibri"/>
              <a:ea typeface="Calibri"/>
              <a:cs typeface="Calibri"/>
              <a:sym typeface="Calibri"/>
            </a:endParaRPr>
          </a:p>
        </p:txBody>
      </p:sp>
      <p:sp>
        <p:nvSpPr>
          <p:cNvPr id="272" name="Google Shape;272;p10"/>
          <p:cNvSpPr/>
          <p:nvPr/>
        </p:nvSpPr>
        <p:spPr>
          <a:xfrm>
            <a:off x="548640" y="1371600"/>
            <a:ext cx="5486400" cy="4937760"/>
          </a:xfrm>
          <a:prstGeom prst="roundRect">
            <a:avLst>
              <a:gd fmla="val 2222"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p:nvPr/>
        </p:nvSpPr>
        <p:spPr>
          <a:xfrm>
            <a:off x="868680" y="164592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4" name="Google Shape;274;p10"/>
          <p:cNvPicPr preferRelativeResize="0"/>
          <p:nvPr/>
        </p:nvPicPr>
        <p:blipFill rotWithShape="1">
          <a:blip r:embed="rId3">
            <a:alphaModFix/>
          </a:blip>
          <a:srcRect b="0" l="0" r="0" t="0"/>
          <a:stretch/>
        </p:blipFill>
        <p:spPr>
          <a:xfrm>
            <a:off x="1058875" y="1836115"/>
            <a:ext cx="351130" cy="351130"/>
          </a:xfrm>
          <a:prstGeom prst="rect">
            <a:avLst/>
          </a:prstGeom>
          <a:noFill/>
          <a:ln>
            <a:noFill/>
          </a:ln>
        </p:spPr>
      </p:pic>
      <p:sp>
        <p:nvSpPr>
          <p:cNvPr id="275" name="Google Shape;275;p10"/>
          <p:cNvSpPr/>
          <p:nvPr/>
        </p:nvSpPr>
        <p:spPr>
          <a:xfrm>
            <a:off x="1783080" y="1691640"/>
            <a:ext cx="40233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700"/>
              <a:buFont typeface="Cambria"/>
              <a:buNone/>
            </a:pPr>
            <a:r>
              <a:rPr b="1" i="0" lang="en-US" sz="2400" u="none" cap="none" strike="noStrike">
                <a:solidFill>
                  <a:srgbClr val="4A2C1A"/>
                </a:solidFill>
                <a:latin typeface="Calibri"/>
                <a:ea typeface="Calibri"/>
                <a:cs typeface="Calibri"/>
                <a:sym typeface="Calibri"/>
              </a:rPr>
              <a:t>Scrum para el sistema</a:t>
            </a:r>
            <a:endParaRPr i="0" sz="2400" u="none" cap="none" strike="noStrike">
              <a:solidFill>
                <a:schemeClr val="dk1"/>
              </a:solidFill>
              <a:latin typeface="Calibri"/>
              <a:ea typeface="Calibri"/>
              <a:cs typeface="Calibri"/>
              <a:sym typeface="Calibri"/>
            </a:endParaRPr>
          </a:p>
        </p:txBody>
      </p:sp>
      <p:sp>
        <p:nvSpPr>
          <p:cNvPr id="276" name="Google Shape;276;p10"/>
          <p:cNvSpPr/>
          <p:nvPr/>
        </p:nvSpPr>
        <p:spPr>
          <a:xfrm>
            <a:off x="868680" y="2606040"/>
            <a:ext cx="4892040" cy="3566160"/>
          </a:xfrm>
          <a:prstGeom prst="rect">
            <a:avLst/>
          </a:prstGeom>
          <a:noFill/>
          <a:ln>
            <a:noFill/>
          </a:ln>
        </p:spPr>
        <p:txBody>
          <a:bodyPr anchorCtr="0" anchor="ctr" bIns="0" lIns="0" spcFirstLastPara="1" rIns="0" wrap="square" tIns="0">
            <a:noAutofit/>
          </a:bodyPr>
          <a:lstStyle/>
          <a:p>
            <a:pPr indent="-368300" lvl="0" marL="342900" marR="0" rtl="0" algn="l">
              <a:spcBef>
                <a:spcPts val="0"/>
              </a:spcBef>
              <a:spcAft>
                <a:spcPts val="0"/>
              </a:spcAft>
              <a:buClr>
                <a:srgbClr val="2E2318"/>
              </a:buClr>
              <a:buSzPts val="1700"/>
              <a:buFont typeface="Calibri"/>
              <a:buChar char="•"/>
            </a:pPr>
            <a:r>
              <a:rPr b="0" i="0" lang="en-US" sz="1700" u="none" cap="none" strike="noStrike">
                <a:solidFill>
                  <a:srgbClr val="2E2318"/>
                </a:solidFill>
                <a:latin typeface="Calibri"/>
                <a:ea typeface="Calibri"/>
                <a:cs typeface="Calibri"/>
                <a:sym typeface="Calibri"/>
              </a:rPr>
              <a:t>Iteraciones de dos semanas, cada una con un incremento ejecutable, revisión y retrospectiva.</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2E2318"/>
              </a:buClr>
              <a:buSzPts val="1700"/>
              <a:buFont typeface="Calibri"/>
              <a:buChar char="•"/>
            </a:pPr>
            <a:r>
              <a:rPr b="0" i="0" lang="en-US" sz="1700" u="none" cap="none" strike="noStrike">
                <a:solidFill>
                  <a:srgbClr val="2E2318"/>
                </a:solidFill>
                <a:latin typeface="Calibri"/>
                <a:ea typeface="Calibri"/>
                <a:cs typeface="Calibri"/>
                <a:sym typeface="Calibri"/>
              </a:rPr>
              <a:t>Iteración inicial de reducción de riesgo: la balanza se integra en aislamiento la primera semana, antes de cualquier pantalla.</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2E2318"/>
              </a:buClr>
              <a:buSzPts val="1700"/>
              <a:buFont typeface="Calibri"/>
              <a:buChar char="•"/>
            </a:pPr>
            <a:r>
              <a:rPr b="0" i="0" lang="en-US" sz="1700" u="none" cap="none" strike="noStrike">
                <a:solidFill>
                  <a:srgbClr val="2E2318"/>
                </a:solidFill>
                <a:latin typeface="Calibri"/>
                <a:ea typeface="Calibri"/>
                <a:cs typeface="Calibri"/>
                <a:sym typeface="Calibri"/>
              </a:rPr>
              <a:t>Si la balanza no es controlable, se degrada a peso manual: una modalidad soportada, no un parche.</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2E2318"/>
              </a:buClr>
              <a:buSzPts val="1700"/>
              <a:buFont typeface="Calibri"/>
              <a:buChar char="•"/>
            </a:pPr>
            <a:r>
              <a:rPr b="0" i="0" lang="en-US" sz="1700" u="none" cap="none" strike="noStrike">
                <a:solidFill>
                  <a:srgbClr val="2E2318"/>
                </a:solidFill>
                <a:latin typeface="Calibri"/>
                <a:ea typeface="Calibri"/>
                <a:cs typeface="Calibri"/>
                <a:sym typeface="Calibri"/>
              </a:rPr>
              <a:t>Control de versiones con revisión de pares, integración continua y pruebas automatizadas en cada cambio.</a:t>
            </a:r>
            <a:endParaRPr b="0" i="0" sz="1700" u="none" cap="none" strike="noStrike">
              <a:solidFill>
                <a:schemeClr val="dk1"/>
              </a:solidFill>
              <a:latin typeface="Calibri"/>
              <a:ea typeface="Calibri"/>
              <a:cs typeface="Calibri"/>
              <a:sym typeface="Calibri"/>
            </a:endParaRPr>
          </a:p>
        </p:txBody>
      </p:sp>
      <p:sp>
        <p:nvSpPr>
          <p:cNvPr id="277" name="Google Shape;277;p10"/>
          <p:cNvSpPr/>
          <p:nvPr/>
        </p:nvSpPr>
        <p:spPr>
          <a:xfrm>
            <a:off x="6309360" y="1371600"/>
            <a:ext cx="5349240" cy="4937760"/>
          </a:xfrm>
          <a:prstGeom prst="roundRect">
            <a:avLst>
              <a:gd fmla="val 222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0"/>
          <p:cNvSpPr/>
          <p:nvPr/>
        </p:nvSpPr>
        <p:spPr>
          <a:xfrm>
            <a:off x="6629400" y="164592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9" name="Google Shape;279;p10"/>
          <p:cNvPicPr preferRelativeResize="0"/>
          <p:nvPr/>
        </p:nvPicPr>
        <p:blipFill rotWithShape="1">
          <a:blip r:embed="rId4">
            <a:alphaModFix/>
          </a:blip>
          <a:srcRect b="0" l="0" r="0" t="0"/>
          <a:stretch/>
        </p:blipFill>
        <p:spPr>
          <a:xfrm>
            <a:off x="6819595" y="1836115"/>
            <a:ext cx="351130" cy="351130"/>
          </a:xfrm>
          <a:prstGeom prst="rect">
            <a:avLst/>
          </a:prstGeom>
          <a:noFill/>
          <a:ln>
            <a:noFill/>
          </a:ln>
        </p:spPr>
      </p:pic>
      <p:sp>
        <p:nvSpPr>
          <p:cNvPr id="280" name="Google Shape;280;p10"/>
          <p:cNvSpPr/>
          <p:nvPr/>
        </p:nvSpPr>
        <p:spPr>
          <a:xfrm>
            <a:off x="7543800" y="1691640"/>
            <a:ext cx="3931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700"/>
              <a:buFont typeface="Cambria"/>
              <a:buNone/>
            </a:pPr>
            <a:r>
              <a:rPr b="1" i="0" lang="en-US" sz="2400" u="none" cap="none" strike="noStrike">
                <a:solidFill>
                  <a:srgbClr val="D9A441"/>
                </a:solidFill>
                <a:latin typeface="Calibri"/>
                <a:ea typeface="Calibri"/>
                <a:cs typeface="Calibri"/>
                <a:sym typeface="Calibri"/>
              </a:rPr>
              <a:t>CRISP-DM para el modelo</a:t>
            </a:r>
            <a:endParaRPr i="0" sz="2400" u="none" cap="none" strike="noStrike">
              <a:solidFill>
                <a:schemeClr val="dk1"/>
              </a:solidFill>
              <a:latin typeface="Calibri"/>
              <a:ea typeface="Calibri"/>
              <a:cs typeface="Calibri"/>
              <a:sym typeface="Calibri"/>
            </a:endParaRPr>
          </a:p>
        </p:txBody>
      </p:sp>
      <p:sp>
        <p:nvSpPr>
          <p:cNvPr id="281" name="Google Shape;281;p10"/>
          <p:cNvSpPr/>
          <p:nvPr/>
        </p:nvSpPr>
        <p:spPr>
          <a:xfrm>
            <a:off x="6629400" y="2606040"/>
            <a:ext cx="4754880" cy="3566160"/>
          </a:xfrm>
          <a:prstGeom prst="rect">
            <a:avLst/>
          </a:prstGeom>
          <a:noFill/>
          <a:ln>
            <a:noFill/>
          </a:ln>
        </p:spPr>
        <p:txBody>
          <a:bodyPr anchorCtr="0" anchor="ctr" bIns="0" lIns="0" spcFirstLastPara="1" rIns="0" wrap="square" tIns="0">
            <a:noAutofit/>
          </a:bodyPr>
          <a:lstStyle/>
          <a:p>
            <a:pPr indent="-368300" lvl="0" marL="342900" marR="0" rtl="0" algn="l">
              <a:spcBef>
                <a:spcPts val="0"/>
              </a:spcBef>
              <a:spcAft>
                <a:spcPts val="0"/>
              </a:spcAft>
              <a:buClr>
                <a:srgbClr val="F3EADC"/>
              </a:buClr>
              <a:buSzPts val="1700"/>
              <a:buFont typeface="Calibri"/>
              <a:buChar char="•"/>
            </a:pPr>
            <a:r>
              <a:rPr b="0" i="0" lang="en-US" sz="1700" u="none" cap="none" strike="noStrike">
                <a:solidFill>
                  <a:srgbClr val="F3EADC"/>
                </a:solidFill>
                <a:latin typeface="Calibri"/>
                <a:ea typeface="Calibri"/>
                <a:cs typeface="Calibri"/>
                <a:sym typeface="Calibri"/>
              </a:rPr>
              <a:t>Entrenamiento y evaluación sobre datos públicos reales de venta minorista: la panadería no tiene historial.</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F3EADC"/>
              </a:buClr>
              <a:buSzPts val="1700"/>
              <a:buFont typeface="Calibri"/>
              <a:buChar char="•"/>
            </a:pPr>
            <a:r>
              <a:rPr b="0" i="0" lang="en-US" sz="1700" u="none" cap="none" strike="noStrike">
                <a:solidFill>
                  <a:srgbClr val="F3EADC"/>
                </a:solidFill>
                <a:latin typeface="Calibri"/>
                <a:ea typeface="Calibri"/>
                <a:cs typeface="Calibri"/>
                <a:sym typeface="Calibri"/>
              </a:rPr>
              <a:t>Protocolo definido de antemano: conjunto de prueba independiente y métricas MAE y RMSE.</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F3EADC"/>
              </a:buClr>
              <a:buSzPts val="1700"/>
              <a:buFont typeface="Calibri"/>
              <a:buChar char="•"/>
            </a:pPr>
            <a:r>
              <a:rPr b="0" i="0" lang="en-US" sz="1700" u="none" cap="none" strike="noStrike">
                <a:solidFill>
                  <a:srgbClr val="F3EADC"/>
                </a:solidFill>
                <a:latin typeface="Calibri"/>
                <a:ea typeface="Calibri"/>
                <a:cs typeface="Calibri"/>
                <a:sym typeface="Calibri"/>
              </a:rPr>
              <a:t>Criterio de éxito: superar una línea base (promedio móvil y mismo día de la semana anterior).</a:t>
            </a:r>
            <a:endParaRPr b="0" i="0" sz="1700" u="none" cap="none" strike="noStrike">
              <a:solidFill>
                <a:schemeClr val="dk1"/>
              </a:solidFill>
              <a:latin typeface="Calibri"/>
              <a:ea typeface="Calibri"/>
              <a:cs typeface="Calibri"/>
              <a:sym typeface="Calibri"/>
            </a:endParaRPr>
          </a:p>
          <a:p>
            <a:pPr indent="-368300" lvl="0" marL="342900" marR="0" rtl="0" algn="l">
              <a:spcBef>
                <a:spcPts val="1100"/>
              </a:spcBef>
              <a:spcAft>
                <a:spcPts val="0"/>
              </a:spcAft>
              <a:buClr>
                <a:srgbClr val="F3EADC"/>
              </a:buClr>
              <a:buSzPts val="1700"/>
              <a:buFont typeface="Calibri"/>
              <a:buChar char="•"/>
            </a:pPr>
            <a:r>
              <a:rPr b="0" i="0" lang="en-US" sz="1700" u="none" cap="none" strike="noStrike">
                <a:solidFill>
                  <a:srgbClr val="F3EADC"/>
                </a:solidFill>
                <a:latin typeface="Calibri"/>
                <a:ea typeface="Calibri"/>
                <a:cs typeface="Calibri"/>
                <a:sym typeface="Calibri"/>
              </a:rPr>
              <a:t>Los datos sintéticos se usan solo para la demo integrada, nunca como evidencia de desempeño.</a:t>
            </a:r>
            <a:endParaRPr b="0" i="0" sz="1700" u="none" cap="none" strike="noStrike">
              <a:solidFill>
                <a:schemeClr val="dk1"/>
              </a:solidFill>
              <a:latin typeface="Calibri"/>
              <a:ea typeface="Calibri"/>
              <a:cs typeface="Calibri"/>
              <a:sym typeface="Calibri"/>
            </a:endParaRPr>
          </a:p>
        </p:txBody>
      </p:sp>
      <p:sp>
        <p:nvSpPr>
          <p:cNvPr id="282" name="Google Shape;282;p10"/>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11"/>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E</a:t>
            </a:r>
            <a:r>
              <a:rPr b="1" i="0" lang="en-US" sz="3000" u="none" cap="none" strike="noStrike">
                <a:solidFill>
                  <a:srgbClr val="4A2C1A"/>
                </a:solidFill>
                <a:latin typeface="Calibri"/>
                <a:ea typeface="Calibri"/>
                <a:cs typeface="Calibri"/>
                <a:sym typeface="Calibri"/>
              </a:rPr>
              <a:t>videncias</a:t>
            </a:r>
            <a:endParaRPr i="0" sz="3000" u="none" cap="none" strike="noStrike">
              <a:solidFill>
                <a:srgbClr val="4A2C1A"/>
              </a:solidFill>
              <a:latin typeface="Calibri"/>
              <a:ea typeface="Calibri"/>
              <a:cs typeface="Calibri"/>
              <a:sym typeface="Calibri"/>
            </a:endParaRPr>
          </a:p>
        </p:txBody>
      </p:sp>
      <p:sp>
        <p:nvSpPr>
          <p:cNvPr id="289" name="Google Shape;289;p11"/>
          <p:cNvSpPr/>
          <p:nvPr/>
        </p:nvSpPr>
        <p:spPr>
          <a:xfrm>
            <a:off x="548640" y="137160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777240" y="160020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1"/>
          <p:cNvPicPr preferRelativeResize="0"/>
          <p:nvPr/>
        </p:nvPicPr>
        <p:blipFill rotWithShape="1">
          <a:blip r:embed="rId3">
            <a:alphaModFix/>
          </a:blip>
          <a:srcRect b="0" l="0" r="0" t="0"/>
          <a:stretch/>
        </p:blipFill>
        <p:spPr>
          <a:xfrm>
            <a:off x="967435" y="1790395"/>
            <a:ext cx="351130" cy="351130"/>
          </a:xfrm>
          <a:prstGeom prst="rect">
            <a:avLst/>
          </a:prstGeom>
          <a:noFill/>
          <a:ln>
            <a:noFill/>
          </a:ln>
        </p:spPr>
      </p:pic>
      <p:sp>
        <p:nvSpPr>
          <p:cNvPr id="292" name="Google Shape;292;p11"/>
          <p:cNvSpPr/>
          <p:nvPr/>
        </p:nvSpPr>
        <p:spPr>
          <a:xfrm>
            <a:off x="1645920" y="162763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i="0" lang="en-US" sz="2050" u="none" cap="none" strike="noStrike">
                <a:solidFill>
                  <a:srgbClr val="2E2318"/>
                </a:solidFill>
                <a:latin typeface="Calibri"/>
                <a:ea typeface="Calibri"/>
                <a:cs typeface="Calibri"/>
                <a:sym typeface="Calibri"/>
              </a:rPr>
              <a:t>Repositorio </a:t>
            </a:r>
            <a:r>
              <a:rPr b="1" lang="en-US" sz="2050">
                <a:solidFill>
                  <a:srgbClr val="2E2318"/>
                </a:solidFill>
                <a:latin typeface="Calibri"/>
                <a:ea typeface="Calibri"/>
                <a:cs typeface="Calibri"/>
                <a:sym typeface="Calibri"/>
              </a:rPr>
              <a:t>y</a:t>
            </a:r>
            <a:r>
              <a:rPr b="1" i="0" lang="en-US" sz="2050" u="none" cap="none" strike="noStrike">
                <a:solidFill>
                  <a:srgbClr val="2E2318"/>
                </a:solidFill>
                <a:latin typeface="Calibri"/>
                <a:ea typeface="Calibri"/>
                <a:cs typeface="Calibri"/>
                <a:sym typeface="Calibri"/>
              </a:rPr>
              <a:t> CI</a:t>
            </a:r>
            <a:endParaRPr b="0" i="0" sz="2050" u="none" cap="none" strike="noStrike">
              <a:solidFill>
                <a:schemeClr val="dk1"/>
              </a:solidFill>
              <a:latin typeface="Calibri"/>
              <a:ea typeface="Calibri"/>
              <a:cs typeface="Calibri"/>
              <a:sym typeface="Calibri"/>
            </a:endParaRPr>
          </a:p>
        </p:txBody>
      </p:sp>
      <p:sp>
        <p:nvSpPr>
          <p:cNvPr id="293" name="Google Shape;293;p11"/>
          <p:cNvSpPr/>
          <p:nvPr/>
        </p:nvSpPr>
        <p:spPr>
          <a:xfrm>
            <a:off x="804672" y="245059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Historial de ramas, revisiones y pruebas ejecutadas en cada cambio: el proceso, no solo el resultado.</a:t>
            </a:r>
            <a:endParaRPr b="0" i="0" sz="1430" u="none" cap="none" strike="noStrike">
              <a:solidFill>
                <a:schemeClr val="dk1"/>
              </a:solidFill>
              <a:latin typeface="Calibri"/>
              <a:ea typeface="Calibri"/>
              <a:cs typeface="Calibri"/>
              <a:sym typeface="Calibri"/>
            </a:endParaRPr>
          </a:p>
        </p:txBody>
      </p:sp>
      <p:sp>
        <p:nvSpPr>
          <p:cNvPr id="294" name="Google Shape;294;p11"/>
          <p:cNvSpPr/>
          <p:nvPr/>
        </p:nvSpPr>
        <p:spPr>
          <a:xfrm>
            <a:off x="4407408" y="137160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1"/>
          <p:cNvSpPr/>
          <p:nvPr/>
        </p:nvSpPr>
        <p:spPr>
          <a:xfrm>
            <a:off x="4636008" y="160020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6" name="Google Shape;296;p11"/>
          <p:cNvPicPr preferRelativeResize="0"/>
          <p:nvPr/>
        </p:nvPicPr>
        <p:blipFill rotWithShape="1">
          <a:blip r:embed="rId4">
            <a:alphaModFix/>
          </a:blip>
          <a:srcRect b="0" l="0" r="0" t="0"/>
          <a:stretch/>
        </p:blipFill>
        <p:spPr>
          <a:xfrm>
            <a:off x="4826203" y="1790395"/>
            <a:ext cx="351130" cy="351130"/>
          </a:xfrm>
          <a:prstGeom prst="rect">
            <a:avLst/>
          </a:prstGeom>
          <a:noFill/>
          <a:ln>
            <a:noFill/>
          </a:ln>
        </p:spPr>
      </p:pic>
      <p:sp>
        <p:nvSpPr>
          <p:cNvPr id="297" name="Google Shape;297;p11"/>
          <p:cNvSpPr/>
          <p:nvPr/>
        </p:nvSpPr>
        <p:spPr>
          <a:xfrm>
            <a:off x="5504688" y="162763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i="0" lang="en-US" sz="1850" u="none" cap="none" strike="noStrike">
                <a:solidFill>
                  <a:srgbClr val="2E2318"/>
                </a:solidFill>
                <a:latin typeface="Calibri"/>
                <a:ea typeface="Calibri"/>
                <a:cs typeface="Calibri"/>
                <a:sym typeface="Calibri"/>
              </a:rPr>
              <a:t>Backlog e informes por sprint</a:t>
            </a:r>
            <a:endParaRPr b="0" i="0" sz="1850" u="none" cap="none" strike="noStrike">
              <a:solidFill>
                <a:schemeClr val="dk1"/>
              </a:solidFill>
              <a:latin typeface="Calibri"/>
              <a:ea typeface="Calibri"/>
              <a:cs typeface="Calibri"/>
              <a:sym typeface="Calibri"/>
            </a:endParaRPr>
          </a:p>
        </p:txBody>
      </p:sp>
      <p:sp>
        <p:nvSpPr>
          <p:cNvPr id="298" name="Google Shape;298;p11"/>
          <p:cNvSpPr/>
          <p:nvPr/>
        </p:nvSpPr>
        <p:spPr>
          <a:xfrm>
            <a:off x="4663440" y="245059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Tablero priorizado y reporte de cada iteración con avance y decisiones.</a:t>
            </a:r>
            <a:endParaRPr b="0" i="0" sz="1430" u="none" cap="none" strike="noStrike">
              <a:solidFill>
                <a:schemeClr val="dk1"/>
              </a:solidFill>
              <a:latin typeface="Calibri"/>
              <a:ea typeface="Calibri"/>
              <a:cs typeface="Calibri"/>
              <a:sym typeface="Calibri"/>
            </a:endParaRPr>
          </a:p>
        </p:txBody>
      </p:sp>
      <p:sp>
        <p:nvSpPr>
          <p:cNvPr id="299" name="Google Shape;299;p11"/>
          <p:cNvSpPr/>
          <p:nvPr/>
        </p:nvSpPr>
        <p:spPr>
          <a:xfrm>
            <a:off x="8266176" y="137160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8494776" y="160020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1" name="Google Shape;301;p11"/>
          <p:cNvPicPr preferRelativeResize="0"/>
          <p:nvPr/>
        </p:nvPicPr>
        <p:blipFill rotWithShape="1">
          <a:blip r:embed="rId5">
            <a:alphaModFix/>
          </a:blip>
          <a:srcRect b="0" l="0" r="0" t="0"/>
          <a:stretch/>
        </p:blipFill>
        <p:spPr>
          <a:xfrm>
            <a:off x="8684971" y="1790395"/>
            <a:ext cx="351130" cy="351130"/>
          </a:xfrm>
          <a:prstGeom prst="rect">
            <a:avLst/>
          </a:prstGeom>
          <a:noFill/>
          <a:ln>
            <a:noFill/>
          </a:ln>
        </p:spPr>
      </p:pic>
      <p:sp>
        <p:nvSpPr>
          <p:cNvPr id="302" name="Google Shape;302;p11"/>
          <p:cNvSpPr/>
          <p:nvPr/>
        </p:nvSpPr>
        <p:spPr>
          <a:xfrm>
            <a:off x="9363456" y="162763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i="0" lang="en-US" sz="1850" u="none" cap="none" strike="noStrike">
                <a:solidFill>
                  <a:srgbClr val="2E2318"/>
                </a:solidFill>
                <a:latin typeface="Calibri"/>
                <a:ea typeface="Calibri"/>
                <a:cs typeface="Calibri"/>
                <a:sym typeface="Calibri"/>
              </a:rPr>
              <a:t>Arquitectura documentada</a:t>
            </a:r>
            <a:endParaRPr b="0" i="0" sz="1850" u="none" cap="none" strike="noStrike">
              <a:solidFill>
                <a:schemeClr val="dk1"/>
              </a:solidFill>
              <a:latin typeface="Calibri"/>
              <a:ea typeface="Calibri"/>
              <a:cs typeface="Calibri"/>
              <a:sym typeface="Calibri"/>
            </a:endParaRPr>
          </a:p>
        </p:txBody>
      </p:sp>
      <p:sp>
        <p:nvSpPr>
          <p:cNvPr id="303" name="Google Shape;303;p11"/>
          <p:cNvSpPr/>
          <p:nvPr/>
        </p:nvSpPr>
        <p:spPr>
          <a:xfrm>
            <a:off x="8522208" y="245059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Modelo de datos y decisiones de diseño con la alternativa descartada y su porqué.</a:t>
            </a:r>
            <a:endParaRPr b="0" i="0" sz="1430" u="none" cap="none" strike="noStrike">
              <a:solidFill>
                <a:schemeClr val="dk1"/>
              </a:solidFill>
              <a:latin typeface="Calibri"/>
              <a:ea typeface="Calibri"/>
              <a:cs typeface="Calibri"/>
              <a:sym typeface="Calibri"/>
            </a:endParaRPr>
          </a:p>
        </p:txBody>
      </p:sp>
      <p:sp>
        <p:nvSpPr>
          <p:cNvPr id="304" name="Google Shape;304;p11"/>
          <p:cNvSpPr/>
          <p:nvPr/>
        </p:nvSpPr>
        <p:spPr>
          <a:xfrm>
            <a:off x="548640" y="384048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777240" y="406908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6" name="Google Shape;306;p11"/>
          <p:cNvPicPr preferRelativeResize="0"/>
          <p:nvPr/>
        </p:nvPicPr>
        <p:blipFill rotWithShape="1">
          <a:blip r:embed="rId6">
            <a:alphaModFix/>
          </a:blip>
          <a:srcRect b="0" l="0" r="0" t="0"/>
          <a:stretch/>
        </p:blipFill>
        <p:spPr>
          <a:xfrm>
            <a:off x="967435" y="4259275"/>
            <a:ext cx="351130" cy="351130"/>
          </a:xfrm>
          <a:prstGeom prst="rect">
            <a:avLst/>
          </a:prstGeom>
          <a:noFill/>
          <a:ln>
            <a:noFill/>
          </a:ln>
        </p:spPr>
      </p:pic>
      <p:sp>
        <p:nvSpPr>
          <p:cNvPr id="307" name="Google Shape;307;p11"/>
          <p:cNvSpPr/>
          <p:nvPr/>
        </p:nvSpPr>
        <p:spPr>
          <a:xfrm>
            <a:off x="1645920" y="409651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i="0" lang="en-US" sz="1850" u="none" cap="none" strike="noStrike">
                <a:solidFill>
                  <a:srgbClr val="2E2318"/>
                </a:solidFill>
                <a:latin typeface="Calibri"/>
                <a:ea typeface="Calibri"/>
                <a:cs typeface="Calibri"/>
                <a:sym typeface="Calibri"/>
              </a:rPr>
              <a:t>Plan y reporte de pruebas</a:t>
            </a:r>
            <a:endParaRPr b="0" i="0" sz="1850" u="none" cap="none" strike="noStrike">
              <a:solidFill>
                <a:schemeClr val="dk1"/>
              </a:solidFill>
              <a:latin typeface="Calibri"/>
              <a:ea typeface="Calibri"/>
              <a:cs typeface="Calibri"/>
              <a:sym typeface="Calibri"/>
            </a:endParaRPr>
          </a:p>
        </p:txBody>
      </p:sp>
      <p:sp>
        <p:nvSpPr>
          <p:cNvPr id="308" name="Google Shape;308;p11"/>
          <p:cNvSpPr/>
          <p:nvPr/>
        </p:nvSpPr>
        <p:spPr>
          <a:xfrm>
            <a:off x="804672" y="491947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Dominio, sincronización offline y controladores contra simuladores.</a:t>
            </a:r>
            <a:endParaRPr b="0" i="0" sz="1430" u="none" cap="none" strike="noStrike">
              <a:solidFill>
                <a:schemeClr val="dk1"/>
              </a:solidFill>
              <a:latin typeface="Calibri"/>
              <a:ea typeface="Calibri"/>
              <a:cs typeface="Calibri"/>
              <a:sym typeface="Calibri"/>
            </a:endParaRPr>
          </a:p>
        </p:txBody>
      </p:sp>
      <p:sp>
        <p:nvSpPr>
          <p:cNvPr id="309" name="Google Shape;309;p11"/>
          <p:cNvSpPr/>
          <p:nvPr/>
        </p:nvSpPr>
        <p:spPr>
          <a:xfrm>
            <a:off x="4407408" y="384048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4636008" y="406908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11"/>
          <p:cNvPicPr preferRelativeResize="0"/>
          <p:nvPr/>
        </p:nvPicPr>
        <p:blipFill rotWithShape="1">
          <a:blip r:embed="rId7">
            <a:alphaModFix/>
          </a:blip>
          <a:srcRect b="0" l="0" r="0" t="0"/>
          <a:stretch/>
        </p:blipFill>
        <p:spPr>
          <a:xfrm>
            <a:off x="4826203" y="4259275"/>
            <a:ext cx="351130" cy="351130"/>
          </a:xfrm>
          <a:prstGeom prst="rect">
            <a:avLst/>
          </a:prstGeom>
          <a:noFill/>
          <a:ln>
            <a:noFill/>
          </a:ln>
        </p:spPr>
      </p:pic>
      <p:sp>
        <p:nvSpPr>
          <p:cNvPr id="312" name="Google Shape;312;p11"/>
          <p:cNvSpPr/>
          <p:nvPr/>
        </p:nvSpPr>
        <p:spPr>
          <a:xfrm>
            <a:off x="5504688" y="409651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i="0" lang="en-US" sz="1850" u="none" cap="none" strike="noStrike">
                <a:solidFill>
                  <a:srgbClr val="2E2318"/>
                </a:solidFill>
                <a:latin typeface="Calibri"/>
                <a:ea typeface="Calibri"/>
                <a:cs typeface="Calibri"/>
                <a:sym typeface="Calibri"/>
              </a:rPr>
              <a:t>Balanza real en video</a:t>
            </a:r>
            <a:endParaRPr b="0" i="0" sz="1850" u="none" cap="none" strike="noStrike">
              <a:solidFill>
                <a:schemeClr val="dk1"/>
              </a:solidFill>
              <a:latin typeface="Calibri"/>
              <a:ea typeface="Calibri"/>
              <a:cs typeface="Calibri"/>
              <a:sym typeface="Calibri"/>
            </a:endParaRPr>
          </a:p>
        </p:txBody>
      </p:sp>
      <p:sp>
        <p:nvSpPr>
          <p:cNvPr id="313" name="Google Shape;313;p11"/>
          <p:cNvSpPr/>
          <p:nvPr/>
        </p:nvSpPr>
        <p:spPr>
          <a:xfrm>
            <a:off x="4663440" y="491947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Grabación de la lectura de peso + cambio de controlador en vivo durante la defensa.</a:t>
            </a:r>
            <a:endParaRPr b="0" i="0" sz="1430" u="none" cap="none" strike="noStrike">
              <a:solidFill>
                <a:schemeClr val="dk1"/>
              </a:solidFill>
              <a:latin typeface="Calibri"/>
              <a:ea typeface="Calibri"/>
              <a:cs typeface="Calibri"/>
              <a:sym typeface="Calibri"/>
            </a:endParaRPr>
          </a:p>
        </p:txBody>
      </p:sp>
      <p:sp>
        <p:nvSpPr>
          <p:cNvPr id="314" name="Google Shape;314;p11"/>
          <p:cNvSpPr/>
          <p:nvPr/>
        </p:nvSpPr>
        <p:spPr>
          <a:xfrm>
            <a:off x="8266176" y="3840480"/>
            <a:ext cx="35661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
          <p:cNvSpPr/>
          <p:nvPr/>
        </p:nvSpPr>
        <p:spPr>
          <a:xfrm>
            <a:off x="8494776" y="4069080"/>
            <a:ext cx="731520" cy="73152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6" name="Google Shape;316;p11"/>
          <p:cNvPicPr preferRelativeResize="0"/>
          <p:nvPr/>
        </p:nvPicPr>
        <p:blipFill rotWithShape="1">
          <a:blip r:embed="rId8">
            <a:alphaModFix/>
          </a:blip>
          <a:srcRect b="0" l="0" r="0" t="0"/>
          <a:stretch/>
        </p:blipFill>
        <p:spPr>
          <a:xfrm>
            <a:off x="8684971" y="4259275"/>
            <a:ext cx="351130" cy="351130"/>
          </a:xfrm>
          <a:prstGeom prst="rect">
            <a:avLst/>
          </a:prstGeom>
          <a:noFill/>
          <a:ln>
            <a:noFill/>
          </a:ln>
        </p:spPr>
      </p:pic>
      <p:sp>
        <p:nvSpPr>
          <p:cNvPr id="317" name="Google Shape;317;p11"/>
          <p:cNvSpPr/>
          <p:nvPr/>
        </p:nvSpPr>
        <p:spPr>
          <a:xfrm>
            <a:off x="9363456" y="4096512"/>
            <a:ext cx="2377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50"/>
              <a:buFont typeface="Calibri"/>
              <a:buNone/>
            </a:pPr>
            <a:r>
              <a:rPr b="1" lang="en-US" sz="1850">
                <a:solidFill>
                  <a:srgbClr val="2E2318"/>
                </a:solidFill>
                <a:latin typeface="Calibri"/>
                <a:ea typeface="Calibri"/>
                <a:cs typeface="Calibri"/>
                <a:sym typeface="Calibri"/>
              </a:rPr>
              <a:t>Deployment en otra panadería</a:t>
            </a:r>
            <a:endParaRPr b="0" i="0" sz="1850" u="none" cap="none" strike="noStrike">
              <a:solidFill>
                <a:schemeClr val="dk1"/>
              </a:solidFill>
              <a:latin typeface="Calibri"/>
              <a:ea typeface="Calibri"/>
              <a:cs typeface="Calibri"/>
              <a:sym typeface="Calibri"/>
            </a:endParaRPr>
          </a:p>
        </p:txBody>
      </p:sp>
      <p:sp>
        <p:nvSpPr>
          <p:cNvPr id="318" name="Google Shape;318;p11"/>
          <p:cNvSpPr/>
          <p:nvPr/>
        </p:nvSpPr>
        <p:spPr>
          <a:xfrm>
            <a:off x="8522208" y="4919472"/>
            <a:ext cx="310896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rPr b="0" i="0" lang="en-US" sz="1430" u="none" cap="none" strike="noStrike">
                <a:solidFill>
                  <a:srgbClr val="6E5F50"/>
                </a:solidFill>
                <a:latin typeface="Calibri"/>
                <a:ea typeface="Calibri"/>
                <a:cs typeface="Calibri"/>
                <a:sym typeface="Calibri"/>
              </a:rPr>
              <a:t>Segunda panadería creada solo por configuración: prueba de genericidad.</a:t>
            </a:r>
            <a:endParaRPr b="0" i="0" sz="1430" u="none" cap="none" strike="noStrike">
              <a:solidFill>
                <a:schemeClr val="dk1"/>
              </a:solidFill>
              <a:latin typeface="Calibri"/>
              <a:ea typeface="Calibri"/>
              <a:cs typeface="Calibri"/>
              <a:sym typeface="Calibri"/>
            </a:endParaRPr>
          </a:p>
        </p:txBody>
      </p:sp>
      <p:sp>
        <p:nvSpPr>
          <p:cNvPr id="319" name="Google Shape;319;p11"/>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12"/>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ronograma</a:t>
            </a:r>
            <a:endParaRPr i="0" sz="3000" u="none" cap="none" strike="noStrike">
              <a:solidFill>
                <a:srgbClr val="4A2C1A"/>
              </a:solidFill>
              <a:latin typeface="Calibri"/>
              <a:ea typeface="Calibri"/>
              <a:cs typeface="Calibri"/>
              <a:sym typeface="Calibri"/>
            </a:endParaRPr>
          </a:p>
        </p:txBody>
      </p:sp>
      <p:sp>
        <p:nvSpPr>
          <p:cNvPr id="326" name="Google Shape;326;p12"/>
          <p:cNvSpPr/>
          <p:nvPr/>
        </p:nvSpPr>
        <p:spPr>
          <a:xfrm>
            <a:off x="548640" y="132588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2"/>
          <p:cNvSpPr/>
          <p:nvPr/>
        </p:nvSpPr>
        <p:spPr>
          <a:xfrm>
            <a:off x="1737360" y="146304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D9A441"/>
              </a:buClr>
              <a:buSzPts val="1000"/>
              <a:buFont typeface="Calibri"/>
              <a:buNone/>
            </a:pPr>
            <a:r>
              <a:rPr b="0" i="0" lang="en-US" sz="1200" u="none" cap="none" strike="noStrike">
                <a:solidFill>
                  <a:srgbClr val="6E5F50"/>
                </a:solidFill>
                <a:latin typeface="Calibri"/>
                <a:ea typeface="Calibri"/>
                <a:cs typeface="Calibri"/>
                <a:sym typeface="Calibri"/>
              </a:rPr>
              <a:t>Semanas 1–2</a:t>
            </a:r>
            <a:endParaRPr b="0" i="0" sz="1200" u="none" cap="none" strike="noStrike">
              <a:solidFill>
                <a:srgbClr val="6E5F50"/>
              </a:solidFill>
              <a:latin typeface="Calibri"/>
              <a:ea typeface="Calibri"/>
              <a:cs typeface="Calibri"/>
              <a:sym typeface="Calibri"/>
            </a:endParaRPr>
          </a:p>
        </p:txBody>
      </p:sp>
      <p:sp>
        <p:nvSpPr>
          <p:cNvPr id="328" name="Google Shape;328;p12"/>
          <p:cNvSpPr/>
          <p:nvPr/>
        </p:nvSpPr>
        <p:spPr>
          <a:xfrm>
            <a:off x="713232" y="182880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4A2C1A"/>
                </a:solidFill>
                <a:latin typeface="Calibri"/>
                <a:ea typeface="Calibri"/>
                <a:cs typeface="Calibri"/>
                <a:sym typeface="Calibri"/>
              </a:rPr>
              <a:t>Riesgo y definición</a:t>
            </a:r>
            <a:endParaRPr b="0" i="0" sz="1300" u="none" cap="none" strike="noStrike">
              <a:solidFill>
                <a:srgbClr val="4A2C1A"/>
              </a:solidFill>
              <a:latin typeface="Calibri"/>
              <a:ea typeface="Calibri"/>
              <a:cs typeface="Calibri"/>
              <a:sym typeface="Calibri"/>
            </a:endParaRPr>
          </a:p>
        </p:txBody>
      </p:sp>
      <p:sp>
        <p:nvSpPr>
          <p:cNvPr id="329" name="Google Shape;329;p12"/>
          <p:cNvSpPr/>
          <p:nvPr/>
        </p:nvSpPr>
        <p:spPr>
          <a:xfrm>
            <a:off x="713232" y="212140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CCB"/>
              </a:buClr>
              <a:buSzPts val="960"/>
              <a:buFont typeface="Calibri"/>
              <a:buNone/>
            </a:pPr>
            <a:r>
              <a:rPr b="0" i="0" lang="en-US" sz="1060" u="none" cap="none" strike="noStrike">
                <a:solidFill>
                  <a:srgbClr val="6E5F50"/>
                </a:solidFill>
                <a:latin typeface="Calibri"/>
                <a:ea typeface="Calibri"/>
                <a:cs typeface="Calibri"/>
                <a:sym typeface="Calibri"/>
              </a:rPr>
              <a:t>Alcance y exclusiones, levantamiento en terreno, integración aislada de la balanza y esqueleto de arquitectura.</a:t>
            </a:r>
            <a:endParaRPr b="0" i="0" sz="1060" u="none" cap="none" strike="noStrike">
              <a:solidFill>
                <a:srgbClr val="6E5F50"/>
              </a:solidFill>
              <a:latin typeface="Calibri"/>
              <a:ea typeface="Calibri"/>
              <a:cs typeface="Calibri"/>
              <a:sym typeface="Calibri"/>
            </a:endParaRPr>
          </a:p>
        </p:txBody>
      </p:sp>
      <p:sp>
        <p:nvSpPr>
          <p:cNvPr id="330" name="Google Shape;330;p12"/>
          <p:cNvSpPr/>
          <p:nvPr/>
        </p:nvSpPr>
        <p:spPr>
          <a:xfrm>
            <a:off x="4315968" y="132588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2"/>
          <p:cNvSpPr/>
          <p:nvPr/>
        </p:nvSpPr>
        <p:spPr>
          <a:xfrm>
            <a:off x="4480560" y="146304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2"/>
          <p:cNvSpPr/>
          <p:nvPr/>
        </p:nvSpPr>
        <p:spPr>
          <a:xfrm>
            <a:off x="4480560" y="146304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1</a:t>
            </a:r>
            <a:endParaRPr b="0" i="0" sz="1250" u="none" cap="none" strike="noStrike">
              <a:solidFill>
                <a:schemeClr val="dk1"/>
              </a:solidFill>
              <a:latin typeface="Calibri"/>
              <a:ea typeface="Calibri"/>
              <a:cs typeface="Calibri"/>
              <a:sym typeface="Calibri"/>
            </a:endParaRPr>
          </a:p>
        </p:txBody>
      </p:sp>
      <p:sp>
        <p:nvSpPr>
          <p:cNvPr id="333" name="Google Shape;333;p12"/>
          <p:cNvSpPr/>
          <p:nvPr/>
        </p:nvSpPr>
        <p:spPr>
          <a:xfrm>
            <a:off x="5504688" y="146304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3–4</a:t>
            </a:r>
            <a:endParaRPr b="0" i="0" sz="1200" u="none" cap="none" strike="noStrike">
              <a:solidFill>
                <a:schemeClr val="dk1"/>
              </a:solidFill>
              <a:latin typeface="Calibri"/>
              <a:ea typeface="Calibri"/>
              <a:cs typeface="Calibri"/>
              <a:sym typeface="Calibri"/>
            </a:endParaRPr>
          </a:p>
        </p:txBody>
      </p:sp>
      <p:sp>
        <p:nvSpPr>
          <p:cNvPr id="334" name="Google Shape;334;p12"/>
          <p:cNvSpPr/>
          <p:nvPr/>
        </p:nvSpPr>
        <p:spPr>
          <a:xfrm>
            <a:off x="4480560" y="182880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Núcleo de datos</a:t>
            </a:r>
            <a:endParaRPr b="0" i="0" sz="1300" u="none" cap="none" strike="noStrike">
              <a:solidFill>
                <a:schemeClr val="dk1"/>
              </a:solidFill>
              <a:latin typeface="Calibri"/>
              <a:ea typeface="Calibri"/>
              <a:cs typeface="Calibri"/>
              <a:sym typeface="Calibri"/>
            </a:endParaRPr>
          </a:p>
        </p:txBody>
      </p:sp>
      <p:sp>
        <p:nvSpPr>
          <p:cNvPr id="335" name="Google Shape;335;p12"/>
          <p:cNvSpPr/>
          <p:nvPr/>
        </p:nvSpPr>
        <p:spPr>
          <a:xfrm>
            <a:off x="4480560" y="212140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Modelo multi-tenant y multisucursal, versionado de esquema y datos de configuración por panadería.</a:t>
            </a:r>
            <a:endParaRPr b="0" i="0" sz="1060" u="none" cap="none" strike="noStrike">
              <a:solidFill>
                <a:schemeClr val="dk1"/>
              </a:solidFill>
              <a:latin typeface="Calibri"/>
              <a:ea typeface="Calibri"/>
              <a:cs typeface="Calibri"/>
              <a:sym typeface="Calibri"/>
            </a:endParaRPr>
          </a:p>
        </p:txBody>
      </p:sp>
      <p:sp>
        <p:nvSpPr>
          <p:cNvPr id="336" name="Google Shape;336;p12"/>
          <p:cNvSpPr/>
          <p:nvPr/>
        </p:nvSpPr>
        <p:spPr>
          <a:xfrm>
            <a:off x="8083296" y="132588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2"/>
          <p:cNvSpPr/>
          <p:nvPr/>
        </p:nvSpPr>
        <p:spPr>
          <a:xfrm>
            <a:off x="8247888" y="146304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2"/>
          <p:cNvSpPr/>
          <p:nvPr/>
        </p:nvSpPr>
        <p:spPr>
          <a:xfrm>
            <a:off x="8247888" y="146304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2</a:t>
            </a:r>
            <a:endParaRPr b="0" i="0" sz="1250" u="none" cap="none" strike="noStrike">
              <a:solidFill>
                <a:schemeClr val="dk1"/>
              </a:solidFill>
              <a:latin typeface="Calibri"/>
              <a:ea typeface="Calibri"/>
              <a:cs typeface="Calibri"/>
              <a:sym typeface="Calibri"/>
            </a:endParaRPr>
          </a:p>
        </p:txBody>
      </p:sp>
      <p:sp>
        <p:nvSpPr>
          <p:cNvPr id="339" name="Google Shape;339;p12"/>
          <p:cNvSpPr/>
          <p:nvPr/>
        </p:nvSpPr>
        <p:spPr>
          <a:xfrm>
            <a:off x="9272016" y="146304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5–6</a:t>
            </a:r>
            <a:endParaRPr b="0" i="0" sz="1200" u="none" cap="none" strike="noStrike">
              <a:solidFill>
                <a:schemeClr val="dk1"/>
              </a:solidFill>
              <a:latin typeface="Calibri"/>
              <a:ea typeface="Calibri"/>
              <a:cs typeface="Calibri"/>
              <a:sym typeface="Calibri"/>
            </a:endParaRPr>
          </a:p>
        </p:txBody>
      </p:sp>
      <p:sp>
        <p:nvSpPr>
          <p:cNvPr id="340" name="Google Shape;340;p12"/>
          <p:cNvSpPr/>
          <p:nvPr/>
        </p:nvSpPr>
        <p:spPr>
          <a:xfrm>
            <a:off x="8247888" y="182880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Backend y seguridad</a:t>
            </a:r>
            <a:endParaRPr b="0" i="0" sz="1300" u="none" cap="none" strike="noStrike">
              <a:solidFill>
                <a:schemeClr val="dk1"/>
              </a:solidFill>
              <a:latin typeface="Calibri"/>
              <a:ea typeface="Calibri"/>
              <a:cs typeface="Calibri"/>
              <a:sym typeface="Calibri"/>
            </a:endParaRPr>
          </a:p>
        </p:txBody>
      </p:sp>
      <p:sp>
        <p:nvSpPr>
          <p:cNvPr id="341" name="Google Shape;341;p12"/>
          <p:cNvSpPr/>
          <p:nvPr/>
        </p:nvSpPr>
        <p:spPr>
          <a:xfrm>
            <a:off x="8247888" y="212140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API de servicios, autenticación, autorización por rol y primer despliegue en la nube.</a:t>
            </a:r>
            <a:endParaRPr b="0" i="0" sz="1060" u="none" cap="none" strike="noStrike">
              <a:solidFill>
                <a:schemeClr val="dk1"/>
              </a:solidFill>
              <a:latin typeface="Calibri"/>
              <a:ea typeface="Calibri"/>
              <a:cs typeface="Calibri"/>
              <a:sym typeface="Calibri"/>
            </a:endParaRPr>
          </a:p>
        </p:txBody>
      </p:sp>
      <p:sp>
        <p:nvSpPr>
          <p:cNvPr id="342" name="Google Shape;342;p12"/>
          <p:cNvSpPr/>
          <p:nvPr/>
        </p:nvSpPr>
        <p:spPr>
          <a:xfrm>
            <a:off x="548640" y="297180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2"/>
          <p:cNvSpPr/>
          <p:nvPr/>
        </p:nvSpPr>
        <p:spPr>
          <a:xfrm>
            <a:off x="713232" y="310896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713232" y="310896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3</a:t>
            </a:r>
            <a:endParaRPr b="0" i="0" sz="1250" u="none" cap="none" strike="noStrike">
              <a:solidFill>
                <a:schemeClr val="dk1"/>
              </a:solidFill>
              <a:latin typeface="Calibri"/>
              <a:ea typeface="Calibri"/>
              <a:cs typeface="Calibri"/>
              <a:sym typeface="Calibri"/>
            </a:endParaRPr>
          </a:p>
        </p:txBody>
      </p:sp>
      <p:sp>
        <p:nvSpPr>
          <p:cNvPr id="345" name="Google Shape;345;p12"/>
          <p:cNvSpPr/>
          <p:nvPr/>
        </p:nvSpPr>
        <p:spPr>
          <a:xfrm>
            <a:off x="1737360" y="310896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7–8</a:t>
            </a:r>
            <a:endParaRPr b="0" i="0" sz="1200" u="none" cap="none" strike="noStrike">
              <a:solidFill>
                <a:schemeClr val="dk1"/>
              </a:solidFill>
              <a:latin typeface="Calibri"/>
              <a:ea typeface="Calibri"/>
              <a:cs typeface="Calibri"/>
              <a:sym typeface="Calibri"/>
            </a:endParaRPr>
          </a:p>
        </p:txBody>
      </p:sp>
      <p:sp>
        <p:nvSpPr>
          <p:cNvPr id="346" name="Google Shape;346;p12"/>
          <p:cNvSpPr/>
          <p:nvPr/>
        </p:nvSpPr>
        <p:spPr>
          <a:xfrm>
            <a:off x="713232" y="347472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POS: flujo de venta</a:t>
            </a:r>
            <a:endParaRPr b="0" i="0" sz="1300" u="none" cap="none" strike="noStrike">
              <a:solidFill>
                <a:schemeClr val="dk1"/>
              </a:solidFill>
              <a:latin typeface="Calibri"/>
              <a:ea typeface="Calibri"/>
              <a:cs typeface="Calibri"/>
              <a:sym typeface="Calibri"/>
            </a:endParaRPr>
          </a:p>
        </p:txBody>
      </p:sp>
      <p:sp>
        <p:nvSpPr>
          <p:cNvPr id="347" name="Google Shape;347;p12"/>
          <p:cNvSpPr/>
          <p:nvPr/>
        </p:nvSpPr>
        <p:spPr>
          <a:xfrm>
            <a:off x="713232" y="376732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Venta por peso y por unidad, catálogo local y pantalla de caja apta para hora punta.</a:t>
            </a:r>
            <a:endParaRPr b="0" i="0" sz="1060" u="none" cap="none" strike="noStrike">
              <a:solidFill>
                <a:schemeClr val="dk1"/>
              </a:solidFill>
              <a:latin typeface="Calibri"/>
              <a:ea typeface="Calibri"/>
              <a:cs typeface="Calibri"/>
              <a:sym typeface="Calibri"/>
            </a:endParaRPr>
          </a:p>
        </p:txBody>
      </p:sp>
      <p:sp>
        <p:nvSpPr>
          <p:cNvPr id="348" name="Google Shape;348;p12"/>
          <p:cNvSpPr/>
          <p:nvPr/>
        </p:nvSpPr>
        <p:spPr>
          <a:xfrm>
            <a:off x="4315968" y="297180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4480560" y="310896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2"/>
          <p:cNvSpPr/>
          <p:nvPr/>
        </p:nvSpPr>
        <p:spPr>
          <a:xfrm>
            <a:off x="4480560" y="310896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4</a:t>
            </a:r>
            <a:endParaRPr b="0" i="0" sz="1250" u="none" cap="none" strike="noStrike">
              <a:solidFill>
                <a:schemeClr val="dk1"/>
              </a:solidFill>
              <a:latin typeface="Calibri"/>
              <a:ea typeface="Calibri"/>
              <a:cs typeface="Calibri"/>
              <a:sym typeface="Calibri"/>
            </a:endParaRPr>
          </a:p>
        </p:txBody>
      </p:sp>
      <p:sp>
        <p:nvSpPr>
          <p:cNvPr id="351" name="Google Shape;351;p12"/>
          <p:cNvSpPr/>
          <p:nvPr/>
        </p:nvSpPr>
        <p:spPr>
          <a:xfrm>
            <a:off x="5504688" y="310896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9–10</a:t>
            </a:r>
            <a:endParaRPr b="0" i="0" sz="1200" u="none" cap="none" strike="noStrike">
              <a:solidFill>
                <a:schemeClr val="dk1"/>
              </a:solidFill>
              <a:latin typeface="Calibri"/>
              <a:ea typeface="Calibri"/>
              <a:cs typeface="Calibri"/>
              <a:sym typeface="Calibri"/>
            </a:endParaRPr>
          </a:p>
        </p:txBody>
      </p:sp>
      <p:sp>
        <p:nvSpPr>
          <p:cNvPr id="352" name="Google Shape;352;p12"/>
          <p:cNvSpPr/>
          <p:nvPr/>
        </p:nvSpPr>
        <p:spPr>
          <a:xfrm>
            <a:off x="4480560" y="347472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POS: dispositivos y offline</a:t>
            </a:r>
            <a:endParaRPr b="0" i="0" sz="1300" u="none" cap="none" strike="noStrike">
              <a:solidFill>
                <a:schemeClr val="dk1"/>
              </a:solidFill>
              <a:latin typeface="Calibri"/>
              <a:ea typeface="Calibri"/>
              <a:cs typeface="Calibri"/>
              <a:sym typeface="Calibri"/>
            </a:endParaRPr>
          </a:p>
        </p:txBody>
      </p:sp>
      <p:sp>
        <p:nvSpPr>
          <p:cNvPr id="353" name="Google Shape;353;p12"/>
          <p:cNvSpPr/>
          <p:nvPr/>
        </p:nvSpPr>
        <p:spPr>
          <a:xfrm>
            <a:off x="4480560" y="376732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Capa de abstracción con drivers reales y simulados, persistencia local y sincronización.</a:t>
            </a:r>
            <a:endParaRPr b="0" i="0" sz="1060" u="none" cap="none" strike="noStrike">
              <a:solidFill>
                <a:schemeClr val="dk1"/>
              </a:solidFill>
              <a:latin typeface="Calibri"/>
              <a:ea typeface="Calibri"/>
              <a:cs typeface="Calibri"/>
              <a:sym typeface="Calibri"/>
            </a:endParaRPr>
          </a:p>
        </p:txBody>
      </p:sp>
      <p:sp>
        <p:nvSpPr>
          <p:cNvPr id="354" name="Google Shape;354;p12"/>
          <p:cNvSpPr/>
          <p:nvPr/>
        </p:nvSpPr>
        <p:spPr>
          <a:xfrm>
            <a:off x="8083296" y="297180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2"/>
          <p:cNvSpPr/>
          <p:nvPr/>
        </p:nvSpPr>
        <p:spPr>
          <a:xfrm>
            <a:off x="8247888" y="310896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8247888" y="310896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5</a:t>
            </a:r>
            <a:endParaRPr b="0" i="0" sz="1250" u="none" cap="none" strike="noStrike">
              <a:solidFill>
                <a:schemeClr val="dk1"/>
              </a:solidFill>
              <a:latin typeface="Calibri"/>
              <a:ea typeface="Calibri"/>
              <a:cs typeface="Calibri"/>
              <a:sym typeface="Calibri"/>
            </a:endParaRPr>
          </a:p>
        </p:txBody>
      </p:sp>
      <p:sp>
        <p:nvSpPr>
          <p:cNvPr id="357" name="Google Shape;357;p12"/>
          <p:cNvSpPr/>
          <p:nvPr/>
        </p:nvSpPr>
        <p:spPr>
          <a:xfrm>
            <a:off x="9272016" y="310896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11–12</a:t>
            </a:r>
            <a:endParaRPr b="0" i="0" sz="1200" u="none" cap="none" strike="noStrike">
              <a:solidFill>
                <a:schemeClr val="dk1"/>
              </a:solidFill>
              <a:latin typeface="Calibri"/>
              <a:ea typeface="Calibri"/>
              <a:cs typeface="Calibri"/>
              <a:sym typeface="Calibri"/>
            </a:endParaRPr>
          </a:p>
        </p:txBody>
      </p:sp>
      <p:sp>
        <p:nvSpPr>
          <p:cNvPr id="358" name="Google Shape;358;p12"/>
          <p:cNvSpPr/>
          <p:nvPr/>
        </p:nvSpPr>
        <p:spPr>
          <a:xfrm>
            <a:off x="8247888" y="347472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App del panadero</a:t>
            </a:r>
            <a:endParaRPr b="0" i="0" sz="1300" u="none" cap="none" strike="noStrike">
              <a:solidFill>
                <a:schemeClr val="dk1"/>
              </a:solidFill>
              <a:latin typeface="Calibri"/>
              <a:ea typeface="Calibri"/>
              <a:cs typeface="Calibri"/>
              <a:sym typeface="Calibri"/>
            </a:endParaRPr>
          </a:p>
        </p:txBody>
      </p:sp>
      <p:sp>
        <p:nvSpPr>
          <p:cNvPr id="359" name="Google Shape;359;p12"/>
          <p:cNvSpPr/>
          <p:nvPr/>
        </p:nvSpPr>
        <p:spPr>
          <a:xfrm>
            <a:off x="8247888" y="376732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Registro de amasado, descuento de insumos por fórmula y aviso de producción al mostrador.</a:t>
            </a:r>
            <a:endParaRPr b="0" i="0" sz="1060" u="none" cap="none" strike="noStrike">
              <a:solidFill>
                <a:schemeClr val="dk1"/>
              </a:solidFill>
              <a:latin typeface="Calibri"/>
              <a:ea typeface="Calibri"/>
              <a:cs typeface="Calibri"/>
              <a:sym typeface="Calibri"/>
            </a:endParaRPr>
          </a:p>
        </p:txBody>
      </p:sp>
      <p:sp>
        <p:nvSpPr>
          <p:cNvPr id="360" name="Google Shape;360;p12"/>
          <p:cNvSpPr/>
          <p:nvPr/>
        </p:nvSpPr>
        <p:spPr>
          <a:xfrm>
            <a:off x="548640" y="461772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713232" y="475488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2"/>
          <p:cNvSpPr/>
          <p:nvPr/>
        </p:nvSpPr>
        <p:spPr>
          <a:xfrm>
            <a:off x="713232" y="475488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6</a:t>
            </a:r>
            <a:endParaRPr b="0" i="0" sz="1250" u="none" cap="none" strike="noStrike">
              <a:solidFill>
                <a:schemeClr val="dk1"/>
              </a:solidFill>
              <a:latin typeface="Calibri"/>
              <a:ea typeface="Calibri"/>
              <a:cs typeface="Calibri"/>
              <a:sym typeface="Calibri"/>
            </a:endParaRPr>
          </a:p>
        </p:txBody>
      </p:sp>
      <p:sp>
        <p:nvSpPr>
          <p:cNvPr id="363" name="Google Shape;363;p12"/>
          <p:cNvSpPr/>
          <p:nvPr/>
        </p:nvSpPr>
        <p:spPr>
          <a:xfrm>
            <a:off x="1737360" y="475488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13–14</a:t>
            </a:r>
            <a:endParaRPr b="0" i="0" sz="1200" u="none" cap="none" strike="noStrike">
              <a:solidFill>
                <a:schemeClr val="dk1"/>
              </a:solidFill>
              <a:latin typeface="Calibri"/>
              <a:ea typeface="Calibri"/>
              <a:cs typeface="Calibri"/>
              <a:sym typeface="Calibri"/>
            </a:endParaRPr>
          </a:p>
        </p:txBody>
      </p:sp>
      <p:sp>
        <p:nvSpPr>
          <p:cNvPr id="364" name="Google Shape;364;p12"/>
          <p:cNvSpPr/>
          <p:nvPr/>
        </p:nvSpPr>
        <p:spPr>
          <a:xfrm>
            <a:off x="713232" y="512064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Panel web de gestión</a:t>
            </a:r>
            <a:endParaRPr b="0" i="0" sz="1300" u="none" cap="none" strike="noStrike">
              <a:solidFill>
                <a:schemeClr val="dk1"/>
              </a:solidFill>
              <a:latin typeface="Calibri"/>
              <a:ea typeface="Calibri"/>
              <a:cs typeface="Calibri"/>
              <a:sym typeface="Calibri"/>
            </a:endParaRPr>
          </a:p>
        </p:txBody>
      </p:sp>
      <p:sp>
        <p:nvSpPr>
          <p:cNvPr id="365" name="Google Shape;365;p12"/>
          <p:cNvSpPr/>
          <p:nvPr/>
        </p:nvSpPr>
        <p:spPr>
          <a:xfrm>
            <a:off x="713232" y="541324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Indicadores del negocio y superficie de administración por panadería y sucursal.</a:t>
            </a:r>
            <a:endParaRPr b="0" i="0" sz="1060" u="none" cap="none" strike="noStrike">
              <a:solidFill>
                <a:schemeClr val="dk1"/>
              </a:solidFill>
              <a:latin typeface="Calibri"/>
              <a:ea typeface="Calibri"/>
              <a:cs typeface="Calibri"/>
              <a:sym typeface="Calibri"/>
            </a:endParaRPr>
          </a:p>
        </p:txBody>
      </p:sp>
      <p:sp>
        <p:nvSpPr>
          <p:cNvPr id="366" name="Google Shape;366;p12"/>
          <p:cNvSpPr/>
          <p:nvPr/>
        </p:nvSpPr>
        <p:spPr>
          <a:xfrm>
            <a:off x="4315968" y="461772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
          <p:cNvSpPr/>
          <p:nvPr/>
        </p:nvSpPr>
        <p:spPr>
          <a:xfrm>
            <a:off x="4480560" y="475488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2"/>
          <p:cNvSpPr/>
          <p:nvPr/>
        </p:nvSpPr>
        <p:spPr>
          <a:xfrm>
            <a:off x="4480560" y="475488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7</a:t>
            </a:r>
            <a:endParaRPr b="0" i="0" sz="1250" u="none" cap="none" strike="noStrike">
              <a:solidFill>
                <a:schemeClr val="dk1"/>
              </a:solidFill>
              <a:latin typeface="Calibri"/>
              <a:ea typeface="Calibri"/>
              <a:cs typeface="Calibri"/>
              <a:sym typeface="Calibri"/>
            </a:endParaRPr>
          </a:p>
        </p:txBody>
      </p:sp>
      <p:sp>
        <p:nvSpPr>
          <p:cNvPr id="369" name="Google Shape;369;p12"/>
          <p:cNvSpPr/>
          <p:nvPr/>
        </p:nvSpPr>
        <p:spPr>
          <a:xfrm>
            <a:off x="5504688" y="475488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15–16</a:t>
            </a:r>
            <a:endParaRPr b="0" i="0" sz="1200" u="none" cap="none" strike="noStrike">
              <a:solidFill>
                <a:schemeClr val="dk1"/>
              </a:solidFill>
              <a:latin typeface="Calibri"/>
              <a:ea typeface="Calibri"/>
              <a:cs typeface="Calibri"/>
              <a:sym typeface="Calibri"/>
            </a:endParaRPr>
          </a:p>
        </p:txBody>
      </p:sp>
      <p:sp>
        <p:nvSpPr>
          <p:cNvPr id="370" name="Google Shape;370;p12"/>
          <p:cNvSpPr/>
          <p:nvPr/>
        </p:nvSpPr>
        <p:spPr>
          <a:xfrm>
            <a:off x="4480560" y="512064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Predicción de demanda</a:t>
            </a:r>
            <a:endParaRPr b="0" i="0" sz="1300" u="none" cap="none" strike="noStrike">
              <a:solidFill>
                <a:schemeClr val="dk1"/>
              </a:solidFill>
              <a:latin typeface="Calibri"/>
              <a:ea typeface="Calibri"/>
              <a:cs typeface="Calibri"/>
              <a:sym typeface="Calibri"/>
            </a:endParaRPr>
          </a:p>
        </p:txBody>
      </p:sp>
      <p:sp>
        <p:nvSpPr>
          <p:cNvPr id="371" name="Google Shape;371;p12"/>
          <p:cNvSpPr/>
          <p:nvPr/>
        </p:nvSpPr>
        <p:spPr>
          <a:xfrm>
            <a:off x="4480560" y="541324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Entrenamiento sobre datos públicos, evaluación con MAE y RMSE e integración del servicio.</a:t>
            </a:r>
            <a:endParaRPr b="0" i="0" sz="1060" u="none" cap="none" strike="noStrike">
              <a:solidFill>
                <a:schemeClr val="dk1"/>
              </a:solidFill>
              <a:latin typeface="Calibri"/>
              <a:ea typeface="Calibri"/>
              <a:cs typeface="Calibri"/>
              <a:sym typeface="Calibri"/>
            </a:endParaRPr>
          </a:p>
        </p:txBody>
      </p:sp>
      <p:sp>
        <p:nvSpPr>
          <p:cNvPr id="372" name="Google Shape;372;p12"/>
          <p:cNvSpPr/>
          <p:nvPr/>
        </p:nvSpPr>
        <p:spPr>
          <a:xfrm>
            <a:off x="8083296" y="4617720"/>
            <a:ext cx="3566160" cy="1463040"/>
          </a:xfrm>
          <a:prstGeom prst="roundRect">
            <a:avLst>
              <a:gd fmla="val 6250"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2"/>
          <p:cNvSpPr/>
          <p:nvPr/>
        </p:nvSpPr>
        <p:spPr>
          <a:xfrm>
            <a:off x="8247888" y="4754880"/>
            <a:ext cx="932688" cy="301752"/>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2"/>
          <p:cNvSpPr/>
          <p:nvPr/>
        </p:nvSpPr>
        <p:spPr>
          <a:xfrm>
            <a:off x="8247888" y="4754880"/>
            <a:ext cx="932688" cy="3017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8</a:t>
            </a:r>
            <a:endParaRPr b="0" i="0" sz="1250" u="none" cap="none" strike="noStrike">
              <a:solidFill>
                <a:schemeClr val="dk1"/>
              </a:solidFill>
              <a:latin typeface="Calibri"/>
              <a:ea typeface="Calibri"/>
              <a:cs typeface="Calibri"/>
              <a:sym typeface="Calibri"/>
            </a:endParaRPr>
          </a:p>
        </p:txBody>
      </p:sp>
      <p:sp>
        <p:nvSpPr>
          <p:cNvPr id="375" name="Google Shape;375;p12"/>
          <p:cNvSpPr/>
          <p:nvPr/>
        </p:nvSpPr>
        <p:spPr>
          <a:xfrm>
            <a:off x="9272016" y="4754880"/>
            <a:ext cx="2212848" cy="30175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200" u="none" cap="none" strike="noStrike">
                <a:solidFill>
                  <a:srgbClr val="6E5F50"/>
                </a:solidFill>
                <a:latin typeface="Calibri"/>
                <a:ea typeface="Calibri"/>
                <a:cs typeface="Calibri"/>
                <a:sym typeface="Calibri"/>
              </a:rPr>
              <a:t>Semanas 17–18</a:t>
            </a:r>
            <a:endParaRPr b="0" i="0" sz="1200" u="none" cap="none" strike="noStrike">
              <a:solidFill>
                <a:schemeClr val="dk1"/>
              </a:solidFill>
              <a:latin typeface="Calibri"/>
              <a:ea typeface="Calibri"/>
              <a:cs typeface="Calibri"/>
              <a:sym typeface="Calibri"/>
            </a:endParaRPr>
          </a:p>
        </p:txBody>
      </p:sp>
      <p:sp>
        <p:nvSpPr>
          <p:cNvPr id="376" name="Google Shape;376;p12"/>
          <p:cNvSpPr/>
          <p:nvPr/>
        </p:nvSpPr>
        <p:spPr>
          <a:xfrm>
            <a:off x="8247888" y="5120640"/>
            <a:ext cx="323697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2318"/>
              </a:buClr>
              <a:buSzPts val="1300"/>
              <a:buFont typeface="Calibri"/>
              <a:buNone/>
            </a:pPr>
            <a:r>
              <a:rPr b="1" i="0" lang="en-US" sz="1300" u="none" cap="none" strike="noStrike">
                <a:solidFill>
                  <a:srgbClr val="2E2318"/>
                </a:solidFill>
                <a:latin typeface="Calibri"/>
                <a:ea typeface="Calibri"/>
                <a:cs typeface="Calibri"/>
                <a:sym typeface="Calibri"/>
              </a:rPr>
              <a:t>Cierre y defensa</a:t>
            </a:r>
            <a:endParaRPr b="0" i="0" sz="1300" u="none" cap="none" strike="noStrike">
              <a:solidFill>
                <a:schemeClr val="dk1"/>
              </a:solidFill>
              <a:latin typeface="Calibri"/>
              <a:ea typeface="Calibri"/>
              <a:cs typeface="Calibri"/>
              <a:sym typeface="Calibri"/>
            </a:endParaRPr>
          </a:p>
        </p:txBody>
      </p:sp>
      <p:sp>
        <p:nvSpPr>
          <p:cNvPr id="377" name="Google Shape;377;p12"/>
          <p:cNvSpPr/>
          <p:nvPr/>
        </p:nvSpPr>
        <p:spPr>
          <a:xfrm>
            <a:off x="8247888" y="5413248"/>
            <a:ext cx="3255264"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960"/>
              <a:buFont typeface="Calibri"/>
              <a:buNone/>
            </a:pPr>
            <a:r>
              <a:rPr b="0" i="0" lang="en-US" sz="1060" u="none" cap="none" strike="noStrike">
                <a:solidFill>
                  <a:srgbClr val="6E5F50"/>
                </a:solidFill>
                <a:latin typeface="Calibri"/>
                <a:ea typeface="Calibri"/>
                <a:cs typeface="Calibri"/>
                <a:sym typeface="Calibri"/>
              </a:rPr>
              <a:t>Segunda panadería por configuración, plan de pruebas completo, documentación y demo ensayada.</a:t>
            </a:r>
            <a:endParaRPr b="0" i="0" sz="1060" u="none" cap="none" strike="noStrike">
              <a:solidFill>
                <a:schemeClr val="dk1"/>
              </a:solidFill>
              <a:latin typeface="Calibri"/>
              <a:ea typeface="Calibri"/>
              <a:cs typeface="Calibri"/>
              <a:sym typeface="Calibri"/>
            </a:endParaRPr>
          </a:p>
        </p:txBody>
      </p:sp>
      <p:sp>
        <p:nvSpPr>
          <p:cNvPr id="378" name="Google Shape;378;p12"/>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12</a:t>
            </a:r>
            <a:endParaRPr b="0" i="0" sz="1000" u="none" cap="none" strike="noStrike">
              <a:solidFill>
                <a:schemeClr val="dk1"/>
              </a:solidFill>
              <a:latin typeface="Calibri"/>
              <a:ea typeface="Calibri"/>
              <a:cs typeface="Calibri"/>
              <a:sym typeface="Calibri"/>
            </a:endParaRPr>
          </a:p>
        </p:txBody>
      </p:sp>
      <p:cxnSp>
        <p:nvCxnSpPr>
          <p:cNvPr id="379" name="Google Shape;379;p12"/>
          <p:cNvCxnSpPr>
            <a:stCxn id="326" idx="3"/>
            <a:endCxn id="330" idx="1"/>
          </p:cNvCxnSpPr>
          <p:nvPr/>
        </p:nvCxnSpPr>
        <p:spPr>
          <a:xfrm>
            <a:off x="4114800" y="2057400"/>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0" name="Google Shape;380;p12"/>
          <p:cNvCxnSpPr>
            <a:stCxn id="330" idx="3"/>
            <a:endCxn id="336" idx="1"/>
          </p:cNvCxnSpPr>
          <p:nvPr/>
        </p:nvCxnSpPr>
        <p:spPr>
          <a:xfrm>
            <a:off x="7882128" y="2057400"/>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1" name="Google Shape;381;p12"/>
          <p:cNvCxnSpPr>
            <a:stCxn id="336" idx="3"/>
          </p:cNvCxnSpPr>
          <p:nvPr/>
        </p:nvCxnSpPr>
        <p:spPr>
          <a:xfrm>
            <a:off x="11649456" y="2057400"/>
            <a:ext cx="951000" cy="0"/>
          </a:xfrm>
          <a:prstGeom prst="straightConnector1">
            <a:avLst/>
          </a:prstGeom>
          <a:noFill/>
          <a:ln cap="flat" cmpd="sng" w="19050">
            <a:solidFill>
              <a:srgbClr val="4A2C1A"/>
            </a:solidFill>
            <a:prstDash val="solid"/>
            <a:round/>
            <a:headEnd len="med" w="med" type="none"/>
            <a:tailEnd len="med" w="med" type="triangle"/>
          </a:ln>
        </p:spPr>
      </p:cxnSp>
      <p:cxnSp>
        <p:nvCxnSpPr>
          <p:cNvPr id="382" name="Google Shape;382;p12"/>
          <p:cNvCxnSpPr/>
          <p:nvPr/>
        </p:nvCxnSpPr>
        <p:spPr>
          <a:xfrm>
            <a:off x="-107922" y="3703325"/>
            <a:ext cx="674400" cy="0"/>
          </a:xfrm>
          <a:prstGeom prst="straightConnector1">
            <a:avLst/>
          </a:prstGeom>
          <a:noFill/>
          <a:ln cap="flat" cmpd="sng" w="19050">
            <a:solidFill>
              <a:srgbClr val="4A2C1A"/>
            </a:solidFill>
            <a:prstDash val="solid"/>
            <a:round/>
            <a:headEnd len="med" w="med" type="none"/>
            <a:tailEnd len="med" w="med" type="triangle"/>
          </a:ln>
        </p:spPr>
      </p:cxnSp>
      <p:cxnSp>
        <p:nvCxnSpPr>
          <p:cNvPr id="383" name="Google Shape;383;p12"/>
          <p:cNvCxnSpPr/>
          <p:nvPr/>
        </p:nvCxnSpPr>
        <p:spPr>
          <a:xfrm>
            <a:off x="4124508" y="3703325"/>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4" name="Google Shape;384;p12"/>
          <p:cNvCxnSpPr>
            <a:stCxn id="348" idx="3"/>
            <a:endCxn id="354" idx="1"/>
          </p:cNvCxnSpPr>
          <p:nvPr/>
        </p:nvCxnSpPr>
        <p:spPr>
          <a:xfrm>
            <a:off x="7882128" y="3703320"/>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5" name="Google Shape;385;p12"/>
          <p:cNvCxnSpPr/>
          <p:nvPr/>
        </p:nvCxnSpPr>
        <p:spPr>
          <a:xfrm>
            <a:off x="11649456" y="3703325"/>
            <a:ext cx="951000" cy="0"/>
          </a:xfrm>
          <a:prstGeom prst="straightConnector1">
            <a:avLst/>
          </a:prstGeom>
          <a:noFill/>
          <a:ln cap="flat" cmpd="sng" w="19050">
            <a:solidFill>
              <a:srgbClr val="4A2C1A"/>
            </a:solidFill>
            <a:prstDash val="solid"/>
            <a:round/>
            <a:headEnd len="med" w="med" type="none"/>
            <a:tailEnd len="med" w="med" type="triangle"/>
          </a:ln>
        </p:spPr>
      </p:cxnSp>
      <p:cxnSp>
        <p:nvCxnSpPr>
          <p:cNvPr id="386" name="Google Shape;386;p12"/>
          <p:cNvCxnSpPr/>
          <p:nvPr/>
        </p:nvCxnSpPr>
        <p:spPr>
          <a:xfrm>
            <a:off x="7882066" y="5349233"/>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7" name="Google Shape;387;p12"/>
          <p:cNvCxnSpPr/>
          <p:nvPr/>
        </p:nvCxnSpPr>
        <p:spPr>
          <a:xfrm>
            <a:off x="4114733" y="5349225"/>
            <a:ext cx="201300" cy="0"/>
          </a:xfrm>
          <a:prstGeom prst="straightConnector1">
            <a:avLst/>
          </a:prstGeom>
          <a:noFill/>
          <a:ln cap="flat" cmpd="sng" w="19050">
            <a:solidFill>
              <a:srgbClr val="4A2C1A"/>
            </a:solidFill>
            <a:prstDash val="solid"/>
            <a:round/>
            <a:headEnd len="med" w="med" type="none"/>
            <a:tailEnd len="med" w="med" type="triangle"/>
          </a:ln>
        </p:spPr>
      </p:cxnSp>
      <p:cxnSp>
        <p:nvCxnSpPr>
          <p:cNvPr id="388" name="Google Shape;388;p12"/>
          <p:cNvCxnSpPr/>
          <p:nvPr/>
        </p:nvCxnSpPr>
        <p:spPr>
          <a:xfrm>
            <a:off x="-125747" y="5349225"/>
            <a:ext cx="674400" cy="0"/>
          </a:xfrm>
          <a:prstGeom prst="straightConnector1">
            <a:avLst/>
          </a:prstGeom>
          <a:noFill/>
          <a:ln cap="flat" cmpd="sng" w="19050">
            <a:solidFill>
              <a:srgbClr val="4A2C1A"/>
            </a:solidFill>
            <a:prstDash val="solid"/>
            <a:round/>
            <a:headEnd len="med" w="med" type="none"/>
            <a:tailEnd len="med" w="med" type="triangle"/>
          </a:ln>
        </p:spPr>
      </p:cxnSp>
      <p:sp>
        <p:nvSpPr>
          <p:cNvPr id="389" name="Google Shape;389;p12"/>
          <p:cNvSpPr/>
          <p:nvPr/>
        </p:nvSpPr>
        <p:spPr>
          <a:xfrm>
            <a:off x="713210" y="1462965"/>
            <a:ext cx="932700" cy="301800"/>
          </a:xfrm>
          <a:prstGeom prst="roundRect">
            <a:avLst>
              <a:gd fmla="val 18182" name="adj"/>
            </a:avLst>
          </a:prstGeom>
          <a:solidFill>
            <a:srgbClr val="4A2C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2"/>
          <p:cNvSpPr/>
          <p:nvPr/>
        </p:nvSpPr>
        <p:spPr>
          <a:xfrm>
            <a:off x="713210" y="1462965"/>
            <a:ext cx="932700" cy="301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A441"/>
              </a:buClr>
              <a:buSzPts val="1050"/>
              <a:buFont typeface="Calibri"/>
              <a:buNone/>
            </a:pPr>
            <a:r>
              <a:rPr b="1" i="0" lang="en-US" sz="1250" u="none" cap="none" strike="noStrike">
                <a:solidFill>
                  <a:srgbClr val="D9A441"/>
                </a:solidFill>
                <a:latin typeface="Calibri"/>
                <a:ea typeface="Calibri"/>
                <a:cs typeface="Calibri"/>
                <a:sym typeface="Calibri"/>
              </a:rPr>
              <a:t>Sprint </a:t>
            </a:r>
            <a:r>
              <a:rPr b="1" lang="en-US" sz="1250">
                <a:solidFill>
                  <a:srgbClr val="D9A441"/>
                </a:solidFill>
                <a:latin typeface="Calibri"/>
                <a:ea typeface="Calibri"/>
                <a:cs typeface="Calibri"/>
                <a:sym typeface="Calibri"/>
              </a:rPr>
              <a:t>0</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13"/>
          <p:cNvSpPr/>
          <p:nvPr/>
        </p:nvSpPr>
        <p:spPr>
          <a:xfrm>
            <a:off x="548640" y="320040"/>
            <a:ext cx="110916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3000"/>
              <a:buFont typeface="Cambria"/>
              <a:buNone/>
            </a:pPr>
            <a:r>
              <a:rPr b="1" i="0" lang="en-US" sz="3000" u="none" cap="none" strike="noStrike">
                <a:solidFill>
                  <a:srgbClr val="D9A441"/>
                </a:solidFill>
                <a:latin typeface="Calibri"/>
                <a:ea typeface="Calibri"/>
                <a:cs typeface="Calibri"/>
                <a:sym typeface="Calibri"/>
              </a:rPr>
              <a:t>C</a:t>
            </a:r>
            <a:r>
              <a:rPr b="1" i="0" lang="en-US" sz="3000" u="none" cap="none" strike="noStrike">
                <a:solidFill>
                  <a:srgbClr val="4A2C1A"/>
                </a:solidFill>
                <a:latin typeface="Calibri"/>
                <a:ea typeface="Calibri"/>
                <a:cs typeface="Calibri"/>
                <a:sym typeface="Calibri"/>
              </a:rPr>
              <a:t>onclusiones</a:t>
            </a:r>
            <a:r>
              <a:rPr b="1" i="0" lang="en-US" sz="3000" u="none" cap="none" strike="noStrike">
                <a:solidFill>
                  <a:srgbClr val="D9A441"/>
                </a:solidFill>
                <a:latin typeface="Calibri"/>
                <a:ea typeface="Calibri"/>
                <a:cs typeface="Calibri"/>
                <a:sym typeface="Calibri"/>
              </a:rPr>
              <a:t> </a:t>
            </a:r>
            <a:r>
              <a:rPr b="1" i="0" lang="en-US" sz="3000" u="none" cap="none" strike="noStrike">
                <a:solidFill>
                  <a:srgbClr val="2E2318"/>
                </a:solidFill>
                <a:latin typeface="Calibri"/>
                <a:ea typeface="Calibri"/>
                <a:cs typeface="Calibri"/>
                <a:sym typeface="Calibri"/>
              </a:rPr>
              <a:t>y reflexiones</a:t>
            </a:r>
            <a:endParaRPr i="0" sz="3000" u="none" cap="none" strike="noStrike">
              <a:solidFill>
                <a:schemeClr val="dk1"/>
              </a:solidFill>
              <a:latin typeface="Calibri"/>
              <a:ea typeface="Calibri"/>
              <a:cs typeface="Calibri"/>
              <a:sym typeface="Calibri"/>
            </a:endParaRPr>
          </a:p>
        </p:txBody>
      </p:sp>
      <p:sp>
        <p:nvSpPr>
          <p:cNvPr id="397" name="Google Shape;397;p13"/>
          <p:cNvSpPr/>
          <p:nvPr/>
        </p:nvSpPr>
        <p:spPr>
          <a:xfrm>
            <a:off x="548640" y="1371600"/>
            <a:ext cx="53949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777240" y="1600200"/>
            <a:ext cx="594360" cy="5943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99" name="Google Shape;399;p13"/>
          <p:cNvPicPr preferRelativeResize="0"/>
          <p:nvPr/>
        </p:nvPicPr>
        <p:blipFill rotWithShape="1">
          <a:blip r:embed="rId3">
            <a:alphaModFix/>
          </a:blip>
          <a:srcRect b="0" l="0" r="0" t="0"/>
          <a:stretch/>
        </p:blipFill>
        <p:spPr>
          <a:xfrm>
            <a:off x="931774" y="1754734"/>
            <a:ext cx="285293" cy="285293"/>
          </a:xfrm>
          <a:prstGeom prst="rect">
            <a:avLst/>
          </a:prstGeom>
          <a:noFill/>
          <a:ln>
            <a:noFill/>
          </a:ln>
        </p:spPr>
      </p:pic>
      <p:sp>
        <p:nvSpPr>
          <p:cNvPr id="400" name="Google Shape;400;p13"/>
          <p:cNvSpPr/>
          <p:nvPr/>
        </p:nvSpPr>
        <p:spPr>
          <a:xfrm>
            <a:off x="1508760" y="1627632"/>
            <a:ext cx="4206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A441"/>
              </a:buClr>
              <a:buSzPts val="1450"/>
              <a:buFont typeface="Calibri"/>
              <a:buNone/>
            </a:pPr>
            <a:r>
              <a:rPr b="1" i="0" lang="en-US" sz="1650" u="none" cap="none" strike="noStrike">
                <a:solidFill>
                  <a:srgbClr val="4A2C1A"/>
                </a:solidFill>
                <a:latin typeface="Calibri"/>
                <a:ea typeface="Calibri"/>
                <a:cs typeface="Calibri"/>
                <a:sym typeface="Calibri"/>
              </a:rPr>
              <a:t>Fernando Belmar</a:t>
            </a:r>
            <a:endParaRPr b="0" i="0" sz="1650" u="none" cap="none" strike="noStrike">
              <a:solidFill>
                <a:srgbClr val="4A2C1A"/>
              </a:solidFill>
              <a:latin typeface="Calibri"/>
              <a:ea typeface="Calibri"/>
              <a:cs typeface="Calibri"/>
              <a:sym typeface="Calibri"/>
            </a:endParaRPr>
          </a:p>
        </p:txBody>
      </p:sp>
      <p:sp>
        <p:nvSpPr>
          <p:cNvPr id="401" name="Google Shape;401;p13"/>
          <p:cNvSpPr/>
          <p:nvPr/>
        </p:nvSpPr>
        <p:spPr>
          <a:xfrm>
            <a:off x="822960" y="2286000"/>
            <a:ext cx="4846320" cy="123444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F3EADC"/>
              </a:buClr>
              <a:buSzPts val="1130"/>
              <a:buFont typeface="Calibri"/>
              <a:buNone/>
            </a:pPr>
            <a:r>
              <a:rPr lang="en-US" sz="1130">
                <a:solidFill>
                  <a:srgbClr val="6E5F50"/>
                </a:solidFill>
                <a:latin typeface="Calibri"/>
                <a:ea typeface="Calibri"/>
                <a:cs typeface="Calibri"/>
                <a:sym typeface="Calibri"/>
              </a:rPr>
              <a:t>Declarar que el inventario de pan terminado es aproximado, que el terminal de pago va simulado y que no soportamos periféricos arbitrarios parecía debilitar la propuesta. Hace lo contrario: cada exclusión es defendible, coincide con lo que hacen los productos comerciales y cambia una afirmación que no resistiría preguntas por una que sí.</a:t>
            </a:r>
            <a:endParaRPr b="0" i="0" sz="1130" u="none" cap="none" strike="noStrike">
              <a:solidFill>
                <a:srgbClr val="6E5F50"/>
              </a:solidFill>
              <a:latin typeface="Calibri"/>
              <a:ea typeface="Calibri"/>
              <a:cs typeface="Calibri"/>
              <a:sym typeface="Calibri"/>
            </a:endParaRPr>
          </a:p>
        </p:txBody>
      </p:sp>
      <p:sp>
        <p:nvSpPr>
          <p:cNvPr id="402" name="Google Shape;402;p13"/>
          <p:cNvSpPr/>
          <p:nvPr/>
        </p:nvSpPr>
        <p:spPr>
          <a:xfrm>
            <a:off x="6263640" y="1371600"/>
            <a:ext cx="53949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p:nvPr/>
        </p:nvSpPr>
        <p:spPr>
          <a:xfrm>
            <a:off x="6492240" y="1600200"/>
            <a:ext cx="594360" cy="5943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4" name="Google Shape;404;p13"/>
          <p:cNvPicPr preferRelativeResize="0"/>
          <p:nvPr/>
        </p:nvPicPr>
        <p:blipFill rotWithShape="1">
          <a:blip r:embed="rId3">
            <a:alphaModFix/>
          </a:blip>
          <a:srcRect b="0" l="0" r="0" t="0"/>
          <a:stretch/>
        </p:blipFill>
        <p:spPr>
          <a:xfrm>
            <a:off x="6646774" y="1754734"/>
            <a:ext cx="285293" cy="285293"/>
          </a:xfrm>
          <a:prstGeom prst="rect">
            <a:avLst/>
          </a:prstGeom>
          <a:noFill/>
          <a:ln>
            <a:noFill/>
          </a:ln>
        </p:spPr>
      </p:pic>
      <p:sp>
        <p:nvSpPr>
          <p:cNvPr id="405" name="Google Shape;405;p13"/>
          <p:cNvSpPr/>
          <p:nvPr/>
        </p:nvSpPr>
        <p:spPr>
          <a:xfrm>
            <a:off x="7223760" y="1627632"/>
            <a:ext cx="4206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450"/>
              <a:buFont typeface="Calibri"/>
              <a:buNone/>
            </a:pPr>
            <a:r>
              <a:rPr b="1" lang="en-US" sz="1650">
                <a:solidFill>
                  <a:srgbClr val="4A2C1A"/>
                </a:solidFill>
                <a:latin typeface="Calibri"/>
                <a:ea typeface="Calibri"/>
                <a:cs typeface="Calibri"/>
                <a:sym typeface="Calibri"/>
              </a:rPr>
              <a:t>Diego Maldonado</a:t>
            </a:r>
            <a:endParaRPr b="0" i="0" sz="1650" u="none" cap="none" strike="noStrike">
              <a:solidFill>
                <a:schemeClr val="dk1"/>
              </a:solidFill>
              <a:latin typeface="Calibri"/>
              <a:ea typeface="Calibri"/>
              <a:cs typeface="Calibri"/>
              <a:sym typeface="Calibri"/>
            </a:endParaRPr>
          </a:p>
        </p:txBody>
      </p:sp>
      <p:sp>
        <p:nvSpPr>
          <p:cNvPr id="406" name="Google Shape;406;p13"/>
          <p:cNvSpPr/>
          <p:nvPr/>
        </p:nvSpPr>
        <p:spPr>
          <a:xfrm>
            <a:off x="6537960" y="2263138"/>
            <a:ext cx="4846200" cy="12345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Siendo el puente entre el cliente y el equipo de desarrollo, considero que se han determinado correctamente las historias de usuarios; Los </a:t>
            </a:r>
            <a:r>
              <a:rPr lang="en-US" sz="1130">
                <a:solidFill>
                  <a:srgbClr val="6E5F50"/>
                </a:solidFill>
                <a:latin typeface="Calibri"/>
                <a:ea typeface="Calibri"/>
                <a:cs typeface="Calibri"/>
                <a:sym typeface="Calibri"/>
              </a:rPr>
              <a:t>obstáculos</a:t>
            </a:r>
            <a:r>
              <a:rPr lang="en-US" sz="1130">
                <a:solidFill>
                  <a:srgbClr val="6E5F50"/>
                </a:solidFill>
                <a:latin typeface="Calibri"/>
                <a:ea typeface="Calibri"/>
                <a:cs typeface="Calibri"/>
                <a:sym typeface="Calibri"/>
              </a:rPr>
              <a:t> más evidentes han sido identificados y ya se han propuesto planes para reaccionar ante ellos según aparezcan, el proyecto es factible y tenemos un equipo que cuenta con la experiencia y conocimientos para terminarlo.</a:t>
            </a:r>
            <a:endParaRPr b="0" sz="1130" u="none" cap="none" strike="noStrike">
              <a:solidFill>
                <a:schemeClr val="dk1"/>
              </a:solidFill>
              <a:latin typeface="Calibri"/>
              <a:ea typeface="Calibri"/>
              <a:cs typeface="Calibri"/>
              <a:sym typeface="Calibri"/>
            </a:endParaRPr>
          </a:p>
        </p:txBody>
      </p:sp>
      <p:sp>
        <p:nvSpPr>
          <p:cNvPr id="407" name="Google Shape;407;p13"/>
          <p:cNvSpPr/>
          <p:nvPr/>
        </p:nvSpPr>
        <p:spPr>
          <a:xfrm>
            <a:off x="548640" y="3840480"/>
            <a:ext cx="5394960" cy="224028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777240" y="4069080"/>
            <a:ext cx="594360" cy="5943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9" name="Google Shape;409;p13"/>
          <p:cNvPicPr preferRelativeResize="0"/>
          <p:nvPr/>
        </p:nvPicPr>
        <p:blipFill rotWithShape="1">
          <a:blip r:embed="rId3">
            <a:alphaModFix/>
          </a:blip>
          <a:srcRect b="0" l="0" r="0" t="0"/>
          <a:stretch/>
        </p:blipFill>
        <p:spPr>
          <a:xfrm>
            <a:off x="931774" y="4223614"/>
            <a:ext cx="285293" cy="285293"/>
          </a:xfrm>
          <a:prstGeom prst="rect">
            <a:avLst/>
          </a:prstGeom>
          <a:noFill/>
          <a:ln>
            <a:noFill/>
          </a:ln>
        </p:spPr>
      </p:pic>
      <p:sp>
        <p:nvSpPr>
          <p:cNvPr id="410" name="Google Shape;410;p13"/>
          <p:cNvSpPr/>
          <p:nvPr/>
        </p:nvSpPr>
        <p:spPr>
          <a:xfrm>
            <a:off x="1508760" y="4096512"/>
            <a:ext cx="4206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450"/>
              <a:buFont typeface="Calibri"/>
              <a:buNone/>
            </a:pPr>
            <a:r>
              <a:rPr b="1" lang="en-US" sz="1650">
                <a:solidFill>
                  <a:srgbClr val="4A2C1A"/>
                </a:solidFill>
                <a:latin typeface="Calibri"/>
                <a:ea typeface="Calibri"/>
                <a:cs typeface="Calibri"/>
                <a:sym typeface="Calibri"/>
              </a:rPr>
              <a:t>Juan Pablo Pérez</a:t>
            </a:r>
            <a:endParaRPr b="0" i="0" sz="1650" u="none" cap="none" strike="noStrike">
              <a:solidFill>
                <a:schemeClr val="dk1"/>
              </a:solidFill>
              <a:latin typeface="Calibri"/>
              <a:ea typeface="Calibri"/>
              <a:cs typeface="Calibri"/>
              <a:sym typeface="Calibri"/>
            </a:endParaRPr>
          </a:p>
        </p:txBody>
      </p:sp>
      <p:sp>
        <p:nvSpPr>
          <p:cNvPr id="411" name="Google Shape;411;p13"/>
          <p:cNvSpPr/>
          <p:nvPr/>
        </p:nvSpPr>
        <p:spPr>
          <a:xfrm>
            <a:off x="822960" y="4754880"/>
            <a:ext cx="4846320" cy="123444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El mayor desafío que enfrentamos como equipo radica en integrar la predicción de demanda sin interferir en el flujo de trabajo del negocio, demostrando cómo una solución offline-first y basada en datos puede transformar procesos empíricos en decisiones eficientes. Más allá de lo técnico, lo que más me entusiasma es ver cómo el software resuelve problemas reales y genera un impacto positivo en la panadería, mejorando sus procesos diarios.</a:t>
            </a:r>
            <a:endParaRPr b="0" i="0" sz="1130" u="none" cap="none" strike="noStrike">
              <a:solidFill>
                <a:srgbClr val="6E5F50"/>
              </a:solidFill>
              <a:latin typeface="Calibri"/>
              <a:ea typeface="Calibri"/>
              <a:cs typeface="Calibri"/>
              <a:sym typeface="Calibri"/>
            </a:endParaRPr>
          </a:p>
        </p:txBody>
      </p:sp>
      <p:sp>
        <p:nvSpPr>
          <p:cNvPr id="412" name="Google Shape;412;p13"/>
          <p:cNvSpPr/>
          <p:nvPr/>
        </p:nvSpPr>
        <p:spPr>
          <a:xfrm>
            <a:off x="6263640" y="3840480"/>
            <a:ext cx="5394900" cy="2240400"/>
          </a:xfrm>
          <a:prstGeom prst="roundRect">
            <a:avLst>
              <a:gd fmla="val 4898" name="adj"/>
            </a:avLst>
          </a:prstGeom>
          <a:solidFill>
            <a:srgbClr val="F6EF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
          <p:cNvSpPr/>
          <p:nvPr/>
        </p:nvSpPr>
        <p:spPr>
          <a:xfrm>
            <a:off x="6492240" y="4069080"/>
            <a:ext cx="594360" cy="59436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4" name="Google Shape;414;p13"/>
          <p:cNvPicPr preferRelativeResize="0"/>
          <p:nvPr/>
        </p:nvPicPr>
        <p:blipFill rotWithShape="1">
          <a:blip r:embed="rId3">
            <a:alphaModFix/>
          </a:blip>
          <a:srcRect b="0" l="0" r="0" t="0"/>
          <a:stretch/>
        </p:blipFill>
        <p:spPr>
          <a:xfrm>
            <a:off x="6646774" y="4223614"/>
            <a:ext cx="285293" cy="285293"/>
          </a:xfrm>
          <a:prstGeom prst="rect">
            <a:avLst/>
          </a:prstGeom>
          <a:noFill/>
          <a:ln>
            <a:noFill/>
          </a:ln>
        </p:spPr>
      </p:pic>
      <p:sp>
        <p:nvSpPr>
          <p:cNvPr id="415" name="Google Shape;415;p13"/>
          <p:cNvSpPr/>
          <p:nvPr/>
        </p:nvSpPr>
        <p:spPr>
          <a:xfrm>
            <a:off x="7223760" y="4096512"/>
            <a:ext cx="4206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2C1A"/>
              </a:buClr>
              <a:buSzPts val="1450"/>
              <a:buFont typeface="Calibri"/>
              <a:buNone/>
            </a:pPr>
            <a:r>
              <a:rPr b="1" lang="en-US" sz="1650">
                <a:solidFill>
                  <a:srgbClr val="4A2C1A"/>
                </a:solidFill>
                <a:latin typeface="Calibri"/>
                <a:ea typeface="Calibri"/>
                <a:cs typeface="Calibri"/>
                <a:sym typeface="Calibri"/>
              </a:rPr>
              <a:t>Rodrigo Mancilla</a:t>
            </a:r>
            <a:endParaRPr b="0" i="0" sz="1650" u="none" cap="none" strike="noStrike">
              <a:solidFill>
                <a:schemeClr val="dk1"/>
              </a:solidFill>
              <a:latin typeface="Calibri"/>
              <a:ea typeface="Calibri"/>
              <a:cs typeface="Calibri"/>
              <a:sym typeface="Calibri"/>
            </a:endParaRPr>
          </a:p>
        </p:txBody>
      </p:sp>
      <p:sp>
        <p:nvSpPr>
          <p:cNvPr id="416" name="Google Shape;416;p13"/>
          <p:cNvSpPr/>
          <p:nvPr/>
        </p:nvSpPr>
        <p:spPr>
          <a:xfrm>
            <a:off x="6537960" y="4754880"/>
            <a:ext cx="484632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5F50"/>
              </a:buClr>
              <a:buSzPts val="1130"/>
              <a:buFont typeface="Calibri"/>
              <a:buNone/>
            </a:pPr>
            <a:r>
              <a:t/>
            </a:r>
            <a:endParaRPr b="0" i="0" sz="1130" u="none" cap="none" strike="noStrike">
              <a:solidFill>
                <a:schemeClr val="dk1"/>
              </a:solidFill>
              <a:latin typeface="Calibri"/>
              <a:ea typeface="Calibri"/>
              <a:cs typeface="Calibri"/>
              <a:sym typeface="Calibri"/>
            </a:endParaRPr>
          </a:p>
        </p:txBody>
      </p:sp>
      <p:sp>
        <p:nvSpPr>
          <p:cNvPr id="417" name="Google Shape;417;p13"/>
          <p:cNvSpPr/>
          <p:nvPr/>
        </p:nvSpPr>
        <p:spPr>
          <a:xfrm>
            <a:off x="11503152"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5F50"/>
              </a:buClr>
              <a:buSzPts val="1000"/>
              <a:buFont typeface="Calibri"/>
              <a:buNone/>
            </a:pPr>
            <a:r>
              <a:rPr b="0" i="0" lang="en-US" sz="1000" u="none" cap="none" strike="noStrike">
                <a:solidFill>
                  <a:srgbClr val="6E5F50"/>
                </a:solidFill>
                <a:latin typeface="Calibri"/>
                <a:ea typeface="Calibri"/>
                <a:cs typeface="Calibri"/>
                <a:sym typeface="Calibri"/>
              </a:rPr>
              <a:t>13</a:t>
            </a:r>
            <a:endParaRPr b="0" i="0" sz="1000" u="none" cap="none" strike="noStrike">
              <a:solidFill>
                <a:schemeClr val="dk1"/>
              </a:solidFill>
              <a:latin typeface="Calibri"/>
              <a:ea typeface="Calibri"/>
              <a:cs typeface="Calibri"/>
              <a:sym typeface="Calibri"/>
            </a:endParaRPr>
          </a:p>
        </p:txBody>
      </p:sp>
      <p:sp>
        <p:nvSpPr>
          <p:cNvPr id="418" name="Google Shape;418;p13"/>
          <p:cNvSpPr/>
          <p:nvPr/>
        </p:nvSpPr>
        <p:spPr>
          <a:xfrm>
            <a:off x="6538035" y="4754850"/>
            <a:ext cx="4846200" cy="1234500"/>
          </a:xfrm>
          <a:prstGeom prst="rect">
            <a:avLst/>
          </a:prstGeom>
          <a:noFill/>
          <a:ln>
            <a:noFill/>
          </a:ln>
        </p:spPr>
        <p:txBody>
          <a:bodyPr anchorCtr="0" anchor="ctr" bIns="0" lIns="0" spcFirstLastPara="1" rIns="0" wrap="square" tIns="0">
            <a:noAutofit/>
          </a:bodyPr>
          <a:lstStyle/>
          <a:p>
            <a:pPr indent="0" lvl="0" marL="0" marR="0" rtl="0" algn="just">
              <a:spcBef>
                <a:spcPts val="0"/>
              </a:spcBef>
              <a:spcAft>
                <a:spcPts val="0"/>
              </a:spcAft>
              <a:buClr>
                <a:srgbClr val="6E5F50"/>
              </a:buClr>
              <a:buSzPts val="1130"/>
              <a:buFont typeface="Calibri"/>
              <a:buNone/>
            </a:pPr>
            <a:r>
              <a:rPr lang="en-US" sz="1130">
                <a:solidFill>
                  <a:srgbClr val="6E5F50"/>
                </a:solidFill>
                <a:latin typeface="Calibri"/>
                <a:ea typeface="Calibri"/>
                <a:cs typeface="Calibri"/>
                <a:sym typeface="Calibri"/>
              </a:rPr>
              <a:t>Siendo lo que más valoro es la ciberseguridad, Duoc me ha dado las herramientas necesarias para poder implementarlas en nuestro proyecto, tales como el acceso por roles, el aislamiento de datos entre distintas panaderías y metodología offline-first para las BD. Este proyecto me </a:t>
            </a:r>
            <a:r>
              <a:rPr lang="en-US" sz="1130">
                <a:solidFill>
                  <a:srgbClr val="6E5F50"/>
                </a:solidFill>
                <a:latin typeface="Calibri"/>
                <a:ea typeface="Calibri"/>
                <a:cs typeface="Calibri"/>
                <a:sym typeface="Calibri"/>
              </a:rPr>
              <a:t>permitió</a:t>
            </a:r>
            <a:r>
              <a:rPr lang="en-US" sz="1130">
                <a:solidFill>
                  <a:srgbClr val="6E5F50"/>
                </a:solidFill>
                <a:latin typeface="Calibri"/>
                <a:ea typeface="Calibri"/>
                <a:cs typeface="Calibri"/>
                <a:sym typeface="Calibri"/>
              </a:rPr>
              <a:t> crecer en lo que más aprecio, </a:t>
            </a:r>
            <a:r>
              <a:rPr lang="en-US" sz="1130">
                <a:solidFill>
                  <a:srgbClr val="6E5F50"/>
                </a:solidFill>
                <a:latin typeface="Calibri"/>
                <a:ea typeface="Calibri"/>
                <a:cs typeface="Calibri"/>
                <a:sym typeface="Calibri"/>
              </a:rPr>
              <a:t>qué</a:t>
            </a:r>
            <a:r>
              <a:rPr lang="en-US" sz="1130">
                <a:solidFill>
                  <a:srgbClr val="6E5F50"/>
                </a:solidFill>
                <a:latin typeface="Calibri"/>
                <a:ea typeface="Calibri"/>
                <a:cs typeface="Calibri"/>
                <a:sym typeface="Calibri"/>
              </a:rPr>
              <a:t> es la de convertir datos en decisiones.</a:t>
            </a:r>
            <a:endParaRPr b="0" sz="113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A2C1A"/>
        </a:solidFill>
      </p:bgPr>
    </p:bg>
    <p:spTree>
      <p:nvGrpSpPr>
        <p:cNvPr id="423" name="Shape 423"/>
        <p:cNvGrpSpPr/>
        <p:nvPr/>
      </p:nvGrpSpPr>
      <p:grpSpPr>
        <a:xfrm>
          <a:off x="0" y="0"/>
          <a:ext cx="0" cy="0"/>
          <a:chOff x="0" y="0"/>
          <a:chExt cx="0" cy="0"/>
        </a:xfrm>
      </p:grpSpPr>
      <p:sp>
        <p:nvSpPr>
          <p:cNvPr id="424" name="Google Shape;424;p14"/>
          <p:cNvSpPr/>
          <p:nvPr/>
        </p:nvSpPr>
        <p:spPr>
          <a:xfrm>
            <a:off x="5591556" y="2423155"/>
            <a:ext cx="1005900" cy="1005900"/>
          </a:xfrm>
          <a:prstGeom prst="ellipse">
            <a:avLst/>
          </a:prstGeom>
          <a:solidFill>
            <a:srgbClr val="D9A44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25" name="Google Shape;425;p14"/>
          <p:cNvPicPr preferRelativeResize="0"/>
          <p:nvPr/>
        </p:nvPicPr>
        <p:blipFill rotWithShape="1">
          <a:blip r:embed="rId3">
            <a:alphaModFix/>
          </a:blip>
          <a:srcRect b="0" l="0" r="0" t="0"/>
          <a:stretch/>
        </p:blipFill>
        <p:spPr>
          <a:xfrm>
            <a:off x="5853074" y="2684673"/>
            <a:ext cx="482803" cy="482803"/>
          </a:xfrm>
          <a:prstGeom prst="rect">
            <a:avLst/>
          </a:prstGeom>
          <a:noFill/>
          <a:ln>
            <a:noFill/>
          </a:ln>
        </p:spPr>
      </p:pic>
      <p:sp>
        <p:nvSpPr>
          <p:cNvPr id="426" name="Google Shape;426;p14"/>
          <p:cNvSpPr/>
          <p:nvPr/>
        </p:nvSpPr>
        <p:spPr>
          <a:xfrm>
            <a:off x="-25" y="3520448"/>
            <a:ext cx="12189000" cy="9144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5800"/>
              <a:buFont typeface="Cambria"/>
              <a:buNone/>
            </a:pPr>
            <a:r>
              <a:rPr b="1" lang="en-US" sz="5800">
                <a:solidFill>
                  <a:srgbClr val="FFFFFF"/>
                </a:solidFill>
                <a:latin typeface="Calibri"/>
                <a:ea typeface="Calibri"/>
                <a:cs typeface="Calibri"/>
                <a:sym typeface="Calibri"/>
              </a:rPr>
              <a:t>Muchas gracias</a:t>
            </a:r>
            <a:endParaRPr b="1" i="0" sz="5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2026-08-22T01:36:52Z</dcterms:created>
  <dc:creator>PptxGenJS</dc:creator>
</cp:coreProperties>
</file>