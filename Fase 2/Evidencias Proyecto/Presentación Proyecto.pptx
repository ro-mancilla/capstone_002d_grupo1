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12188825"/>
  <p:notesSz cx="6858000" cy="121888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ix7TSUFAKzM654uH3srTwEIFpw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7B9E9C-A63D-41EF-8DED-ABFA5B16292E}">
  <a:tblStyle styleId="{BA7B9E9C-A63D-41EF-8DED-ABFA5B1629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Comprometidas</c:v>
                </c:pt>
              </c:strCache>
            </c:strRef>
          </c:tx>
          <c:spPr>
            <a:solidFill>
              <a:srgbClr val="D9A441"/>
            </a:solidFill>
          </c:spPr>
          <c:cat>
            <c:strRef>
              <c:f>Sheet1!$A$2:$A$6</c:f>
              <c:strCache>
                <c:ptCount val="5"/>
                <c:pt idx="0">
                  <c:v>Sprint 0</c:v>
                </c:pt>
                <c:pt idx="1">
                  <c:v>Sprint 1</c:v>
                </c:pt>
                <c:pt idx="2">
                  <c:v>Sprint 2</c:v>
                </c:pt>
                <c:pt idx="3">
                  <c:v>Sprint 3</c:v>
                </c:pt>
                <c:pt idx="4">
                  <c:v>Sprint 4</c:v>
                </c:pt>
              </c:strCache>
            </c:strRef>
          </c:cat>
          <c:val>
            <c:numRef>
              <c:f>Sheet1!$B$2:$B$6</c:f>
              <c:numCache>
                <c:formatCode>General</c:formatCode>
                <c:ptCount val="5"/>
                <c:pt idx="0">
                  <c:v>73</c:v>
                </c:pt>
                <c:pt idx="1">
                  <c:v>79</c:v>
                </c:pt>
                <c:pt idx="2">
                  <c:v>69</c:v>
                </c:pt>
                <c:pt idx="3">
                  <c:v>66</c:v>
                </c:pt>
                <c:pt idx="4">
                  <c:v>66</c:v>
                </c:pt>
              </c:numCache>
            </c:numRef>
          </c:val>
        </c:ser>
        <c:ser>
          <c:idx val="1"/>
          <c:order val="1"/>
          <c:tx>
            <c:strRef>
              <c:f>Sheet1!$C$1</c:f>
              <c:strCache>
                <c:ptCount val="1"/>
                <c:pt idx="0">
                  <c:v>Consumidas</c:v>
                </c:pt>
              </c:strCache>
            </c:strRef>
          </c:tx>
          <c:spPr>
            <a:solidFill>
              <a:srgbClr val="4A2C1A"/>
            </a:solidFill>
          </c:spPr>
          <c:cat>
            <c:strRef>
              <c:f>Sheet1!$A$2:$A$6</c:f>
              <c:strCache>
                <c:ptCount val="5"/>
                <c:pt idx="0">
                  <c:v>Sprint 0</c:v>
                </c:pt>
                <c:pt idx="1">
                  <c:v>Sprint 1</c:v>
                </c:pt>
                <c:pt idx="2">
                  <c:v>Sprint 2</c:v>
                </c:pt>
                <c:pt idx="3">
                  <c:v>Sprint 3</c:v>
                </c:pt>
                <c:pt idx="4">
                  <c:v>Sprint 4</c:v>
                </c:pt>
              </c:strCache>
            </c:strRef>
          </c:cat>
          <c:val>
            <c:numRef>
              <c:f>Sheet1!$C$2:$C$6</c:f>
              <c:numCache>
                <c:formatCode>General</c:formatCode>
                <c:ptCount val="5"/>
                <c:pt idx="0">
                  <c:v>73</c:v>
                </c:pt>
                <c:pt idx="1">
                  <c:v>79</c:v>
                </c:pt>
                <c:pt idx="2">
                  <c:v>69</c:v>
                </c:pt>
                <c:pt idx="3">
                  <c:v>62.5</c:v>
                </c:pt>
                <c:pt idx="4">
                  <c:v>66</c:v>
                </c:pt>
              </c:numCache>
            </c:numRef>
          </c:val>
        </c:ser>
        <c:dLbls>
          <c:numFmt formatCode="General" sourceLinked="0"/>
          <c:txPr>
            <a:bodyPr/>
            <a:lstStyle/>
            <a:p>
              <a:pPr>
                <a:defRPr sz="1100" b="1">
                  <a:solidFill>
                    <a:srgbClr val="2E2318"/>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E9DECB"/>
            </a:solidFill>
          </a:ln>
        </c:spPr>
        <c:txPr>
          <a:bodyPr/>
          <a:lstStyle/>
          <a:p>
            <a:pPr>
              <a:defRPr sz="1100">
                <a:solidFill>
                  <a:srgbClr val="2E2318"/>
                </a:solidFill>
              </a:defRPr>
            </a:pPr>
          </a:p>
        </c:txPr>
        <c:crossAx val="-2113994440"/>
        <c:crosses val="autoZero"/>
        <c:auto val="1"/>
        <c:lblAlgn val="ctr"/>
        <c:lblOffset val="100"/>
        <c:noMultiLvlLbl val="0"/>
      </c:catAx>
      <c:valAx>
        <c:axId val="-2113994440"/>
        <c:scaling>
          <c:max val="100.0"/>
          <c:min val="0.0"/>
        </c:scaling>
        <c:delete val="0"/>
        <c:axPos val="l"/>
        <c:majorGridlines>
          <c:spPr>
            <a:ln w="9525">
              <a:solidFill>
                <a:srgbClr val="E9DECB"/>
              </a:solidFill>
            </a:ln>
          </c:spPr>
        </c:majorGridlines>
        <c:majorTickMark val="out"/>
        <c:minorTickMark val="none"/>
        <c:tickLblPos val="nextTo"/>
        <c:spPr>
          <a:ln>
            <a:noFill/>
          </a:ln>
        </c:spPr>
        <c:txPr>
          <a:bodyPr/>
          <a:lstStyle/>
          <a:p>
            <a:pPr>
              <a:defRPr sz="1100">
                <a:solidFill>
                  <a:srgbClr val="6E5F50"/>
                </a:solidFill>
              </a:defRPr>
            </a:pPr>
          </a:p>
        </c:txPr>
        <c:crossAx val="-2068027336"/>
        <c:crosses val="autoZero"/>
        <c:majorUnit val="25.0"/>
      </c:valAx>
    </c:plotArea>
    <c:legend>
      <c:legendPos val="b"/>
      <c:overlay val="0"/>
      <c:txPr>
        <a:bodyPr/>
        <a:lstStyle/>
        <a:p>
          <a:pPr>
            <a:defRPr sz="1100">
              <a:solidFill>
                <a:srgbClr val="2E2318"/>
              </a:solidFill>
            </a:defRPr>
          </a:pPr>
        </a:p>
      </c:txPr>
    </c:legend>
    <c:dispBlanksAs val="gap"/>
  </c:chart>
  <c:txPr>
    <a:bodyPr/>
    <a:lstStyle/>
    <a:p>
      <a:pPr>
        <a:defRPr sz="1100">
          <a:solidFill>
            <a:srgbClr val="2E231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c:v>
                </c:pt>
              </c:strCache>
            </c:strRef>
          </c:tx>
          <c:spPr>
            <a:ln w="31750">
              <a:solidFill>
                <a:srgbClr val="D9A441"/>
              </a:solidFill>
              <a:prstDash val="dash"/>
            </a:ln>
          </c:spPr>
          <c:marker>
            <c:symbol val="circle"/>
            <c:size val="7"/>
            <c:spPr>
              <a:solidFill>
                <a:srgbClr val="D9A441"/>
              </a:solidFill>
              <a:ln>
                <a:solidFill>
                  <a:srgbClr val="D9A441"/>
                </a:solidFill>
              </a:ln>
            </c:spPr>
          </c:marker>
          <c:cat>
            <c:strRef>
              <c:f>Sheet1!$A$2:$A$12</c:f>
              <c:strCache>
                <c:ptCount val="11"/>
                <c:pt idx="0">
                  <c:v>Inicio</c:v>
                </c:pt>
                <c:pt idx="1">
                  <c:v>D1</c:v>
                </c:pt>
                <c:pt idx="2">
                  <c:v>D2</c:v>
                </c:pt>
                <c:pt idx="3">
                  <c:v>D3</c:v>
                </c:pt>
                <c:pt idx="4">
                  <c:v>D4</c:v>
                </c:pt>
                <c:pt idx="5">
                  <c:v>D5</c:v>
                </c:pt>
                <c:pt idx="6">
                  <c:v>D6</c:v>
                </c:pt>
                <c:pt idx="7">
                  <c:v>D7</c:v>
                </c:pt>
                <c:pt idx="8">
                  <c:v>D8</c:v>
                </c:pt>
                <c:pt idx="9">
                  <c:v>D9</c:v>
                </c:pt>
                <c:pt idx="10">
                  <c:v>D10</c:v>
                </c:pt>
              </c:strCache>
            </c:strRef>
          </c:cat>
          <c:val>
            <c:numRef>
              <c:f>Sheet1!$B$2:$B$12</c:f>
              <c:numCache>
                <c:formatCode>General</c:formatCode>
                <c:ptCount val="11"/>
                <c:pt idx="0">
                  <c:v>73</c:v>
                </c:pt>
                <c:pt idx="1">
                  <c:v>65.7</c:v>
                </c:pt>
                <c:pt idx="2">
                  <c:v>58.4</c:v>
                </c:pt>
                <c:pt idx="3">
                  <c:v>51.1</c:v>
                </c:pt>
                <c:pt idx="4">
                  <c:v>43.8</c:v>
                </c:pt>
                <c:pt idx="5">
                  <c:v>36.5</c:v>
                </c:pt>
                <c:pt idx="6">
                  <c:v>29.2</c:v>
                </c:pt>
                <c:pt idx="7">
                  <c:v>21.9</c:v>
                </c:pt>
                <c:pt idx="8">
                  <c:v>14.6</c:v>
                </c:pt>
                <c:pt idx="9">
                  <c:v>7.3</c:v>
                </c:pt>
                <c:pt idx="10">
                  <c:v>0</c:v>
                </c:pt>
              </c:numCache>
            </c:numRef>
          </c:val>
          <c:smooth val="0"/>
        </c:ser>
        <c:ser>
          <c:idx val="1"/>
          <c:order val="1"/>
          <c:tx>
            <c:strRef>
              <c:f>Sheet1!$C$1</c:f>
              <c:strCache>
                <c:ptCount val="1"/>
                <c:pt idx="0">
                  <c:v>Real</c:v>
                </c:pt>
              </c:strCache>
            </c:strRef>
          </c:tx>
          <c:spPr>
            <a:ln w="31750">
              <a:solidFill>
                <a:srgbClr val="4A2C1A"/>
              </a:solidFill>
            </a:ln>
          </c:spPr>
          <c:marker>
            <c:symbol val="circle"/>
            <c:size val="7"/>
            <c:spPr>
              <a:solidFill>
                <a:srgbClr val="4A2C1A"/>
              </a:solidFill>
              <a:ln>
                <a:solidFill>
                  <a:srgbClr val="4A2C1A"/>
                </a:solidFill>
              </a:ln>
            </c:spPr>
          </c:marker>
          <c:cat>
            <c:strRef>
              <c:f>Sheet1!$A$2:$A$12</c:f>
              <c:strCache>
                <c:ptCount val="11"/>
                <c:pt idx="0">
                  <c:v>Inicio</c:v>
                </c:pt>
                <c:pt idx="1">
                  <c:v>D1</c:v>
                </c:pt>
                <c:pt idx="2">
                  <c:v>D2</c:v>
                </c:pt>
                <c:pt idx="3">
                  <c:v>D3</c:v>
                </c:pt>
                <c:pt idx="4">
                  <c:v>D4</c:v>
                </c:pt>
                <c:pt idx="5">
                  <c:v>D5</c:v>
                </c:pt>
                <c:pt idx="6">
                  <c:v>D6</c:v>
                </c:pt>
                <c:pt idx="7">
                  <c:v>D7</c:v>
                </c:pt>
                <c:pt idx="8">
                  <c:v>D8</c:v>
                </c:pt>
                <c:pt idx="9">
                  <c:v>D9</c:v>
                </c:pt>
                <c:pt idx="10">
                  <c:v>D10</c:v>
                </c:pt>
              </c:strCache>
            </c:strRef>
          </c:cat>
          <c:val>
            <c:numRef>
              <c:f>Sheet1!$C$2:$C$12</c:f>
              <c:numCache>
                <c:formatCode>General</c:formatCode>
                <c:ptCount val="11"/>
                <c:pt idx="0">
                  <c:v>73</c:v>
                </c:pt>
                <c:pt idx="1">
                  <c:v>69.5</c:v>
                </c:pt>
                <c:pt idx="2">
                  <c:v>60.5</c:v>
                </c:pt>
                <c:pt idx="3">
                  <c:v>53</c:v>
                </c:pt>
                <c:pt idx="4">
                  <c:v>43.5</c:v>
                </c:pt>
                <c:pt idx="5">
                  <c:v>36.5</c:v>
                </c:pt>
                <c:pt idx="6">
                  <c:v>28.5</c:v>
                </c:pt>
                <c:pt idx="7">
                  <c:v>21</c:v>
                </c:pt>
                <c:pt idx="8">
                  <c:v>9.5</c:v>
                </c:pt>
                <c:pt idx="9">
                  <c:v>3</c:v>
                </c:pt>
                <c:pt idx="10">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9DECB"/>
            </a:solidFill>
          </a:ln>
        </c:spPr>
        <c:txPr>
          <a:bodyPr/>
          <a:lstStyle/>
          <a:p>
            <a:pPr>
              <a:defRPr sz="1100">
                <a:solidFill>
                  <a:srgbClr val="2E2318"/>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9DECB"/>
              </a:solidFill>
            </a:ln>
          </c:spPr>
        </c:majorGridlines>
        <c:majorTickMark val="out"/>
        <c:minorTickMark val="none"/>
        <c:tickLblPos val="nextTo"/>
        <c:spPr>
          <a:ln>
            <a:noFill/>
          </a:ln>
        </c:spPr>
        <c:txPr>
          <a:bodyPr/>
          <a:lstStyle/>
          <a:p>
            <a:pPr>
              <a:defRPr sz="1100">
                <a:solidFill>
                  <a:srgbClr val="6E5F50"/>
                </a:solidFill>
              </a:defRPr>
            </a:pPr>
          </a:p>
        </c:txPr>
        <c:crossAx val="2118791784"/>
        <c:crosses val="autoZero"/>
      </c:valAx>
    </c:plotArea>
    <c:legend>
      <c:legendPos val="t"/>
      <c:layout/>
      <c:overlay val="0"/>
      <c:txPr>
        <a:bodyPr/>
        <a:lstStyle/>
        <a:p>
          <a:pPr>
            <a:defRPr sz="1200">
              <a:solidFill>
                <a:srgbClr val="2E2318"/>
              </a:solidFill>
            </a:defRPr>
          </a:pPr>
        </a:p>
      </c:txPr>
    </c:legend>
    <c:plotVisOnly val="1"/>
    <c:dispBlanksAs val="gap"/>
    <c:showDLblsOverMax val="0"/>
  </c:chart>
  <c:txPr>
    <a:bodyPr/>
    <a:lstStyle/>
    <a:p>
      <a:pPr>
        <a:defRPr sz="1100">
          <a:solidFill>
            <a:srgbClr val="2E2318"/>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c:v>
                </c:pt>
              </c:strCache>
            </c:strRef>
          </c:tx>
          <c:spPr>
            <a:ln w="31750">
              <a:solidFill>
                <a:srgbClr val="D9A441"/>
              </a:solidFill>
              <a:prstDash val="dash"/>
            </a:ln>
          </c:spPr>
          <c:marker>
            <c:symbol val="circle"/>
            <c:size val="7"/>
            <c:spPr>
              <a:solidFill>
                <a:srgbClr val="D9A441"/>
              </a:solidFill>
              <a:ln>
                <a:solidFill>
                  <a:srgbClr val="D9A441"/>
                </a:solidFill>
              </a:ln>
            </c:spPr>
          </c:marker>
          <c:cat>
            <c:strRef>
              <c:f>Sheet1!$A$2:$A$12</c:f>
              <c:strCache>
                <c:ptCount val="11"/>
                <c:pt idx="0">
                  <c:v>Inicio</c:v>
                </c:pt>
                <c:pt idx="1">
                  <c:v>D1</c:v>
                </c:pt>
                <c:pt idx="2">
                  <c:v>D2</c:v>
                </c:pt>
                <c:pt idx="3">
                  <c:v>D3</c:v>
                </c:pt>
                <c:pt idx="4">
                  <c:v>D4</c:v>
                </c:pt>
                <c:pt idx="5">
                  <c:v>D5</c:v>
                </c:pt>
                <c:pt idx="6">
                  <c:v>D6</c:v>
                </c:pt>
                <c:pt idx="7">
                  <c:v>D7</c:v>
                </c:pt>
                <c:pt idx="8">
                  <c:v>D8</c:v>
                </c:pt>
                <c:pt idx="9">
                  <c:v>D9</c:v>
                </c:pt>
                <c:pt idx="10">
                  <c:v>D10</c:v>
                </c:pt>
              </c:strCache>
            </c:strRef>
          </c:cat>
          <c:val>
            <c:numRef>
              <c:f>Sheet1!$B$2:$B$12</c:f>
              <c:numCache>
                <c:formatCode>General</c:formatCode>
                <c:ptCount val="11"/>
                <c:pt idx="0">
                  <c:v>79</c:v>
                </c:pt>
                <c:pt idx="1">
                  <c:v>71.1</c:v>
                </c:pt>
                <c:pt idx="2">
                  <c:v>63.2</c:v>
                </c:pt>
                <c:pt idx="3">
                  <c:v>55.3</c:v>
                </c:pt>
                <c:pt idx="4">
                  <c:v>47.4</c:v>
                </c:pt>
                <c:pt idx="5">
                  <c:v>39.5</c:v>
                </c:pt>
                <c:pt idx="6">
                  <c:v>31.6</c:v>
                </c:pt>
                <c:pt idx="7">
                  <c:v>23.7</c:v>
                </c:pt>
                <c:pt idx="8">
                  <c:v>15.8</c:v>
                </c:pt>
                <c:pt idx="9">
                  <c:v>7.9</c:v>
                </c:pt>
                <c:pt idx="10">
                  <c:v>0</c:v>
                </c:pt>
              </c:numCache>
            </c:numRef>
          </c:val>
          <c:smooth val="0"/>
        </c:ser>
        <c:ser>
          <c:idx val="1"/>
          <c:order val="1"/>
          <c:tx>
            <c:strRef>
              <c:f>Sheet1!$C$1</c:f>
              <c:strCache>
                <c:ptCount val="1"/>
                <c:pt idx="0">
                  <c:v>Real</c:v>
                </c:pt>
              </c:strCache>
            </c:strRef>
          </c:tx>
          <c:spPr>
            <a:ln w="31750">
              <a:solidFill>
                <a:srgbClr val="4A2C1A"/>
              </a:solidFill>
            </a:ln>
          </c:spPr>
          <c:marker>
            <c:symbol val="circle"/>
            <c:size val="7"/>
            <c:spPr>
              <a:solidFill>
                <a:srgbClr val="4A2C1A"/>
              </a:solidFill>
              <a:ln>
                <a:solidFill>
                  <a:srgbClr val="4A2C1A"/>
                </a:solidFill>
              </a:ln>
            </c:spPr>
          </c:marker>
          <c:cat>
            <c:strRef>
              <c:f>Sheet1!$A$2:$A$12</c:f>
              <c:strCache>
                <c:ptCount val="11"/>
                <c:pt idx="0">
                  <c:v>Inicio</c:v>
                </c:pt>
                <c:pt idx="1">
                  <c:v>D1</c:v>
                </c:pt>
                <c:pt idx="2">
                  <c:v>D2</c:v>
                </c:pt>
                <c:pt idx="3">
                  <c:v>D3</c:v>
                </c:pt>
                <c:pt idx="4">
                  <c:v>D4</c:v>
                </c:pt>
                <c:pt idx="5">
                  <c:v>D5</c:v>
                </c:pt>
                <c:pt idx="6">
                  <c:v>D6</c:v>
                </c:pt>
                <c:pt idx="7">
                  <c:v>D7</c:v>
                </c:pt>
                <c:pt idx="8">
                  <c:v>D8</c:v>
                </c:pt>
                <c:pt idx="9">
                  <c:v>D9</c:v>
                </c:pt>
                <c:pt idx="10">
                  <c:v>D10</c:v>
                </c:pt>
              </c:strCache>
            </c:strRef>
          </c:cat>
          <c:val>
            <c:numRef>
              <c:f>Sheet1!$C$2:$C$12</c:f>
              <c:numCache>
                <c:formatCode>General</c:formatCode>
                <c:ptCount val="11"/>
                <c:pt idx="0">
                  <c:v>79</c:v>
                </c:pt>
                <c:pt idx="1">
                  <c:v>76.5</c:v>
                </c:pt>
                <c:pt idx="2">
                  <c:v>70</c:v>
                </c:pt>
                <c:pt idx="3">
                  <c:v>64.5</c:v>
                </c:pt>
                <c:pt idx="4">
                  <c:v>54.5</c:v>
                </c:pt>
                <c:pt idx="5">
                  <c:v>43.5</c:v>
                </c:pt>
                <c:pt idx="6">
                  <c:v>32.5</c:v>
                </c:pt>
                <c:pt idx="7">
                  <c:v>20</c:v>
                </c:pt>
                <c:pt idx="8">
                  <c:v>11</c:v>
                </c:pt>
                <c:pt idx="9">
                  <c:v>3.5</c:v>
                </c:pt>
                <c:pt idx="10">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9DECB"/>
            </a:solidFill>
          </a:ln>
        </c:spPr>
        <c:txPr>
          <a:bodyPr/>
          <a:lstStyle/>
          <a:p>
            <a:pPr>
              <a:defRPr sz="1100">
                <a:solidFill>
                  <a:srgbClr val="2E2318"/>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9DECB"/>
              </a:solidFill>
            </a:ln>
          </c:spPr>
        </c:majorGridlines>
        <c:majorTickMark val="out"/>
        <c:minorTickMark val="none"/>
        <c:tickLblPos val="nextTo"/>
        <c:spPr>
          <a:ln>
            <a:noFill/>
          </a:ln>
        </c:spPr>
        <c:txPr>
          <a:bodyPr/>
          <a:lstStyle/>
          <a:p>
            <a:pPr>
              <a:defRPr sz="1100">
                <a:solidFill>
                  <a:srgbClr val="6E5F50"/>
                </a:solidFill>
              </a:defRPr>
            </a:pPr>
          </a:p>
        </c:txPr>
        <c:crossAx val="2118791784"/>
        <c:crosses val="autoZero"/>
      </c:valAx>
    </c:plotArea>
    <c:legend>
      <c:legendPos val="t"/>
      <c:layout/>
      <c:overlay val="0"/>
      <c:txPr>
        <a:bodyPr/>
        <a:lstStyle/>
        <a:p>
          <a:pPr>
            <a:defRPr sz="1200">
              <a:solidFill>
                <a:srgbClr val="2E2318"/>
              </a:solidFill>
            </a:defRPr>
          </a:pPr>
        </a:p>
      </c:txPr>
    </c:legend>
    <c:plotVisOnly val="1"/>
    <c:dispBlanksAs val="gap"/>
    <c:showDLblsOverMax val="0"/>
  </c:chart>
  <c:txPr>
    <a:bodyPr/>
    <a:lstStyle/>
    <a:p>
      <a:pPr>
        <a:defRPr sz="1100">
          <a:solidFill>
            <a:srgbClr val="2E2318"/>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c:v>
                </c:pt>
              </c:strCache>
            </c:strRef>
          </c:tx>
          <c:spPr>
            <a:ln w="31750">
              <a:solidFill>
                <a:srgbClr val="D9A441"/>
              </a:solidFill>
              <a:prstDash val="dash"/>
            </a:ln>
          </c:spPr>
          <c:marker>
            <c:symbol val="circle"/>
            <c:size val="7"/>
            <c:spPr>
              <a:solidFill>
                <a:srgbClr val="D9A441"/>
              </a:solidFill>
              <a:ln>
                <a:solidFill>
                  <a:srgbClr val="D9A441"/>
                </a:solidFill>
              </a:ln>
            </c:spPr>
          </c:marker>
          <c:cat>
            <c:strRef>
              <c:f>Sheet1!$A$2:$A$11</c:f>
              <c:strCache>
                <c:ptCount val="10"/>
                <c:pt idx="0">
                  <c:v>Inicio</c:v>
                </c:pt>
                <c:pt idx="1">
                  <c:v>D1</c:v>
                </c:pt>
                <c:pt idx="2">
                  <c:v>D2</c:v>
                </c:pt>
                <c:pt idx="3">
                  <c:v>D3</c:v>
                </c:pt>
                <c:pt idx="4">
                  <c:v>D4</c:v>
                </c:pt>
                <c:pt idx="5">
                  <c:v>D5</c:v>
                </c:pt>
                <c:pt idx="6">
                  <c:v>D6</c:v>
                </c:pt>
                <c:pt idx="7">
                  <c:v>D7</c:v>
                </c:pt>
                <c:pt idx="8">
                  <c:v>D8</c:v>
                </c:pt>
                <c:pt idx="9">
                  <c:v>D9</c:v>
                </c:pt>
              </c:strCache>
            </c:strRef>
          </c:cat>
          <c:val>
            <c:numRef>
              <c:f>Sheet1!$B$2:$B$11</c:f>
              <c:numCache>
                <c:formatCode>General</c:formatCode>
                <c:ptCount val="10"/>
                <c:pt idx="0">
                  <c:v>69</c:v>
                </c:pt>
                <c:pt idx="1">
                  <c:v>61.3</c:v>
                </c:pt>
                <c:pt idx="2">
                  <c:v>53.7</c:v>
                </c:pt>
                <c:pt idx="3">
                  <c:v>46</c:v>
                </c:pt>
                <c:pt idx="4">
                  <c:v>38.3</c:v>
                </c:pt>
                <c:pt idx="5">
                  <c:v>30.7</c:v>
                </c:pt>
                <c:pt idx="6">
                  <c:v>23</c:v>
                </c:pt>
                <c:pt idx="7">
                  <c:v>15.3</c:v>
                </c:pt>
                <c:pt idx="8">
                  <c:v>7.7</c:v>
                </c:pt>
                <c:pt idx="9">
                  <c:v>0</c:v>
                </c:pt>
              </c:numCache>
            </c:numRef>
          </c:val>
          <c:smooth val="0"/>
        </c:ser>
        <c:ser>
          <c:idx val="1"/>
          <c:order val="1"/>
          <c:tx>
            <c:strRef>
              <c:f>Sheet1!$C$1</c:f>
              <c:strCache>
                <c:ptCount val="1"/>
                <c:pt idx="0">
                  <c:v>Real</c:v>
                </c:pt>
              </c:strCache>
            </c:strRef>
          </c:tx>
          <c:spPr>
            <a:ln w="31750">
              <a:solidFill>
                <a:srgbClr val="4A2C1A"/>
              </a:solidFill>
            </a:ln>
          </c:spPr>
          <c:marker>
            <c:symbol val="circle"/>
            <c:size val="7"/>
            <c:spPr>
              <a:solidFill>
                <a:srgbClr val="4A2C1A"/>
              </a:solidFill>
              <a:ln>
                <a:solidFill>
                  <a:srgbClr val="4A2C1A"/>
                </a:solidFill>
              </a:ln>
            </c:spPr>
          </c:marker>
          <c:cat>
            <c:strRef>
              <c:f>Sheet1!$A$2:$A$11</c:f>
              <c:strCache>
                <c:ptCount val="10"/>
                <c:pt idx="0">
                  <c:v>Inicio</c:v>
                </c:pt>
                <c:pt idx="1">
                  <c:v>D1</c:v>
                </c:pt>
                <c:pt idx="2">
                  <c:v>D2</c:v>
                </c:pt>
                <c:pt idx="3">
                  <c:v>D3</c:v>
                </c:pt>
                <c:pt idx="4">
                  <c:v>D4</c:v>
                </c:pt>
                <c:pt idx="5">
                  <c:v>D5</c:v>
                </c:pt>
                <c:pt idx="6">
                  <c:v>D6</c:v>
                </c:pt>
                <c:pt idx="7">
                  <c:v>D7</c:v>
                </c:pt>
                <c:pt idx="8">
                  <c:v>D8</c:v>
                </c:pt>
                <c:pt idx="9">
                  <c:v>D9</c:v>
                </c:pt>
              </c:strCache>
            </c:strRef>
          </c:cat>
          <c:val>
            <c:numRef>
              <c:f>Sheet1!$C$2:$C$11</c:f>
              <c:numCache>
                <c:formatCode>General</c:formatCode>
                <c:ptCount val="10"/>
                <c:pt idx="0">
                  <c:v>69</c:v>
                </c:pt>
                <c:pt idx="1">
                  <c:v>66</c:v>
                </c:pt>
                <c:pt idx="2">
                  <c:v>57.5</c:v>
                </c:pt>
                <c:pt idx="3">
                  <c:v>49</c:v>
                </c:pt>
                <c:pt idx="4">
                  <c:v>40</c:v>
                </c:pt>
                <c:pt idx="5">
                  <c:v>34.5</c:v>
                </c:pt>
                <c:pt idx="6">
                  <c:v>27</c:v>
                </c:pt>
                <c:pt idx="7">
                  <c:v>16.5</c:v>
                </c:pt>
                <c:pt idx="8">
                  <c:v>6.5</c:v>
                </c:pt>
                <c:pt idx="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9DECB"/>
            </a:solidFill>
          </a:ln>
        </c:spPr>
        <c:txPr>
          <a:bodyPr/>
          <a:lstStyle/>
          <a:p>
            <a:pPr>
              <a:defRPr sz="1100">
                <a:solidFill>
                  <a:srgbClr val="2E2318"/>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9DECB"/>
              </a:solidFill>
            </a:ln>
          </c:spPr>
        </c:majorGridlines>
        <c:majorTickMark val="out"/>
        <c:minorTickMark val="none"/>
        <c:tickLblPos val="nextTo"/>
        <c:spPr>
          <a:ln>
            <a:noFill/>
          </a:ln>
        </c:spPr>
        <c:txPr>
          <a:bodyPr/>
          <a:lstStyle/>
          <a:p>
            <a:pPr>
              <a:defRPr sz="1100">
                <a:solidFill>
                  <a:srgbClr val="6E5F50"/>
                </a:solidFill>
              </a:defRPr>
            </a:pPr>
          </a:p>
        </c:txPr>
        <c:crossAx val="2118791784"/>
        <c:crosses val="autoZero"/>
      </c:valAx>
    </c:plotArea>
    <c:legend>
      <c:legendPos val="t"/>
      <c:layout/>
      <c:overlay val="0"/>
      <c:txPr>
        <a:bodyPr/>
        <a:lstStyle/>
        <a:p>
          <a:pPr>
            <a:defRPr sz="1200">
              <a:solidFill>
                <a:srgbClr val="2E2318"/>
              </a:solidFill>
            </a:defRPr>
          </a:pPr>
        </a:p>
      </c:txPr>
    </c:legend>
    <c:plotVisOnly val="1"/>
    <c:dispBlanksAs val="gap"/>
    <c:showDLblsOverMax val="0"/>
  </c:chart>
  <c:txPr>
    <a:bodyPr/>
    <a:lstStyle/>
    <a:p>
      <a:pPr>
        <a:defRPr sz="1100">
          <a:solidFill>
            <a:srgbClr val="2E2318"/>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c:v>
                </c:pt>
              </c:strCache>
            </c:strRef>
          </c:tx>
          <c:spPr>
            <a:ln w="31750">
              <a:solidFill>
                <a:srgbClr val="D9A441"/>
              </a:solidFill>
              <a:prstDash val="dash"/>
            </a:ln>
          </c:spPr>
          <c:marker>
            <c:symbol val="circle"/>
            <c:size val="7"/>
            <c:spPr>
              <a:solidFill>
                <a:srgbClr val="D9A441"/>
              </a:solidFill>
              <a:ln>
                <a:solidFill>
                  <a:srgbClr val="D9A441"/>
                </a:solidFill>
              </a:ln>
            </c:spPr>
          </c:marker>
          <c:cat>
            <c:strRef>
              <c:f>Sheet1!$A$2:$A$12</c:f>
              <c:strCache>
                <c:ptCount val="11"/>
                <c:pt idx="0">
                  <c:v>Inicio</c:v>
                </c:pt>
                <c:pt idx="1">
                  <c:v>D1</c:v>
                </c:pt>
                <c:pt idx="2">
                  <c:v>D2</c:v>
                </c:pt>
                <c:pt idx="3">
                  <c:v>D3</c:v>
                </c:pt>
                <c:pt idx="4">
                  <c:v>D4</c:v>
                </c:pt>
                <c:pt idx="5">
                  <c:v>D5</c:v>
                </c:pt>
                <c:pt idx="6">
                  <c:v>D6</c:v>
                </c:pt>
                <c:pt idx="7">
                  <c:v>D7</c:v>
                </c:pt>
                <c:pt idx="8">
                  <c:v>D8</c:v>
                </c:pt>
                <c:pt idx="9">
                  <c:v>D9</c:v>
                </c:pt>
                <c:pt idx="10">
                  <c:v>D10</c:v>
                </c:pt>
              </c:strCache>
            </c:strRef>
          </c:cat>
          <c:val>
            <c:numRef>
              <c:f>Sheet1!$B$2:$B$12</c:f>
              <c:numCache>
                <c:formatCode>General</c:formatCode>
                <c:ptCount val="11"/>
                <c:pt idx="0">
                  <c:v>66</c:v>
                </c:pt>
                <c:pt idx="1">
                  <c:v>59.4</c:v>
                </c:pt>
                <c:pt idx="2">
                  <c:v>52.8</c:v>
                </c:pt>
                <c:pt idx="3">
                  <c:v>46.2</c:v>
                </c:pt>
                <c:pt idx="4">
                  <c:v>39.6</c:v>
                </c:pt>
                <c:pt idx="5">
                  <c:v>33</c:v>
                </c:pt>
                <c:pt idx="6">
                  <c:v>26.4</c:v>
                </c:pt>
                <c:pt idx="7">
                  <c:v>19.8</c:v>
                </c:pt>
                <c:pt idx="8">
                  <c:v>13.2</c:v>
                </c:pt>
                <c:pt idx="9">
                  <c:v>6.6</c:v>
                </c:pt>
                <c:pt idx="10">
                  <c:v>0</c:v>
                </c:pt>
              </c:numCache>
            </c:numRef>
          </c:val>
          <c:smooth val="0"/>
        </c:ser>
        <c:ser>
          <c:idx val="1"/>
          <c:order val="1"/>
          <c:tx>
            <c:strRef>
              <c:f>Sheet1!$C$1</c:f>
              <c:strCache>
                <c:ptCount val="1"/>
                <c:pt idx="0">
                  <c:v>Real</c:v>
                </c:pt>
              </c:strCache>
            </c:strRef>
          </c:tx>
          <c:spPr>
            <a:ln w="31750">
              <a:solidFill>
                <a:srgbClr val="4A2C1A"/>
              </a:solidFill>
            </a:ln>
          </c:spPr>
          <c:marker>
            <c:symbol val="circle"/>
            <c:size val="7"/>
            <c:spPr>
              <a:solidFill>
                <a:srgbClr val="4A2C1A"/>
              </a:solidFill>
              <a:ln>
                <a:solidFill>
                  <a:srgbClr val="4A2C1A"/>
                </a:solidFill>
              </a:ln>
            </c:spPr>
          </c:marker>
          <c:cat>
            <c:strRef>
              <c:f>Sheet1!$A$2:$A$12</c:f>
              <c:strCache>
                <c:ptCount val="11"/>
                <c:pt idx="0">
                  <c:v>Inicio</c:v>
                </c:pt>
                <c:pt idx="1">
                  <c:v>D1</c:v>
                </c:pt>
                <c:pt idx="2">
                  <c:v>D2</c:v>
                </c:pt>
                <c:pt idx="3">
                  <c:v>D3</c:v>
                </c:pt>
                <c:pt idx="4">
                  <c:v>D4</c:v>
                </c:pt>
                <c:pt idx="5">
                  <c:v>D5</c:v>
                </c:pt>
                <c:pt idx="6">
                  <c:v>D6</c:v>
                </c:pt>
                <c:pt idx="7">
                  <c:v>D7</c:v>
                </c:pt>
                <c:pt idx="8">
                  <c:v>D8</c:v>
                </c:pt>
                <c:pt idx="9">
                  <c:v>D9</c:v>
                </c:pt>
                <c:pt idx="10">
                  <c:v>D10</c:v>
                </c:pt>
              </c:strCache>
            </c:strRef>
          </c:cat>
          <c:val>
            <c:numRef>
              <c:f>Sheet1!$C$2:$C$12</c:f>
              <c:numCache>
                <c:formatCode>General</c:formatCode>
                <c:ptCount val="11"/>
                <c:pt idx="0">
                  <c:v>66</c:v>
                </c:pt>
                <c:pt idx="1">
                  <c:v>62.5</c:v>
                </c:pt>
                <c:pt idx="2">
                  <c:v>56</c:v>
                </c:pt>
                <c:pt idx="3">
                  <c:v>47.5</c:v>
                </c:pt>
                <c:pt idx="4">
                  <c:v>39.5</c:v>
                </c:pt>
                <c:pt idx="5">
                  <c:v>32.5</c:v>
                </c:pt>
                <c:pt idx="6">
                  <c:v>25</c:v>
                </c:pt>
                <c:pt idx="7">
                  <c:v>18.5</c:v>
                </c:pt>
                <c:pt idx="8">
                  <c:v>13</c:v>
                </c:pt>
                <c:pt idx="9">
                  <c:v>7</c:v>
                </c:pt>
                <c:pt idx="10">
                  <c:v>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9DECB"/>
            </a:solidFill>
          </a:ln>
        </c:spPr>
        <c:txPr>
          <a:bodyPr/>
          <a:lstStyle/>
          <a:p>
            <a:pPr>
              <a:defRPr sz="1100">
                <a:solidFill>
                  <a:srgbClr val="2E2318"/>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9DECB"/>
              </a:solidFill>
            </a:ln>
          </c:spPr>
        </c:majorGridlines>
        <c:majorTickMark val="out"/>
        <c:minorTickMark val="none"/>
        <c:tickLblPos val="nextTo"/>
        <c:spPr>
          <a:ln>
            <a:noFill/>
          </a:ln>
        </c:spPr>
        <c:txPr>
          <a:bodyPr/>
          <a:lstStyle/>
          <a:p>
            <a:pPr>
              <a:defRPr sz="1100">
                <a:solidFill>
                  <a:srgbClr val="6E5F50"/>
                </a:solidFill>
              </a:defRPr>
            </a:pPr>
          </a:p>
        </c:txPr>
        <c:crossAx val="2118791784"/>
        <c:crosses val="autoZero"/>
      </c:valAx>
    </c:plotArea>
    <c:legend>
      <c:legendPos val="t"/>
      <c:layout/>
      <c:overlay val="0"/>
      <c:txPr>
        <a:bodyPr/>
        <a:lstStyle/>
        <a:p>
          <a:pPr>
            <a:defRPr sz="1200">
              <a:solidFill>
                <a:srgbClr val="2E2318"/>
              </a:solidFill>
            </a:defRPr>
          </a:pPr>
        </a:p>
      </c:txPr>
    </c:legend>
    <c:plotVisOnly val="1"/>
    <c:dispBlanksAs val="gap"/>
    <c:showDLblsOverMax val="0"/>
  </c:chart>
  <c:txPr>
    <a:bodyPr/>
    <a:lstStyle/>
    <a:p>
      <a:pPr>
        <a:defRPr sz="1100">
          <a:solidFill>
            <a:srgbClr val="2E2318"/>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c:v>
                </c:pt>
              </c:strCache>
            </c:strRef>
          </c:tx>
          <c:spPr>
            <a:ln w="31750">
              <a:solidFill>
                <a:srgbClr val="D9A441"/>
              </a:solidFill>
              <a:prstDash val="dash"/>
            </a:ln>
          </c:spPr>
          <c:marker>
            <c:symbol val="circle"/>
            <c:size val="7"/>
            <c:spPr>
              <a:solidFill>
                <a:srgbClr val="D9A441"/>
              </a:solidFill>
              <a:ln>
                <a:solidFill>
                  <a:srgbClr val="D9A441"/>
                </a:solidFill>
              </a:ln>
            </c:spPr>
          </c:marker>
          <c:cat>
            <c:strRef>
              <c:f>Sheet1!$A$2:$A$11</c:f>
              <c:strCache>
                <c:ptCount val="10"/>
                <c:pt idx="0">
                  <c:v>Inicio</c:v>
                </c:pt>
                <c:pt idx="1">
                  <c:v>D1</c:v>
                </c:pt>
                <c:pt idx="2">
                  <c:v>D2</c:v>
                </c:pt>
                <c:pt idx="3">
                  <c:v>D3</c:v>
                </c:pt>
                <c:pt idx="4">
                  <c:v>D4</c:v>
                </c:pt>
                <c:pt idx="5">
                  <c:v>D5</c:v>
                </c:pt>
                <c:pt idx="6">
                  <c:v>D6</c:v>
                </c:pt>
                <c:pt idx="7">
                  <c:v>D7</c:v>
                </c:pt>
                <c:pt idx="8">
                  <c:v>D8</c:v>
                </c:pt>
                <c:pt idx="9">
                  <c:v>D9</c:v>
                </c:pt>
              </c:strCache>
            </c:strRef>
          </c:cat>
          <c:val>
            <c:numRef>
              <c:f>Sheet1!$B$2:$B$11</c:f>
              <c:numCache>
                <c:formatCode>General</c:formatCode>
                <c:ptCount val="10"/>
                <c:pt idx="0">
                  <c:v>66</c:v>
                </c:pt>
                <c:pt idx="1">
                  <c:v>58.7</c:v>
                </c:pt>
                <c:pt idx="2">
                  <c:v>51.3</c:v>
                </c:pt>
                <c:pt idx="3">
                  <c:v>44</c:v>
                </c:pt>
                <c:pt idx="4">
                  <c:v>36.7</c:v>
                </c:pt>
                <c:pt idx="5">
                  <c:v>29.3</c:v>
                </c:pt>
                <c:pt idx="6">
                  <c:v>22</c:v>
                </c:pt>
                <c:pt idx="7">
                  <c:v>14.7</c:v>
                </c:pt>
                <c:pt idx="8">
                  <c:v>7.3</c:v>
                </c:pt>
                <c:pt idx="9">
                  <c:v>0</c:v>
                </c:pt>
              </c:numCache>
            </c:numRef>
          </c:val>
          <c:smooth val="0"/>
        </c:ser>
        <c:ser>
          <c:idx val="1"/>
          <c:order val="1"/>
          <c:tx>
            <c:strRef>
              <c:f>Sheet1!$C$1</c:f>
              <c:strCache>
                <c:ptCount val="1"/>
                <c:pt idx="0">
                  <c:v>Real</c:v>
                </c:pt>
              </c:strCache>
            </c:strRef>
          </c:tx>
          <c:spPr>
            <a:ln w="31750">
              <a:solidFill>
                <a:srgbClr val="4A2C1A"/>
              </a:solidFill>
            </a:ln>
          </c:spPr>
          <c:marker>
            <c:symbol val="circle"/>
            <c:size val="7"/>
            <c:spPr>
              <a:solidFill>
                <a:srgbClr val="4A2C1A"/>
              </a:solidFill>
              <a:ln>
                <a:solidFill>
                  <a:srgbClr val="4A2C1A"/>
                </a:solidFill>
              </a:ln>
            </c:spPr>
          </c:marker>
          <c:cat>
            <c:strRef>
              <c:f>Sheet1!$A$2:$A$11</c:f>
              <c:strCache>
                <c:ptCount val="10"/>
                <c:pt idx="0">
                  <c:v>Inicio</c:v>
                </c:pt>
                <c:pt idx="1">
                  <c:v>D1</c:v>
                </c:pt>
                <c:pt idx="2">
                  <c:v>D2</c:v>
                </c:pt>
                <c:pt idx="3">
                  <c:v>D3</c:v>
                </c:pt>
                <c:pt idx="4">
                  <c:v>D4</c:v>
                </c:pt>
                <c:pt idx="5">
                  <c:v>D5</c:v>
                </c:pt>
                <c:pt idx="6">
                  <c:v>D6</c:v>
                </c:pt>
                <c:pt idx="7">
                  <c:v>D7</c:v>
                </c:pt>
                <c:pt idx="8">
                  <c:v>D8</c:v>
                </c:pt>
                <c:pt idx="9">
                  <c:v>D9</c:v>
                </c:pt>
              </c:strCache>
            </c:strRef>
          </c:cat>
          <c:val>
            <c:numRef>
              <c:f>Sheet1!$C$2:$C$11</c:f>
              <c:numCache>
                <c:formatCode>General</c:formatCode>
                <c:ptCount val="10"/>
                <c:pt idx="0">
                  <c:v>66</c:v>
                </c:pt>
                <c:pt idx="1">
                  <c:v>64.5</c:v>
                </c:pt>
                <c:pt idx="2">
                  <c:v>59.5</c:v>
                </c:pt>
                <c:pt idx="3">
                  <c:v>50.5</c:v>
                </c:pt>
                <c:pt idx="4">
                  <c:v>39.5</c:v>
                </c:pt>
                <c:pt idx="5">
                  <c:v>29</c:v>
                </c:pt>
                <c:pt idx="6">
                  <c:v>22</c:v>
                </c:pt>
                <c:pt idx="7">
                  <c:v>11.5</c:v>
                </c:pt>
                <c:pt idx="8">
                  <c:v>3</c:v>
                </c:pt>
                <c:pt idx="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9DECB"/>
            </a:solidFill>
          </a:ln>
        </c:spPr>
        <c:txPr>
          <a:bodyPr/>
          <a:lstStyle/>
          <a:p>
            <a:pPr>
              <a:defRPr sz="1100">
                <a:solidFill>
                  <a:srgbClr val="2E2318"/>
                </a:solidFill>
              </a:defRPr>
            </a:pPr>
          </a:p>
        </c:txPr>
        <c:crossAx val="2140495176"/>
        <c:crosses val="autoZero"/>
        <c:auto val="1"/>
        <c:lblAlgn val="ctr"/>
        <c:lblOffset val="100"/>
        <c:noMultiLvlLbl val="0"/>
      </c:catAx>
      <c:valAx>
        <c:axId val="2140495176"/>
        <c:scaling>
          <c:min val="0.0"/>
        </c:scaling>
        <c:delete val="0"/>
        <c:axPos val="l"/>
        <c:majorGridlines>
          <c:spPr>
            <a:ln w="9525">
              <a:solidFill>
                <a:srgbClr val="E9DECB"/>
              </a:solidFill>
            </a:ln>
          </c:spPr>
        </c:majorGridlines>
        <c:majorTickMark val="out"/>
        <c:minorTickMark val="none"/>
        <c:tickLblPos val="nextTo"/>
        <c:spPr>
          <a:ln>
            <a:noFill/>
          </a:ln>
        </c:spPr>
        <c:txPr>
          <a:bodyPr/>
          <a:lstStyle/>
          <a:p>
            <a:pPr>
              <a:defRPr sz="1100">
                <a:solidFill>
                  <a:srgbClr val="6E5F50"/>
                </a:solidFill>
              </a:defRPr>
            </a:pPr>
          </a:p>
        </c:txPr>
        <c:crossAx val="2118791784"/>
        <c:crosses val="autoZero"/>
      </c:valAx>
    </c:plotArea>
    <c:legend>
      <c:legendPos val="t"/>
      <c:layout/>
      <c:overlay val="0"/>
      <c:txPr>
        <a:bodyPr/>
        <a:lstStyle/>
        <a:p>
          <a:pPr>
            <a:defRPr sz="1200">
              <a:solidFill>
                <a:srgbClr val="2E2318"/>
              </a:solidFill>
            </a:defRPr>
          </a:pPr>
        </a:p>
      </c:txPr>
    </c:legend>
    <c:plotVisOnly val="1"/>
    <c:dispBlanksAs val="gap"/>
    <c:showDLblsOverMax val="0"/>
  </c:chart>
  <c:txPr>
    <a:bodyPr/>
    <a:lstStyle/>
    <a:p>
      <a:pPr>
        <a:defRPr sz="1100">
          <a:solidFill>
            <a:srgbClr val="2E231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10 s · acumulado 0:10 de 8:00.</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0:15 de 8:00.</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0:27 de 8:00.</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0:39 de 8:00.</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0:51 de 8:00.</a:t>
            </a:r>
            <a:endParaRPr/>
          </a:p>
        </p:txBody>
      </p:sp>
      <p:sp>
        <p:nvSpPr>
          <p:cNvPr id="154" name="Google Shape;1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1:03 de 8:00.</a:t>
            </a:r>
            <a:endParaRPr/>
          </a:p>
        </p:txBody>
      </p:sp>
      <p:sp>
        <p:nvSpPr>
          <p:cNvPr id="180" name="Google Shape;1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1:15 de 8:00.</a:t>
            </a:r>
            <a:endParaRPr/>
          </a:p>
        </p:txBody>
      </p:sp>
      <p:sp>
        <p:nvSpPr>
          <p:cNvPr id="202" name="Google Shape;2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1:27 de 8:00.</a:t>
            </a:r>
            <a:endParaRPr/>
          </a:p>
        </p:txBody>
      </p:sp>
      <p:sp>
        <p:nvSpPr>
          <p:cNvPr id="215" name="Google Shape;21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1:39 de 8:00.</a:t>
            </a:r>
            <a:endParaRPr/>
          </a:p>
        </p:txBody>
      </p:sp>
      <p:sp>
        <p:nvSpPr>
          <p:cNvPr id="249" name="Google Shape;24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10 s · acumulado 1:49 de 8:00.</a:t>
            </a:r>
            <a:endParaRPr/>
          </a:p>
        </p:txBody>
      </p:sp>
      <p:sp>
        <p:nvSpPr>
          <p:cNvPr id="257" name="Google Shape;25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8 s · acumulado 1:57 de 8:00.</a:t>
            </a:r>
            <a:endParaRPr/>
          </a:p>
        </p:txBody>
      </p:sp>
      <p:sp>
        <p:nvSpPr>
          <p:cNvPr id="265" name="Google Shape;26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8 s · acumulado 2:05 de 8:00.</a:t>
            </a:r>
            <a:endParaRPr/>
          </a:p>
        </p:txBody>
      </p:sp>
      <p:sp>
        <p:nvSpPr>
          <p:cNvPr id="272" name="Google Shape;27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12 s · acumulado 2:17 de 8:00.</a:t>
            </a:r>
            <a:endParaRPr/>
          </a:p>
        </p:txBody>
      </p:sp>
      <p:sp>
        <p:nvSpPr>
          <p:cNvPr id="305" name="Google Shape;30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18 s · acumulado 2:35 de 8:00.</a:t>
            </a:r>
            <a:endParaRPr/>
          </a:p>
        </p:txBody>
      </p:sp>
      <p:sp>
        <p:nvSpPr>
          <p:cNvPr id="332" name="Google Shape;332;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22 s · acumulado 3:00 de 8:00.</a:t>
            </a:r>
            <a:endParaRPr/>
          </a:p>
        </p:txBody>
      </p:sp>
      <p:sp>
        <p:nvSpPr>
          <p:cNvPr id="367" name="Google Shape;36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3:05 de 8:00. Pasar rápido: es evidencia de respaldo.</a:t>
            </a:r>
            <a:endParaRPr/>
          </a:p>
        </p:txBody>
      </p:sp>
      <p:sp>
        <p:nvSpPr>
          <p:cNvPr id="392" name="Google Shape;39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3:10 de 8:00. Pasar rápido: es evidencia de respaldo.</a:t>
            </a:r>
            <a:endParaRPr/>
          </a:p>
        </p:txBody>
      </p:sp>
      <p:sp>
        <p:nvSpPr>
          <p:cNvPr id="400" name="Google Shape;40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3:15 de 8:00. Pasar rápido: es evidencia de respaldo.</a:t>
            </a:r>
            <a:endParaRPr/>
          </a:p>
        </p:txBody>
      </p:sp>
      <p:sp>
        <p:nvSpPr>
          <p:cNvPr id="445" name="Google Shape;44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3:20 de 8:00. Pasar rápido: es evidencia de respaldo.</a:t>
            </a:r>
            <a:endParaRPr/>
          </a:p>
        </p:txBody>
      </p:sp>
      <p:sp>
        <p:nvSpPr>
          <p:cNvPr id="453" name="Google Shape;45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3:25 de 8:00. Pasar rápido: es evidencia de respaldo.</a:t>
            </a:r>
            <a:endParaRPr/>
          </a:p>
        </p:txBody>
      </p:sp>
      <p:sp>
        <p:nvSpPr>
          <p:cNvPr id="475" name="Google Shape;47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22 s · acumulado 3:50 de 8:00.</a:t>
            </a:r>
            <a:endParaRPr/>
          </a:p>
        </p:txBody>
      </p:sp>
      <p:sp>
        <p:nvSpPr>
          <p:cNvPr id="484" name="Google Shape;48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3:55 de 8:00. Pasar rápido: es evidencia de respaldo.</a:t>
            </a:r>
            <a:endParaRPr/>
          </a:p>
        </p:txBody>
      </p:sp>
      <p:sp>
        <p:nvSpPr>
          <p:cNvPr id="514" name="Google Shape;51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4:00 de 8:00. Pasar rápido: es evidencia de respaldo.</a:t>
            </a:r>
            <a:endParaRPr/>
          </a:p>
        </p:txBody>
      </p:sp>
      <p:sp>
        <p:nvSpPr>
          <p:cNvPr id="522" name="Google Shape;52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4:05 de 8:00. Pasar rápido: es evidencia de respaldo.</a:t>
            </a:r>
            <a:endParaRPr/>
          </a:p>
        </p:txBody>
      </p:sp>
      <p:sp>
        <p:nvSpPr>
          <p:cNvPr id="569" name="Google Shape;56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4:10 de 8:00. Pasar rápido: es evidencia de respaldo.</a:t>
            </a:r>
            <a:endParaRPr/>
          </a:p>
        </p:txBody>
      </p:sp>
      <p:sp>
        <p:nvSpPr>
          <p:cNvPr id="577" name="Google Shape;57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4:15 de 8:00. Pasar rápido: es evidencia de respaldo.</a:t>
            </a:r>
            <a:endParaRPr/>
          </a:p>
        </p:txBody>
      </p:sp>
      <p:sp>
        <p:nvSpPr>
          <p:cNvPr id="599" name="Google Shape;59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22 s · acumulado 4:40 de 8:00.</a:t>
            </a:r>
            <a:endParaRPr/>
          </a:p>
        </p:txBody>
      </p:sp>
      <p:sp>
        <p:nvSpPr>
          <p:cNvPr id="608" name="Google Shape;60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4:45 de 8:00. Pasar rápido: es evidencia de respaldo.</a:t>
            </a:r>
            <a:endParaRPr/>
          </a:p>
        </p:txBody>
      </p:sp>
      <p:sp>
        <p:nvSpPr>
          <p:cNvPr id="643" name="Google Shape;64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4:50 de 8:00. Pasar rápido: es evidencia de respaldo.</a:t>
            </a:r>
            <a:endParaRPr/>
          </a:p>
        </p:txBody>
      </p:sp>
      <p:sp>
        <p:nvSpPr>
          <p:cNvPr id="651" name="Google Shape;65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4:55 de 8:00. Pasar rápido: es evidencia de respaldo.</a:t>
            </a:r>
            <a:endParaRPr/>
          </a:p>
        </p:txBody>
      </p:sp>
      <p:sp>
        <p:nvSpPr>
          <p:cNvPr id="694" name="Google Shape;69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5:00 de 8:00. Pasar rápido: es evidencia de respaldo.</a:t>
            </a:r>
            <a:endParaRPr/>
          </a:p>
        </p:txBody>
      </p:sp>
      <p:sp>
        <p:nvSpPr>
          <p:cNvPr id="702" name="Google Shape;7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5:05 de 8:00. Pasar rápido: es evidencia de respaldo.</a:t>
            </a:r>
            <a:endParaRPr/>
          </a:p>
        </p:txBody>
      </p:sp>
      <p:sp>
        <p:nvSpPr>
          <p:cNvPr id="724" name="Google Shape;724;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22 s · acumulado 5:30 de 8:00.</a:t>
            </a:r>
            <a:endParaRPr/>
          </a:p>
        </p:txBody>
      </p:sp>
      <p:sp>
        <p:nvSpPr>
          <p:cNvPr id="733" name="Google Shape;73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5:35 de 8:00. Pasar rápido: es evidencia de respaldo.</a:t>
            </a:r>
            <a:endParaRPr/>
          </a:p>
        </p:txBody>
      </p:sp>
      <p:sp>
        <p:nvSpPr>
          <p:cNvPr id="759" name="Google Shape;759;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5:40 de 8:00. Pasar rápido: es evidencia de respaldo.</a:t>
            </a:r>
            <a:endParaRPr/>
          </a:p>
        </p:txBody>
      </p:sp>
      <p:sp>
        <p:nvSpPr>
          <p:cNvPr id="767" name="Google Shape;767;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5:45 de 8:00. Pasar rápido: es evidencia de respaldo.</a:t>
            </a:r>
            <a:endParaRPr/>
          </a:p>
        </p:txBody>
      </p:sp>
      <p:sp>
        <p:nvSpPr>
          <p:cNvPr id="810" name="Google Shape;81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5:50 de 8:00. Pasar rápido: es evidencia de respaldo.</a:t>
            </a:r>
            <a:endParaRPr/>
          </a:p>
        </p:txBody>
      </p:sp>
      <p:sp>
        <p:nvSpPr>
          <p:cNvPr id="818" name="Google Shape;81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5:55 de 8:00. Pasar rápido: es evidencia de respaldo.</a:t>
            </a:r>
            <a:endParaRPr/>
          </a:p>
        </p:txBody>
      </p:sp>
      <p:sp>
        <p:nvSpPr>
          <p:cNvPr id="840" name="Google Shape;840;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22 s · acumulado 6:20 de 8:00.</a:t>
            </a:r>
            <a:endParaRPr/>
          </a:p>
        </p:txBody>
      </p:sp>
      <p:sp>
        <p:nvSpPr>
          <p:cNvPr id="849" name="Google Shape;849;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8" name="Google Shape;878;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6:25 de 8:00. Pasar rápido: es evidencia de respaldo.</a:t>
            </a:r>
            <a:endParaRPr/>
          </a:p>
        </p:txBody>
      </p:sp>
      <p:sp>
        <p:nvSpPr>
          <p:cNvPr id="879" name="Google Shape;879;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6:30 de 8:00. Pasar rápido: es evidencia de respaldo.</a:t>
            </a:r>
            <a:endParaRPr/>
          </a:p>
        </p:txBody>
      </p:sp>
      <p:sp>
        <p:nvSpPr>
          <p:cNvPr id="887" name="Google Shape;887;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6:35 de 8:00. Pasar rápido: es evidencia de respaldo.</a:t>
            </a:r>
            <a:endParaRPr/>
          </a:p>
        </p:txBody>
      </p:sp>
      <p:sp>
        <p:nvSpPr>
          <p:cNvPr id="930" name="Google Shape;930;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6:40 de 8:00. Pasar rápido: es evidencia de respaldo.</a:t>
            </a:r>
            <a:endParaRPr/>
          </a:p>
        </p:txBody>
      </p:sp>
      <p:sp>
        <p:nvSpPr>
          <p:cNvPr id="938" name="Google Shape;938;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5 s · acumulado 6:45 de 8:00. Pasar rápido: es evidencia de respaldo.</a:t>
            </a:r>
            <a:endParaRPr/>
          </a:p>
        </p:txBody>
      </p:sp>
      <p:sp>
        <p:nvSpPr>
          <p:cNvPr id="960" name="Google Shape;960;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Tiempo sugerido: 10 s · acumulado 7:23 de 8:00.</a:t>
            </a:r>
            <a:endParaRPr/>
          </a:p>
        </p:txBody>
      </p:sp>
      <p:sp>
        <p:nvSpPr>
          <p:cNvPr id="970" name="Google Shape;97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 name="Google Shape;981;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Demostración en vivo: 5 minutos, solo las historias de usuario clave (ver docs/DEMO.md).</a:t>
            </a:r>
            <a:endParaRPr/>
          </a:p>
        </p:txBody>
      </p:sp>
      <p:sp>
        <p:nvSpPr>
          <p:cNvPr id="982" name="Google Shape;982;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Bloque final de 2 minutos: pendientes, conclusiones y reflexión final.</a:t>
            </a:r>
            <a:endParaRPr/>
          </a:p>
        </p:txBody>
      </p:sp>
      <p:sp>
        <p:nvSpPr>
          <p:cNvPr id="1009" name="Google Shape;1009;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Bloque final de 2 minutos: pendientes, conclusiones y reflexión final.</a:t>
            </a:r>
            <a:endParaRPr/>
          </a:p>
        </p:txBody>
      </p:sp>
      <p:sp>
        <p:nvSpPr>
          <p:cNvPr id="1036" name="Google Shape;103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4" name="Google Shape;10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8.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4.png"/><Relationship Id="rId6"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chart" Target="../charts/char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0.png"/><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chart" Target="../charts/char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0.png"/><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2C1A"/>
        </a:solidFill>
      </p:bgPr>
    </p:bg>
    <p:spTree>
      <p:nvGrpSpPr>
        <p:cNvPr id="15" name="Shape 15"/>
        <p:cNvGrpSpPr/>
        <p:nvPr/>
      </p:nvGrpSpPr>
      <p:grpSpPr>
        <a:xfrm>
          <a:off x="0" y="0"/>
          <a:ext cx="0" cy="0"/>
          <a:chOff x="0" y="0"/>
          <a:chExt cx="0" cy="0"/>
        </a:xfrm>
      </p:grpSpPr>
      <p:sp>
        <p:nvSpPr>
          <p:cNvPr id="16" name="Google Shape;16;p1"/>
          <p:cNvSpPr/>
          <p:nvPr/>
        </p:nvSpPr>
        <p:spPr>
          <a:xfrm>
            <a:off x="5527548" y="1223140"/>
            <a:ext cx="1134000" cy="1134000"/>
          </a:xfrm>
          <a:prstGeom prst="ellipse">
            <a:avLst/>
          </a:prstGeom>
          <a:solidFill>
            <a:srgbClr val="D9A4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1"/>
          <p:cNvPicPr preferRelativeResize="0"/>
          <p:nvPr/>
        </p:nvPicPr>
        <p:blipFill rotWithShape="1">
          <a:blip r:embed="rId3">
            <a:alphaModFix/>
          </a:blip>
          <a:srcRect b="0" l="0" r="0" t="0"/>
          <a:stretch/>
        </p:blipFill>
        <p:spPr>
          <a:xfrm>
            <a:off x="5822351" y="1517943"/>
            <a:ext cx="544251" cy="544251"/>
          </a:xfrm>
          <a:prstGeom prst="rect">
            <a:avLst/>
          </a:prstGeom>
          <a:noFill/>
          <a:ln>
            <a:noFill/>
          </a:ln>
        </p:spPr>
      </p:pic>
      <p:sp>
        <p:nvSpPr>
          <p:cNvPr id="18" name="Google Shape;18;p1"/>
          <p:cNvSpPr/>
          <p:nvPr/>
        </p:nvSpPr>
        <p:spPr>
          <a:xfrm>
            <a:off x="1371600" y="3326260"/>
            <a:ext cx="9445800" cy="548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D9A441"/>
              </a:buClr>
              <a:buSzPts val="2100"/>
              <a:buFont typeface="Cambria"/>
              <a:buNone/>
            </a:pPr>
            <a:r>
              <a:rPr b="0" i="0" lang="en-US" sz="1900" u="none" cap="none" strike="noStrike">
                <a:solidFill>
                  <a:srgbClr val="D9A441"/>
                </a:solidFill>
                <a:latin typeface="Calibri"/>
                <a:ea typeface="Calibri"/>
                <a:cs typeface="Calibri"/>
                <a:sym typeface="Calibri"/>
              </a:rPr>
              <a:t>Sistema de gestión y predicción de demanda para panaderías</a:t>
            </a:r>
            <a:endParaRPr b="0" i="0" sz="1900" u="none" cap="none" strike="noStrike">
              <a:solidFill>
                <a:schemeClr val="dk1"/>
              </a:solidFill>
              <a:latin typeface="Calibri"/>
              <a:ea typeface="Calibri"/>
              <a:cs typeface="Calibri"/>
              <a:sym typeface="Calibri"/>
            </a:endParaRPr>
          </a:p>
        </p:txBody>
      </p:sp>
      <p:sp>
        <p:nvSpPr>
          <p:cNvPr id="19" name="Google Shape;19;p1"/>
          <p:cNvSpPr/>
          <p:nvPr/>
        </p:nvSpPr>
        <p:spPr>
          <a:xfrm>
            <a:off x="1371600" y="3931920"/>
            <a:ext cx="94458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D9A441"/>
              </a:buClr>
              <a:buSzPts val="2100"/>
              <a:buFont typeface="Cambria"/>
              <a:buNone/>
            </a:pPr>
            <a:r>
              <a:rPr b="1" i="0" lang="en-US" sz="2100" u="none" cap="none" strike="noStrike">
                <a:solidFill>
                  <a:srgbClr val="FFFFFF"/>
                </a:solidFill>
                <a:latin typeface="Calibri"/>
                <a:ea typeface="Calibri"/>
                <a:cs typeface="Calibri"/>
                <a:sym typeface="Calibri"/>
              </a:rPr>
              <a:t>Fase 2</a:t>
            </a:r>
            <a:endParaRPr b="0" i="0" sz="2200" u="none" cap="none" strike="noStrike">
              <a:solidFill>
                <a:schemeClr val="dk1"/>
              </a:solidFill>
              <a:latin typeface="Calibri"/>
              <a:ea typeface="Calibri"/>
              <a:cs typeface="Calibri"/>
              <a:sym typeface="Calibri"/>
            </a:endParaRPr>
          </a:p>
        </p:txBody>
      </p:sp>
      <p:sp>
        <p:nvSpPr>
          <p:cNvPr id="20" name="Google Shape;20;p1"/>
          <p:cNvSpPr/>
          <p:nvPr/>
        </p:nvSpPr>
        <p:spPr>
          <a:xfrm>
            <a:off x="1371600" y="4663440"/>
            <a:ext cx="9445752"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D9A441"/>
              </a:buClr>
              <a:buSzPts val="1400"/>
              <a:buFont typeface="Calibri"/>
              <a:buNone/>
            </a:pPr>
            <a:r>
              <a:rPr b="1" i="0" lang="en-US" sz="1600" u="none" cap="none" strike="noStrike">
                <a:solidFill>
                  <a:srgbClr val="D9A441"/>
                </a:solidFill>
                <a:latin typeface="Calibri"/>
                <a:ea typeface="Calibri"/>
                <a:cs typeface="Calibri"/>
                <a:sym typeface="Calibri"/>
              </a:rPr>
              <a:t>Integrantes: </a:t>
            </a:r>
            <a:r>
              <a:rPr b="0" i="0" lang="en-US" sz="1600" u="none" cap="none" strike="noStrike">
                <a:solidFill>
                  <a:srgbClr val="FFFFFF"/>
                </a:solidFill>
                <a:latin typeface="Calibri"/>
                <a:ea typeface="Calibri"/>
                <a:cs typeface="Calibri"/>
                <a:sym typeface="Calibri"/>
              </a:rPr>
              <a:t>Fernando Belmar · Rodrigo Mancilla · Diego Maldonado · Juan Pablo Pérez</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1371600" y="5074920"/>
            <a:ext cx="9445752"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D9A441"/>
              </a:buClr>
              <a:buSzPts val="1400"/>
              <a:buFont typeface="Calibri"/>
              <a:buNone/>
            </a:pPr>
            <a:r>
              <a:rPr b="1" i="0" lang="en-US" sz="1600" u="none" cap="none" strike="noStrike">
                <a:solidFill>
                  <a:srgbClr val="D9A441"/>
                </a:solidFill>
                <a:latin typeface="Calibri"/>
                <a:ea typeface="Calibri"/>
                <a:cs typeface="Calibri"/>
                <a:sym typeface="Calibri"/>
              </a:rPr>
              <a:t>Docente: </a:t>
            </a:r>
            <a:r>
              <a:rPr b="0" i="0" lang="en-US" sz="1600" u="none" cap="none" strike="noStrike">
                <a:solidFill>
                  <a:srgbClr val="FFFFFF"/>
                </a:solidFill>
                <a:latin typeface="Calibri"/>
                <a:ea typeface="Calibri"/>
                <a:cs typeface="Calibri"/>
                <a:sym typeface="Calibri"/>
              </a:rPr>
              <a:t>Mauricio Figueroa    </a:t>
            </a:r>
            <a:r>
              <a:rPr b="1" i="0" lang="en-US" sz="1600" u="none" cap="none" strike="noStrike">
                <a:solidFill>
                  <a:srgbClr val="D9A441"/>
                </a:solidFill>
                <a:latin typeface="Calibri"/>
                <a:ea typeface="Calibri"/>
                <a:cs typeface="Calibri"/>
                <a:sym typeface="Calibri"/>
              </a:rPr>
              <a:t>Asignatura: </a:t>
            </a:r>
            <a:r>
              <a:rPr b="0" i="0" lang="en-US" sz="1600" u="none" cap="none" strike="noStrike">
                <a:solidFill>
                  <a:srgbClr val="FFFFFF"/>
                </a:solidFill>
                <a:latin typeface="Calibri"/>
                <a:ea typeface="Calibri"/>
                <a:cs typeface="Calibri"/>
                <a:sym typeface="Calibri"/>
              </a:rPr>
              <a:t>Capstone (PTY4614)</a:t>
            </a:r>
            <a:endParaRPr b="0" i="0" sz="1600" u="none" cap="none" strike="noStrike">
              <a:solidFill>
                <a:schemeClr val="dk1"/>
              </a:solidFill>
              <a:latin typeface="Calibri"/>
              <a:ea typeface="Calibri"/>
              <a:cs typeface="Calibri"/>
              <a:sym typeface="Calibri"/>
            </a:endParaRPr>
          </a:p>
        </p:txBody>
      </p:sp>
      <p:sp>
        <p:nvSpPr>
          <p:cNvPr id="22" name="Google Shape;22;p1"/>
          <p:cNvSpPr/>
          <p:nvPr/>
        </p:nvSpPr>
        <p:spPr>
          <a:xfrm>
            <a:off x="0" y="2411860"/>
            <a:ext cx="121890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5800"/>
              <a:buFont typeface="Cambria"/>
              <a:buNone/>
            </a:pPr>
            <a:r>
              <a:rPr b="1" i="0" lang="en-US" sz="7200" u="none" cap="none" strike="noStrike">
                <a:solidFill>
                  <a:srgbClr val="FFFFFF"/>
                </a:solidFill>
                <a:latin typeface="Calibri"/>
                <a:ea typeface="Calibri"/>
                <a:cs typeface="Calibri"/>
                <a:sym typeface="Calibri"/>
              </a:rPr>
              <a:t>EcoPan</a:t>
            </a:r>
            <a:endParaRPr b="1" i="0" sz="7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548640" y="292608"/>
            <a:ext cx="11091672"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2900"/>
              <a:buFont typeface="Cambria"/>
              <a:buNone/>
            </a:pPr>
            <a:r>
              <a:rPr b="1" i="0" lang="en-US" sz="2900" u="none" cap="none" strike="noStrike">
                <a:solidFill>
                  <a:srgbClr val="4A2C1A"/>
                </a:solidFill>
                <a:latin typeface="Calibri"/>
                <a:ea typeface="Calibri"/>
                <a:cs typeface="Calibri"/>
                <a:sym typeface="Calibri"/>
              </a:rPr>
              <a:t>T</a:t>
            </a:r>
            <a:r>
              <a:rPr b="1" i="0" lang="en-US" sz="2900" u="none" cap="none" strike="noStrike">
                <a:solidFill>
                  <a:srgbClr val="2E2318"/>
                </a:solidFill>
                <a:latin typeface="Calibri"/>
                <a:ea typeface="Calibri"/>
                <a:cs typeface="Calibri"/>
                <a:sym typeface="Calibri"/>
              </a:rPr>
              <a:t>abla</a:t>
            </a:r>
            <a:r>
              <a:rPr b="1" i="0" lang="en-US" sz="2900" u="none" cap="none" strike="noStrike">
                <a:solidFill>
                  <a:srgbClr val="4A2C1A"/>
                </a:solidFill>
                <a:latin typeface="Calibri"/>
                <a:ea typeface="Calibri"/>
                <a:cs typeface="Calibri"/>
                <a:sym typeface="Calibri"/>
              </a:rPr>
              <a:t> </a:t>
            </a:r>
            <a:r>
              <a:rPr b="1" i="0" lang="en-US" sz="2900" u="none" cap="none" strike="noStrike">
                <a:solidFill>
                  <a:srgbClr val="2E2318"/>
                </a:solidFill>
                <a:latin typeface="Calibri"/>
                <a:ea typeface="Calibri"/>
                <a:cs typeface="Calibri"/>
                <a:sym typeface="Calibri"/>
              </a:rPr>
              <a:t>de</a:t>
            </a:r>
            <a:r>
              <a:rPr b="1" i="0" lang="en-US" sz="2900" u="none" cap="none" strike="noStrike">
                <a:solidFill>
                  <a:srgbClr val="4A2C1A"/>
                </a:solidFill>
                <a:latin typeface="Calibri"/>
                <a:ea typeface="Calibri"/>
                <a:cs typeface="Calibri"/>
                <a:sym typeface="Calibri"/>
              </a:rPr>
              <a:t> C</a:t>
            </a:r>
            <a:r>
              <a:rPr b="1" i="0" lang="en-US" sz="2900" u="none" cap="none" strike="noStrike">
                <a:solidFill>
                  <a:srgbClr val="2E2318"/>
                </a:solidFill>
                <a:latin typeface="Calibri"/>
                <a:ea typeface="Calibri"/>
                <a:cs typeface="Calibri"/>
                <a:sym typeface="Calibri"/>
              </a:rPr>
              <a:t>ontenidos</a:t>
            </a:r>
            <a:endParaRPr b="0" i="0" sz="2900" u="none" cap="none" strike="noStrike">
              <a:solidFill>
                <a:schemeClr val="dk1"/>
              </a:solidFill>
              <a:latin typeface="Calibri"/>
              <a:ea typeface="Calibri"/>
              <a:cs typeface="Calibri"/>
              <a:sym typeface="Calibri"/>
            </a:endParaRPr>
          </a:p>
        </p:txBody>
      </p:sp>
      <p:sp>
        <p:nvSpPr>
          <p:cNvPr id="29" name="Google Shape;29;p2"/>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0" name="Google Shape;30;p2"/>
          <p:cNvSpPr/>
          <p:nvPr/>
        </p:nvSpPr>
        <p:spPr>
          <a:xfrm>
            <a:off x="640080" y="1188720"/>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a:off x="749808" y="1271016"/>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2"/>
          <p:cNvSpPr txBox="1"/>
          <p:nvPr/>
        </p:nvSpPr>
        <p:spPr>
          <a:xfrm>
            <a:off x="749808" y="1271016"/>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01</a:t>
            </a:r>
            <a:endParaRPr/>
          </a:p>
        </p:txBody>
      </p:sp>
      <p:sp>
        <p:nvSpPr>
          <p:cNvPr id="33" name="Google Shape;33;p2"/>
          <p:cNvSpPr txBox="1"/>
          <p:nvPr/>
        </p:nvSpPr>
        <p:spPr>
          <a:xfrm>
            <a:off x="1325880" y="1271016"/>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Contexto</a:t>
            </a:r>
            <a:endParaRPr/>
          </a:p>
        </p:txBody>
      </p:sp>
      <p:sp>
        <p:nvSpPr>
          <p:cNvPr id="34" name="Google Shape;34;p2"/>
          <p:cNvSpPr/>
          <p:nvPr/>
        </p:nvSpPr>
        <p:spPr>
          <a:xfrm>
            <a:off x="640080" y="1901952"/>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749808" y="1984248"/>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2"/>
          <p:cNvSpPr txBox="1"/>
          <p:nvPr/>
        </p:nvSpPr>
        <p:spPr>
          <a:xfrm>
            <a:off x="749808" y="1984248"/>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02</a:t>
            </a:r>
            <a:endParaRPr/>
          </a:p>
        </p:txBody>
      </p:sp>
      <p:sp>
        <p:nvSpPr>
          <p:cNvPr id="37" name="Google Shape;37;p2"/>
          <p:cNvSpPr txBox="1"/>
          <p:nvPr/>
        </p:nvSpPr>
        <p:spPr>
          <a:xfrm>
            <a:off x="1325880" y="1984248"/>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Problema</a:t>
            </a:r>
            <a:endParaRPr/>
          </a:p>
        </p:txBody>
      </p:sp>
      <p:sp>
        <p:nvSpPr>
          <p:cNvPr id="38" name="Google Shape;38;p2"/>
          <p:cNvSpPr/>
          <p:nvPr/>
        </p:nvSpPr>
        <p:spPr>
          <a:xfrm>
            <a:off x="640080" y="2615184"/>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749808" y="2697480"/>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 name="Google Shape;40;p2"/>
          <p:cNvSpPr txBox="1"/>
          <p:nvPr/>
        </p:nvSpPr>
        <p:spPr>
          <a:xfrm>
            <a:off x="749808" y="2697480"/>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03</a:t>
            </a:r>
            <a:endParaRPr/>
          </a:p>
        </p:txBody>
      </p:sp>
      <p:sp>
        <p:nvSpPr>
          <p:cNvPr id="41" name="Google Shape;41;p2"/>
          <p:cNvSpPr txBox="1"/>
          <p:nvPr/>
        </p:nvSpPr>
        <p:spPr>
          <a:xfrm>
            <a:off x="1325880" y="2697480"/>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Necesidad</a:t>
            </a:r>
            <a:endParaRPr/>
          </a:p>
        </p:txBody>
      </p:sp>
      <p:sp>
        <p:nvSpPr>
          <p:cNvPr id="42" name="Google Shape;42;p2"/>
          <p:cNvSpPr/>
          <p:nvPr/>
        </p:nvSpPr>
        <p:spPr>
          <a:xfrm>
            <a:off x="640080" y="3328415"/>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 name="Google Shape;43;p2"/>
          <p:cNvSpPr/>
          <p:nvPr/>
        </p:nvSpPr>
        <p:spPr>
          <a:xfrm>
            <a:off x="749808" y="3410711"/>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 name="Google Shape;44;p2"/>
          <p:cNvSpPr txBox="1"/>
          <p:nvPr/>
        </p:nvSpPr>
        <p:spPr>
          <a:xfrm>
            <a:off x="749808" y="3410711"/>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04</a:t>
            </a:r>
            <a:endParaRPr/>
          </a:p>
        </p:txBody>
      </p:sp>
      <p:sp>
        <p:nvSpPr>
          <p:cNvPr id="45" name="Google Shape;45;p2"/>
          <p:cNvSpPr txBox="1"/>
          <p:nvPr/>
        </p:nvSpPr>
        <p:spPr>
          <a:xfrm>
            <a:off x="1325880" y="3410711"/>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Solución</a:t>
            </a:r>
            <a:endParaRPr/>
          </a:p>
        </p:txBody>
      </p:sp>
      <p:sp>
        <p:nvSpPr>
          <p:cNvPr id="46" name="Google Shape;46;p2"/>
          <p:cNvSpPr/>
          <p:nvPr/>
        </p:nvSpPr>
        <p:spPr>
          <a:xfrm>
            <a:off x="640080" y="4041648"/>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749808" y="4123944"/>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 name="Google Shape;48;p2"/>
          <p:cNvSpPr txBox="1"/>
          <p:nvPr/>
        </p:nvSpPr>
        <p:spPr>
          <a:xfrm>
            <a:off x="749808" y="412394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05</a:t>
            </a:r>
            <a:endParaRPr/>
          </a:p>
        </p:txBody>
      </p:sp>
      <p:sp>
        <p:nvSpPr>
          <p:cNvPr id="49" name="Google Shape;49;p2"/>
          <p:cNvSpPr txBox="1"/>
          <p:nvPr/>
        </p:nvSpPr>
        <p:spPr>
          <a:xfrm>
            <a:off x="1325880" y="4123944"/>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RFs y RNFs, épicas e historias de usuario</a:t>
            </a:r>
            <a:endParaRPr/>
          </a:p>
        </p:txBody>
      </p:sp>
      <p:sp>
        <p:nvSpPr>
          <p:cNvPr id="50" name="Google Shape;50;p2"/>
          <p:cNvSpPr/>
          <p:nvPr/>
        </p:nvSpPr>
        <p:spPr>
          <a:xfrm>
            <a:off x="640080" y="4754880"/>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 name="Google Shape;51;p2"/>
          <p:cNvSpPr/>
          <p:nvPr/>
        </p:nvSpPr>
        <p:spPr>
          <a:xfrm>
            <a:off x="749808" y="4837176"/>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2"/>
          <p:cNvSpPr txBox="1"/>
          <p:nvPr/>
        </p:nvSpPr>
        <p:spPr>
          <a:xfrm>
            <a:off x="749808" y="4837176"/>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06</a:t>
            </a:r>
            <a:endParaRPr/>
          </a:p>
        </p:txBody>
      </p:sp>
      <p:sp>
        <p:nvSpPr>
          <p:cNvPr id="53" name="Google Shape;53;p2"/>
          <p:cNvSpPr txBox="1"/>
          <p:nvPr/>
        </p:nvSpPr>
        <p:spPr>
          <a:xfrm>
            <a:off x="1325880" y="4837176"/>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Arquitectura</a:t>
            </a:r>
            <a:endParaRPr/>
          </a:p>
        </p:txBody>
      </p:sp>
      <p:sp>
        <p:nvSpPr>
          <p:cNvPr id="54" name="Google Shape;54;p2"/>
          <p:cNvSpPr/>
          <p:nvPr/>
        </p:nvSpPr>
        <p:spPr>
          <a:xfrm>
            <a:off x="640080" y="5468112"/>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749808" y="5550407"/>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 name="Google Shape;56;p2"/>
          <p:cNvSpPr txBox="1"/>
          <p:nvPr/>
        </p:nvSpPr>
        <p:spPr>
          <a:xfrm>
            <a:off x="749808" y="5550407"/>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07</a:t>
            </a:r>
            <a:endParaRPr/>
          </a:p>
        </p:txBody>
      </p:sp>
      <p:sp>
        <p:nvSpPr>
          <p:cNvPr id="57" name="Google Shape;57;p2"/>
          <p:cNvSpPr txBox="1"/>
          <p:nvPr/>
        </p:nvSpPr>
        <p:spPr>
          <a:xfrm>
            <a:off x="1325880" y="5550407"/>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Modelo de datos</a:t>
            </a:r>
            <a:endParaRPr/>
          </a:p>
        </p:txBody>
      </p:sp>
      <p:sp>
        <p:nvSpPr>
          <p:cNvPr id="58" name="Google Shape;58;p2"/>
          <p:cNvSpPr/>
          <p:nvPr/>
        </p:nvSpPr>
        <p:spPr>
          <a:xfrm>
            <a:off x="6309360" y="1188720"/>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6419088" y="1271016"/>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 name="Google Shape;60;p2"/>
          <p:cNvSpPr txBox="1"/>
          <p:nvPr/>
        </p:nvSpPr>
        <p:spPr>
          <a:xfrm>
            <a:off x="6419088" y="1271016"/>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08</a:t>
            </a:r>
            <a:endParaRPr/>
          </a:p>
        </p:txBody>
      </p:sp>
      <p:sp>
        <p:nvSpPr>
          <p:cNvPr id="61" name="Google Shape;61;p2"/>
          <p:cNvSpPr txBox="1"/>
          <p:nvPr/>
        </p:nvSpPr>
        <p:spPr>
          <a:xfrm>
            <a:off x="6995160" y="1271016"/>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Metodología</a:t>
            </a:r>
            <a:endParaRPr/>
          </a:p>
        </p:txBody>
      </p:sp>
      <p:sp>
        <p:nvSpPr>
          <p:cNvPr id="62" name="Google Shape;62;p2"/>
          <p:cNvSpPr/>
          <p:nvPr/>
        </p:nvSpPr>
        <p:spPr>
          <a:xfrm>
            <a:off x="6309360" y="1901952"/>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 name="Google Shape;63;p2"/>
          <p:cNvSpPr/>
          <p:nvPr/>
        </p:nvSpPr>
        <p:spPr>
          <a:xfrm>
            <a:off x="6419088" y="1984248"/>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 name="Google Shape;64;p2"/>
          <p:cNvSpPr txBox="1"/>
          <p:nvPr/>
        </p:nvSpPr>
        <p:spPr>
          <a:xfrm>
            <a:off x="6419088" y="1984248"/>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09</a:t>
            </a:r>
            <a:endParaRPr/>
          </a:p>
        </p:txBody>
      </p:sp>
      <p:sp>
        <p:nvSpPr>
          <p:cNvPr id="65" name="Google Shape;65;p2"/>
          <p:cNvSpPr txBox="1"/>
          <p:nvPr/>
        </p:nvSpPr>
        <p:spPr>
          <a:xfrm>
            <a:off x="6995160" y="1984248"/>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Roles</a:t>
            </a:r>
            <a:endParaRPr/>
          </a:p>
        </p:txBody>
      </p:sp>
      <p:sp>
        <p:nvSpPr>
          <p:cNvPr id="66" name="Google Shape;66;p2"/>
          <p:cNvSpPr/>
          <p:nvPr/>
        </p:nvSpPr>
        <p:spPr>
          <a:xfrm>
            <a:off x="6309360" y="2615184"/>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6419088" y="2697480"/>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 name="Google Shape;68;p2"/>
          <p:cNvSpPr txBox="1"/>
          <p:nvPr/>
        </p:nvSpPr>
        <p:spPr>
          <a:xfrm>
            <a:off x="6419088" y="2697480"/>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10</a:t>
            </a:r>
            <a:endParaRPr/>
          </a:p>
        </p:txBody>
      </p:sp>
      <p:sp>
        <p:nvSpPr>
          <p:cNvPr id="69" name="Google Shape;69;p2"/>
          <p:cNvSpPr txBox="1"/>
          <p:nvPr/>
        </p:nvSpPr>
        <p:spPr>
          <a:xfrm>
            <a:off x="6995160" y="2697480"/>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Evidencias por </a:t>
            </a:r>
            <a:r>
              <a:rPr b="1" lang="en-US" sz="1450">
                <a:solidFill>
                  <a:srgbClr val="2E2318"/>
                </a:solidFill>
                <a:latin typeface="Calibri"/>
                <a:ea typeface="Calibri"/>
                <a:cs typeface="Calibri"/>
                <a:sym typeface="Calibri"/>
              </a:rPr>
              <a:t>S</a:t>
            </a:r>
            <a:r>
              <a:rPr b="1" i="0" lang="en-US" sz="1450" u="none" cap="none" strike="noStrike">
                <a:solidFill>
                  <a:srgbClr val="2E2318"/>
                </a:solidFill>
                <a:latin typeface="Calibri"/>
                <a:ea typeface="Calibri"/>
                <a:cs typeface="Calibri"/>
                <a:sym typeface="Calibri"/>
              </a:rPr>
              <a:t>print</a:t>
            </a:r>
            <a:endParaRPr/>
          </a:p>
        </p:txBody>
      </p:sp>
      <p:sp>
        <p:nvSpPr>
          <p:cNvPr id="70" name="Google Shape;70;p2"/>
          <p:cNvSpPr/>
          <p:nvPr/>
        </p:nvSpPr>
        <p:spPr>
          <a:xfrm>
            <a:off x="6309360" y="3328415"/>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6419088" y="3410711"/>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 name="Google Shape;72;p2"/>
          <p:cNvSpPr txBox="1"/>
          <p:nvPr/>
        </p:nvSpPr>
        <p:spPr>
          <a:xfrm>
            <a:off x="6419088" y="3410711"/>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11</a:t>
            </a:r>
            <a:endParaRPr/>
          </a:p>
        </p:txBody>
      </p:sp>
      <p:sp>
        <p:nvSpPr>
          <p:cNvPr id="73" name="Google Shape;73;p2"/>
          <p:cNvSpPr txBox="1"/>
          <p:nvPr/>
        </p:nvSpPr>
        <p:spPr>
          <a:xfrm>
            <a:off x="6995160" y="3410711"/>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Cronograma actualizado</a:t>
            </a:r>
            <a:endParaRPr/>
          </a:p>
        </p:txBody>
      </p:sp>
      <p:sp>
        <p:nvSpPr>
          <p:cNvPr id="74" name="Google Shape;74;p2"/>
          <p:cNvSpPr/>
          <p:nvPr/>
        </p:nvSpPr>
        <p:spPr>
          <a:xfrm>
            <a:off x="6309360" y="4041648"/>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 name="Google Shape;75;p2"/>
          <p:cNvSpPr/>
          <p:nvPr/>
        </p:nvSpPr>
        <p:spPr>
          <a:xfrm>
            <a:off x="6419088" y="4123944"/>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 name="Google Shape;76;p2"/>
          <p:cNvSpPr txBox="1"/>
          <p:nvPr/>
        </p:nvSpPr>
        <p:spPr>
          <a:xfrm>
            <a:off x="6419088" y="4123944"/>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12</a:t>
            </a:r>
            <a:endParaRPr/>
          </a:p>
        </p:txBody>
      </p:sp>
      <p:sp>
        <p:nvSpPr>
          <p:cNvPr id="77" name="Google Shape;77;p2"/>
          <p:cNvSpPr txBox="1"/>
          <p:nvPr/>
        </p:nvSpPr>
        <p:spPr>
          <a:xfrm>
            <a:off x="6995160" y="4123944"/>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Demostración</a:t>
            </a:r>
            <a:endParaRPr/>
          </a:p>
        </p:txBody>
      </p:sp>
      <p:sp>
        <p:nvSpPr>
          <p:cNvPr id="78" name="Google Shape;78;p2"/>
          <p:cNvSpPr/>
          <p:nvPr/>
        </p:nvSpPr>
        <p:spPr>
          <a:xfrm>
            <a:off x="6309360" y="4754880"/>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6419088" y="4837176"/>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 name="Google Shape;80;p2"/>
          <p:cNvSpPr txBox="1"/>
          <p:nvPr/>
        </p:nvSpPr>
        <p:spPr>
          <a:xfrm>
            <a:off x="6419088" y="4837176"/>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13</a:t>
            </a:r>
            <a:endParaRPr/>
          </a:p>
        </p:txBody>
      </p:sp>
      <p:sp>
        <p:nvSpPr>
          <p:cNvPr id="81" name="Google Shape;81;p2"/>
          <p:cNvSpPr txBox="1"/>
          <p:nvPr/>
        </p:nvSpPr>
        <p:spPr>
          <a:xfrm>
            <a:off x="6995160" y="4837176"/>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Conclusiones y </a:t>
            </a:r>
            <a:r>
              <a:rPr b="1" lang="en-US" sz="1450">
                <a:solidFill>
                  <a:srgbClr val="2E2318"/>
                </a:solidFill>
                <a:latin typeface="Calibri"/>
                <a:ea typeface="Calibri"/>
                <a:cs typeface="Calibri"/>
                <a:sym typeface="Calibri"/>
              </a:rPr>
              <a:t>P</a:t>
            </a:r>
            <a:r>
              <a:rPr b="1" i="0" lang="en-US" sz="1450" u="none" cap="none" strike="noStrike">
                <a:solidFill>
                  <a:srgbClr val="2E2318"/>
                </a:solidFill>
                <a:latin typeface="Calibri"/>
                <a:ea typeface="Calibri"/>
                <a:cs typeface="Calibri"/>
                <a:sym typeface="Calibri"/>
              </a:rPr>
              <a:t>róximos </a:t>
            </a:r>
            <a:r>
              <a:rPr b="1" lang="en-US" sz="1450">
                <a:solidFill>
                  <a:srgbClr val="2E2318"/>
                </a:solidFill>
                <a:latin typeface="Calibri"/>
                <a:ea typeface="Calibri"/>
                <a:cs typeface="Calibri"/>
                <a:sym typeface="Calibri"/>
              </a:rPr>
              <a:t>P</a:t>
            </a:r>
            <a:r>
              <a:rPr b="1" i="0" lang="en-US" sz="1450" u="none" cap="none" strike="noStrike">
                <a:solidFill>
                  <a:srgbClr val="2E2318"/>
                </a:solidFill>
                <a:latin typeface="Calibri"/>
                <a:ea typeface="Calibri"/>
                <a:cs typeface="Calibri"/>
                <a:sym typeface="Calibri"/>
              </a:rPr>
              <a:t>asos</a:t>
            </a:r>
            <a:endParaRPr/>
          </a:p>
        </p:txBody>
      </p:sp>
      <p:sp>
        <p:nvSpPr>
          <p:cNvPr id="82" name="Google Shape;82;p2"/>
          <p:cNvSpPr/>
          <p:nvPr/>
        </p:nvSpPr>
        <p:spPr>
          <a:xfrm>
            <a:off x="6309360" y="5468112"/>
            <a:ext cx="5212080" cy="566928"/>
          </a:xfrm>
          <a:prstGeom prst="roundRect">
            <a:avLst>
              <a:gd fmla="val 1451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6419088" y="5550407"/>
            <a:ext cx="402336" cy="402336"/>
          </a:xfrm>
          <a:prstGeom prst="roundRect">
            <a:avLst>
              <a:gd fmla="val 1818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6419088" y="5550407"/>
            <a:ext cx="402336"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D9A441"/>
                </a:solidFill>
                <a:latin typeface="Cambria"/>
                <a:ea typeface="Cambria"/>
                <a:cs typeface="Cambria"/>
                <a:sym typeface="Cambria"/>
              </a:rPr>
              <a:t>14</a:t>
            </a:r>
            <a:endParaRPr/>
          </a:p>
        </p:txBody>
      </p:sp>
      <p:sp>
        <p:nvSpPr>
          <p:cNvPr id="85" name="Google Shape;85;p2"/>
          <p:cNvSpPr txBox="1"/>
          <p:nvPr/>
        </p:nvSpPr>
        <p:spPr>
          <a:xfrm>
            <a:off x="6995160" y="5550407"/>
            <a:ext cx="438912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0" u="none" cap="none" strike="noStrike">
                <a:solidFill>
                  <a:srgbClr val="2E2318"/>
                </a:solidFill>
                <a:latin typeface="Calibri"/>
                <a:ea typeface="Calibri"/>
                <a:cs typeface="Calibri"/>
                <a:sym typeface="Calibri"/>
              </a:rPr>
              <a:t>Reflexión </a:t>
            </a:r>
            <a:r>
              <a:rPr b="1" lang="en-US" sz="1450">
                <a:solidFill>
                  <a:srgbClr val="2E2318"/>
                </a:solidFill>
                <a:latin typeface="Calibri"/>
                <a:ea typeface="Calibri"/>
                <a:cs typeface="Calibri"/>
                <a:sym typeface="Calibri"/>
              </a:rPr>
              <a:t>F</a:t>
            </a:r>
            <a:r>
              <a:rPr b="1" i="0" lang="en-US" sz="1450" u="none" cap="none" strike="noStrike">
                <a:solidFill>
                  <a:srgbClr val="2E2318"/>
                </a:solidFill>
                <a:latin typeface="Calibri"/>
                <a:ea typeface="Calibri"/>
                <a:cs typeface="Calibri"/>
                <a:sym typeface="Calibri"/>
              </a:rPr>
              <a:t>inal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3"/>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92" name="Google Shape;92;p3"/>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Contexto</a:t>
            </a:r>
            <a:endParaRPr b="0" i="0" sz="3000" u="none" cap="none" strike="noStrike">
              <a:solidFill>
                <a:schemeClr val="dk1"/>
              </a:solidFill>
              <a:latin typeface="Calibri"/>
              <a:ea typeface="Calibri"/>
              <a:cs typeface="Calibri"/>
              <a:sym typeface="Calibri"/>
            </a:endParaRPr>
          </a:p>
        </p:txBody>
      </p:sp>
      <p:sp>
        <p:nvSpPr>
          <p:cNvPr id="93" name="Google Shape;93;p3"/>
          <p:cNvSpPr/>
          <p:nvPr/>
        </p:nvSpPr>
        <p:spPr>
          <a:xfrm>
            <a:off x="548640" y="1188720"/>
            <a:ext cx="5394960" cy="5074920"/>
          </a:xfrm>
          <a:prstGeom prst="roundRect">
            <a:avLst>
              <a:gd fmla="val 144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 name="Google Shape;94;p3"/>
          <p:cNvSpPr txBox="1"/>
          <p:nvPr/>
        </p:nvSpPr>
        <p:spPr>
          <a:xfrm>
            <a:off x="777240" y="1325880"/>
            <a:ext cx="493776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D9A441"/>
                </a:solidFill>
                <a:latin typeface="Calibri"/>
                <a:ea typeface="Calibri"/>
                <a:cs typeface="Calibri"/>
                <a:sym typeface="Calibri"/>
              </a:rPr>
              <a:t>La panadería</a:t>
            </a:r>
            <a:endParaRPr/>
          </a:p>
        </p:txBody>
      </p:sp>
      <p:sp>
        <p:nvSpPr>
          <p:cNvPr id="95" name="Google Shape;95;p3"/>
          <p:cNvSpPr txBox="1"/>
          <p:nvPr/>
        </p:nvSpPr>
        <p:spPr>
          <a:xfrm>
            <a:off x="777240" y="1874519"/>
            <a:ext cx="4937760" cy="420624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500"/>
              <a:buFont typeface="Arial"/>
              <a:buChar char="•"/>
            </a:pPr>
            <a:r>
              <a:rPr b="0" i="0" lang="en-US" sz="1500" u="none" cap="none" strike="noStrike">
                <a:solidFill>
                  <a:srgbClr val="FFFFFF"/>
                </a:solidFill>
                <a:latin typeface="Calibri"/>
                <a:ea typeface="Calibri"/>
                <a:cs typeface="Calibri"/>
                <a:sym typeface="Calibri"/>
              </a:rPr>
              <a:t>Panadería San Manuel: local pequeño en un barrio residencial de la zona central de Chile.</a:t>
            </a:r>
            <a:endParaRPr/>
          </a:p>
          <a:p>
            <a:pPr indent="-155448" lvl="0" marL="155448" marR="0" rtl="0" algn="l">
              <a:lnSpc>
                <a:spcPct val="100000"/>
              </a:lnSpc>
              <a:spcBef>
                <a:spcPts val="1200"/>
              </a:spcBef>
              <a:spcAft>
                <a:spcPts val="0"/>
              </a:spcAft>
              <a:buClr>
                <a:srgbClr val="D9A441"/>
              </a:buClr>
              <a:buSzPts val="1500"/>
              <a:buFont typeface="Arial"/>
              <a:buChar char="•"/>
            </a:pPr>
            <a:r>
              <a:rPr b="0" i="0" lang="en-US" sz="1500" u="none" cap="none" strike="noStrike">
                <a:solidFill>
                  <a:srgbClr val="FFFFFF"/>
                </a:solidFill>
                <a:latin typeface="Calibri"/>
                <a:ea typeface="Calibri"/>
                <a:cs typeface="Calibri"/>
                <a:sym typeface="Calibri"/>
              </a:rPr>
              <a:t>Elabora su propio pan y vende además productos de reventa.</a:t>
            </a:r>
            <a:endParaRPr/>
          </a:p>
          <a:p>
            <a:pPr indent="-155448" lvl="0" marL="155448" marR="0" rtl="0" algn="l">
              <a:lnSpc>
                <a:spcPct val="100000"/>
              </a:lnSpc>
              <a:spcBef>
                <a:spcPts val="1200"/>
              </a:spcBef>
              <a:spcAft>
                <a:spcPts val="0"/>
              </a:spcAft>
              <a:buClr>
                <a:srgbClr val="D9A441"/>
              </a:buClr>
              <a:buSzPts val="1500"/>
              <a:buFont typeface="Arial"/>
              <a:buChar char="•"/>
            </a:pPr>
            <a:r>
              <a:rPr b="0" i="0" lang="en-US" sz="1500" u="none" cap="none" strike="noStrike">
                <a:solidFill>
                  <a:srgbClr val="FFFFFF"/>
                </a:solidFill>
                <a:latin typeface="Calibri"/>
                <a:ea typeface="Calibri"/>
                <a:cs typeface="Calibri"/>
                <a:sym typeface="Calibri"/>
              </a:rPr>
              <a:t>El pan se vende por kilo, con un mismo precio para todos los tipos; los productos de reventa se venden por unidad, con código de barras.</a:t>
            </a:r>
            <a:endParaRPr/>
          </a:p>
          <a:p>
            <a:pPr indent="-155448" lvl="0" marL="155448" marR="0" rtl="0" algn="l">
              <a:lnSpc>
                <a:spcPct val="100000"/>
              </a:lnSpc>
              <a:spcBef>
                <a:spcPts val="1200"/>
              </a:spcBef>
              <a:spcAft>
                <a:spcPts val="0"/>
              </a:spcAft>
              <a:buClr>
                <a:srgbClr val="D9A441"/>
              </a:buClr>
              <a:buSzPts val="1500"/>
              <a:buFont typeface="Arial"/>
              <a:buChar char="•"/>
            </a:pPr>
            <a:r>
              <a:rPr b="0" i="0" lang="en-US" sz="1500" u="none" cap="none" strike="noStrike">
                <a:solidFill>
                  <a:srgbClr val="FFFFFF"/>
                </a:solidFill>
                <a:latin typeface="Calibri"/>
                <a:ea typeface="Calibri"/>
                <a:cs typeface="Calibri"/>
                <a:sym typeface="Calibri"/>
              </a:rPr>
              <a:t>La producción parte a las 05:00 con el amasado, sigue con la fermentación y el horneado, y el pan sale en cestas a la sala de ventas.</a:t>
            </a:r>
            <a:endParaRPr/>
          </a:p>
        </p:txBody>
      </p:sp>
      <p:sp>
        <p:nvSpPr>
          <p:cNvPr id="96" name="Google Shape;96;p3"/>
          <p:cNvSpPr txBox="1"/>
          <p:nvPr/>
        </p:nvSpPr>
        <p:spPr>
          <a:xfrm>
            <a:off x="6172200" y="1188720"/>
            <a:ext cx="5468112"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4A2C1A"/>
                </a:solidFill>
                <a:latin typeface="Calibri"/>
                <a:ea typeface="Calibri"/>
                <a:cs typeface="Calibri"/>
                <a:sym typeface="Calibri"/>
              </a:rPr>
              <a:t>Quién trabaja en el local</a:t>
            </a:r>
            <a:endParaRPr/>
          </a:p>
        </p:txBody>
      </p:sp>
      <p:sp>
        <p:nvSpPr>
          <p:cNvPr id="97" name="Google Shape;97;p3"/>
          <p:cNvSpPr/>
          <p:nvPr/>
        </p:nvSpPr>
        <p:spPr>
          <a:xfrm>
            <a:off x="6172200" y="1645920"/>
            <a:ext cx="5468112" cy="777240"/>
          </a:xfrm>
          <a:prstGeom prst="roundRect">
            <a:avLst>
              <a:gd fmla="val 705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3"/>
          <p:cNvSpPr txBox="1"/>
          <p:nvPr/>
        </p:nvSpPr>
        <p:spPr>
          <a:xfrm>
            <a:off x="6355080" y="1645920"/>
            <a:ext cx="15544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Cajero(a)</a:t>
            </a:r>
            <a:endParaRPr/>
          </a:p>
        </p:txBody>
      </p:sp>
      <p:sp>
        <p:nvSpPr>
          <p:cNvPr id="99" name="Google Shape;99;p3"/>
          <p:cNvSpPr txBox="1"/>
          <p:nvPr/>
        </p:nvSpPr>
        <p:spPr>
          <a:xfrm>
            <a:off x="7909560" y="1645920"/>
            <a:ext cx="36118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Atiende al público, cobra y ordena las vitrinas.</a:t>
            </a:r>
            <a:endParaRPr/>
          </a:p>
        </p:txBody>
      </p:sp>
      <p:sp>
        <p:nvSpPr>
          <p:cNvPr id="100" name="Google Shape;100;p3"/>
          <p:cNvSpPr/>
          <p:nvPr/>
        </p:nvSpPr>
        <p:spPr>
          <a:xfrm>
            <a:off x="6172200" y="2514600"/>
            <a:ext cx="5468112" cy="777240"/>
          </a:xfrm>
          <a:prstGeom prst="roundRect">
            <a:avLst>
              <a:gd fmla="val 705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3"/>
          <p:cNvSpPr txBox="1"/>
          <p:nvPr/>
        </p:nvSpPr>
        <p:spPr>
          <a:xfrm>
            <a:off x="6355080" y="2514600"/>
            <a:ext cx="15544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Panadero(a)</a:t>
            </a:r>
            <a:endParaRPr/>
          </a:p>
        </p:txBody>
      </p:sp>
      <p:sp>
        <p:nvSpPr>
          <p:cNvPr id="102" name="Google Shape;102;p3"/>
          <p:cNvSpPr txBox="1"/>
          <p:nvPr/>
        </p:nvSpPr>
        <p:spPr>
          <a:xfrm>
            <a:off x="7909560" y="2514600"/>
            <a:ext cx="36118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Elabora el pan y controla los tiempos de horneado.</a:t>
            </a:r>
            <a:endParaRPr/>
          </a:p>
        </p:txBody>
      </p:sp>
      <p:sp>
        <p:nvSpPr>
          <p:cNvPr id="103" name="Google Shape;103;p3"/>
          <p:cNvSpPr/>
          <p:nvPr/>
        </p:nvSpPr>
        <p:spPr>
          <a:xfrm>
            <a:off x="6172200" y="3383280"/>
            <a:ext cx="5468112" cy="777240"/>
          </a:xfrm>
          <a:prstGeom prst="roundRect">
            <a:avLst>
              <a:gd fmla="val 705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3"/>
          <p:cNvSpPr txBox="1"/>
          <p:nvPr/>
        </p:nvSpPr>
        <p:spPr>
          <a:xfrm>
            <a:off x="6355080" y="3383280"/>
            <a:ext cx="15544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Gerente</a:t>
            </a:r>
            <a:endParaRPr/>
          </a:p>
        </p:txBody>
      </p:sp>
      <p:sp>
        <p:nvSpPr>
          <p:cNvPr id="105" name="Google Shape;105;p3"/>
          <p:cNvSpPr txBox="1"/>
          <p:nvPr/>
        </p:nvSpPr>
        <p:spPr>
          <a:xfrm>
            <a:off x="7909560" y="3383280"/>
            <a:ext cx="361188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Controla el inventario, las compras y las remuneraciones.</a:t>
            </a:r>
            <a:endParaRPr/>
          </a:p>
        </p:txBody>
      </p:sp>
      <p:sp>
        <p:nvSpPr>
          <p:cNvPr id="106" name="Google Shape;106;p3"/>
          <p:cNvSpPr/>
          <p:nvPr/>
        </p:nvSpPr>
        <p:spPr>
          <a:xfrm>
            <a:off x="6172200" y="5120650"/>
            <a:ext cx="5468100" cy="1157100"/>
          </a:xfrm>
          <a:prstGeom prst="roundRect">
            <a:avLst>
              <a:gd fmla="val 363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7909550" y="5166375"/>
            <a:ext cx="3462300" cy="111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0"/>
              </a:spcAft>
              <a:buNone/>
            </a:pPr>
            <a:r>
              <a:t/>
            </a:r>
            <a:endParaRPr sz="1300">
              <a:solidFill>
                <a:srgbClr val="2E2318"/>
              </a:solidFill>
              <a:latin typeface="Calibri"/>
              <a:ea typeface="Calibri"/>
              <a:cs typeface="Calibri"/>
              <a:sym typeface="Calibri"/>
            </a:endParaRPr>
          </a:p>
          <a:p>
            <a:pPr indent="0" lvl="0" marL="0" marR="0" rtl="0" algn="l">
              <a:lnSpc>
                <a:spcPct val="100000"/>
              </a:lnSpc>
              <a:spcBef>
                <a:spcPts val="400"/>
              </a:spcBef>
              <a:spcAft>
                <a:spcPts val="0"/>
              </a:spcAft>
              <a:buNone/>
            </a:pPr>
            <a:r>
              <a:rPr b="0" i="0" lang="en-US" sz="1300" u="none" cap="none" strike="noStrike">
                <a:solidFill>
                  <a:srgbClr val="2E2318"/>
                </a:solidFill>
                <a:latin typeface="Calibri"/>
                <a:ea typeface="Calibri"/>
                <a:cs typeface="Calibri"/>
                <a:sym typeface="Calibri"/>
              </a:rPr>
              <a:t>Caja con lector de códigos de barras, balanza con impresora de etiquetas, terminal de pago y gaveta de dinero.</a:t>
            </a:r>
            <a:endParaRPr/>
          </a:p>
        </p:txBody>
      </p:sp>
      <p:sp>
        <p:nvSpPr>
          <p:cNvPr id="108" name="Google Shape;108;p3"/>
          <p:cNvSpPr txBox="1"/>
          <p:nvPr/>
        </p:nvSpPr>
        <p:spPr>
          <a:xfrm>
            <a:off x="6282225" y="54864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rgbClr val="4A2C1A"/>
                </a:solidFill>
                <a:latin typeface="Calibri"/>
                <a:ea typeface="Calibri"/>
                <a:cs typeface="Calibri"/>
                <a:sym typeface="Calibri"/>
              </a:rPr>
              <a:t>M</a:t>
            </a:r>
            <a:r>
              <a:rPr b="1" lang="en-US">
                <a:solidFill>
                  <a:srgbClr val="4A2C1A"/>
                </a:solidFill>
                <a:latin typeface="Calibri"/>
                <a:ea typeface="Calibri"/>
                <a:cs typeface="Calibri"/>
                <a:sym typeface="Calibri"/>
              </a:rPr>
              <a:t>ostrador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4"/>
          <p:cNvSpPr/>
          <p:nvPr/>
        </p:nvSpPr>
        <p:spPr>
          <a:xfrm>
            <a:off x="548640" y="1207008"/>
            <a:ext cx="54864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C1A"/>
              </a:buClr>
              <a:buSzPts val="1400"/>
              <a:buFont typeface="Calibri"/>
              <a:buNone/>
            </a:pPr>
            <a:r>
              <a:rPr b="1" i="0" lang="en-US" sz="1400" u="none" cap="none" strike="noStrike">
                <a:solidFill>
                  <a:srgbClr val="4A2C1A"/>
                </a:solidFill>
                <a:latin typeface="Calibri"/>
                <a:ea typeface="Calibri"/>
                <a:cs typeface="Calibri"/>
                <a:sym typeface="Calibri"/>
              </a:rPr>
              <a:t>Causas operativas</a:t>
            </a:r>
            <a:endParaRPr b="0" i="0" sz="1400" u="none" cap="none" strike="noStrike">
              <a:solidFill>
                <a:schemeClr val="dk1"/>
              </a:solidFill>
              <a:latin typeface="Calibri"/>
              <a:ea typeface="Calibri"/>
              <a:cs typeface="Calibri"/>
              <a:sym typeface="Calibri"/>
            </a:endParaRPr>
          </a:p>
        </p:txBody>
      </p:sp>
      <p:sp>
        <p:nvSpPr>
          <p:cNvPr id="115" name="Google Shape;115;p4"/>
          <p:cNvSpPr/>
          <p:nvPr/>
        </p:nvSpPr>
        <p:spPr>
          <a:xfrm>
            <a:off x="548640" y="1600200"/>
            <a:ext cx="5532120" cy="1060704"/>
          </a:xfrm>
          <a:prstGeom prst="roundRect">
            <a:avLst>
              <a:gd fmla="val 8621"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4"/>
          <p:cNvSpPr/>
          <p:nvPr/>
        </p:nvSpPr>
        <p:spPr>
          <a:xfrm>
            <a:off x="728685" y="1856231"/>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7" name="Google Shape;117;p4"/>
          <p:cNvPicPr preferRelativeResize="0"/>
          <p:nvPr/>
        </p:nvPicPr>
        <p:blipFill rotWithShape="1">
          <a:blip r:embed="rId3">
            <a:alphaModFix/>
          </a:blip>
          <a:srcRect b="0" l="0" r="0" t="0"/>
          <a:stretch/>
        </p:blipFill>
        <p:spPr>
          <a:xfrm>
            <a:off x="874166" y="1998878"/>
            <a:ext cx="263347" cy="263347"/>
          </a:xfrm>
          <a:prstGeom prst="rect">
            <a:avLst/>
          </a:prstGeom>
          <a:noFill/>
          <a:ln>
            <a:noFill/>
          </a:ln>
        </p:spPr>
      </p:pic>
      <p:sp>
        <p:nvSpPr>
          <p:cNvPr id="118" name="Google Shape;118;p4"/>
          <p:cNvSpPr/>
          <p:nvPr/>
        </p:nvSpPr>
        <p:spPr>
          <a:xfrm>
            <a:off x="1422806" y="1781803"/>
            <a:ext cx="45262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Ausencia de registro transaccional</a:t>
            </a:r>
            <a:endParaRPr b="0" i="0" sz="1300" u="none" cap="none" strike="noStrike">
              <a:solidFill>
                <a:schemeClr val="dk1"/>
              </a:solidFill>
              <a:latin typeface="Calibri"/>
              <a:ea typeface="Calibri"/>
              <a:cs typeface="Calibri"/>
              <a:sym typeface="Calibri"/>
            </a:endParaRPr>
          </a:p>
        </p:txBody>
      </p:sp>
      <p:sp>
        <p:nvSpPr>
          <p:cNvPr id="119" name="Google Shape;119;p4"/>
          <p:cNvSpPr/>
          <p:nvPr/>
        </p:nvSpPr>
        <p:spPr>
          <a:xfrm>
            <a:off x="1422806" y="1947672"/>
            <a:ext cx="45262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060"/>
              <a:buFont typeface="Calibri"/>
              <a:buNone/>
            </a:pPr>
            <a:r>
              <a:rPr b="0" i="0" lang="en-US" sz="1060" u="none" cap="none" strike="noStrike">
                <a:solidFill>
                  <a:srgbClr val="6E5F50"/>
                </a:solidFill>
                <a:latin typeface="Calibri"/>
                <a:ea typeface="Calibri"/>
                <a:cs typeface="Calibri"/>
                <a:sym typeface="Calibri"/>
              </a:rPr>
              <a:t>El punto de venta opera como consulta de precios y la balanza emite su propio ticket: las ventas no se registran a nivel de producto.</a:t>
            </a:r>
            <a:endParaRPr b="0" i="0" sz="1060" u="none" cap="none" strike="noStrike">
              <a:solidFill>
                <a:schemeClr val="dk1"/>
              </a:solidFill>
              <a:latin typeface="Calibri"/>
              <a:ea typeface="Calibri"/>
              <a:cs typeface="Calibri"/>
              <a:sym typeface="Calibri"/>
            </a:endParaRPr>
          </a:p>
        </p:txBody>
      </p:sp>
      <p:sp>
        <p:nvSpPr>
          <p:cNvPr id="120" name="Google Shape;120;p4"/>
          <p:cNvSpPr/>
          <p:nvPr/>
        </p:nvSpPr>
        <p:spPr>
          <a:xfrm>
            <a:off x="548640" y="2788920"/>
            <a:ext cx="5532120" cy="1060704"/>
          </a:xfrm>
          <a:prstGeom prst="roundRect">
            <a:avLst>
              <a:gd fmla="val 8621"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4"/>
          <p:cNvSpPr/>
          <p:nvPr/>
        </p:nvSpPr>
        <p:spPr>
          <a:xfrm>
            <a:off x="731520" y="3044951"/>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22" name="Google Shape;122;p4"/>
          <p:cNvPicPr preferRelativeResize="0"/>
          <p:nvPr/>
        </p:nvPicPr>
        <p:blipFill rotWithShape="1">
          <a:blip r:embed="rId4">
            <a:alphaModFix/>
          </a:blip>
          <a:srcRect b="0" l="0" r="0" t="0"/>
          <a:stretch/>
        </p:blipFill>
        <p:spPr>
          <a:xfrm>
            <a:off x="874166" y="3187598"/>
            <a:ext cx="263347" cy="263347"/>
          </a:xfrm>
          <a:prstGeom prst="rect">
            <a:avLst/>
          </a:prstGeom>
          <a:noFill/>
          <a:ln>
            <a:noFill/>
          </a:ln>
        </p:spPr>
      </p:pic>
      <p:sp>
        <p:nvSpPr>
          <p:cNvPr id="123" name="Google Shape;123;p4"/>
          <p:cNvSpPr/>
          <p:nvPr/>
        </p:nvSpPr>
        <p:spPr>
          <a:xfrm>
            <a:off x="1422806" y="2990087"/>
            <a:ext cx="45262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Control de inventario no sistematizado</a:t>
            </a:r>
            <a:endParaRPr b="0" i="0" sz="1300" u="none" cap="none" strike="noStrike">
              <a:solidFill>
                <a:schemeClr val="dk1"/>
              </a:solidFill>
              <a:latin typeface="Calibri"/>
              <a:ea typeface="Calibri"/>
              <a:cs typeface="Calibri"/>
              <a:sym typeface="Calibri"/>
            </a:endParaRPr>
          </a:p>
        </p:txBody>
      </p:sp>
      <p:sp>
        <p:nvSpPr>
          <p:cNvPr id="124" name="Google Shape;124;p4"/>
          <p:cNvSpPr/>
          <p:nvPr/>
        </p:nvSpPr>
        <p:spPr>
          <a:xfrm>
            <a:off x="1411833" y="3145535"/>
            <a:ext cx="45262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060"/>
              <a:buFont typeface="Calibri"/>
              <a:buNone/>
            </a:pPr>
            <a:r>
              <a:rPr b="0" i="0" lang="en-US" sz="1060" u="none" cap="none" strike="noStrike">
                <a:solidFill>
                  <a:srgbClr val="6E5F50"/>
                </a:solidFill>
                <a:latin typeface="Calibri"/>
                <a:ea typeface="Calibri"/>
                <a:cs typeface="Calibri"/>
                <a:sym typeface="Calibri"/>
              </a:rPr>
              <a:t>Insumos y producto terminado se controlan por estimación visual, sin registro reconciliable.</a:t>
            </a:r>
            <a:endParaRPr b="0" i="0" sz="1060" u="none" cap="none" strike="noStrike">
              <a:solidFill>
                <a:schemeClr val="dk1"/>
              </a:solidFill>
              <a:latin typeface="Calibri"/>
              <a:ea typeface="Calibri"/>
              <a:cs typeface="Calibri"/>
              <a:sym typeface="Calibri"/>
            </a:endParaRPr>
          </a:p>
        </p:txBody>
      </p:sp>
      <p:sp>
        <p:nvSpPr>
          <p:cNvPr id="125" name="Google Shape;125;p4"/>
          <p:cNvSpPr/>
          <p:nvPr/>
        </p:nvSpPr>
        <p:spPr>
          <a:xfrm>
            <a:off x="548640" y="3977640"/>
            <a:ext cx="5532120" cy="1060704"/>
          </a:xfrm>
          <a:prstGeom prst="roundRect">
            <a:avLst>
              <a:gd fmla="val 8621"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p4"/>
          <p:cNvSpPr/>
          <p:nvPr/>
        </p:nvSpPr>
        <p:spPr>
          <a:xfrm>
            <a:off x="731520" y="4233672"/>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27" name="Google Shape;127;p4"/>
          <p:cNvPicPr preferRelativeResize="0"/>
          <p:nvPr/>
        </p:nvPicPr>
        <p:blipFill rotWithShape="1">
          <a:blip r:embed="rId5">
            <a:alphaModFix/>
          </a:blip>
          <a:srcRect b="0" l="0" r="0" t="0"/>
          <a:stretch/>
        </p:blipFill>
        <p:spPr>
          <a:xfrm>
            <a:off x="874166" y="4376318"/>
            <a:ext cx="263347" cy="263347"/>
          </a:xfrm>
          <a:prstGeom prst="rect">
            <a:avLst/>
          </a:prstGeom>
          <a:noFill/>
          <a:ln>
            <a:noFill/>
          </a:ln>
        </p:spPr>
      </p:pic>
      <p:sp>
        <p:nvSpPr>
          <p:cNvPr id="128" name="Google Shape;128;p4"/>
          <p:cNvSpPr/>
          <p:nvPr/>
        </p:nvSpPr>
        <p:spPr>
          <a:xfrm>
            <a:off x="1411833" y="4186176"/>
            <a:ext cx="45262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Coordinación manual entre producción y venta</a:t>
            </a:r>
            <a:endParaRPr b="0" i="0" sz="1300" u="none" cap="none" strike="noStrike">
              <a:solidFill>
                <a:schemeClr val="dk1"/>
              </a:solidFill>
              <a:latin typeface="Calibri"/>
              <a:ea typeface="Calibri"/>
              <a:cs typeface="Calibri"/>
              <a:sym typeface="Calibri"/>
            </a:endParaRPr>
          </a:p>
        </p:txBody>
      </p:sp>
      <p:sp>
        <p:nvSpPr>
          <p:cNvPr id="129" name="Google Shape;129;p4"/>
          <p:cNvSpPr/>
          <p:nvPr/>
        </p:nvSpPr>
        <p:spPr>
          <a:xfrm>
            <a:off x="1411833" y="4339759"/>
            <a:ext cx="45262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060"/>
              <a:buFont typeface="Calibri"/>
              <a:buNone/>
            </a:pPr>
            <a:r>
              <a:rPr b="0" i="0" lang="en-US" sz="1060" u="none" cap="none" strike="noStrike">
                <a:solidFill>
                  <a:srgbClr val="6E5F50"/>
                </a:solidFill>
                <a:latin typeface="Calibri"/>
                <a:ea typeface="Calibri"/>
                <a:cs typeface="Calibri"/>
                <a:sym typeface="Calibri"/>
              </a:rPr>
              <a:t>La comunicación entre el área de producción y el mostrador depende de desplazamientos físicos.</a:t>
            </a:r>
            <a:endParaRPr b="0" i="0" sz="1060" u="none" cap="none" strike="noStrike">
              <a:solidFill>
                <a:schemeClr val="dk1"/>
              </a:solidFill>
              <a:latin typeface="Calibri"/>
              <a:ea typeface="Calibri"/>
              <a:cs typeface="Calibri"/>
              <a:sym typeface="Calibri"/>
            </a:endParaRPr>
          </a:p>
        </p:txBody>
      </p:sp>
      <p:sp>
        <p:nvSpPr>
          <p:cNvPr id="130" name="Google Shape;130;p4"/>
          <p:cNvSpPr/>
          <p:nvPr/>
        </p:nvSpPr>
        <p:spPr>
          <a:xfrm>
            <a:off x="548640" y="5166360"/>
            <a:ext cx="5532120" cy="1060704"/>
          </a:xfrm>
          <a:prstGeom prst="roundRect">
            <a:avLst>
              <a:gd fmla="val 8621"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4"/>
          <p:cNvSpPr/>
          <p:nvPr/>
        </p:nvSpPr>
        <p:spPr>
          <a:xfrm>
            <a:off x="731520" y="5422392"/>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32" name="Google Shape;132;p4"/>
          <p:cNvPicPr preferRelativeResize="0"/>
          <p:nvPr/>
        </p:nvPicPr>
        <p:blipFill rotWithShape="1">
          <a:blip r:embed="rId6">
            <a:alphaModFix/>
          </a:blip>
          <a:srcRect b="0" l="0" r="0" t="0"/>
          <a:stretch/>
        </p:blipFill>
        <p:spPr>
          <a:xfrm>
            <a:off x="874166" y="5565038"/>
            <a:ext cx="263347" cy="263347"/>
          </a:xfrm>
          <a:prstGeom prst="rect">
            <a:avLst/>
          </a:prstGeom>
          <a:noFill/>
          <a:ln>
            <a:noFill/>
          </a:ln>
        </p:spPr>
      </p:pic>
      <p:sp>
        <p:nvSpPr>
          <p:cNvPr id="133" name="Google Shape;133;p4"/>
          <p:cNvSpPr/>
          <p:nvPr/>
        </p:nvSpPr>
        <p:spPr>
          <a:xfrm>
            <a:off x="1417320" y="5276088"/>
            <a:ext cx="45262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Planificación sin base histórica</a:t>
            </a:r>
            <a:endParaRPr b="0" i="0" sz="1300" u="none" cap="none" strike="noStrike">
              <a:solidFill>
                <a:schemeClr val="dk1"/>
              </a:solidFill>
              <a:latin typeface="Calibri"/>
              <a:ea typeface="Calibri"/>
              <a:cs typeface="Calibri"/>
              <a:sym typeface="Calibri"/>
            </a:endParaRPr>
          </a:p>
        </p:txBody>
      </p:sp>
      <p:sp>
        <p:nvSpPr>
          <p:cNvPr id="134" name="Google Shape;134;p4"/>
          <p:cNvSpPr/>
          <p:nvPr/>
        </p:nvSpPr>
        <p:spPr>
          <a:xfrm>
            <a:off x="1417320" y="5577840"/>
            <a:ext cx="452628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060"/>
              <a:buFont typeface="Calibri"/>
              <a:buNone/>
            </a:pPr>
            <a:r>
              <a:rPr b="0" i="0" lang="en-US" sz="1060" u="none" cap="none" strike="noStrike">
                <a:solidFill>
                  <a:srgbClr val="6E5F50"/>
                </a:solidFill>
                <a:latin typeface="Calibri"/>
                <a:ea typeface="Calibri"/>
                <a:cs typeface="Calibri"/>
                <a:sym typeface="Calibri"/>
              </a:rPr>
              <a:t>El volumen a producir se define por criterio del operador, sin respaldo cuantitativo.</a:t>
            </a:r>
            <a:endParaRPr b="0" i="0" sz="1060" u="none" cap="none" strike="noStrike">
              <a:solidFill>
                <a:schemeClr val="dk1"/>
              </a:solidFill>
              <a:latin typeface="Calibri"/>
              <a:ea typeface="Calibri"/>
              <a:cs typeface="Calibri"/>
              <a:sym typeface="Calibri"/>
            </a:endParaRPr>
          </a:p>
        </p:txBody>
      </p:sp>
      <p:sp>
        <p:nvSpPr>
          <p:cNvPr id="135" name="Google Shape;135;p4"/>
          <p:cNvSpPr/>
          <p:nvPr/>
        </p:nvSpPr>
        <p:spPr>
          <a:xfrm>
            <a:off x="6355080" y="1600200"/>
            <a:ext cx="5285232" cy="4617720"/>
          </a:xfrm>
          <a:prstGeom prst="roundRect">
            <a:avLst>
              <a:gd fmla="val 2376"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4"/>
          <p:cNvSpPr/>
          <p:nvPr/>
        </p:nvSpPr>
        <p:spPr>
          <a:xfrm>
            <a:off x="6355080" y="1207008"/>
            <a:ext cx="5285232"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C1A"/>
              </a:buClr>
              <a:buSzPts val="1400"/>
              <a:buFont typeface="Calibri"/>
              <a:buNone/>
            </a:pPr>
            <a:r>
              <a:rPr b="1" i="0" lang="en-US" sz="1400" u="none" cap="none" strike="noStrike">
                <a:solidFill>
                  <a:srgbClr val="4A2C1A"/>
                </a:solidFill>
                <a:latin typeface="Calibri"/>
                <a:ea typeface="Calibri"/>
                <a:cs typeface="Calibri"/>
                <a:sym typeface="Calibri"/>
              </a:rPr>
              <a:t>Impacto en el negocio</a:t>
            </a:r>
            <a:endParaRPr b="0" i="0" sz="1400" u="none" cap="none" strike="noStrike">
              <a:solidFill>
                <a:schemeClr val="dk1"/>
              </a:solidFill>
              <a:latin typeface="Calibri"/>
              <a:ea typeface="Calibri"/>
              <a:cs typeface="Calibri"/>
              <a:sym typeface="Calibri"/>
            </a:endParaRPr>
          </a:p>
        </p:txBody>
      </p:sp>
      <p:sp>
        <p:nvSpPr>
          <p:cNvPr id="137" name="Google Shape;137;p4"/>
          <p:cNvSpPr/>
          <p:nvPr/>
        </p:nvSpPr>
        <p:spPr>
          <a:xfrm>
            <a:off x="6610985" y="2114644"/>
            <a:ext cx="594360" cy="594360"/>
          </a:xfrm>
          <a:prstGeom prst="ellipse">
            <a:avLst/>
          </a:prstGeom>
          <a:solidFill>
            <a:srgbClr val="EA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7388225" y="2092699"/>
            <a:ext cx="4023360" cy="2331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1350"/>
              <a:buFont typeface="Calibri"/>
              <a:buNone/>
            </a:pPr>
            <a:r>
              <a:rPr b="1" i="0" lang="en-US" sz="1350" u="none" cap="none" strike="noStrike">
                <a:solidFill>
                  <a:srgbClr val="4A2C1A"/>
                </a:solidFill>
                <a:latin typeface="Calibri"/>
                <a:ea typeface="Calibri"/>
                <a:cs typeface="Calibri"/>
                <a:sym typeface="Calibri"/>
              </a:rPr>
              <a:t>Sobreproducción y merma</a:t>
            </a:r>
            <a:endParaRPr b="0" i="0" sz="1350" u="none" cap="none" strike="noStrike">
              <a:solidFill>
                <a:srgbClr val="4A2C1A"/>
              </a:solidFill>
              <a:latin typeface="Calibri"/>
              <a:ea typeface="Calibri"/>
              <a:cs typeface="Calibri"/>
              <a:sym typeface="Calibri"/>
            </a:endParaRPr>
          </a:p>
        </p:txBody>
      </p:sp>
      <p:sp>
        <p:nvSpPr>
          <p:cNvPr id="139" name="Google Shape;139;p4"/>
          <p:cNvSpPr/>
          <p:nvPr/>
        </p:nvSpPr>
        <p:spPr>
          <a:xfrm>
            <a:off x="7388225" y="2325871"/>
            <a:ext cx="406908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EADC"/>
              </a:buClr>
              <a:buSzPts val="1080"/>
              <a:buFont typeface="Calibri"/>
              <a:buNone/>
            </a:pPr>
            <a:r>
              <a:rPr b="0" i="0" lang="en-US" sz="1080" u="none" cap="none" strike="noStrike">
                <a:solidFill>
                  <a:srgbClr val="7C6D5F"/>
                </a:solidFill>
                <a:latin typeface="Calibri"/>
                <a:ea typeface="Calibri"/>
                <a:cs typeface="Calibri"/>
                <a:sym typeface="Calibri"/>
              </a:rPr>
              <a:t>Se hornea más de lo que el día requiere: el excedente se vende con descuento o se pierde, junto con la harina y la mano de obra invertidas.</a:t>
            </a:r>
            <a:endParaRPr b="0" i="0" sz="1080" u="none" cap="none" strike="noStrike">
              <a:solidFill>
                <a:srgbClr val="7C6D5F"/>
              </a:solidFill>
              <a:latin typeface="Calibri"/>
              <a:ea typeface="Calibri"/>
              <a:cs typeface="Calibri"/>
              <a:sym typeface="Calibri"/>
            </a:endParaRPr>
          </a:p>
        </p:txBody>
      </p:sp>
      <p:sp>
        <p:nvSpPr>
          <p:cNvPr id="140" name="Google Shape;140;p4"/>
          <p:cNvSpPr/>
          <p:nvPr/>
        </p:nvSpPr>
        <p:spPr>
          <a:xfrm>
            <a:off x="6609192" y="3615513"/>
            <a:ext cx="594360" cy="594360"/>
          </a:xfrm>
          <a:prstGeom prst="ellipse">
            <a:avLst/>
          </a:prstGeom>
          <a:solidFill>
            <a:srgbClr val="EA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41" name="Google Shape;141;p4"/>
          <p:cNvPicPr preferRelativeResize="0"/>
          <p:nvPr/>
        </p:nvPicPr>
        <p:blipFill rotWithShape="1">
          <a:blip r:embed="rId7">
            <a:alphaModFix/>
          </a:blip>
          <a:srcRect b="0" l="0" r="0" t="0"/>
          <a:stretch/>
        </p:blipFill>
        <p:spPr>
          <a:xfrm>
            <a:off x="6765519" y="3766413"/>
            <a:ext cx="285293" cy="285293"/>
          </a:xfrm>
          <a:prstGeom prst="rect">
            <a:avLst/>
          </a:prstGeom>
          <a:noFill/>
          <a:ln>
            <a:noFill/>
          </a:ln>
        </p:spPr>
      </p:pic>
      <p:sp>
        <p:nvSpPr>
          <p:cNvPr id="142" name="Google Shape;142;p4"/>
          <p:cNvSpPr/>
          <p:nvPr/>
        </p:nvSpPr>
        <p:spPr>
          <a:xfrm>
            <a:off x="7388225" y="3593591"/>
            <a:ext cx="40233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1350"/>
              <a:buFont typeface="Calibri"/>
              <a:buNone/>
            </a:pPr>
            <a:r>
              <a:rPr b="1" i="0" lang="en-US" sz="1350" u="none" cap="none" strike="noStrike">
                <a:solidFill>
                  <a:srgbClr val="4A2C1A"/>
                </a:solidFill>
                <a:latin typeface="Calibri"/>
                <a:ea typeface="Calibri"/>
                <a:cs typeface="Calibri"/>
                <a:sym typeface="Calibri"/>
              </a:rPr>
              <a:t>Quiebre de stock y venta perdida</a:t>
            </a:r>
            <a:endParaRPr b="0" i="0" sz="1350" u="none" cap="none" strike="noStrike">
              <a:solidFill>
                <a:srgbClr val="4A2C1A"/>
              </a:solidFill>
              <a:latin typeface="Calibri"/>
              <a:ea typeface="Calibri"/>
              <a:cs typeface="Calibri"/>
              <a:sym typeface="Calibri"/>
            </a:endParaRPr>
          </a:p>
        </p:txBody>
      </p:sp>
      <p:sp>
        <p:nvSpPr>
          <p:cNvPr id="143" name="Google Shape;143;p4"/>
          <p:cNvSpPr/>
          <p:nvPr/>
        </p:nvSpPr>
        <p:spPr>
          <a:xfrm>
            <a:off x="7388225" y="3895343"/>
            <a:ext cx="406908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EADC"/>
              </a:buClr>
              <a:buSzPts val="1080"/>
              <a:buFont typeface="Calibri"/>
              <a:buNone/>
            </a:pPr>
            <a:r>
              <a:rPr b="0" i="0" lang="en-US" sz="1080" u="none" cap="none" strike="noStrike">
                <a:solidFill>
                  <a:srgbClr val="7C6D5F"/>
                </a:solidFill>
                <a:latin typeface="Calibri"/>
                <a:ea typeface="Calibri"/>
                <a:cs typeface="Calibri"/>
                <a:sym typeface="Calibri"/>
              </a:rPr>
              <a:t>En horario punta faltan los productos de mayor rotación. El cliente no encuentra lo que busca y la venta se pierde ese día y el siguiente.</a:t>
            </a:r>
            <a:endParaRPr b="0" i="0" sz="1080" u="none" cap="none" strike="noStrike">
              <a:solidFill>
                <a:srgbClr val="7C6D5F"/>
              </a:solidFill>
              <a:latin typeface="Calibri"/>
              <a:ea typeface="Calibri"/>
              <a:cs typeface="Calibri"/>
              <a:sym typeface="Calibri"/>
            </a:endParaRPr>
          </a:p>
        </p:txBody>
      </p:sp>
      <p:sp>
        <p:nvSpPr>
          <p:cNvPr id="144" name="Google Shape;144;p4"/>
          <p:cNvSpPr/>
          <p:nvPr/>
        </p:nvSpPr>
        <p:spPr>
          <a:xfrm>
            <a:off x="6609192" y="5102351"/>
            <a:ext cx="594360" cy="594360"/>
          </a:xfrm>
          <a:prstGeom prst="ellipse">
            <a:avLst/>
          </a:prstGeom>
          <a:solidFill>
            <a:srgbClr val="EA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45" name="Google Shape;145;p4"/>
          <p:cNvPicPr preferRelativeResize="0"/>
          <p:nvPr/>
        </p:nvPicPr>
        <p:blipFill rotWithShape="1">
          <a:blip r:embed="rId8">
            <a:alphaModFix/>
          </a:blip>
          <a:srcRect b="0" l="0" r="0" t="0"/>
          <a:stretch/>
        </p:blipFill>
        <p:spPr>
          <a:xfrm>
            <a:off x="6765519" y="5259266"/>
            <a:ext cx="285293" cy="285293"/>
          </a:xfrm>
          <a:prstGeom prst="rect">
            <a:avLst/>
          </a:prstGeom>
          <a:noFill/>
          <a:ln>
            <a:noFill/>
          </a:ln>
        </p:spPr>
      </p:pic>
      <p:sp>
        <p:nvSpPr>
          <p:cNvPr id="146" name="Google Shape;146;p4"/>
          <p:cNvSpPr/>
          <p:nvPr/>
        </p:nvSpPr>
        <p:spPr>
          <a:xfrm>
            <a:off x="7388225" y="4968487"/>
            <a:ext cx="4023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1350"/>
              <a:buFont typeface="Calibri"/>
              <a:buNone/>
            </a:pPr>
            <a:r>
              <a:rPr b="1" i="0" lang="en-US" sz="1350" u="none" cap="none" strike="noStrike">
                <a:solidFill>
                  <a:srgbClr val="4A2C1A"/>
                </a:solidFill>
                <a:latin typeface="Calibri"/>
                <a:ea typeface="Calibri"/>
                <a:cs typeface="Calibri"/>
                <a:sym typeface="Calibri"/>
              </a:rPr>
              <a:t>Demora en la reposición de vitrina</a:t>
            </a:r>
            <a:endParaRPr b="0" i="0" sz="1350" u="none" cap="none" strike="noStrike">
              <a:solidFill>
                <a:srgbClr val="4A2C1A"/>
              </a:solidFill>
              <a:latin typeface="Calibri"/>
              <a:ea typeface="Calibri"/>
              <a:cs typeface="Calibri"/>
              <a:sym typeface="Calibri"/>
            </a:endParaRPr>
          </a:p>
        </p:txBody>
      </p:sp>
      <p:sp>
        <p:nvSpPr>
          <p:cNvPr id="147" name="Google Shape;147;p4"/>
          <p:cNvSpPr/>
          <p:nvPr/>
        </p:nvSpPr>
        <p:spPr>
          <a:xfrm>
            <a:off x="7388225" y="5288527"/>
            <a:ext cx="4069080" cy="51206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3EADC"/>
              </a:buClr>
              <a:buSzPts val="1080"/>
              <a:buFont typeface="Calibri"/>
              <a:buNone/>
            </a:pPr>
            <a:r>
              <a:rPr b="0" i="0" lang="en-US" sz="1080" u="none" cap="none" strike="noStrike">
                <a:solidFill>
                  <a:srgbClr val="7C6D5F"/>
                </a:solidFill>
                <a:latin typeface="Calibri"/>
                <a:ea typeface="Calibri"/>
                <a:cs typeface="Calibri"/>
                <a:sym typeface="Calibri"/>
              </a:rPr>
              <a:t>El mostrador no sabe qué hay en horno ni cuándo sale, de modo que el producto llega tarde a la vitrina y se vende fuera de su hora de mayor demanda.</a:t>
            </a:r>
            <a:endParaRPr b="0" i="0" sz="1080" u="none" cap="none" strike="noStrike">
              <a:solidFill>
                <a:srgbClr val="7C6D5F"/>
              </a:solidFill>
              <a:latin typeface="Calibri"/>
              <a:ea typeface="Calibri"/>
              <a:cs typeface="Calibri"/>
              <a:sym typeface="Calibri"/>
            </a:endParaRPr>
          </a:p>
        </p:txBody>
      </p:sp>
      <p:sp>
        <p:nvSpPr>
          <p:cNvPr id="148" name="Google Shape;148;p4"/>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49" name="Google Shape;149;p4"/>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Problema e impacto</a:t>
            </a:r>
            <a:endParaRPr b="0" i="0" sz="3000" u="none" cap="none" strike="noStrike">
              <a:solidFill>
                <a:schemeClr val="dk1"/>
              </a:solidFill>
              <a:latin typeface="Calibri"/>
              <a:ea typeface="Calibri"/>
              <a:cs typeface="Calibri"/>
              <a:sym typeface="Calibri"/>
            </a:endParaRPr>
          </a:p>
        </p:txBody>
      </p:sp>
      <p:pic>
        <p:nvPicPr>
          <p:cNvPr descr="preencoded.png" id="150" name="Google Shape;150;p4"/>
          <p:cNvPicPr preferRelativeResize="0"/>
          <p:nvPr/>
        </p:nvPicPr>
        <p:blipFill rotWithShape="1">
          <a:blip r:embed="rId9">
            <a:alphaModFix/>
          </a:blip>
          <a:srcRect b="0" l="0" r="0" t="0"/>
          <a:stretch/>
        </p:blipFill>
        <p:spPr>
          <a:xfrm>
            <a:off x="6756465" y="2276036"/>
            <a:ext cx="303399" cy="27843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5"/>
          <p:cNvSpPr/>
          <p:nvPr/>
        </p:nvSpPr>
        <p:spPr>
          <a:xfrm>
            <a:off x="731520" y="1417320"/>
            <a:ext cx="822960" cy="822960"/>
          </a:xfrm>
          <a:prstGeom prst="ellipse">
            <a:avLst/>
          </a:prstGeom>
          <a:solidFill>
            <a:srgbClr val="B6D7A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57" name="Google Shape;157;p5"/>
          <p:cNvPicPr preferRelativeResize="0"/>
          <p:nvPr/>
        </p:nvPicPr>
        <p:blipFill rotWithShape="1">
          <a:blip r:embed="rId3">
            <a:alphaModFix/>
          </a:blip>
          <a:srcRect b="0" l="0" r="0" t="0"/>
          <a:stretch/>
        </p:blipFill>
        <p:spPr>
          <a:xfrm>
            <a:off x="945490" y="1631290"/>
            <a:ext cx="395021" cy="395021"/>
          </a:xfrm>
          <a:prstGeom prst="rect">
            <a:avLst/>
          </a:prstGeom>
          <a:noFill/>
          <a:ln>
            <a:noFill/>
          </a:ln>
        </p:spPr>
      </p:pic>
      <p:sp>
        <p:nvSpPr>
          <p:cNvPr id="158" name="Google Shape;158;p5"/>
          <p:cNvSpPr/>
          <p:nvPr/>
        </p:nvSpPr>
        <p:spPr>
          <a:xfrm>
            <a:off x="1783080" y="1435608"/>
            <a:ext cx="45720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Trazabilidad completa de la venta</a:t>
            </a:r>
            <a:endParaRPr b="0" i="0" sz="1600" u="none" cap="none" strike="noStrike">
              <a:solidFill>
                <a:schemeClr val="dk1"/>
              </a:solidFill>
              <a:latin typeface="Calibri"/>
              <a:ea typeface="Calibri"/>
              <a:cs typeface="Calibri"/>
              <a:sym typeface="Calibri"/>
            </a:endParaRPr>
          </a:p>
        </p:txBody>
      </p:sp>
      <p:sp>
        <p:nvSpPr>
          <p:cNvPr id="159" name="Google Shape;159;p5"/>
          <p:cNvSpPr/>
          <p:nvPr/>
        </p:nvSpPr>
        <p:spPr>
          <a:xfrm>
            <a:off x="6492240" y="1435608"/>
            <a:ext cx="51206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Registrar cada transacción con producto, peso y precio en el momento en que ocurre.</a:t>
            </a:r>
            <a:endParaRPr b="0" i="0" sz="1300" u="none" cap="none" strike="noStrike">
              <a:solidFill>
                <a:schemeClr val="dk1"/>
              </a:solidFill>
              <a:latin typeface="Calibri"/>
              <a:ea typeface="Calibri"/>
              <a:cs typeface="Calibri"/>
              <a:sym typeface="Calibri"/>
            </a:endParaRPr>
          </a:p>
        </p:txBody>
      </p:sp>
      <p:cxnSp>
        <p:nvCxnSpPr>
          <p:cNvPr id="160" name="Google Shape;160;p5"/>
          <p:cNvCxnSpPr/>
          <p:nvPr/>
        </p:nvCxnSpPr>
        <p:spPr>
          <a:xfrm>
            <a:off x="1783080" y="2441448"/>
            <a:ext cx="9829800" cy="0"/>
          </a:xfrm>
          <a:prstGeom prst="straightConnector1">
            <a:avLst/>
          </a:prstGeom>
          <a:noFill/>
          <a:ln cap="flat" cmpd="sng" w="12700">
            <a:solidFill>
              <a:srgbClr val="E5D9C6"/>
            </a:solidFill>
            <a:prstDash val="solid"/>
            <a:round/>
            <a:headEnd len="sm" w="sm" type="none"/>
            <a:tailEnd len="sm" w="sm" type="none"/>
          </a:ln>
        </p:spPr>
      </p:cxnSp>
      <p:sp>
        <p:nvSpPr>
          <p:cNvPr id="161" name="Google Shape;161;p5"/>
          <p:cNvSpPr/>
          <p:nvPr/>
        </p:nvSpPr>
        <p:spPr>
          <a:xfrm>
            <a:off x="731520" y="2624328"/>
            <a:ext cx="822960" cy="822960"/>
          </a:xfrm>
          <a:prstGeom prst="ellipse">
            <a:avLst/>
          </a:prstGeom>
          <a:solidFill>
            <a:srgbClr val="B6D7A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62" name="Google Shape;162;p5"/>
          <p:cNvPicPr preferRelativeResize="0"/>
          <p:nvPr/>
        </p:nvPicPr>
        <p:blipFill rotWithShape="1">
          <a:blip r:embed="rId4">
            <a:alphaModFix/>
          </a:blip>
          <a:srcRect b="0" l="0" r="0" t="0"/>
          <a:stretch/>
        </p:blipFill>
        <p:spPr>
          <a:xfrm>
            <a:off x="945490" y="2838298"/>
            <a:ext cx="395021" cy="395021"/>
          </a:xfrm>
          <a:prstGeom prst="rect">
            <a:avLst/>
          </a:prstGeom>
          <a:noFill/>
          <a:ln>
            <a:noFill/>
          </a:ln>
        </p:spPr>
      </p:pic>
      <p:sp>
        <p:nvSpPr>
          <p:cNvPr id="163" name="Google Shape;163;p5"/>
          <p:cNvSpPr/>
          <p:nvPr/>
        </p:nvSpPr>
        <p:spPr>
          <a:xfrm>
            <a:off x="1783080" y="2642616"/>
            <a:ext cx="45720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Continuidad operativa sin conexión</a:t>
            </a:r>
            <a:endParaRPr b="0" i="0" sz="1600" u="none" cap="none" strike="noStrike">
              <a:solidFill>
                <a:schemeClr val="dk1"/>
              </a:solidFill>
              <a:latin typeface="Calibri"/>
              <a:ea typeface="Calibri"/>
              <a:cs typeface="Calibri"/>
              <a:sym typeface="Calibri"/>
            </a:endParaRPr>
          </a:p>
        </p:txBody>
      </p:sp>
      <p:sp>
        <p:nvSpPr>
          <p:cNvPr id="164" name="Google Shape;164;p5"/>
          <p:cNvSpPr/>
          <p:nvPr/>
        </p:nvSpPr>
        <p:spPr>
          <a:xfrm>
            <a:off x="6492240" y="2642616"/>
            <a:ext cx="51206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La interrupción del enlace no puede detener la caja ni comprometer registros.</a:t>
            </a:r>
            <a:endParaRPr b="0" i="0" sz="1300" u="none" cap="none" strike="noStrike">
              <a:solidFill>
                <a:schemeClr val="dk1"/>
              </a:solidFill>
              <a:latin typeface="Calibri"/>
              <a:ea typeface="Calibri"/>
              <a:cs typeface="Calibri"/>
              <a:sym typeface="Calibri"/>
            </a:endParaRPr>
          </a:p>
        </p:txBody>
      </p:sp>
      <p:cxnSp>
        <p:nvCxnSpPr>
          <p:cNvPr id="165" name="Google Shape;165;p5"/>
          <p:cNvCxnSpPr/>
          <p:nvPr/>
        </p:nvCxnSpPr>
        <p:spPr>
          <a:xfrm>
            <a:off x="1783080" y="3648456"/>
            <a:ext cx="9829800" cy="0"/>
          </a:xfrm>
          <a:prstGeom prst="straightConnector1">
            <a:avLst/>
          </a:prstGeom>
          <a:noFill/>
          <a:ln cap="flat" cmpd="sng" w="12700">
            <a:solidFill>
              <a:srgbClr val="E5D9C6"/>
            </a:solidFill>
            <a:prstDash val="solid"/>
            <a:round/>
            <a:headEnd len="sm" w="sm" type="none"/>
            <a:tailEnd len="sm" w="sm" type="none"/>
          </a:ln>
        </p:spPr>
      </p:cxnSp>
      <p:sp>
        <p:nvSpPr>
          <p:cNvPr id="166" name="Google Shape;166;p5"/>
          <p:cNvSpPr/>
          <p:nvPr/>
        </p:nvSpPr>
        <p:spPr>
          <a:xfrm>
            <a:off x="731520" y="3831336"/>
            <a:ext cx="822960" cy="822960"/>
          </a:xfrm>
          <a:prstGeom prst="ellipse">
            <a:avLst/>
          </a:prstGeom>
          <a:solidFill>
            <a:srgbClr val="B6D7A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67" name="Google Shape;167;p5"/>
          <p:cNvPicPr preferRelativeResize="0"/>
          <p:nvPr/>
        </p:nvPicPr>
        <p:blipFill rotWithShape="1">
          <a:blip r:embed="rId5">
            <a:alphaModFix/>
          </a:blip>
          <a:srcRect b="0" l="0" r="0" t="0"/>
          <a:stretch/>
        </p:blipFill>
        <p:spPr>
          <a:xfrm>
            <a:off x="945490" y="4045306"/>
            <a:ext cx="395021" cy="395021"/>
          </a:xfrm>
          <a:prstGeom prst="rect">
            <a:avLst/>
          </a:prstGeom>
          <a:noFill/>
          <a:ln>
            <a:noFill/>
          </a:ln>
        </p:spPr>
      </p:pic>
      <p:sp>
        <p:nvSpPr>
          <p:cNvPr id="168" name="Google Shape;168;p5"/>
          <p:cNvSpPr/>
          <p:nvPr/>
        </p:nvSpPr>
        <p:spPr>
          <a:xfrm>
            <a:off x="1783080" y="3849624"/>
            <a:ext cx="45720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Canal formal entre producción y venta</a:t>
            </a:r>
            <a:endParaRPr b="0" i="0" sz="1600" u="none" cap="none" strike="noStrike">
              <a:solidFill>
                <a:schemeClr val="dk1"/>
              </a:solidFill>
              <a:latin typeface="Calibri"/>
              <a:ea typeface="Calibri"/>
              <a:cs typeface="Calibri"/>
              <a:sym typeface="Calibri"/>
            </a:endParaRPr>
          </a:p>
        </p:txBody>
      </p:sp>
      <p:sp>
        <p:nvSpPr>
          <p:cNvPr id="169" name="Google Shape;169;p5"/>
          <p:cNvSpPr/>
          <p:nvPr/>
        </p:nvSpPr>
        <p:spPr>
          <a:xfrm>
            <a:off x="6492240" y="3849624"/>
            <a:ext cx="51206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Informar la disponibilidad de producto sin interrumpir el proceso ni requerir desplazamientos.</a:t>
            </a:r>
            <a:endParaRPr b="0" i="0" sz="1300" u="none" cap="none" strike="noStrike">
              <a:solidFill>
                <a:schemeClr val="dk1"/>
              </a:solidFill>
              <a:latin typeface="Calibri"/>
              <a:ea typeface="Calibri"/>
              <a:cs typeface="Calibri"/>
              <a:sym typeface="Calibri"/>
            </a:endParaRPr>
          </a:p>
        </p:txBody>
      </p:sp>
      <p:cxnSp>
        <p:nvCxnSpPr>
          <p:cNvPr id="170" name="Google Shape;170;p5"/>
          <p:cNvCxnSpPr/>
          <p:nvPr/>
        </p:nvCxnSpPr>
        <p:spPr>
          <a:xfrm>
            <a:off x="1783080" y="4855464"/>
            <a:ext cx="9829800" cy="0"/>
          </a:xfrm>
          <a:prstGeom prst="straightConnector1">
            <a:avLst/>
          </a:prstGeom>
          <a:noFill/>
          <a:ln cap="flat" cmpd="sng" w="12700">
            <a:solidFill>
              <a:srgbClr val="E5D9C6"/>
            </a:solidFill>
            <a:prstDash val="solid"/>
            <a:round/>
            <a:headEnd len="sm" w="sm" type="none"/>
            <a:tailEnd len="sm" w="sm" type="none"/>
          </a:ln>
        </p:spPr>
      </p:cxnSp>
      <p:sp>
        <p:nvSpPr>
          <p:cNvPr id="171" name="Google Shape;171;p5"/>
          <p:cNvSpPr/>
          <p:nvPr/>
        </p:nvSpPr>
        <p:spPr>
          <a:xfrm>
            <a:off x="731520" y="5038344"/>
            <a:ext cx="822960" cy="822960"/>
          </a:xfrm>
          <a:prstGeom prst="ellipse">
            <a:avLst/>
          </a:prstGeom>
          <a:solidFill>
            <a:srgbClr val="B6D7A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72" name="Google Shape;172;p5"/>
          <p:cNvPicPr preferRelativeResize="0"/>
          <p:nvPr/>
        </p:nvPicPr>
        <p:blipFill rotWithShape="1">
          <a:blip r:embed="rId6">
            <a:alphaModFix/>
          </a:blip>
          <a:srcRect b="0" l="0" r="0" t="0"/>
          <a:stretch/>
        </p:blipFill>
        <p:spPr>
          <a:xfrm>
            <a:off x="945490" y="5252314"/>
            <a:ext cx="395021" cy="395021"/>
          </a:xfrm>
          <a:prstGeom prst="rect">
            <a:avLst/>
          </a:prstGeom>
          <a:noFill/>
          <a:ln>
            <a:noFill/>
          </a:ln>
        </p:spPr>
      </p:pic>
      <p:sp>
        <p:nvSpPr>
          <p:cNvPr id="173" name="Google Shape;173;p5"/>
          <p:cNvSpPr/>
          <p:nvPr/>
        </p:nvSpPr>
        <p:spPr>
          <a:xfrm>
            <a:off x="1783080" y="5056632"/>
            <a:ext cx="45720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Planificación basada en datos</a:t>
            </a:r>
            <a:endParaRPr b="0" i="0" sz="1600" u="none" cap="none" strike="noStrike">
              <a:solidFill>
                <a:schemeClr val="dk1"/>
              </a:solidFill>
              <a:latin typeface="Calibri"/>
              <a:ea typeface="Calibri"/>
              <a:cs typeface="Calibri"/>
              <a:sym typeface="Calibri"/>
            </a:endParaRPr>
          </a:p>
        </p:txBody>
      </p:sp>
      <p:sp>
        <p:nvSpPr>
          <p:cNvPr id="174" name="Google Shape;174;p5"/>
          <p:cNvSpPr/>
          <p:nvPr/>
        </p:nvSpPr>
        <p:spPr>
          <a:xfrm>
            <a:off x="6492240" y="5056632"/>
            <a:ext cx="51206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Convertir el historial de ventas en una estimación de la producción del día siguiente.</a:t>
            </a:r>
            <a:endParaRPr b="0" i="0" sz="1300" u="none" cap="none" strike="noStrike">
              <a:solidFill>
                <a:schemeClr val="dk1"/>
              </a:solidFill>
              <a:latin typeface="Calibri"/>
              <a:ea typeface="Calibri"/>
              <a:cs typeface="Calibri"/>
              <a:sym typeface="Calibri"/>
            </a:endParaRPr>
          </a:p>
        </p:txBody>
      </p:sp>
      <p:sp>
        <p:nvSpPr>
          <p:cNvPr id="175" name="Google Shape;175;p5"/>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176" name="Google Shape;176;p5"/>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Necesidad</a:t>
            </a:r>
            <a:endParaRPr b="1" i="0" sz="3000" u="none" cap="none" strike="noStrike">
              <a:solidFill>
                <a:srgbClr val="4A2C1A"/>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6"/>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183" name="Google Shape;183;p6"/>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Solución</a:t>
            </a:r>
            <a:endParaRPr b="0" i="0" sz="3000" u="none" cap="none" strike="noStrike">
              <a:solidFill>
                <a:schemeClr val="dk1"/>
              </a:solidFill>
              <a:latin typeface="Calibri"/>
              <a:ea typeface="Calibri"/>
              <a:cs typeface="Calibri"/>
              <a:sym typeface="Calibri"/>
            </a:endParaRPr>
          </a:p>
        </p:txBody>
      </p:sp>
      <p:sp>
        <p:nvSpPr>
          <p:cNvPr id="184" name="Google Shape;184;p6"/>
          <p:cNvSpPr/>
          <p:nvPr/>
        </p:nvSpPr>
        <p:spPr>
          <a:xfrm>
            <a:off x="548640" y="1867700"/>
            <a:ext cx="3566100" cy="3291900"/>
          </a:xfrm>
          <a:prstGeom prst="roundRect">
            <a:avLst>
              <a:gd fmla="val 3333" name="adj"/>
            </a:avLst>
          </a:prstGeom>
          <a:solidFill>
            <a:srgbClr val="4A2C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6"/>
          <p:cNvSpPr/>
          <p:nvPr/>
        </p:nvSpPr>
        <p:spPr>
          <a:xfrm>
            <a:off x="1920260" y="2124195"/>
            <a:ext cx="777300" cy="777300"/>
          </a:xfrm>
          <a:prstGeom prst="ellipse">
            <a:avLst/>
          </a:prstGeom>
          <a:solidFill>
            <a:srgbClr val="1C458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6" name="Google Shape;186;p6"/>
          <p:cNvPicPr preferRelativeResize="0"/>
          <p:nvPr/>
        </p:nvPicPr>
        <p:blipFill rotWithShape="1">
          <a:blip r:embed="rId3">
            <a:alphaModFix/>
          </a:blip>
          <a:srcRect b="0" l="0" r="0" t="0"/>
          <a:stretch/>
        </p:blipFill>
        <p:spPr>
          <a:xfrm>
            <a:off x="2122342" y="2326277"/>
            <a:ext cx="373075" cy="373075"/>
          </a:xfrm>
          <a:prstGeom prst="rect">
            <a:avLst/>
          </a:prstGeom>
          <a:noFill/>
          <a:ln>
            <a:noFill/>
          </a:ln>
        </p:spPr>
      </p:pic>
      <p:sp>
        <p:nvSpPr>
          <p:cNvPr id="187" name="Google Shape;187;p6"/>
          <p:cNvSpPr/>
          <p:nvPr/>
        </p:nvSpPr>
        <p:spPr>
          <a:xfrm>
            <a:off x="822960" y="3056420"/>
            <a:ext cx="3017400" cy="5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A441"/>
              </a:buClr>
              <a:buSzPts val="1450"/>
              <a:buFont typeface="Calibri"/>
              <a:buNone/>
            </a:pPr>
            <a:r>
              <a:rPr b="1" i="0" lang="en-US" sz="1850" u="none" cap="none" strike="noStrike">
                <a:solidFill>
                  <a:srgbClr val="D9A441"/>
                </a:solidFill>
                <a:latin typeface="Calibri"/>
                <a:ea typeface="Calibri"/>
                <a:cs typeface="Calibri"/>
                <a:sym typeface="Calibri"/>
              </a:rPr>
              <a:t>Escritorio: POS</a:t>
            </a:r>
            <a:endParaRPr b="0" i="0" sz="1850" u="none" cap="none" strike="noStrike">
              <a:solidFill>
                <a:schemeClr val="dk1"/>
              </a:solidFill>
              <a:latin typeface="Calibri"/>
              <a:ea typeface="Calibri"/>
              <a:cs typeface="Calibri"/>
              <a:sym typeface="Calibri"/>
            </a:endParaRPr>
          </a:p>
        </p:txBody>
      </p:sp>
      <p:sp>
        <p:nvSpPr>
          <p:cNvPr id="188" name="Google Shape;188;p6"/>
          <p:cNvSpPr/>
          <p:nvPr/>
        </p:nvSpPr>
        <p:spPr>
          <a:xfrm>
            <a:off x="822960" y="3605060"/>
            <a:ext cx="3063300" cy="146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3EADC"/>
              </a:buClr>
              <a:buSzPts val="1150"/>
              <a:buFont typeface="Calibri"/>
              <a:buNone/>
            </a:pPr>
            <a:r>
              <a:rPr b="0" i="0" lang="en-US" sz="1450" u="none" cap="none" strike="noStrike">
                <a:solidFill>
                  <a:srgbClr val="F3EADC"/>
                </a:solidFill>
                <a:latin typeface="Calibri"/>
                <a:ea typeface="Calibri"/>
                <a:cs typeface="Calibri"/>
                <a:sym typeface="Calibri"/>
              </a:rPr>
              <a:t>Integra la balanza para registrar tipo, peso y precio, admite venta por unidad, opera sin conexión y sincroniza en segundo plano.</a:t>
            </a:r>
            <a:endParaRPr b="0" i="0" sz="1450" u="none" cap="none" strike="noStrike">
              <a:solidFill>
                <a:schemeClr val="dk1"/>
              </a:solidFill>
              <a:latin typeface="Calibri"/>
              <a:ea typeface="Calibri"/>
              <a:cs typeface="Calibri"/>
              <a:sym typeface="Calibri"/>
            </a:endParaRPr>
          </a:p>
        </p:txBody>
      </p:sp>
      <p:sp>
        <p:nvSpPr>
          <p:cNvPr id="189" name="Google Shape;189;p6"/>
          <p:cNvSpPr/>
          <p:nvPr/>
        </p:nvSpPr>
        <p:spPr>
          <a:xfrm>
            <a:off x="4407408" y="1867700"/>
            <a:ext cx="3566100" cy="3291900"/>
          </a:xfrm>
          <a:prstGeom prst="roundRect">
            <a:avLst>
              <a:gd fmla="val 3333" name="adj"/>
            </a:avLst>
          </a:prstGeom>
          <a:solidFill>
            <a:srgbClr val="4A2C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6"/>
          <p:cNvSpPr/>
          <p:nvPr/>
        </p:nvSpPr>
        <p:spPr>
          <a:xfrm>
            <a:off x="5705762" y="2164815"/>
            <a:ext cx="777300" cy="777300"/>
          </a:xfrm>
          <a:prstGeom prst="ellipse">
            <a:avLst/>
          </a:prstGeom>
          <a:solidFill>
            <a:srgbClr val="274E1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1" name="Google Shape;191;p6"/>
          <p:cNvPicPr preferRelativeResize="0"/>
          <p:nvPr/>
        </p:nvPicPr>
        <p:blipFill rotWithShape="1">
          <a:blip r:embed="rId4">
            <a:alphaModFix/>
          </a:blip>
          <a:srcRect b="0" l="0" r="0" t="0"/>
          <a:stretch/>
        </p:blipFill>
        <p:spPr>
          <a:xfrm>
            <a:off x="5907935" y="2366965"/>
            <a:ext cx="373075" cy="373075"/>
          </a:xfrm>
          <a:prstGeom prst="rect">
            <a:avLst/>
          </a:prstGeom>
          <a:noFill/>
          <a:ln>
            <a:noFill/>
          </a:ln>
        </p:spPr>
      </p:pic>
      <p:sp>
        <p:nvSpPr>
          <p:cNvPr id="192" name="Google Shape;192;p6"/>
          <p:cNvSpPr/>
          <p:nvPr/>
        </p:nvSpPr>
        <p:spPr>
          <a:xfrm>
            <a:off x="4658841" y="3056420"/>
            <a:ext cx="3017400" cy="5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A441"/>
              </a:buClr>
              <a:buSzPts val="1450"/>
              <a:buFont typeface="Calibri"/>
              <a:buNone/>
            </a:pPr>
            <a:r>
              <a:rPr b="1" i="0" lang="en-US" sz="1850" u="none" cap="none" strike="noStrike">
                <a:solidFill>
                  <a:srgbClr val="D9A441"/>
                </a:solidFill>
                <a:latin typeface="Calibri"/>
                <a:ea typeface="Calibri"/>
                <a:cs typeface="Calibri"/>
                <a:sym typeface="Calibri"/>
              </a:rPr>
              <a:t>Móvil: Panadero</a:t>
            </a:r>
            <a:endParaRPr b="0" i="0" sz="1850" u="none" cap="none" strike="noStrike">
              <a:solidFill>
                <a:schemeClr val="dk1"/>
              </a:solidFill>
              <a:latin typeface="Calibri"/>
              <a:ea typeface="Calibri"/>
              <a:cs typeface="Calibri"/>
              <a:sym typeface="Calibri"/>
            </a:endParaRPr>
          </a:p>
        </p:txBody>
      </p:sp>
      <p:sp>
        <p:nvSpPr>
          <p:cNvPr id="193" name="Google Shape;193;p6"/>
          <p:cNvSpPr/>
          <p:nvPr/>
        </p:nvSpPr>
        <p:spPr>
          <a:xfrm>
            <a:off x="4658841" y="3605110"/>
            <a:ext cx="3063300" cy="146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3EADC"/>
              </a:buClr>
              <a:buSzPts val="1150"/>
              <a:buFont typeface="Calibri"/>
              <a:buNone/>
            </a:pPr>
            <a:r>
              <a:rPr b="0" i="0" lang="en-US" sz="1450" u="none" cap="none" strike="noStrike">
                <a:solidFill>
                  <a:srgbClr val="F3EADC"/>
                </a:solidFill>
                <a:latin typeface="Calibri"/>
                <a:ea typeface="Calibri"/>
                <a:cs typeface="Calibri"/>
                <a:sym typeface="Calibri"/>
              </a:rPr>
              <a:t>Registra peso de masa y tipo por amasado; el sistema descuenta materias primas por fórmula de porcentaje panadero y avisa al mostrador.</a:t>
            </a:r>
            <a:endParaRPr b="0" i="0" sz="1450" u="none" cap="none" strike="noStrike">
              <a:solidFill>
                <a:schemeClr val="dk1"/>
              </a:solidFill>
              <a:latin typeface="Calibri"/>
              <a:ea typeface="Calibri"/>
              <a:cs typeface="Calibri"/>
              <a:sym typeface="Calibri"/>
            </a:endParaRPr>
          </a:p>
        </p:txBody>
      </p:sp>
      <p:sp>
        <p:nvSpPr>
          <p:cNvPr id="194" name="Google Shape;194;p6"/>
          <p:cNvSpPr/>
          <p:nvPr/>
        </p:nvSpPr>
        <p:spPr>
          <a:xfrm>
            <a:off x="8266176" y="1867700"/>
            <a:ext cx="3566100" cy="3291900"/>
          </a:xfrm>
          <a:prstGeom prst="roundRect">
            <a:avLst>
              <a:gd fmla="val 3333" name="adj"/>
            </a:avLst>
          </a:prstGeom>
          <a:solidFill>
            <a:srgbClr val="4A2C1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6"/>
          <p:cNvSpPr/>
          <p:nvPr/>
        </p:nvSpPr>
        <p:spPr>
          <a:xfrm>
            <a:off x="9660634" y="2164883"/>
            <a:ext cx="777300" cy="777300"/>
          </a:xfrm>
          <a:prstGeom prst="ellipse">
            <a:avLst/>
          </a:prstGeom>
          <a:solidFill>
            <a:srgbClr val="783F0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6" name="Google Shape;196;p6"/>
          <p:cNvPicPr preferRelativeResize="0"/>
          <p:nvPr/>
        </p:nvPicPr>
        <p:blipFill rotWithShape="1">
          <a:blip r:embed="rId5">
            <a:alphaModFix/>
          </a:blip>
          <a:srcRect b="0" l="0" r="0" t="0"/>
          <a:stretch/>
        </p:blipFill>
        <p:spPr>
          <a:xfrm>
            <a:off x="9862716" y="2366965"/>
            <a:ext cx="373075" cy="373075"/>
          </a:xfrm>
          <a:prstGeom prst="rect">
            <a:avLst/>
          </a:prstGeom>
          <a:noFill/>
          <a:ln>
            <a:noFill/>
          </a:ln>
        </p:spPr>
      </p:pic>
      <p:sp>
        <p:nvSpPr>
          <p:cNvPr id="197" name="Google Shape;197;p6"/>
          <p:cNvSpPr/>
          <p:nvPr/>
        </p:nvSpPr>
        <p:spPr>
          <a:xfrm>
            <a:off x="8540496" y="3056420"/>
            <a:ext cx="3017400" cy="56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9A441"/>
              </a:buClr>
              <a:buSzPts val="1450"/>
              <a:buFont typeface="Calibri"/>
              <a:buNone/>
            </a:pPr>
            <a:r>
              <a:rPr b="1" i="0" lang="en-US" sz="1850" u="none" cap="none" strike="noStrike">
                <a:solidFill>
                  <a:srgbClr val="D9A441"/>
                </a:solidFill>
                <a:latin typeface="Calibri"/>
                <a:ea typeface="Calibri"/>
                <a:cs typeface="Calibri"/>
                <a:sym typeface="Calibri"/>
              </a:rPr>
              <a:t>Web: Gestión</a:t>
            </a:r>
            <a:endParaRPr b="0" i="0" sz="1850" u="none" cap="none" strike="noStrike">
              <a:solidFill>
                <a:schemeClr val="dk1"/>
              </a:solidFill>
              <a:latin typeface="Calibri"/>
              <a:ea typeface="Calibri"/>
              <a:cs typeface="Calibri"/>
              <a:sym typeface="Calibri"/>
            </a:endParaRPr>
          </a:p>
        </p:txBody>
      </p:sp>
      <p:sp>
        <p:nvSpPr>
          <p:cNvPr id="198" name="Google Shape;198;p6"/>
          <p:cNvSpPr/>
          <p:nvPr/>
        </p:nvSpPr>
        <p:spPr>
          <a:xfrm>
            <a:off x="8540496" y="3605060"/>
            <a:ext cx="3063300" cy="146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3EADC"/>
              </a:buClr>
              <a:buSzPts val="1150"/>
              <a:buFont typeface="Calibri"/>
              <a:buNone/>
            </a:pPr>
            <a:r>
              <a:rPr b="0" i="0" lang="en-US" sz="1550" u="none" cap="none" strike="noStrike">
                <a:solidFill>
                  <a:srgbClr val="F3EADC"/>
                </a:solidFill>
                <a:latin typeface="Calibri"/>
                <a:ea typeface="Calibri"/>
                <a:cs typeface="Calibri"/>
                <a:sym typeface="Calibri"/>
              </a:rPr>
              <a:t>Indicadores del negocio y administración: catálogo, precios, fórmulas, políticas, sucursales y módulos por panadería.</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7"/>
          <p:cNvSpPr/>
          <p:nvPr/>
        </p:nvSpPr>
        <p:spPr>
          <a:xfrm>
            <a:off x="548640" y="1371600"/>
            <a:ext cx="5486400" cy="4937760"/>
          </a:xfrm>
          <a:prstGeom prst="roundRect">
            <a:avLst>
              <a:gd fmla="val 2222"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7"/>
          <p:cNvSpPr/>
          <p:nvPr/>
        </p:nvSpPr>
        <p:spPr>
          <a:xfrm>
            <a:off x="868680" y="2103120"/>
            <a:ext cx="4892040" cy="402336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Venta por peso con lectura de balanza y venta por unidad.</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Registro local sin conexión y sincronización automática al reconectar.</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Registro de amasado y descuento de insumos por fórmula.</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Notificación de disponibilidad de producto al mostrador.</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Administración de catálogo, precios, fórmulas y política de producto del día anterior.</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Predicción de demanda diaria por sucursal y producto.</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2E2318"/>
              </a:buClr>
              <a:buSzPts val="1300"/>
              <a:buFont typeface="Calibri"/>
              <a:buChar char="•"/>
            </a:pPr>
            <a:r>
              <a:rPr b="0" i="0" lang="en-US" sz="1600" u="none" cap="none" strike="noStrike">
                <a:solidFill>
                  <a:srgbClr val="2E2318"/>
                </a:solidFill>
                <a:latin typeface="Calibri"/>
                <a:ea typeface="Calibri"/>
                <a:cs typeface="Calibri"/>
                <a:sym typeface="Calibri"/>
              </a:rPr>
              <a:t>Panel de indicadores y gestión multisucursal con roles.</a:t>
            </a:r>
            <a:endParaRPr b="0" i="0" sz="1600" u="none" cap="none" strike="noStrike">
              <a:solidFill>
                <a:schemeClr val="dk1"/>
              </a:solidFill>
              <a:latin typeface="Calibri"/>
              <a:ea typeface="Calibri"/>
              <a:cs typeface="Calibri"/>
              <a:sym typeface="Calibri"/>
            </a:endParaRPr>
          </a:p>
        </p:txBody>
      </p:sp>
      <p:sp>
        <p:nvSpPr>
          <p:cNvPr id="206" name="Google Shape;206;p7"/>
          <p:cNvSpPr/>
          <p:nvPr/>
        </p:nvSpPr>
        <p:spPr>
          <a:xfrm>
            <a:off x="6309360" y="1371600"/>
            <a:ext cx="5349240" cy="4937760"/>
          </a:xfrm>
          <a:prstGeom prst="roundRect">
            <a:avLst>
              <a:gd fmla="val 2222" name="adj"/>
            </a:avLst>
          </a:prstGeom>
          <a:solidFill>
            <a:srgbClr val="4A2C1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p7"/>
          <p:cNvSpPr/>
          <p:nvPr/>
        </p:nvSpPr>
        <p:spPr>
          <a:xfrm>
            <a:off x="6629400" y="2103120"/>
            <a:ext cx="4754880" cy="402336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F3EADC"/>
              </a:buClr>
              <a:buSzPts val="1300"/>
              <a:buFont typeface="Calibri"/>
              <a:buChar char="•"/>
            </a:pPr>
            <a:r>
              <a:rPr b="0" i="0" lang="en-US" sz="1600" u="none" cap="none" strike="noStrike">
                <a:solidFill>
                  <a:srgbClr val="F3EADC"/>
                </a:solidFill>
                <a:latin typeface="Calibri"/>
                <a:ea typeface="Calibri"/>
                <a:cs typeface="Calibri"/>
                <a:sym typeface="Calibri"/>
              </a:rPr>
              <a:t>Disponibilidad: punto de venta y aplicación de producción operan sin conexión.</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F3EADC"/>
              </a:buClr>
              <a:buSzPts val="1300"/>
              <a:buFont typeface="Calibri"/>
              <a:buChar char="•"/>
            </a:pPr>
            <a:r>
              <a:rPr b="0" i="0" lang="en-US" sz="1600" u="none" cap="none" strike="noStrike">
                <a:solidFill>
                  <a:srgbClr val="F3EADC"/>
                </a:solidFill>
                <a:latin typeface="Calibri"/>
                <a:ea typeface="Calibri"/>
                <a:cs typeface="Calibri"/>
                <a:sym typeface="Calibri"/>
              </a:rPr>
              <a:t>Seguridad: autenticación, autorización por rol y aislamiento de datos por panadería.</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F3EADC"/>
              </a:buClr>
              <a:buSzPts val="1300"/>
              <a:buFont typeface="Calibri"/>
              <a:buChar char="•"/>
            </a:pPr>
            <a:r>
              <a:rPr b="0" i="0" lang="en-US" sz="1600" u="none" cap="none" strike="noStrike">
                <a:solidFill>
                  <a:srgbClr val="F3EADC"/>
                </a:solidFill>
                <a:latin typeface="Calibri"/>
                <a:ea typeface="Calibri"/>
                <a:cs typeface="Calibri"/>
                <a:sym typeface="Calibri"/>
              </a:rPr>
              <a:t>Escalabilidad: arquitectura multi-tenant y multisucursal desde el diseño.</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F3EADC"/>
              </a:buClr>
              <a:buSzPts val="1300"/>
              <a:buFont typeface="Calibri"/>
              <a:buChar char="•"/>
            </a:pPr>
            <a:r>
              <a:rPr b="0" i="0" lang="en-US" sz="1600" u="none" cap="none" strike="noStrike">
                <a:solidFill>
                  <a:srgbClr val="F3EADC"/>
                </a:solidFill>
                <a:latin typeface="Calibri"/>
                <a:ea typeface="Calibri"/>
                <a:cs typeface="Calibri"/>
                <a:sym typeface="Calibri"/>
              </a:rPr>
              <a:t>Mantenibilidad: capa de abstracción de dispositivos; incorporar hardware equivale a incorporar un controlador.</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F3EADC"/>
              </a:buClr>
              <a:buSzPts val="1300"/>
              <a:buFont typeface="Calibri"/>
              <a:buChar char="•"/>
            </a:pPr>
            <a:r>
              <a:rPr b="0" i="0" lang="en-US" sz="1600" u="none" cap="none" strike="noStrike">
                <a:solidFill>
                  <a:srgbClr val="F3EADC"/>
                </a:solidFill>
                <a:latin typeface="Calibri"/>
                <a:ea typeface="Calibri"/>
                <a:cs typeface="Calibri"/>
                <a:sym typeface="Calibri"/>
              </a:rPr>
              <a:t>Usabilidad: flujo de venta apto para horario punta y para personal no técnico.</a:t>
            </a:r>
            <a:endParaRPr b="0" i="0" sz="16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F3EADC"/>
              </a:buClr>
              <a:buSzPts val="1300"/>
              <a:buFont typeface="Calibri"/>
              <a:buChar char="•"/>
            </a:pPr>
            <a:r>
              <a:rPr b="0" i="0" lang="en-US" sz="1600" u="none" cap="none" strike="noStrike">
                <a:solidFill>
                  <a:srgbClr val="F3EADC"/>
                </a:solidFill>
                <a:latin typeface="Calibri"/>
                <a:ea typeface="Calibri"/>
                <a:cs typeface="Calibri"/>
                <a:sym typeface="Calibri"/>
              </a:rPr>
              <a:t>Integridad: ventas e insumos exactos y reconciliables, sin duplicación tras reconexión.</a:t>
            </a:r>
            <a:endParaRPr b="0" i="0" sz="1600" u="none" cap="none" strike="noStrike">
              <a:solidFill>
                <a:schemeClr val="dk1"/>
              </a:solidFill>
              <a:latin typeface="Calibri"/>
              <a:ea typeface="Calibri"/>
              <a:cs typeface="Calibri"/>
              <a:sym typeface="Calibri"/>
            </a:endParaRPr>
          </a:p>
        </p:txBody>
      </p:sp>
      <p:sp>
        <p:nvSpPr>
          <p:cNvPr id="208" name="Google Shape;208;p7"/>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209" name="Google Shape;209;p7"/>
          <p:cNvSpPr/>
          <p:nvPr/>
        </p:nvSpPr>
        <p:spPr>
          <a:xfrm>
            <a:off x="868680" y="1581912"/>
            <a:ext cx="48463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C1A"/>
              </a:buClr>
              <a:buSzPts val="1800"/>
              <a:buFont typeface="Cambria"/>
              <a:buNone/>
            </a:pPr>
            <a:r>
              <a:rPr b="1" i="0" lang="en-US" sz="2400" u="none" cap="none" strike="noStrike">
                <a:solidFill>
                  <a:srgbClr val="BC8E39"/>
                </a:solidFill>
                <a:latin typeface="Calibri"/>
                <a:ea typeface="Calibri"/>
                <a:cs typeface="Calibri"/>
                <a:sym typeface="Calibri"/>
              </a:rPr>
              <a:t>Funcionales</a:t>
            </a:r>
            <a:endParaRPr b="0" i="0" sz="2400" u="none" cap="none" strike="noStrike">
              <a:solidFill>
                <a:srgbClr val="BC8E39"/>
              </a:solidFill>
              <a:latin typeface="Calibri"/>
              <a:ea typeface="Calibri"/>
              <a:cs typeface="Calibri"/>
              <a:sym typeface="Calibri"/>
            </a:endParaRPr>
          </a:p>
        </p:txBody>
      </p:sp>
      <p:sp>
        <p:nvSpPr>
          <p:cNvPr id="210" name="Google Shape;210;p7"/>
          <p:cNvSpPr/>
          <p:nvPr/>
        </p:nvSpPr>
        <p:spPr>
          <a:xfrm>
            <a:off x="6629400" y="1581912"/>
            <a:ext cx="475488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1800"/>
              <a:buFont typeface="Cambria"/>
              <a:buNone/>
            </a:pPr>
            <a:r>
              <a:rPr b="1" i="0" lang="en-US" sz="2400" u="none" cap="none" strike="noStrike">
                <a:solidFill>
                  <a:srgbClr val="D9A441"/>
                </a:solidFill>
                <a:latin typeface="Calibri"/>
                <a:ea typeface="Calibri"/>
                <a:cs typeface="Calibri"/>
                <a:sym typeface="Calibri"/>
              </a:rPr>
              <a:t>No funcionales</a:t>
            </a:r>
            <a:endParaRPr b="0" i="0" sz="2400" u="none" cap="none" strike="noStrike">
              <a:solidFill>
                <a:schemeClr val="dk1"/>
              </a:solidFill>
              <a:latin typeface="Calibri"/>
              <a:ea typeface="Calibri"/>
              <a:cs typeface="Calibri"/>
              <a:sym typeface="Calibri"/>
            </a:endParaRPr>
          </a:p>
        </p:txBody>
      </p:sp>
      <p:sp>
        <p:nvSpPr>
          <p:cNvPr id="211" name="Google Shape;211;p7"/>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Requerimientos </a:t>
            </a:r>
            <a:r>
              <a:rPr b="1" i="0" lang="en-US" sz="3000" u="none" cap="none" strike="noStrike">
                <a:solidFill>
                  <a:srgbClr val="2E2318"/>
                </a:solidFill>
                <a:latin typeface="Calibri"/>
                <a:ea typeface="Calibri"/>
                <a:cs typeface="Calibri"/>
                <a:sym typeface="Calibri"/>
              </a:rPr>
              <a:t>funcionales y no funcionales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8"/>
          <p:cNvSpPr/>
          <p:nvPr/>
        </p:nvSpPr>
        <p:spPr>
          <a:xfrm>
            <a:off x="548640" y="1371600"/>
            <a:ext cx="3566160" cy="4892040"/>
          </a:xfrm>
          <a:prstGeom prst="roundRect">
            <a:avLst>
              <a:gd fmla="val 3077" name="adj"/>
            </a:avLst>
          </a:prstGeom>
          <a:solidFill>
            <a:srgbClr val="F6EF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1920240" y="1645920"/>
            <a:ext cx="822960" cy="822960"/>
          </a:xfrm>
          <a:prstGeom prst="ellipse">
            <a:avLst/>
          </a:prstGeom>
          <a:solidFill>
            <a:srgbClr val="D9A4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9" name="Google Shape;219;p8"/>
          <p:cNvPicPr preferRelativeResize="0"/>
          <p:nvPr/>
        </p:nvPicPr>
        <p:blipFill rotWithShape="1">
          <a:blip r:embed="rId3">
            <a:alphaModFix/>
          </a:blip>
          <a:srcRect b="0" l="0" r="0" t="0"/>
          <a:stretch/>
        </p:blipFill>
        <p:spPr>
          <a:xfrm>
            <a:off x="2134210" y="1859890"/>
            <a:ext cx="395021" cy="395021"/>
          </a:xfrm>
          <a:prstGeom prst="rect">
            <a:avLst/>
          </a:prstGeom>
          <a:noFill/>
          <a:ln>
            <a:noFill/>
          </a:ln>
        </p:spPr>
      </p:pic>
      <p:sp>
        <p:nvSpPr>
          <p:cNvPr id="220" name="Google Shape;220;p8"/>
          <p:cNvSpPr/>
          <p:nvPr/>
        </p:nvSpPr>
        <p:spPr>
          <a:xfrm>
            <a:off x="548640" y="2606040"/>
            <a:ext cx="3566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Vendedor</a:t>
            </a:r>
            <a:endParaRPr b="0" i="0" sz="2400" u="none" cap="none" strike="noStrike">
              <a:solidFill>
                <a:schemeClr val="dk1"/>
              </a:solidFill>
              <a:latin typeface="Calibri"/>
              <a:ea typeface="Calibri"/>
              <a:cs typeface="Calibri"/>
              <a:sym typeface="Calibri"/>
            </a:endParaRPr>
          </a:p>
        </p:txBody>
      </p:sp>
      <p:sp>
        <p:nvSpPr>
          <p:cNvPr id="221" name="Google Shape;221;p8"/>
          <p:cNvSpPr/>
          <p:nvPr/>
        </p:nvSpPr>
        <p:spPr>
          <a:xfrm>
            <a:off x="731520" y="2971800"/>
            <a:ext cx="32004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5F50"/>
              </a:buClr>
              <a:buSzPts val="1200"/>
              <a:buFont typeface="Calibri"/>
              <a:buNone/>
            </a:pPr>
            <a:r>
              <a:rPr b="0" i="1" lang="en-US" sz="1200" u="none" cap="none" strike="noStrike">
                <a:solidFill>
                  <a:srgbClr val="6E5F50"/>
                </a:solidFill>
                <a:latin typeface="Calibri"/>
                <a:ea typeface="Calibri"/>
                <a:cs typeface="Calibri"/>
                <a:sym typeface="Calibri"/>
              </a:rPr>
              <a:t>Vender rápido y sin perder registros</a:t>
            </a:r>
            <a:endParaRPr b="0" i="0" sz="1200" u="none" cap="none" strike="noStrike">
              <a:solidFill>
                <a:schemeClr val="dk1"/>
              </a:solidFill>
              <a:latin typeface="Calibri"/>
              <a:ea typeface="Calibri"/>
              <a:cs typeface="Calibri"/>
              <a:sym typeface="Calibri"/>
            </a:endParaRPr>
          </a:p>
        </p:txBody>
      </p:sp>
      <p:sp>
        <p:nvSpPr>
          <p:cNvPr id="222" name="Google Shape;222;p8"/>
          <p:cNvSpPr/>
          <p:nvPr/>
        </p:nvSpPr>
        <p:spPr>
          <a:xfrm>
            <a:off x="749808" y="3566160"/>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896112" y="3639312"/>
            <a:ext cx="2889504" cy="10241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2318"/>
              </a:buClr>
              <a:buSzPts val="1080"/>
              <a:buFont typeface="Calibri"/>
              <a:buNone/>
            </a:pPr>
            <a:r>
              <a:rPr b="0" i="1" lang="en-US" sz="1280" u="none" cap="none" strike="noStrike">
                <a:solidFill>
                  <a:srgbClr val="2E2318"/>
                </a:solidFill>
                <a:latin typeface="Calibri"/>
                <a:ea typeface="Calibri"/>
                <a:cs typeface="Calibri"/>
                <a:sym typeface="Calibri"/>
              </a:rPr>
              <a:t>"Como vendedor, quiero pesar el pan directo desde la balanza para cobrar sin digitar el peso."</a:t>
            </a:r>
            <a:endParaRPr b="0" i="1" sz="1280" u="none" cap="none" strike="noStrike">
              <a:solidFill>
                <a:schemeClr val="dk1"/>
              </a:solidFill>
              <a:latin typeface="Calibri"/>
              <a:ea typeface="Calibri"/>
              <a:cs typeface="Calibri"/>
              <a:sym typeface="Calibri"/>
            </a:endParaRPr>
          </a:p>
        </p:txBody>
      </p:sp>
      <p:sp>
        <p:nvSpPr>
          <p:cNvPr id="224" name="Google Shape;224;p8"/>
          <p:cNvSpPr/>
          <p:nvPr/>
        </p:nvSpPr>
        <p:spPr>
          <a:xfrm>
            <a:off x="749808" y="4864608"/>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8"/>
          <p:cNvSpPr/>
          <p:nvPr/>
        </p:nvSpPr>
        <p:spPr>
          <a:xfrm>
            <a:off x="896112" y="4937760"/>
            <a:ext cx="2889504" cy="10241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2318"/>
              </a:buClr>
              <a:buSzPts val="1080"/>
              <a:buFont typeface="Calibri"/>
              <a:buNone/>
            </a:pPr>
            <a:r>
              <a:rPr b="0" i="1" lang="en-US" sz="1280" u="none" cap="none" strike="noStrike">
                <a:solidFill>
                  <a:srgbClr val="2E2318"/>
                </a:solidFill>
                <a:latin typeface="Calibri"/>
                <a:ea typeface="Calibri"/>
                <a:cs typeface="Calibri"/>
                <a:sym typeface="Calibri"/>
              </a:rPr>
              <a:t>"Como vendedor, quiero que la caja siga operando sin internet para no detener la venta."</a:t>
            </a:r>
            <a:endParaRPr b="0" i="1" sz="1280" u="none" cap="none" strike="noStrike">
              <a:solidFill>
                <a:schemeClr val="dk1"/>
              </a:solidFill>
              <a:latin typeface="Calibri"/>
              <a:ea typeface="Calibri"/>
              <a:cs typeface="Calibri"/>
              <a:sym typeface="Calibri"/>
            </a:endParaRPr>
          </a:p>
        </p:txBody>
      </p:sp>
      <p:sp>
        <p:nvSpPr>
          <p:cNvPr id="226" name="Google Shape;226;p8"/>
          <p:cNvSpPr/>
          <p:nvPr/>
        </p:nvSpPr>
        <p:spPr>
          <a:xfrm>
            <a:off x="4407408" y="1371600"/>
            <a:ext cx="3566160" cy="4892040"/>
          </a:xfrm>
          <a:prstGeom prst="roundRect">
            <a:avLst>
              <a:gd fmla="val 3077" name="adj"/>
            </a:avLst>
          </a:prstGeom>
          <a:solidFill>
            <a:srgbClr val="F6EF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5779008" y="1645920"/>
            <a:ext cx="822960" cy="822960"/>
          </a:xfrm>
          <a:prstGeom prst="ellipse">
            <a:avLst/>
          </a:prstGeom>
          <a:solidFill>
            <a:srgbClr val="D9A4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8" name="Google Shape;228;p8"/>
          <p:cNvPicPr preferRelativeResize="0"/>
          <p:nvPr/>
        </p:nvPicPr>
        <p:blipFill rotWithShape="1">
          <a:blip r:embed="rId4">
            <a:alphaModFix/>
          </a:blip>
          <a:srcRect b="0" l="0" r="0" t="0"/>
          <a:stretch/>
        </p:blipFill>
        <p:spPr>
          <a:xfrm>
            <a:off x="5992978" y="1859890"/>
            <a:ext cx="395021" cy="395021"/>
          </a:xfrm>
          <a:prstGeom prst="rect">
            <a:avLst/>
          </a:prstGeom>
          <a:noFill/>
          <a:ln>
            <a:noFill/>
          </a:ln>
        </p:spPr>
      </p:pic>
      <p:sp>
        <p:nvSpPr>
          <p:cNvPr id="229" name="Google Shape;229;p8"/>
          <p:cNvSpPr/>
          <p:nvPr/>
        </p:nvSpPr>
        <p:spPr>
          <a:xfrm>
            <a:off x="4407408" y="2606040"/>
            <a:ext cx="3566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Panadero</a:t>
            </a:r>
            <a:endParaRPr b="0" i="0" sz="2400" u="none" cap="none" strike="noStrike">
              <a:solidFill>
                <a:schemeClr val="dk1"/>
              </a:solidFill>
              <a:latin typeface="Calibri"/>
              <a:ea typeface="Calibri"/>
              <a:cs typeface="Calibri"/>
              <a:sym typeface="Calibri"/>
            </a:endParaRPr>
          </a:p>
        </p:txBody>
      </p:sp>
      <p:sp>
        <p:nvSpPr>
          <p:cNvPr id="230" name="Google Shape;230;p8"/>
          <p:cNvSpPr/>
          <p:nvPr/>
        </p:nvSpPr>
        <p:spPr>
          <a:xfrm>
            <a:off x="4590288" y="2971800"/>
            <a:ext cx="32004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5F50"/>
              </a:buClr>
              <a:buSzPts val="1200"/>
              <a:buFont typeface="Calibri"/>
              <a:buNone/>
            </a:pPr>
            <a:r>
              <a:rPr b="0" i="1" lang="en-US" sz="1200" u="none" cap="none" strike="noStrike">
                <a:solidFill>
                  <a:srgbClr val="6E5F50"/>
                </a:solidFill>
                <a:latin typeface="Calibri"/>
                <a:ea typeface="Calibri"/>
                <a:cs typeface="Calibri"/>
                <a:sym typeface="Calibri"/>
              </a:rPr>
              <a:t>Producir sin papeleo ni interrupciones</a:t>
            </a:r>
            <a:endParaRPr b="0" i="0" sz="1200" u="none" cap="none" strike="noStrike">
              <a:solidFill>
                <a:schemeClr val="dk1"/>
              </a:solidFill>
              <a:latin typeface="Calibri"/>
              <a:ea typeface="Calibri"/>
              <a:cs typeface="Calibri"/>
              <a:sym typeface="Calibri"/>
            </a:endParaRPr>
          </a:p>
        </p:txBody>
      </p:sp>
      <p:sp>
        <p:nvSpPr>
          <p:cNvPr id="231" name="Google Shape;231;p8"/>
          <p:cNvSpPr/>
          <p:nvPr/>
        </p:nvSpPr>
        <p:spPr>
          <a:xfrm>
            <a:off x="4608576" y="3566160"/>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p:nvPr/>
        </p:nvSpPr>
        <p:spPr>
          <a:xfrm>
            <a:off x="4754880" y="3639312"/>
            <a:ext cx="2889504" cy="10241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2318"/>
              </a:buClr>
              <a:buSzPts val="1080"/>
              <a:buFont typeface="Calibri"/>
              <a:buNone/>
            </a:pPr>
            <a:r>
              <a:rPr b="0" i="1" lang="en-US" sz="1280" u="none" cap="none" strike="noStrike">
                <a:solidFill>
                  <a:srgbClr val="2E2318"/>
                </a:solidFill>
                <a:latin typeface="Calibri"/>
                <a:ea typeface="Calibri"/>
                <a:cs typeface="Calibri"/>
                <a:sym typeface="Calibri"/>
              </a:rPr>
              <a:t>"Como panadero, quiero registrar peso y tipo de cada masa para que el sistema descuente los insumos por mí."</a:t>
            </a:r>
            <a:endParaRPr b="0" i="1" sz="1280" u="none" cap="none" strike="noStrike">
              <a:solidFill>
                <a:schemeClr val="dk1"/>
              </a:solidFill>
              <a:latin typeface="Calibri"/>
              <a:ea typeface="Calibri"/>
              <a:cs typeface="Calibri"/>
              <a:sym typeface="Calibri"/>
            </a:endParaRPr>
          </a:p>
        </p:txBody>
      </p:sp>
      <p:sp>
        <p:nvSpPr>
          <p:cNvPr id="233" name="Google Shape;233;p8"/>
          <p:cNvSpPr/>
          <p:nvPr/>
        </p:nvSpPr>
        <p:spPr>
          <a:xfrm>
            <a:off x="4608576" y="4864608"/>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8"/>
          <p:cNvSpPr/>
          <p:nvPr/>
        </p:nvSpPr>
        <p:spPr>
          <a:xfrm>
            <a:off x="4754880" y="4937760"/>
            <a:ext cx="2889504" cy="10241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2318"/>
              </a:buClr>
              <a:buSzPts val="1080"/>
              <a:buFont typeface="Calibri"/>
              <a:buNone/>
            </a:pPr>
            <a:r>
              <a:rPr b="0" i="1" lang="en-US" sz="1280" u="none" cap="none" strike="noStrike">
                <a:solidFill>
                  <a:srgbClr val="2E2318"/>
                </a:solidFill>
                <a:latin typeface="Calibri"/>
                <a:ea typeface="Calibri"/>
                <a:cs typeface="Calibri"/>
                <a:sym typeface="Calibri"/>
              </a:rPr>
              <a:t>"Como panadero, quiero avisar al mostrador que hay pan listo sin salir de la cocina. "</a:t>
            </a:r>
            <a:endParaRPr b="0" i="1" sz="1280" u="none" cap="none" strike="noStrike">
              <a:solidFill>
                <a:schemeClr val="dk1"/>
              </a:solidFill>
              <a:latin typeface="Calibri"/>
              <a:ea typeface="Calibri"/>
              <a:cs typeface="Calibri"/>
              <a:sym typeface="Calibri"/>
            </a:endParaRPr>
          </a:p>
        </p:txBody>
      </p:sp>
      <p:sp>
        <p:nvSpPr>
          <p:cNvPr id="235" name="Google Shape;235;p8"/>
          <p:cNvSpPr/>
          <p:nvPr/>
        </p:nvSpPr>
        <p:spPr>
          <a:xfrm>
            <a:off x="8266176" y="1371600"/>
            <a:ext cx="3566160" cy="4892040"/>
          </a:xfrm>
          <a:prstGeom prst="roundRect">
            <a:avLst>
              <a:gd fmla="val 3077" name="adj"/>
            </a:avLst>
          </a:prstGeom>
          <a:solidFill>
            <a:srgbClr val="F6EF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8"/>
          <p:cNvSpPr/>
          <p:nvPr/>
        </p:nvSpPr>
        <p:spPr>
          <a:xfrm>
            <a:off x="9637776" y="1645920"/>
            <a:ext cx="822960" cy="822960"/>
          </a:xfrm>
          <a:prstGeom prst="ellipse">
            <a:avLst/>
          </a:prstGeom>
          <a:solidFill>
            <a:srgbClr val="D9A4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7" name="Google Shape;237;p8"/>
          <p:cNvPicPr preferRelativeResize="0"/>
          <p:nvPr/>
        </p:nvPicPr>
        <p:blipFill rotWithShape="1">
          <a:blip r:embed="rId5">
            <a:alphaModFix/>
          </a:blip>
          <a:srcRect b="0" l="0" r="0" t="0"/>
          <a:stretch/>
        </p:blipFill>
        <p:spPr>
          <a:xfrm>
            <a:off x="9851746" y="1859890"/>
            <a:ext cx="395021" cy="395021"/>
          </a:xfrm>
          <a:prstGeom prst="rect">
            <a:avLst/>
          </a:prstGeom>
          <a:noFill/>
          <a:ln>
            <a:noFill/>
          </a:ln>
        </p:spPr>
      </p:pic>
      <p:sp>
        <p:nvSpPr>
          <p:cNvPr id="238" name="Google Shape;238;p8"/>
          <p:cNvSpPr/>
          <p:nvPr/>
        </p:nvSpPr>
        <p:spPr>
          <a:xfrm>
            <a:off x="8266176" y="2606040"/>
            <a:ext cx="356616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Administrador</a:t>
            </a:r>
            <a:endParaRPr b="0" i="0" sz="2400" u="none" cap="none" strike="noStrike">
              <a:solidFill>
                <a:schemeClr val="dk1"/>
              </a:solidFill>
              <a:latin typeface="Calibri"/>
              <a:ea typeface="Calibri"/>
              <a:cs typeface="Calibri"/>
              <a:sym typeface="Calibri"/>
            </a:endParaRPr>
          </a:p>
        </p:txBody>
      </p:sp>
      <p:sp>
        <p:nvSpPr>
          <p:cNvPr id="239" name="Google Shape;239;p8"/>
          <p:cNvSpPr/>
          <p:nvPr/>
        </p:nvSpPr>
        <p:spPr>
          <a:xfrm>
            <a:off x="8449056" y="2971800"/>
            <a:ext cx="320040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5F50"/>
              </a:buClr>
              <a:buSzPts val="1200"/>
              <a:buFont typeface="Calibri"/>
              <a:buNone/>
            </a:pPr>
            <a:r>
              <a:rPr b="0" i="1" lang="en-US" sz="1200" u="none" cap="none" strike="noStrike">
                <a:solidFill>
                  <a:srgbClr val="6E5F50"/>
                </a:solidFill>
                <a:latin typeface="Calibri"/>
                <a:ea typeface="Calibri"/>
                <a:cs typeface="Calibri"/>
                <a:sym typeface="Calibri"/>
              </a:rPr>
              <a:t>Decidir a través de datos, no intuición</a:t>
            </a:r>
            <a:endParaRPr b="0" i="0" sz="1200" u="none" cap="none" strike="noStrike">
              <a:solidFill>
                <a:schemeClr val="dk1"/>
              </a:solidFill>
              <a:latin typeface="Calibri"/>
              <a:ea typeface="Calibri"/>
              <a:cs typeface="Calibri"/>
              <a:sym typeface="Calibri"/>
            </a:endParaRPr>
          </a:p>
        </p:txBody>
      </p:sp>
      <p:sp>
        <p:nvSpPr>
          <p:cNvPr id="240" name="Google Shape;240;p8"/>
          <p:cNvSpPr/>
          <p:nvPr/>
        </p:nvSpPr>
        <p:spPr>
          <a:xfrm>
            <a:off x="8467344" y="3566160"/>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8"/>
          <p:cNvSpPr/>
          <p:nvPr/>
        </p:nvSpPr>
        <p:spPr>
          <a:xfrm>
            <a:off x="8613648" y="3639312"/>
            <a:ext cx="2889504" cy="10241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2318"/>
              </a:buClr>
              <a:buSzPts val="1080"/>
              <a:buFont typeface="Calibri"/>
              <a:buNone/>
            </a:pPr>
            <a:r>
              <a:rPr b="0" i="1" lang="en-US" sz="1280" u="none" cap="none" strike="noStrike">
                <a:solidFill>
                  <a:srgbClr val="2E2318"/>
                </a:solidFill>
                <a:latin typeface="Calibri"/>
                <a:ea typeface="Calibri"/>
                <a:cs typeface="Calibri"/>
                <a:sym typeface="Calibri"/>
              </a:rPr>
              <a:t>"Como administrador, quiero ver la demanda proyectada por producto para decidir cuánto producir."</a:t>
            </a:r>
            <a:endParaRPr b="0" i="1" sz="1280" u="none" cap="none" strike="noStrike">
              <a:solidFill>
                <a:schemeClr val="dk1"/>
              </a:solidFill>
              <a:latin typeface="Calibri"/>
              <a:ea typeface="Calibri"/>
              <a:cs typeface="Calibri"/>
              <a:sym typeface="Calibri"/>
            </a:endParaRPr>
          </a:p>
        </p:txBody>
      </p:sp>
      <p:sp>
        <p:nvSpPr>
          <p:cNvPr id="242" name="Google Shape;242;p8"/>
          <p:cNvSpPr/>
          <p:nvPr/>
        </p:nvSpPr>
        <p:spPr>
          <a:xfrm>
            <a:off x="8467344" y="4864608"/>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8613648" y="4937760"/>
            <a:ext cx="2889504" cy="10241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2318"/>
              </a:buClr>
              <a:buSzPts val="1080"/>
              <a:buFont typeface="Calibri"/>
              <a:buNone/>
            </a:pPr>
            <a:r>
              <a:rPr b="0" i="1" lang="en-US" sz="1280" u="none" cap="none" strike="noStrike">
                <a:solidFill>
                  <a:srgbClr val="2E2318"/>
                </a:solidFill>
                <a:latin typeface="Calibri"/>
                <a:ea typeface="Calibri"/>
                <a:cs typeface="Calibri"/>
                <a:sym typeface="Calibri"/>
              </a:rPr>
              <a:t>"Como administrador, quiero configurar catálogo, precios y fórmulas por sucursal."</a:t>
            </a:r>
            <a:endParaRPr b="0" i="1" sz="1280" u="none" cap="none" strike="noStrike">
              <a:solidFill>
                <a:schemeClr val="dk1"/>
              </a:solidFill>
              <a:latin typeface="Calibri"/>
              <a:ea typeface="Calibri"/>
              <a:cs typeface="Calibri"/>
              <a:sym typeface="Calibri"/>
            </a:endParaRPr>
          </a:p>
        </p:txBody>
      </p:sp>
      <p:sp>
        <p:nvSpPr>
          <p:cNvPr id="244" name="Google Shape;244;p8"/>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245" name="Google Shape;245;p8"/>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Épicas e historias de usuario</a:t>
            </a:r>
            <a:endParaRPr b="0" i="0" sz="3000" u="none" cap="none" strike="noStrike">
              <a:solidFill>
                <a:srgbClr val="4A2C1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9"/>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pic>
        <p:nvPicPr>
          <p:cNvPr descr="arq_icons.png" id="252" name="Google Shape;252;p9"/>
          <p:cNvPicPr preferRelativeResize="0"/>
          <p:nvPr/>
        </p:nvPicPr>
        <p:blipFill rotWithShape="1">
          <a:blip r:embed="rId3">
            <a:alphaModFix/>
          </a:blip>
          <a:srcRect b="0" l="0" r="0" t="0"/>
          <a:stretch/>
        </p:blipFill>
        <p:spPr>
          <a:xfrm>
            <a:off x="2358428" y="1112274"/>
            <a:ext cx="7691603" cy="5581134"/>
          </a:xfrm>
          <a:prstGeom prst="rect">
            <a:avLst/>
          </a:prstGeom>
          <a:noFill/>
          <a:ln>
            <a:noFill/>
          </a:ln>
        </p:spPr>
      </p:pic>
      <p:sp>
        <p:nvSpPr>
          <p:cNvPr id="253" name="Google Shape;253;p9"/>
          <p:cNvSpPr/>
          <p:nvPr/>
        </p:nvSpPr>
        <p:spPr>
          <a:xfrm>
            <a:off x="548640" y="320040"/>
            <a:ext cx="11091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lang="en-US" sz="3000">
                <a:solidFill>
                  <a:srgbClr val="4A2C1A"/>
                </a:solidFill>
                <a:latin typeface="Calibri"/>
                <a:ea typeface="Calibri"/>
                <a:cs typeface="Calibri"/>
                <a:sym typeface="Calibri"/>
              </a:rPr>
              <a:t>Arquitectura</a:t>
            </a:r>
            <a:endParaRPr b="0" i="0" sz="3000" u="none" cap="none" strike="noStrike">
              <a:solidFill>
                <a:srgbClr val="4A2C1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9"/>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Modelo de datos</a:t>
            </a:r>
            <a:endParaRPr/>
          </a:p>
        </p:txBody>
      </p:sp>
      <p:sp>
        <p:nvSpPr>
          <p:cNvPr id="260" name="Google Shape;260;p19"/>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10</a:t>
            </a:r>
            <a:endParaRPr/>
          </a:p>
        </p:txBody>
      </p:sp>
      <p:pic>
        <p:nvPicPr>
          <p:cNvPr descr="er_final.png" id="261" name="Google Shape;261;p19"/>
          <p:cNvPicPr preferRelativeResize="0"/>
          <p:nvPr/>
        </p:nvPicPr>
        <p:blipFill rotWithShape="1">
          <a:blip r:embed="rId3">
            <a:alphaModFix/>
          </a:blip>
          <a:srcRect b="0" l="0" r="0" t="0"/>
          <a:stretch/>
        </p:blipFill>
        <p:spPr>
          <a:xfrm>
            <a:off x="548640" y="1417320"/>
            <a:ext cx="11091672" cy="3790765"/>
          </a:xfrm>
          <a:prstGeom prst="rect">
            <a:avLst/>
          </a:prstGeom>
          <a:noFill/>
          <a:ln cap="flat" cmpd="sng" w="9525">
            <a:solidFill>
              <a:srgbClr val="E9DECB"/>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pic>
        <p:nvPicPr>
          <p:cNvPr descr="er_full.png" id="267" name="Google Shape;267;p20"/>
          <p:cNvPicPr preferRelativeResize="0"/>
          <p:nvPr/>
        </p:nvPicPr>
        <p:blipFill rotWithShape="1">
          <a:blip r:embed="rId3">
            <a:alphaModFix/>
          </a:blip>
          <a:srcRect b="0" l="0" r="0" t="0"/>
          <a:stretch/>
        </p:blipFill>
        <p:spPr>
          <a:xfrm>
            <a:off x="1957275" y="0"/>
            <a:ext cx="8274285" cy="6858000"/>
          </a:xfrm>
          <a:prstGeom prst="rect">
            <a:avLst/>
          </a:prstGeom>
          <a:noFill/>
          <a:ln>
            <a:noFill/>
          </a:ln>
        </p:spPr>
      </p:pic>
      <p:sp>
        <p:nvSpPr>
          <p:cNvPr id="268" name="Google Shape;268;p20"/>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10"/>
          <p:cNvSpPr/>
          <p:nvPr/>
        </p:nvSpPr>
        <p:spPr>
          <a:xfrm>
            <a:off x="548640" y="1280160"/>
            <a:ext cx="5029200" cy="4937760"/>
          </a:xfrm>
          <a:prstGeom prst="roundRect">
            <a:avLst>
              <a:gd fmla="val 2222" name="adj"/>
            </a:avLst>
          </a:prstGeom>
          <a:solidFill>
            <a:srgbClr val="4A2C1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10"/>
          <p:cNvSpPr/>
          <p:nvPr/>
        </p:nvSpPr>
        <p:spPr>
          <a:xfrm>
            <a:off x="868680" y="1554480"/>
            <a:ext cx="731520" cy="73152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76" name="Google Shape;276;p10"/>
          <p:cNvPicPr preferRelativeResize="0"/>
          <p:nvPr/>
        </p:nvPicPr>
        <p:blipFill rotWithShape="1">
          <a:blip r:embed="rId3">
            <a:alphaModFix/>
          </a:blip>
          <a:srcRect b="0" l="0" r="0" t="0"/>
          <a:stretch/>
        </p:blipFill>
        <p:spPr>
          <a:xfrm>
            <a:off x="1058875" y="1744675"/>
            <a:ext cx="351130" cy="351130"/>
          </a:xfrm>
          <a:prstGeom prst="rect">
            <a:avLst/>
          </a:prstGeom>
          <a:noFill/>
          <a:ln>
            <a:noFill/>
          </a:ln>
        </p:spPr>
      </p:pic>
      <p:sp>
        <p:nvSpPr>
          <p:cNvPr id="277" name="Google Shape;277;p10"/>
          <p:cNvSpPr/>
          <p:nvPr/>
        </p:nvSpPr>
        <p:spPr>
          <a:xfrm>
            <a:off x="1783080" y="1600200"/>
            <a:ext cx="35661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1700"/>
              <a:buFont typeface="Cambria"/>
              <a:buNone/>
            </a:pPr>
            <a:r>
              <a:rPr b="1" i="0" lang="en-US" sz="2400" u="none" cap="none" strike="noStrike">
                <a:solidFill>
                  <a:srgbClr val="D9A441"/>
                </a:solidFill>
                <a:latin typeface="Calibri"/>
                <a:ea typeface="Calibri"/>
                <a:cs typeface="Calibri"/>
                <a:sym typeface="Calibri"/>
              </a:rPr>
              <a:t>Scrum: marco de trabajo</a:t>
            </a:r>
            <a:endParaRPr b="0" i="0" sz="2400" u="none" cap="none" strike="noStrike">
              <a:solidFill>
                <a:schemeClr val="dk1"/>
              </a:solidFill>
              <a:latin typeface="Calibri"/>
              <a:ea typeface="Calibri"/>
              <a:cs typeface="Calibri"/>
              <a:sym typeface="Calibri"/>
            </a:endParaRPr>
          </a:p>
        </p:txBody>
      </p:sp>
      <p:sp>
        <p:nvSpPr>
          <p:cNvPr id="278" name="Google Shape;278;p10"/>
          <p:cNvSpPr/>
          <p:nvPr/>
        </p:nvSpPr>
        <p:spPr>
          <a:xfrm>
            <a:off x="868680" y="2468880"/>
            <a:ext cx="4480560" cy="3657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F3EADC"/>
              </a:buClr>
              <a:buSzPts val="1250"/>
              <a:buFont typeface="Calibri"/>
              <a:buChar char="•"/>
            </a:pPr>
            <a:r>
              <a:rPr b="0" i="0" lang="en-US" sz="1400" u="none" cap="none" strike="noStrike">
                <a:solidFill>
                  <a:srgbClr val="F3EADC"/>
                </a:solidFill>
                <a:latin typeface="Calibri"/>
                <a:ea typeface="Calibri"/>
                <a:cs typeface="Calibri"/>
                <a:sym typeface="Calibri"/>
              </a:rPr>
              <a:t>Sprints de dos semanas. Cada sprint entrega un incremento funcional desplegable, no componentes aislados.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1100"/>
              </a:spcBef>
              <a:spcAft>
                <a:spcPts val="0"/>
              </a:spcAft>
              <a:buClr>
                <a:srgbClr val="F3EADC"/>
              </a:buClr>
              <a:buSzPts val="1250"/>
              <a:buFont typeface="Calibri"/>
              <a:buChar char="•"/>
            </a:pPr>
            <a:r>
              <a:rPr b="0" i="0" lang="en-US" sz="1400" u="none" cap="none" strike="noStrike">
                <a:solidFill>
                  <a:srgbClr val="F3EADC"/>
                </a:solidFill>
                <a:latin typeface="Calibri"/>
                <a:ea typeface="Calibri"/>
                <a:cs typeface="Calibri"/>
                <a:sym typeface="Calibri"/>
              </a:rPr>
              <a:t>Los sprints se definen como cortes verticales: cada uno atraviesa interfaz, servicios y datos.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1100"/>
              </a:spcBef>
              <a:spcAft>
                <a:spcPts val="0"/>
              </a:spcAft>
              <a:buClr>
                <a:srgbClr val="F3EADC"/>
              </a:buClr>
              <a:buSzPts val="1250"/>
              <a:buFont typeface="Calibri"/>
              <a:buChar char="•"/>
            </a:pPr>
            <a:r>
              <a:rPr b="0" i="0" lang="en-US" sz="1400" u="none" cap="none" strike="noStrike">
                <a:solidFill>
                  <a:srgbClr val="F3EADC"/>
                </a:solidFill>
                <a:latin typeface="Calibri"/>
                <a:ea typeface="Calibri"/>
                <a:cs typeface="Calibri"/>
                <a:sym typeface="Calibri"/>
              </a:rPr>
              <a:t>Sprint 0 de reducción de riesgo: la balanza se integra en aislamiento antes de construir la interfaz de venta.</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1100"/>
              </a:spcBef>
              <a:spcAft>
                <a:spcPts val="0"/>
              </a:spcAft>
              <a:buClr>
                <a:srgbClr val="F3EADC"/>
              </a:buClr>
              <a:buSzPts val="1250"/>
              <a:buFont typeface="Calibri"/>
              <a:buChar char="•"/>
            </a:pPr>
            <a:r>
              <a:rPr b="0" i="0" lang="en-US" sz="1400" u="none" cap="none" strike="noStrike">
                <a:solidFill>
                  <a:srgbClr val="F3EADC"/>
                </a:solidFill>
                <a:latin typeface="Calibri"/>
                <a:ea typeface="Calibri"/>
                <a:cs typeface="Calibri"/>
                <a:sym typeface="Calibri"/>
              </a:rPr>
              <a:t>Backlog priorizado por valor para la panadería, refinado al cierre de cada sprint.</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1100"/>
              </a:spcBef>
              <a:spcAft>
                <a:spcPts val="0"/>
              </a:spcAft>
              <a:buClr>
                <a:srgbClr val="F3EADC"/>
              </a:buClr>
              <a:buSzPts val="1250"/>
              <a:buFont typeface="Calibri"/>
              <a:buChar char="•"/>
            </a:pPr>
            <a:r>
              <a:rPr b="0" i="0" lang="en-US" sz="1400" u="none" cap="none" strike="noStrike">
                <a:solidFill>
                  <a:srgbClr val="F3EADC"/>
                </a:solidFill>
                <a:latin typeface="Calibri"/>
                <a:ea typeface="Calibri"/>
                <a:cs typeface="Calibri"/>
                <a:sym typeface="Calibri"/>
              </a:rPr>
              <a:t>Control de versiones con revisión de pares, integración continua y pruebas automatizadas en cada cambio.</a:t>
            </a:r>
            <a:endParaRPr b="0" i="0" sz="1400" u="none" cap="none" strike="noStrike">
              <a:solidFill>
                <a:schemeClr val="dk1"/>
              </a:solidFill>
              <a:latin typeface="Calibri"/>
              <a:ea typeface="Calibri"/>
              <a:cs typeface="Calibri"/>
              <a:sym typeface="Calibri"/>
            </a:endParaRPr>
          </a:p>
        </p:txBody>
      </p:sp>
      <p:sp>
        <p:nvSpPr>
          <p:cNvPr id="279" name="Google Shape;279;p10"/>
          <p:cNvSpPr/>
          <p:nvPr/>
        </p:nvSpPr>
        <p:spPr>
          <a:xfrm>
            <a:off x="5925312" y="1280160"/>
            <a:ext cx="5760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C1A"/>
              </a:buClr>
              <a:buSzPts val="1400"/>
              <a:buFont typeface="Calibri"/>
              <a:buNone/>
            </a:pPr>
            <a:r>
              <a:rPr b="1" i="0" lang="en-US" sz="1400" u="none" cap="none" strike="noStrike">
                <a:solidFill>
                  <a:srgbClr val="4A2C1A"/>
                </a:solidFill>
                <a:latin typeface="Calibri"/>
                <a:ea typeface="Calibri"/>
                <a:cs typeface="Calibri"/>
                <a:sym typeface="Calibri"/>
              </a:rPr>
              <a:t>Ceremonias de cada sprint</a:t>
            </a:r>
            <a:endParaRPr b="0" i="0" sz="1400" u="none" cap="none" strike="noStrike">
              <a:solidFill>
                <a:schemeClr val="dk1"/>
              </a:solidFill>
              <a:latin typeface="Calibri"/>
              <a:ea typeface="Calibri"/>
              <a:cs typeface="Calibri"/>
              <a:sym typeface="Calibri"/>
            </a:endParaRPr>
          </a:p>
        </p:txBody>
      </p:sp>
      <p:sp>
        <p:nvSpPr>
          <p:cNvPr id="280" name="Google Shape;280;p10"/>
          <p:cNvSpPr/>
          <p:nvPr/>
        </p:nvSpPr>
        <p:spPr>
          <a:xfrm>
            <a:off x="5897880" y="1719072"/>
            <a:ext cx="5742432" cy="969264"/>
          </a:xfrm>
          <a:prstGeom prst="roundRect">
            <a:avLst>
              <a:gd fmla="val 9434"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10"/>
          <p:cNvSpPr/>
          <p:nvPr/>
        </p:nvSpPr>
        <p:spPr>
          <a:xfrm>
            <a:off x="6108192" y="1929384"/>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82" name="Google Shape;282;p10"/>
          <p:cNvPicPr preferRelativeResize="0"/>
          <p:nvPr/>
        </p:nvPicPr>
        <p:blipFill rotWithShape="1">
          <a:blip r:embed="rId4">
            <a:alphaModFix/>
          </a:blip>
          <a:srcRect b="0" l="0" r="0" t="0"/>
          <a:stretch/>
        </p:blipFill>
        <p:spPr>
          <a:xfrm>
            <a:off x="6250838" y="2072030"/>
            <a:ext cx="263347" cy="263347"/>
          </a:xfrm>
          <a:prstGeom prst="rect">
            <a:avLst/>
          </a:prstGeom>
          <a:noFill/>
          <a:ln>
            <a:noFill/>
          </a:ln>
        </p:spPr>
      </p:pic>
      <p:sp>
        <p:nvSpPr>
          <p:cNvPr id="283" name="Google Shape;283;p10"/>
          <p:cNvSpPr/>
          <p:nvPr/>
        </p:nvSpPr>
        <p:spPr>
          <a:xfrm>
            <a:off x="6812280" y="1938528"/>
            <a:ext cx="46634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50"/>
              <a:buFont typeface="Calibri"/>
              <a:buNone/>
            </a:pPr>
            <a:r>
              <a:rPr b="1" i="0" lang="en-US" sz="1350" u="none" cap="none" strike="noStrike">
                <a:solidFill>
                  <a:srgbClr val="2E2318"/>
                </a:solidFill>
                <a:latin typeface="Calibri"/>
                <a:ea typeface="Calibri"/>
                <a:cs typeface="Calibri"/>
                <a:sym typeface="Calibri"/>
              </a:rPr>
              <a:t>Sprint Planning</a:t>
            </a:r>
            <a:endParaRPr b="0" i="0" sz="1350" u="none" cap="none" strike="noStrike">
              <a:solidFill>
                <a:schemeClr val="dk1"/>
              </a:solidFill>
              <a:latin typeface="Calibri"/>
              <a:ea typeface="Calibri"/>
              <a:cs typeface="Calibri"/>
              <a:sym typeface="Calibri"/>
            </a:endParaRPr>
          </a:p>
        </p:txBody>
      </p:sp>
      <p:sp>
        <p:nvSpPr>
          <p:cNvPr id="284" name="Google Shape;284;p10"/>
          <p:cNvSpPr/>
          <p:nvPr/>
        </p:nvSpPr>
        <p:spPr>
          <a:xfrm>
            <a:off x="6812280" y="2057400"/>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100"/>
              <a:buFont typeface="Calibri"/>
              <a:buNone/>
            </a:pPr>
            <a:r>
              <a:rPr b="0" i="0" lang="en-US" sz="1100" u="none" cap="none" strike="noStrike">
                <a:solidFill>
                  <a:srgbClr val="6E5F50"/>
                </a:solidFill>
                <a:latin typeface="Calibri"/>
                <a:ea typeface="Calibri"/>
                <a:cs typeface="Calibri"/>
                <a:sym typeface="Calibri"/>
              </a:rPr>
              <a:t>Selección del incremento a entregar y desglose en tareas con responsable.</a:t>
            </a:r>
            <a:endParaRPr b="0" i="0" sz="1100" u="none" cap="none" strike="noStrike">
              <a:solidFill>
                <a:schemeClr val="dk1"/>
              </a:solidFill>
              <a:latin typeface="Calibri"/>
              <a:ea typeface="Calibri"/>
              <a:cs typeface="Calibri"/>
              <a:sym typeface="Calibri"/>
            </a:endParaRPr>
          </a:p>
        </p:txBody>
      </p:sp>
      <p:sp>
        <p:nvSpPr>
          <p:cNvPr id="285" name="Google Shape;285;p10"/>
          <p:cNvSpPr/>
          <p:nvPr/>
        </p:nvSpPr>
        <p:spPr>
          <a:xfrm>
            <a:off x="5897880" y="2816352"/>
            <a:ext cx="5742432" cy="969264"/>
          </a:xfrm>
          <a:prstGeom prst="roundRect">
            <a:avLst>
              <a:gd fmla="val 9434"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10"/>
          <p:cNvSpPr/>
          <p:nvPr/>
        </p:nvSpPr>
        <p:spPr>
          <a:xfrm>
            <a:off x="6108192" y="3026664"/>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87" name="Google Shape;287;p10"/>
          <p:cNvPicPr preferRelativeResize="0"/>
          <p:nvPr/>
        </p:nvPicPr>
        <p:blipFill rotWithShape="1">
          <a:blip r:embed="rId5">
            <a:alphaModFix/>
          </a:blip>
          <a:srcRect b="0" l="0" r="0" t="0"/>
          <a:stretch/>
        </p:blipFill>
        <p:spPr>
          <a:xfrm>
            <a:off x="6250838" y="3169310"/>
            <a:ext cx="263347" cy="263347"/>
          </a:xfrm>
          <a:prstGeom prst="rect">
            <a:avLst/>
          </a:prstGeom>
          <a:noFill/>
          <a:ln>
            <a:noFill/>
          </a:ln>
        </p:spPr>
      </p:pic>
      <p:sp>
        <p:nvSpPr>
          <p:cNvPr id="288" name="Google Shape;288;p10"/>
          <p:cNvSpPr/>
          <p:nvPr/>
        </p:nvSpPr>
        <p:spPr>
          <a:xfrm>
            <a:off x="6812280" y="3065956"/>
            <a:ext cx="46634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50"/>
              <a:buFont typeface="Calibri"/>
              <a:buNone/>
            </a:pPr>
            <a:r>
              <a:rPr b="1" i="0" lang="en-US" sz="1350" u="none" cap="none" strike="noStrike">
                <a:solidFill>
                  <a:srgbClr val="2E2318"/>
                </a:solidFill>
                <a:latin typeface="Calibri"/>
                <a:ea typeface="Calibri"/>
                <a:cs typeface="Calibri"/>
                <a:sym typeface="Calibri"/>
              </a:rPr>
              <a:t>Daily</a:t>
            </a:r>
            <a:endParaRPr b="0" i="0" sz="1350" u="none" cap="none" strike="noStrike">
              <a:solidFill>
                <a:schemeClr val="dk1"/>
              </a:solidFill>
              <a:latin typeface="Calibri"/>
              <a:ea typeface="Calibri"/>
              <a:cs typeface="Calibri"/>
              <a:sym typeface="Calibri"/>
            </a:endParaRPr>
          </a:p>
        </p:txBody>
      </p:sp>
      <p:sp>
        <p:nvSpPr>
          <p:cNvPr id="289" name="Google Shape;289;p10"/>
          <p:cNvSpPr/>
          <p:nvPr/>
        </p:nvSpPr>
        <p:spPr>
          <a:xfrm>
            <a:off x="6812280" y="3154680"/>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100"/>
              <a:buFont typeface="Calibri"/>
              <a:buNone/>
            </a:pPr>
            <a:r>
              <a:rPr b="0" i="0" lang="en-US" sz="1100" u="none" cap="none" strike="noStrike">
                <a:solidFill>
                  <a:srgbClr val="6E5F50"/>
                </a:solidFill>
                <a:latin typeface="Calibri"/>
                <a:ea typeface="Calibri"/>
                <a:cs typeface="Calibri"/>
                <a:sym typeface="Calibri"/>
              </a:rPr>
              <a:t>Sincronización breve del equipo: avance, siguiente paso e impedimentos.</a:t>
            </a:r>
            <a:endParaRPr b="0" i="0" sz="1100" u="none" cap="none" strike="noStrike">
              <a:solidFill>
                <a:schemeClr val="dk1"/>
              </a:solidFill>
              <a:latin typeface="Calibri"/>
              <a:ea typeface="Calibri"/>
              <a:cs typeface="Calibri"/>
              <a:sym typeface="Calibri"/>
            </a:endParaRPr>
          </a:p>
        </p:txBody>
      </p:sp>
      <p:sp>
        <p:nvSpPr>
          <p:cNvPr id="290" name="Google Shape;290;p10"/>
          <p:cNvSpPr/>
          <p:nvPr/>
        </p:nvSpPr>
        <p:spPr>
          <a:xfrm>
            <a:off x="5897880" y="3913632"/>
            <a:ext cx="5742432" cy="969264"/>
          </a:xfrm>
          <a:prstGeom prst="roundRect">
            <a:avLst>
              <a:gd fmla="val 9434"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10"/>
          <p:cNvSpPr/>
          <p:nvPr/>
        </p:nvSpPr>
        <p:spPr>
          <a:xfrm>
            <a:off x="6108192" y="4123944"/>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92" name="Google Shape;292;p10"/>
          <p:cNvPicPr preferRelativeResize="0"/>
          <p:nvPr/>
        </p:nvPicPr>
        <p:blipFill rotWithShape="1">
          <a:blip r:embed="rId6">
            <a:alphaModFix/>
          </a:blip>
          <a:srcRect b="0" l="0" r="0" t="0"/>
          <a:stretch/>
        </p:blipFill>
        <p:spPr>
          <a:xfrm>
            <a:off x="6250838" y="4266590"/>
            <a:ext cx="263347" cy="263347"/>
          </a:xfrm>
          <a:prstGeom prst="rect">
            <a:avLst/>
          </a:prstGeom>
          <a:noFill/>
          <a:ln>
            <a:noFill/>
          </a:ln>
        </p:spPr>
      </p:pic>
      <p:sp>
        <p:nvSpPr>
          <p:cNvPr id="293" name="Google Shape;293;p10"/>
          <p:cNvSpPr/>
          <p:nvPr/>
        </p:nvSpPr>
        <p:spPr>
          <a:xfrm>
            <a:off x="6812280" y="4151376"/>
            <a:ext cx="46634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50"/>
              <a:buFont typeface="Calibri"/>
              <a:buNone/>
            </a:pPr>
            <a:r>
              <a:rPr b="1" i="0" lang="en-US" sz="1350" u="none" cap="none" strike="noStrike">
                <a:solidFill>
                  <a:srgbClr val="2E2318"/>
                </a:solidFill>
                <a:latin typeface="Calibri"/>
                <a:ea typeface="Calibri"/>
                <a:cs typeface="Calibri"/>
                <a:sym typeface="Calibri"/>
              </a:rPr>
              <a:t>Sprint Review</a:t>
            </a:r>
            <a:endParaRPr b="0" i="0" sz="1350" u="none" cap="none" strike="noStrike">
              <a:solidFill>
                <a:schemeClr val="dk1"/>
              </a:solidFill>
              <a:latin typeface="Calibri"/>
              <a:ea typeface="Calibri"/>
              <a:cs typeface="Calibri"/>
              <a:sym typeface="Calibri"/>
            </a:endParaRPr>
          </a:p>
        </p:txBody>
      </p:sp>
      <p:sp>
        <p:nvSpPr>
          <p:cNvPr id="294" name="Google Shape;294;p10"/>
          <p:cNvSpPr/>
          <p:nvPr/>
        </p:nvSpPr>
        <p:spPr>
          <a:xfrm>
            <a:off x="6812280" y="4242816"/>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100"/>
              <a:buFont typeface="Calibri"/>
              <a:buNone/>
            </a:pPr>
            <a:r>
              <a:rPr b="0" i="0" lang="en-US" sz="1100" u="none" cap="none" strike="noStrike">
                <a:solidFill>
                  <a:srgbClr val="6E5F50"/>
                </a:solidFill>
                <a:latin typeface="Calibri"/>
                <a:ea typeface="Calibri"/>
                <a:cs typeface="Calibri"/>
                <a:sym typeface="Calibri"/>
              </a:rPr>
              <a:t>Demostración del incremento funcionando.</a:t>
            </a:r>
            <a:endParaRPr b="0" i="0" sz="1100" u="none" cap="none" strike="noStrike">
              <a:solidFill>
                <a:schemeClr val="dk1"/>
              </a:solidFill>
              <a:latin typeface="Calibri"/>
              <a:ea typeface="Calibri"/>
              <a:cs typeface="Calibri"/>
              <a:sym typeface="Calibri"/>
            </a:endParaRPr>
          </a:p>
        </p:txBody>
      </p:sp>
      <p:sp>
        <p:nvSpPr>
          <p:cNvPr id="295" name="Google Shape;295;p10"/>
          <p:cNvSpPr/>
          <p:nvPr/>
        </p:nvSpPr>
        <p:spPr>
          <a:xfrm>
            <a:off x="5897880" y="5010912"/>
            <a:ext cx="5742432" cy="969264"/>
          </a:xfrm>
          <a:prstGeom prst="roundRect">
            <a:avLst>
              <a:gd fmla="val 9434" name="adj"/>
            </a:avLst>
          </a:prstGeom>
          <a:solidFill>
            <a:srgbClr val="F6EFE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10"/>
          <p:cNvSpPr/>
          <p:nvPr/>
        </p:nvSpPr>
        <p:spPr>
          <a:xfrm>
            <a:off x="6108192" y="5221224"/>
            <a:ext cx="548640" cy="548640"/>
          </a:xfrm>
          <a:prstGeom prst="ellipse">
            <a:avLst/>
          </a:prstGeom>
          <a:solidFill>
            <a:srgbClr val="D9A44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97" name="Google Shape;297;p10"/>
          <p:cNvPicPr preferRelativeResize="0"/>
          <p:nvPr/>
        </p:nvPicPr>
        <p:blipFill rotWithShape="1">
          <a:blip r:embed="rId3">
            <a:alphaModFix/>
          </a:blip>
          <a:srcRect b="0" l="0" r="0" t="0"/>
          <a:stretch/>
        </p:blipFill>
        <p:spPr>
          <a:xfrm>
            <a:off x="6250838" y="5363870"/>
            <a:ext cx="263347" cy="263347"/>
          </a:xfrm>
          <a:prstGeom prst="rect">
            <a:avLst/>
          </a:prstGeom>
          <a:noFill/>
          <a:ln>
            <a:noFill/>
          </a:ln>
        </p:spPr>
      </p:pic>
      <p:sp>
        <p:nvSpPr>
          <p:cNvPr id="298" name="Google Shape;298;p10"/>
          <p:cNvSpPr/>
          <p:nvPr/>
        </p:nvSpPr>
        <p:spPr>
          <a:xfrm>
            <a:off x="6812280" y="5248656"/>
            <a:ext cx="46634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2318"/>
              </a:buClr>
              <a:buSzPts val="1350"/>
              <a:buFont typeface="Calibri"/>
              <a:buNone/>
            </a:pPr>
            <a:r>
              <a:rPr b="1" i="0" lang="en-US" sz="1350" u="none" cap="none" strike="noStrike">
                <a:solidFill>
                  <a:srgbClr val="2E2318"/>
                </a:solidFill>
                <a:latin typeface="Calibri"/>
                <a:ea typeface="Calibri"/>
                <a:cs typeface="Calibri"/>
                <a:sym typeface="Calibri"/>
              </a:rPr>
              <a:t>Sprint Retrospective</a:t>
            </a:r>
            <a:endParaRPr b="0" i="0" sz="1350" u="none" cap="none" strike="noStrike">
              <a:solidFill>
                <a:schemeClr val="dk1"/>
              </a:solidFill>
              <a:latin typeface="Calibri"/>
              <a:ea typeface="Calibri"/>
              <a:cs typeface="Calibri"/>
              <a:sym typeface="Calibri"/>
            </a:endParaRPr>
          </a:p>
        </p:txBody>
      </p:sp>
      <p:sp>
        <p:nvSpPr>
          <p:cNvPr id="299" name="Google Shape;299;p10"/>
          <p:cNvSpPr/>
          <p:nvPr/>
        </p:nvSpPr>
        <p:spPr>
          <a:xfrm>
            <a:off x="6812280" y="5362041"/>
            <a:ext cx="4663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5F50"/>
              </a:buClr>
              <a:buSzPts val="1100"/>
              <a:buFont typeface="Calibri"/>
              <a:buNone/>
            </a:pPr>
            <a:r>
              <a:rPr b="0" i="0" lang="en-US" sz="1100" u="none" cap="none" strike="noStrike">
                <a:solidFill>
                  <a:srgbClr val="6E5F50"/>
                </a:solidFill>
                <a:latin typeface="Calibri"/>
                <a:ea typeface="Calibri"/>
                <a:cs typeface="Calibri"/>
                <a:sym typeface="Calibri"/>
              </a:rPr>
              <a:t>Ajuste del proceso del equipo antes de iniciar el sprint siguiente.</a:t>
            </a:r>
            <a:endParaRPr b="0" i="0" sz="1100" u="none" cap="none" strike="noStrike">
              <a:solidFill>
                <a:schemeClr val="dk1"/>
              </a:solidFill>
              <a:latin typeface="Calibri"/>
              <a:ea typeface="Calibri"/>
              <a:cs typeface="Calibri"/>
              <a:sym typeface="Calibri"/>
            </a:endParaRPr>
          </a:p>
        </p:txBody>
      </p:sp>
      <p:sp>
        <p:nvSpPr>
          <p:cNvPr id="300" name="Google Shape;300;p10"/>
          <p:cNvSpPr/>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301" name="Google Shape;301;p10"/>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A441"/>
              </a:buClr>
              <a:buSzPts val="3000"/>
              <a:buFont typeface="Cambria"/>
              <a:buNone/>
            </a:pPr>
            <a:r>
              <a:rPr b="1" i="0" lang="en-US" sz="3000" u="none" cap="none" strike="noStrike">
                <a:solidFill>
                  <a:srgbClr val="4A2C1A"/>
                </a:solidFill>
                <a:latin typeface="Calibri"/>
                <a:ea typeface="Calibri"/>
                <a:cs typeface="Calibri"/>
                <a:sym typeface="Calibri"/>
              </a:rPr>
              <a:t>Metodología</a:t>
            </a:r>
            <a:endParaRPr b="0" i="0" sz="3000" u="none" cap="none" strike="noStrike">
              <a:solidFill>
                <a:srgbClr val="D9A44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21"/>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Roles</a:t>
            </a:r>
            <a:endParaRPr/>
          </a:p>
        </p:txBody>
      </p:sp>
      <p:sp>
        <p:nvSpPr>
          <p:cNvPr id="308" name="Google Shape;308;p21"/>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13</a:t>
            </a:r>
            <a:endParaRPr/>
          </a:p>
        </p:txBody>
      </p:sp>
      <p:sp>
        <p:nvSpPr>
          <p:cNvPr id="309" name="Google Shape;309;p21"/>
          <p:cNvSpPr/>
          <p:nvPr/>
        </p:nvSpPr>
        <p:spPr>
          <a:xfrm>
            <a:off x="548575" y="1939650"/>
            <a:ext cx="2635800" cy="2978700"/>
          </a:xfrm>
          <a:prstGeom prst="roundRect">
            <a:avLst>
              <a:gd fmla="val 2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21"/>
          <p:cNvSpPr/>
          <p:nvPr/>
        </p:nvSpPr>
        <p:spPr>
          <a:xfrm>
            <a:off x="548553" y="1939645"/>
            <a:ext cx="2635800" cy="1143000"/>
          </a:xfrm>
          <a:prstGeom prst="roundRect">
            <a:avLst>
              <a:gd fmla="val 4800"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21"/>
          <p:cNvSpPr txBox="1"/>
          <p:nvPr/>
        </p:nvSpPr>
        <p:spPr>
          <a:xfrm>
            <a:off x="685713" y="3311245"/>
            <a:ext cx="2361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900" u="none" cap="none" strike="noStrike">
                <a:solidFill>
                  <a:srgbClr val="4A2C1A"/>
                </a:solidFill>
                <a:latin typeface="Calibri"/>
                <a:ea typeface="Calibri"/>
                <a:cs typeface="Calibri"/>
                <a:sym typeface="Calibri"/>
              </a:rPr>
              <a:t>Diego Maldonado</a:t>
            </a:r>
            <a:endParaRPr/>
          </a:p>
        </p:txBody>
      </p:sp>
      <p:sp>
        <p:nvSpPr>
          <p:cNvPr id="312" name="Google Shape;312;p21"/>
          <p:cNvSpPr txBox="1"/>
          <p:nvPr/>
        </p:nvSpPr>
        <p:spPr>
          <a:xfrm>
            <a:off x="777150" y="3905603"/>
            <a:ext cx="2178600" cy="88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Visión del producto, priorización del backlog, enlace con la contraparte y revisiones de sprint.</a:t>
            </a:r>
            <a:endParaRPr/>
          </a:p>
        </p:txBody>
      </p:sp>
      <p:sp>
        <p:nvSpPr>
          <p:cNvPr id="313" name="Google Shape;313;p21"/>
          <p:cNvSpPr/>
          <p:nvPr/>
        </p:nvSpPr>
        <p:spPr>
          <a:xfrm>
            <a:off x="3367200" y="1939649"/>
            <a:ext cx="2635800" cy="2978700"/>
          </a:xfrm>
          <a:prstGeom prst="roundRect">
            <a:avLst>
              <a:gd fmla="val 2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21"/>
          <p:cNvSpPr/>
          <p:nvPr/>
        </p:nvSpPr>
        <p:spPr>
          <a:xfrm>
            <a:off x="3367191" y="1939645"/>
            <a:ext cx="2635800" cy="1143000"/>
          </a:xfrm>
          <a:prstGeom prst="roundRect">
            <a:avLst>
              <a:gd fmla="val 4800"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21"/>
          <p:cNvSpPr txBox="1"/>
          <p:nvPr/>
        </p:nvSpPr>
        <p:spPr>
          <a:xfrm>
            <a:off x="3504350" y="2012797"/>
            <a:ext cx="2361300" cy="100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800" u="none" cap="none" strike="noStrike">
                <a:solidFill>
                  <a:srgbClr val="D9A441"/>
                </a:solidFill>
                <a:latin typeface="Calibri"/>
                <a:ea typeface="Calibri"/>
                <a:cs typeface="Calibri"/>
                <a:sym typeface="Calibri"/>
              </a:rPr>
              <a:t>S</a:t>
            </a:r>
            <a:r>
              <a:rPr b="1" lang="en-US" sz="1800">
                <a:solidFill>
                  <a:srgbClr val="D9A441"/>
                </a:solidFill>
                <a:latin typeface="Calibri"/>
                <a:ea typeface="Calibri"/>
                <a:cs typeface="Calibri"/>
                <a:sym typeface="Calibri"/>
              </a:rPr>
              <a:t>crum</a:t>
            </a:r>
            <a:r>
              <a:rPr b="1" i="0" lang="en-US" sz="1800" u="none" cap="none" strike="noStrike">
                <a:solidFill>
                  <a:srgbClr val="D9A441"/>
                </a:solidFill>
                <a:latin typeface="Calibri"/>
                <a:ea typeface="Calibri"/>
                <a:cs typeface="Calibri"/>
                <a:sym typeface="Calibri"/>
              </a:rPr>
              <a:t> M</a:t>
            </a:r>
            <a:r>
              <a:rPr b="1" lang="en-US" sz="1800">
                <a:solidFill>
                  <a:srgbClr val="D9A441"/>
                </a:solidFill>
                <a:latin typeface="Calibri"/>
                <a:ea typeface="Calibri"/>
                <a:cs typeface="Calibri"/>
                <a:sym typeface="Calibri"/>
              </a:rPr>
              <a:t>aster</a:t>
            </a:r>
            <a:endParaRPr sz="1900"/>
          </a:p>
        </p:txBody>
      </p:sp>
      <p:sp>
        <p:nvSpPr>
          <p:cNvPr id="316" name="Google Shape;316;p21"/>
          <p:cNvSpPr txBox="1"/>
          <p:nvPr/>
        </p:nvSpPr>
        <p:spPr>
          <a:xfrm>
            <a:off x="3504350" y="3311245"/>
            <a:ext cx="2361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900" u="none" cap="none" strike="noStrike">
                <a:solidFill>
                  <a:srgbClr val="4A2C1A"/>
                </a:solidFill>
                <a:latin typeface="Calibri"/>
                <a:ea typeface="Calibri"/>
                <a:cs typeface="Calibri"/>
                <a:sym typeface="Calibri"/>
              </a:rPr>
              <a:t>Rodrigo Mancilla</a:t>
            </a:r>
            <a:endParaRPr/>
          </a:p>
        </p:txBody>
      </p:sp>
      <p:sp>
        <p:nvSpPr>
          <p:cNvPr id="317" name="Google Shape;317;p21"/>
          <p:cNvSpPr txBox="1"/>
          <p:nvPr/>
        </p:nvSpPr>
        <p:spPr>
          <a:xfrm>
            <a:off x="3595800" y="3905599"/>
            <a:ext cx="2178600" cy="88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Facilitación de ceremonias, registro de impedimentos y actas, resguardo del proceso.</a:t>
            </a:r>
            <a:endParaRPr/>
          </a:p>
        </p:txBody>
      </p:sp>
      <p:sp>
        <p:nvSpPr>
          <p:cNvPr id="318" name="Google Shape;318;p21"/>
          <p:cNvSpPr/>
          <p:nvPr/>
        </p:nvSpPr>
        <p:spPr>
          <a:xfrm>
            <a:off x="6185825" y="1939649"/>
            <a:ext cx="2635800" cy="2978700"/>
          </a:xfrm>
          <a:prstGeom prst="roundRect">
            <a:avLst>
              <a:gd fmla="val 2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21"/>
          <p:cNvSpPr/>
          <p:nvPr/>
        </p:nvSpPr>
        <p:spPr>
          <a:xfrm>
            <a:off x="6185829" y="1939645"/>
            <a:ext cx="2635800" cy="1143000"/>
          </a:xfrm>
          <a:prstGeom prst="roundRect">
            <a:avLst>
              <a:gd fmla="val 4800"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21"/>
          <p:cNvSpPr txBox="1"/>
          <p:nvPr/>
        </p:nvSpPr>
        <p:spPr>
          <a:xfrm>
            <a:off x="6322989" y="3311245"/>
            <a:ext cx="2361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900" u="none" cap="none" strike="noStrike">
                <a:solidFill>
                  <a:srgbClr val="4A2C1A"/>
                </a:solidFill>
                <a:latin typeface="Calibri"/>
                <a:ea typeface="Calibri"/>
                <a:cs typeface="Calibri"/>
                <a:sym typeface="Calibri"/>
              </a:rPr>
              <a:t>Fernando Belmar</a:t>
            </a:r>
            <a:endParaRPr/>
          </a:p>
        </p:txBody>
      </p:sp>
      <p:sp>
        <p:nvSpPr>
          <p:cNvPr id="321" name="Google Shape;321;p21"/>
          <p:cNvSpPr txBox="1"/>
          <p:nvPr/>
        </p:nvSpPr>
        <p:spPr>
          <a:xfrm>
            <a:off x="6414425" y="3905599"/>
            <a:ext cx="2178600" cy="88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Arquitectura, integración de hardware, integración continua, planificación técnica y releases.</a:t>
            </a:r>
            <a:endParaRPr/>
          </a:p>
        </p:txBody>
      </p:sp>
      <p:sp>
        <p:nvSpPr>
          <p:cNvPr id="322" name="Google Shape;322;p21"/>
          <p:cNvSpPr/>
          <p:nvPr/>
        </p:nvSpPr>
        <p:spPr>
          <a:xfrm>
            <a:off x="9004475" y="1939649"/>
            <a:ext cx="2635800" cy="2978700"/>
          </a:xfrm>
          <a:prstGeom prst="roundRect">
            <a:avLst>
              <a:gd fmla="val 2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21"/>
          <p:cNvSpPr/>
          <p:nvPr/>
        </p:nvSpPr>
        <p:spPr>
          <a:xfrm>
            <a:off x="9004467" y="1939645"/>
            <a:ext cx="2635800" cy="1143000"/>
          </a:xfrm>
          <a:prstGeom prst="roundRect">
            <a:avLst>
              <a:gd fmla="val 4800"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21"/>
          <p:cNvSpPr txBox="1"/>
          <p:nvPr/>
        </p:nvSpPr>
        <p:spPr>
          <a:xfrm>
            <a:off x="9141627" y="3311245"/>
            <a:ext cx="23613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900" u="none" cap="none" strike="noStrike">
                <a:solidFill>
                  <a:srgbClr val="4A2C1A"/>
                </a:solidFill>
                <a:latin typeface="Calibri"/>
                <a:ea typeface="Calibri"/>
                <a:cs typeface="Calibri"/>
                <a:sym typeface="Calibri"/>
              </a:rPr>
              <a:t>Juan Pablo Pérez</a:t>
            </a:r>
            <a:endParaRPr/>
          </a:p>
        </p:txBody>
      </p:sp>
      <p:sp>
        <p:nvSpPr>
          <p:cNvPr id="325" name="Google Shape;325;p21"/>
          <p:cNvSpPr txBox="1"/>
          <p:nvPr/>
        </p:nvSpPr>
        <p:spPr>
          <a:xfrm>
            <a:off x="9233075" y="3905599"/>
            <a:ext cx="2178600" cy="88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Historias de usuario y criterios de aceptación, plan de pruebas y retrospectivas.</a:t>
            </a:r>
            <a:endParaRPr/>
          </a:p>
        </p:txBody>
      </p:sp>
      <p:sp>
        <p:nvSpPr>
          <p:cNvPr id="326" name="Google Shape;326;p21"/>
          <p:cNvSpPr txBox="1"/>
          <p:nvPr/>
        </p:nvSpPr>
        <p:spPr>
          <a:xfrm>
            <a:off x="685901" y="2008197"/>
            <a:ext cx="2361300" cy="100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800">
                <a:solidFill>
                  <a:srgbClr val="D9A441"/>
                </a:solidFill>
                <a:latin typeface="Calibri"/>
                <a:ea typeface="Calibri"/>
                <a:cs typeface="Calibri"/>
                <a:sym typeface="Calibri"/>
              </a:rPr>
              <a:t>Product Owner</a:t>
            </a:r>
            <a:endParaRPr sz="1900"/>
          </a:p>
        </p:txBody>
      </p:sp>
      <p:sp>
        <p:nvSpPr>
          <p:cNvPr id="327" name="Google Shape;327;p21"/>
          <p:cNvSpPr txBox="1"/>
          <p:nvPr/>
        </p:nvSpPr>
        <p:spPr>
          <a:xfrm>
            <a:off x="6323088" y="2012797"/>
            <a:ext cx="2361300" cy="100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800">
                <a:solidFill>
                  <a:srgbClr val="D9A441"/>
                </a:solidFill>
                <a:latin typeface="Calibri"/>
                <a:ea typeface="Calibri"/>
                <a:cs typeface="Calibri"/>
                <a:sym typeface="Calibri"/>
              </a:rPr>
              <a:t>Developer</a:t>
            </a:r>
            <a:endParaRPr sz="1900"/>
          </a:p>
        </p:txBody>
      </p:sp>
      <p:sp>
        <p:nvSpPr>
          <p:cNvPr id="328" name="Google Shape;328;p21"/>
          <p:cNvSpPr txBox="1"/>
          <p:nvPr/>
        </p:nvSpPr>
        <p:spPr>
          <a:xfrm>
            <a:off x="9141788" y="2012797"/>
            <a:ext cx="2361300" cy="100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800">
                <a:solidFill>
                  <a:srgbClr val="D9A441"/>
                </a:solidFill>
                <a:latin typeface="Calibri"/>
                <a:ea typeface="Calibri"/>
                <a:cs typeface="Calibri"/>
                <a:sym typeface="Calibri"/>
              </a:rPr>
              <a:t>Developer</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22"/>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3000">
                <a:solidFill>
                  <a:srgbClr val="4A2C1A"/>
                </a:solidFill>
                <a:latin typeface="Calibri"/>
                <a:ea typeface="Calibri"/>
                <a:cs typeface="Calibri"/>
                <a:sym typeface="Calibri"/>
              </a:rPr>
              <a:t>Sprints</a:t>
            </a:r>
            <a:endParaRPr/>
          </a:p>
        </p:txBody>
      </p:sp>
      <p:sp>
        <p:nvSpPr>
          <p:cNvPr id="335" name="Google Shape;335;p22"/>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14</a:t>
            </a:r>
            <a:endParaRPr/>
          </a:p>
        </p:txBody>
      </p:sp>
      <p:sp>
        <p:nvSpPr>
          <p:cNvPr id="336" name="Google Shape;336;p22"/>
          <p:cNvSpPr/>
          <p:nvPr/>
        </p:nvSpPr>
        <p:spPr>
          <a:xfrm>
            <a:off x="548640" y="1188720"/>
            <a:ext cx="2635758" cy="1234440"/>
          </a:xfrm>
          <a:prstGeom prst="roundRect">
            <a:avLst>
              <a:gd fmla="val 4444"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22"/>
          <p:cNvSpPr txBox="1"/>
          <p:nvPr/>
        </p:nvSpPr>
        <p:spPr>
          <a:xfrm>
            <a:off x="685800" y="1261872"/>
            <a:ext cx="2361438" cy="6172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400" u="none" cap="none" strike="noStrike">
                <a:solidFill>
                  <a:srgbClr val="4A2C1A"/>
                </a:solidFill>
                <a:latin typeface="Calibri"/>
                <a:ea typeface="Calibri"/>
                <a:cs typeface="Calibri"/>
                <a:sym typeface="Calibri"/>
              </a:rPr>
              <a:t>5</a:t>
            </a:r>
            <a:endParaRPr/>
          </a:p>
        </p:txBody>
      </p:sp>
      <p:sp>
        <p:nvSpPr>
          <p:cNvPr id="338" name="Google Shape;338;p22"/>
          <p:cNvSpPr txBox="1"/>
          <p:nvPr/>
        </p:nvSpPr>
        <p:spPr>
          <a:xfrm>
            <a:off x="685800" y="1897380"/>
            <a:ext cx="2361438"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sprints cerrados</a:t>
            </a:r>
            <a:endParaRPr/>
          </a:p>
        </p:txBody>
      </p:sp>
      <p:sp>
        <p:nvSpPr>
          <p:cNvPr id="339" name="Google Shape;339;p22"/>
          <p:cNvSpPr/>
          <p:nvPr/>
        </p:nvSpPr>
        <p:spPr>
          <a:xfrm>
            <a:off x="3367278" y="1188720"/>
            <a:ext cx="2635758" cy="1234440"/>
          </a:xfrm>
          <a:prstGeom prst="roundRect">
            <a:avLst>
              <a:gd fmla="val 4444"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22"/>
          <p:cNvSpPr txBox="1"/>
          <p:nvPr/>
        </p:nvSpPr>
        <p:spPr>
          <a:xfrm>
            <a:off x="3504438" y="1261872"/>
            <a:ext cx="2361438" cy="6172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400" u="none" cap="none" strike="noStrike">
                <a:solidFill>
                  <a:srgbClr val="4A2C1A"/>
                </a:solidFill>
                <a:latin typeface="Calibri"/>
                <a:ea typeface="Calibri"/>
                <a:cs typeface="Calibri"/>
                <a:sym typeface="Calibri"/>
              </a:rPr>
              <a:t>127</a:t>
            </a:r>
            <a:endParaRPr/>
          </a:p>
        </p:txBody>
      </p:sp>
      <p:sp>
        <p:nvSpPr>
          <p:cNvPr id="341" name="Google Shape;341;p22"/>
          <p:cNvSpPr txBox="1"/>
          <p:nvPr/>
        </p:nvSpPr>
        <p:spPr>
          <a:xfrm>
            <a:off x="3504438" y="1897380"/>
            <a:ext cx="2361438"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puntos aceptados</a:t>
            </a:r>
            <a:endParaRPr/>
          </a:p>
        </p:txBody>
      </p:sp>
      <p:sp>
        <p:nvSpPr>
          <p:cNvPr id="342" name="Google Shape;342;p22"/>
          <p:cNvSpPr/>
          <p:nvPr/>
        </p:nvSpPr>
        <p:spPr>
          <a:xfrm>
            <a:off x="6185916" y="1188720"/>
            <a:ext cx="2635758" cy="1234440"/>
          </a:xfrm>
          <a:prstGeom prst="roundRect">
            <a:avLst>
              <a:gd fmla="val 4444"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22"/>
          <p:cNvSpPr txBox="1"/>
          <p:nvPr/>
        </p:nvSpPr>
        <p:spPr>
          <a:xfrm>
            <a:off x="6323076" y="1261872"/>
            <a:ext cx="2361438" cy="6172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400" u="none" cap="none" strike="noStrike">
                <a:solidFill>
                  <a:srgbClr val="4A2C1A"/>
                </a:solidFill>
                <a:latin typeface="Calibri"/>
                <a:ea typeface="Calibri"/>
                <a:cs typeface="Calibri"/>
                <a:sym typeface="Calibri"/>
              </a:rPr>
              <a:t>26</a:t>
            </a:r>
            <a:endParaRPr/>
          </a:p>
        </p:txBody>
      </p:sp>
      <p:sp>
        <p:nvSpPr>
          <p:cNvPr id="344" name="Google Shape;344;p22"/>
          <p:cNvSpPr txBox="1"/>
          <p:nvPr/>
        </p:nvSpPr>
        <p:spPr>
          <a:xfrm>
            <a:off x="6323076" y="1897380"/>
            <a:ext cx="2361438"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historias aceptadas</a:t>
            </a:r>
            <a:endParaRPr/>
          </a:p>
        </p:txBody>
      </p:sp>
      <p:sp>
        <p:nvSpPr>
          <p:cNvPr id="345" name="Google Shape;345;p22"/>
          <p:cNvSpPr/>
          <p:nvPr/>
        </p:nvSpPr>
        <p:spPr>
          <a:xfrm>
            <a:off x="9004554" y="1188720"/>
            <a:ext cx="2635758" cy="1234440"/>
          </a:xfrm>
          <a:prstGeom prst="roundRect">
            <a:avLst>
              <a:gd fmla="val 4444"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22"/>
          <p:cNvSpPr txBox="1"/>
          <p:nvPr/>
        </p:nvSpPr>
        <p:spPr>
          <a:xfrm>
            <a:off x="9141714" y="1261872"/>
            <a:ext cx="2361438" cy="61722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400" u="none" cap="none" strike="noStrike">
                <a:solidFill>
                  <a:srgbClr val="4A2C1A"/>
                </a:solidFill>
                <a:latin typeface="Calibri"/>
                <a:ea typeface="Calibri"/>
                <a:cs typeface="Calibri"/>
                <a:sym typeface="Calibri"/>
              </a:rPr>
              <a:t>349,5 h</a:t>
            </a:r>
            <a:endParaRPr/>
          </a:p>
        </p:txBody>
      </p:sp>
      <p:sp>
        <p:nvSpPr>
          <p:cNvPr id="347" name="Google Shape;347;p22"/>
          <p:cNvSpPr txBox="1"/>
          <p:nvPr/>
        </p:nvSpPr>
        <p:spPr>
          <a:xfrm>
            <a:off x="9141714" y="1897380"/>
            <a:ext cx="2361438" cy="480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consumidas de 353 h comprometidas</a:t>
            </a:r>
            <a:endParaRPr/>
          </a:p>
        </p:txBody>
      </p:sp>
      <p:sp>
        <p:nvSpPr>
          <p:cNvPr id="348" name="Google Shape;348;p22"/>
          <p:cNvSpPr/>
          <p:nvPr/>
        </p:nvSpPr>
        <p:spPr>
          <a:xfrm>
            <a:off x="548640" y="2651760"/>
            <a:ext cx="6949440" cy="3611880"/>
          </a:xfrm>
          <a:prstGeom prst="roundRect">
            <a:avLst>
              <a:gd fmla="val 151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22"/>
          <p:cNvSpPr txBox="1"/>
          <p:nvPr/>
        </p:nvSpPr>
        <p:spPr>
          <a:xfrm>
            <a:off x="731520" y="2743200"/>
            <a:ext cx="65836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Horas por sprint: comprometidas vs consumidas</a:t>
            </a:r>
            <a:endParaRPr/>
          </a:p>
        </p:txBody>
      </p:sp>
      <p:graphicFrame>
        <p:nvGraphicFramePr>
          <p:cNvPr id="350" name="Google Shape;350;p22"/>
          <p:cNvGraphicFramePr/>
          <p:nvPr/>
        </p:nvGraphicFramePr>
        <p:xfrm>
          <a:off x="685800" y="3108960"/>
          <a:ext cx="6675120" cy="3063240"/>
        </p:xfrm>
        <a:graphic>
          <a:graphicData uri="http://schemas.openxmlformats.org/drawingml/2006/chart">
            <c:chart r:id="rId3"/>
          </a:graphicData>
        </a:graphic>
      </p:graphicFrame>
      <p:sp>
        <p:nvSpPr>
          <p:cNvPr id="351" name="Google Shape;351;p22"/>
          <p:cNvSpPr/>
          <p:nvPr/>
        </p:nvSpPr>
        <p:spPr>
          <a:xfrm>
            <a:off x="7680960" y="2651760"/>
            <a:ext cx="3959352" cy="3611880"/>
          </a:xfrm>
          <a:prstGeom prst="roundRect">
            <a:avLst>
              <a:gd fmla="val 151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22"/>
          <p:cNvSpPr txBox="1"/>
          <p:nvPr/>
        </p:nvSpPr>
        <p:spPr>
          <a:xfrm>
            <a:off x="7863840" y="2743200"/>
            <a:ext cx="361188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Versiones publicadas</a:t>
            </a:r>
            <a:endParaRPr/>
          </a:p>
        </p:txBody>
      </p:sp>
      <p:sp>
        <p:nvSpPr>
          <p:cNvPr id="353" name="Google Shape;353;p22"/>
          <p:cNvSpPr/>
          <p:nvPr/>
        </p:nvSpPr>
        <p:spPr>
          <a:xfrm>
            <a:off x="7863840" y="3108960"/>
            <a:ext cx="3593592" cy="54864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22"/>
          <p:cNvSpPr txBox="1"/>
          <p:nvPr/>
        </p:nvSpPr>
        <p:spPr>
          <a:xfrm>
            <a:off x="8001000" y="3108960"/>
            <a:ext cx="10058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700" u="none" cap="none" strike="noStrike">
                <a:solidFill>
                  <a:srgbClr val="A8461A"/>
                </a:solidFill>
                <a:latin typeface="Calibri"/>
                <a:ea typeface="Calibri"/>
                <a:cs typeface="Calibri"/>
                <a:sym typeface="Calibri"/>
              </a:rPr>
              <a:t>v0.1.0</a:t>
            </a:r>
            <a:endParaRPr/>
          </a:p>
        </p:txBody>
      </p:sp>
      <p:sp>
        <p:nvSpPr>
          <p:cNvPr id="355" name="Google Shape;355;p22"/>
          <p:cNvSpPr txBox="1"/>
          <p:nvPr/>
        </p:nvSpPr>
        <p:spPr>
          <a:xfrm>
            <a:off x="9006840" y="3136391"/>
            <a:ext cx="237744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«Caja operativa»</a:t>
            </a:r>
            <a:endParaRPr/>
          </a:p>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4 de septiembre</a:t>
            </a:r>
            <a:endParaRPr/>
          </a:p>
        </p:txBody>
      </p:sp>
      <p:sp>
        <p:nvSpPr>
          <p:cNvPr id="356" name="Google Shape;356;p22"/>
          <p:cNvSpPr/>
          <p:nvPr/>
        </p:nvSpPr>
        <p:spPr>
          <a:xfrm>
            <a:off x="7863840" y="3730752"/>
            <a:ext cx="3593592" cy="54864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22"/>
          <p:cNvSpPr txBox="1"/>
          <p:nvPr/>
        </p:nvSpPr>
        <p:spPr>
          <a:xfrm>
            <a:off x="8001000" y="3730752"/>
            <a:ext cx="10058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700" u="none" cap="none" strike="noStrike">
                <a:solidFill>
                  <a:srgbClr val="A8461A"/>
                </a:solidFill>
                <a:latin typeface="Calibri"/>
                <a:ea typeface="Calibri"/>
                <a:cs typeface="Calibri"/>
                <a:sym typeface="Calibri"/>
              </a:rPr>
              <a:t>v0.2.0</a:t>
            </a:r>
            <a:endParaRPr/>
          </a:p>
        </p:txBody>
      </p:sp>
      <p:sp>
        <p:nvSpPr>
          <p:cNvPr id="358" name="Google Shape;358;p22"/>
          <p:cNvSpPr txBox="1"/>
          <p:nvPr/>
        </p:nvSpPr>
        <p:spPr>
          <a:xfrm>
            <a:off x="9006840" y="3758184"/>
            <a:ext cx="237744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«Caja resiliente»</a:t>
            </a:r>
            <a:endParaRPr/>
          </a:p>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17 de septiembre</a:t>
            </a:r>
            <a:endParaRPr/>
          </a:p>
        </p:txBody>
      </p:sp>
      <p:sp>
        <p:nvSpPr>
          <p:cNvPr id="359" name="Google Shape;359;p22"/>
          <p:cNvSpPr/>
          <p:nvPr/>
        </p:nvSpPr>
        <p:spPr>
          <a:xfrm>
            <a:off x="7863840" y="4352544"/>
            <a:ext cx="3593592" cy="54864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22"/>
          <p:cNvSpPr txBox="1"/>
          <p:nvPr/>
        </p:nvSpPr>
        <p:spPr>
          <a:xfrm>
            <a:off x="8001000" y="4352544"/>
            <a:ext cx="10058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700" u="none" cap="none" strike="noStrike">
                <a:solidFill>
                  <a:srgbClr val="A8461A"/>
                </a:solidFill>
                <a:latin typeface="Calibri"/>
                <a:ea typeface="Calibri"/>
                <a:cs typeface="Calibri"/>
                <a:sym typeface="Calibri"/>
              </a:rPr>
              <a:t>v0.3.0</a:t>
            </a:r>
            <a:endParaRPr/>
          </a:p>
        </p:txBody>
      </p:sp>
      <p:sp>
        <p:nvSpPr>
          <p:cNvPr id="361" name="Google Shape;361;p22"/>
          <p:cNvSpPr txBox="1"/>
          <p:nvPr/>
        </p:nvSpPr>
        <p:spPr>
          <a:xfrm>
            <a:off x="9006840" y="4379976"/>
            <a:ext cx="237744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«Gestión y producción»</a:t>
            </a:r>
            <a:endParaRPr/>
          </a:p>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16 de octubre</a:t>
            </a:r>
            <a:endParaRPr/>
          </a:p>
        </p:txBody>
      </p:sp>
      <p:sp>
        <p:nvSpPr>
          <p:cNvPr id="362" name="Google Shape;362;p22"/>
          <p:cNvSpPr/>
          <p:nvPr/>
        </p:nvSpPr>
        <p:spPr>
          <a:xfrm>
            <a:off x="7863840" y="5458968"/>
            <a:ext cx="3593592" cy="685800"/>
          </a:xfrm>
          <a:prstGeom prst="roundRect">
            <a:avLst>
              <a:gd fmla="val 10666"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22"/>
          <p:cNvSpPr txBox="1"/>
          <p:nvPr/>
        </p:nvSpPr>
        <p:spPr>
          <a:xfrm>
            <a:off x="8001000" y="5477256"/>
            <a:ext cx="3337560" cy="6492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D9A441"/>
                </a:solidFill>
                <a:latin typeface="Calibri"/>
                <a:ea typeface="Calibri"/>
                <a:cs typeface="Calibri"/>
                <a:sym typeface="Calibri"/>
              </a:rPr>
              <a:t>Lo que sigue</a:t>
            </a:r>
            <a:endParaRPr/>
          </a:p>
          <a:p>
            <a:pPr indent="0" lvl="0" marL="0" marR="0" rtl="0" algn="l">
              <a:lnSpc>
                <a:spcPct val="100000"/>
              </a:lnSpc>
              <a:spcBef>
                <a:spcPts val="0"/>
              </a:spcBef>
              <a:spcAft>
                <a:spcPts val="0"/>
              </a:spcAft>
              <a:buNone/>
            </a:pPr>
            <a:r>
              <a:rPr b="1" i="0" lang="en-US" sz="1300" u="none" cap="none" strike="noStrike">
                <a:solidFill>
                  <a:srgbClr val="FFFFFF"/>
                </a:solidFill>
                <a:latin typeface="Calibri"/>
                <a:ea typeface="Calibri"/>
                <a:cs typeface="Calibri"/>
                <a:sym typeface="Calibri"/>
              </a:rPr>
              <a:t>Sprint 5 desde el 19 de octubre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4"/>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0</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Resumen</a:t>
            </a:r>
            <a:endParaRPr/>
          </a:p>
        </p:txBody>
      </p:sp>
      <p:sp>
        <p:nvSpPr>
          <p:cNvPr id="370" name="Google Shape;370;p24"/>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16</a:t>
            </a:r>
            <a:endParaRPr/>
          </a:p>
        </p:txBody>
      </p:sp>
      <p:sp>
        <p:nvSpPr>
          <p:cNvPr id="371" name="Google Shape;371;p24"/>
          <p:cNvSpPr/>
          <p:nvPr/>
        </p:nvSpPr>
        <p:spPr>
          <a:xfrm>
            <a:off x="548640"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24"/>
          <p:cNvSpPr txBox="1"/>
          <p:nvPr/>
        </p:nvSpPr>
        <p:spPr>
          <a:xfrm>
            <a:off x="685800"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73 / 73 h</a:t>
            </a:r>
            <a:endParaRPr/>
          </a:p>
        </p:txBody>
      </p:sp>
      <p:sp>
        <p:nvSpPr>
          <p:cNvPr id="373" name="Google Shape;373;p24"/>
          <p:cNvSpPr txBox="1"/>
          <p:nvPr/>
        </p:nvSpPr>
        <p:spPr>
          <a:xfrm>
            <a:off x="685800"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horas comprometidas / consumidas</a:t>
            </a:r>
            <a:endParaRPr/>
          </a:p>
        </p:txBody>
      </p:sp>
      <p:sp>
        <p:nvSpPr>
          <p:cNvPr id="374" name="Google Shape;374;p24"/>
          <p:cNvSpPr/>
          <p:nvPr/>
        </p:nvSpPr>
        <p:spPr>
          <a:xfrm>
            <a:off x="3367278"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24"/>
          <p:cNvSpPr txBox="1"/>
          <p:nvPr/>
        </p:nvSpPr>
        <p:spPr>
          <a:xfrm>
            <a:off x="3504438"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26 / 26</a:t>
            </a:r>
            <a:endParaRPr/>
          </a:p>
        </p:txBody>
      </p:sp>
      <p:sp>
        <p:nvSpPr>
          <p:cNvPr id="376" name="Google Shape;376;p24"/>
          <p:cNvSpPr txBox="1"/>
          <p:nvPr/>
        </p:nvSpPr>
        <p:spPr>
          <a:xfrm>
            <a:off x="3504438"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puntos comprometidos / aceptados</a:t>
            </a:r>
            <a:endParaRPr/>
          </a:p>
        </p:txBody>
      </p:sp>
      <p:sp>
        <p:nvSpPr>
          <p:cNvPr id="377" name="Google Shape;377;p24"/>
          <p:cNvSpPr/>
          <p:nvPr/>
        </p:nvSpPr>
        <p:spPr>
          <a:xfrm>
            <a:off x="6185916"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24"/>
          <p:cNvSpPr txBox="1"/>
          <p:nvPr/>
        </p:nvSpPr>
        <p:spPr>
          <a:xfrm>
            <a:off x="6323076"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16 de 16</a:t>
            </a:r>
            <a:endParaRPr/>
          </a:p>
        </p:txBody>
      </p:sp>
      <p:sp>
        <p:nvSpPr>
          <p:cNvPr id="379" name="Google Shape;379;p24"/>
          <p:cNvSpPr txBox="1"/>
          <p:nvPr/>
        </p:nvSpPr>
        <p:spPr>
          <a:xfrm>
            <a:off x="6323076"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tareas hechas</a:t>
            </a:r>
            <a:endParaRPr/>
          </a:p>
        </p:txBody>
      </p:sp>
      <p:sp>
        <p:nvSpPr>
          <p:cNvPr id="380" name="Google Shape;380;p24"/>
          <p:cNvSpPr/>
          <p:nvPr/>
        </p:nvSpPr>
        <p:spPr>
          <a:xfrm>
            <a:off x="9004554"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24"/>
          <p:cNvSpPr txBox="1"/>
          <p:nvPr/>
        </p:nvSpPr>
        <p:spPr>
          <a:xfrm>
            <a:off x="9141714"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4 de 4</a:t>
            </a:r>
            <a:endParaRPr/>
          </a:p>
        </p:txBody>
      </p:sp>
      <p:sp>
        <p:nvSpPr>
          <p:cNvPr id="382" name="Google Shape;382;p24"/>
          <p:cNvSpPr txBox="1"/>
          <p:nvPr/>
        </p:nvSpPr>
        <p:spPr>
          <a:xfrm>
            <a:off x="9141714"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historias aceptadas</a:t>
            </a:r>
            <a:endParaRPr/>
          </a:p>
        </p:txBody>
      </p:sp>
      <p:sp>
        <p:nvSpPr>
          <p:cNvPr id="383" name="Google Shape;383;p24"/>
          <p:cNvSpPr/>
          <p:nvPr/>
        </p:nvSpPr>
        <p:spPr>
          <a:xfrm>
            <a:off x="548640" y="2514600"/>
            <a:ext cx="6309360" cy="3749039"/>
          </a:xfrm>
          <a:prstGeom prst="roundRect">
            <a:avLst>
              <a:gd fmla="val 1463"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24"/>
          <p:cNvSpPr txBox="1"/>
          <p:nvPr/>
        </p:nvSpPr>
        <p:spPr>
          <a:xfrm>
            <a:off x="731520" y="2606040"/>
            <a:ext cx="5943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Lo entregado</a:t>
            </a:r>
            <a:endParaRPr/>
          </a:p>
        </p:txBody>
      </p:sp>
      <p:sp>
        <p:nvSpPr>
          <p:cNvPr id="385" name="Google Shape;385;p24"/>
          <p:cNvSpPr txBox="1"/>
          <p:nvPr/>
        </p:nvSpPr>
        <p:spPr>
          <a:xfrm>
            <a:off x="731520" y="3017520"/>
            <a:ext cx="5943600" cy="201168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500"/>
              <a:buFont typeface="Arial"/>
              <a:buChar char="•"/>
            </a:pPr>
            <a:r>
              <a:rPr b="0" i="0" lang="en-US" sz="1500" u="none" cap="none" strike="noStrike">
                <a:solidFill>
                  <a:srgbClr val="2E2318"/>
                </a:solidFill>
                <a:latin typeface="Calibri"/>
                <a:ea typeface="Calibri"/>
                <a:cs typeface="Calibri"/>
                <a:sym typeface="Calibri"/>
              </a:rPr>
              <a:t>Repositorio con integración continua (HU-PLT-0001).</a:t>
            </a:r>
            <a:endParaRPr/>
          </a:p>
          <a:p>
            <a:pPr indent="-155448" lvl="0" marL="155448" marR="0" rtl="0" algn="l">
              <a:lnSpc>
                <a:spcPct val="100000"/>
              </a:lnSpc>
              <a:spcBef>
                <a:spcPts val="900"/>
              </a:spcBef>
              <a:spcAft>
                <a:spcPts val="0"/>
              </a:spcAft>
              <a:buClr>
                <a:srgbClr val="D9A441"/>
              </a:buClr>
              <a:buSzPts val="1500"/>
              <a:buFont typeface="Arial"/>
              <a:buChar char="•"/>
            </a:pPr>
            <a:r>
              <a:rPr b="0" i="0" lang="en-US" sz="1500" u="none" cap="none" strike="noStrike">
                <a:solidFill>
                  <a:srgbClr val="2E2318"/>
                </a:solidFill>
                <a:latin typeface="Calibri"/>
                <a:ea typeface="Calibri"/>
                <a:cs typeface="Calibri"/>
                <a:sym typeface="Calibri"/>
              </a:rPr>
              <a:t>Modelo de datos y entorno local (HU-PLT-0003).</a:t>
            </a:r>
            <a:endParaRPr/>
          </a:p>
          <a:p>
            <a:pPr indent="-155448" lvl="0" marL="155448" marR="0" rtl="0" algn="l">
              <a:lnSpc>
                <a:spcPct val="100000"/>
              </a:lnSpc>
              <a:spcBef>
                <a:spcPts val="900"/>
              </a:spcBef>
              <a:spcAft>
                <a:spcPts val="0"/>
              </a:spcAft>
              <a:buClr>
                <a:srgbClr val="D9A441"/>
              </a:buClr>
              <a:buSzPts val="1500"/>
              <a:buFont typeface="Arial"/>
              <a:buChar char="•"/>
            </a:pPr>
            <a:r>
              <a:rPr b="0" i="0" lang="en-US" sz="1500" u="none" cap="none" strike="noStrike">
                <a:solidFill>
                  <a:srgbClr val="2E2318"/>
                </a:solidFill>
                <a:latin typeface="Calibri"/>
                <a:ea typeface="Calibri"/>
                <a:cs typeface="Calibri"/>
                <a:sym typeface="Calibri"/>
              </a:rPr>
              <a:t>Entorno en la nube, en Azure (HU-PLT-0005).</a:t>
            </a:r>
            <a:endParaRPr/>
          </a:p>
          <a:p>
            <a:pPr indent="-155448" lvl="0" marL="155448" marR="0" rtl="0" algn="l">
              <a:lnSpc>
                <a:spcPct val="100000"/>
              </a:lnSpc>
              <a:spcBef>
                <a:spcPts val="900"/>
              </a:spcBef>
              <a:spcAft>
                <a:spcPts val="0"/>
              </a:spcAft>
              <a:buClr>
                <a:srgbClr val="D9A441"/>
              </a:buClr>
              <a:buSzPts val="1500"/>
              <a:buFont typeface="Arial"/>
              <a:buChar char="•"/>
            </a:pPr>
            <a:r>
              <a:rPr b="0" i="0" lang="en-US" sz="1500" u="none" cap="none" strike="noStrike">
                <a:solidFill>
                  <a:srgbClr val="2E2318"/>
                </a:solidFill>
                <a:latin typeface="Calibri"/>
                <a:ea typeface="Calibri"/>
                <a:cs typeface="Calibri"/>
                <a:sym typeface="Calibri"/>
              </a:rPr>
              <a:t>Spike de la balanza, para validar el protocolo (HU-PLT-0002).</a:t>
            </a:r>
            <a:endParaRPr/>
          </a:p>
          <a:p>
            <a:pPr indent="-155448" lvl="0" marL="155448" marR="0" rtl="0" algn="l">
              <a:lnSpc>
                <a:spcPct val="100000"/>
              </a:lnSpc>
              <a:spcBef>
                <a:spcPts val="900"/>
              </a:spcBef>
              <a:spcAft>
                <a:spcPts val="0"/>
              </a:spcAft>
              <a:buClr>
                <a:srgbClr val="D9A441"/>
              </a:buClr>
              <a:buSzPts val="1500"/>
              <a:buFont typeface="Arial"/>
              <a:buChar char="•"/>
            </a:pPr>
            <a:r>
              <a:rPr b="0" i="0" lang="en-US" sz="1500" u="none" cap="none" strike="noStrike">
                <a:solidFill>
                  <a:srgbClr val="2E2318"/>
                </a:solidFill>
                <a:latin typeface="Calibri"/>
                <a:ea typeface="Calibri"/>
                <a:cs typeface="Calibri"/>
                <a:sym typeface="Calibri"/>
              </a:rPr>
              <a:t>Prueba CP-PLT-01: 8 de 8 pasos.</a:t>
            </a:r>
            <a:endParaRPr/>
          </a:p>
        </p:txBody>
      </p:sp>
      <p:sp>
        <p:nvSpPr>
          <p:cNvPr id="386" name="Google Shape;386;p24"/>
          <p:cNvSpPr/>
          <p:nvPr/>
        </p:nvSpPr>
        <p:spPr>
          <a:xfrm>
            <a:off x="7040880" y="2514600"/>
            <a:ext cx="4599432" cy="3749039"/>
          </a:xfrm>
          <a:prstGeom prst="roundRect">
            <a:avLst>
              <a:gd fmla="val 1951"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24"/>
          <p:cNvSpPr txBox="1"/>
          <p:nvPr/>
        </p:nvSpPr>
        <p:spPr>
          <a:xfrm>
            <a:off x="7269480" y="2651760"/>
            <a:ext cx="416052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D9A441"/>
                </a:solidFill>
                <a:latin typeface="Calibri"/>
                <a:ea typeface="Calibri"/>
                <a:cs typeface="Calibri"/>
                <a:sym typeface="Calibri"/>
              </a:rPr>
              <a:t>Decisión del spike: NO-GO</a:t>
            </a:r>
            <a:endParaRPr/>
          </a:p>
        </p:txBody>
      </p:sp>
      <p:sp>
        <p:nvSpPr>
          <p:cNvPr id="388" name="Google Shape;388;p24"/>
          <p:cNvSpPr txBox="1"/>
          <p:nvPr/>
        </p:nvSpPr>
        <p:spPr>
          <a:xfrm>
            <a:off x="7269480" y="3108960"/>
            <a:ext cx="4160520" cy="237744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500"/>
              <a:buFont typeface="Arial"/>
              <a:buChar char="•"/>
            </a:pPr>
            <a:r>
              <a:rPr b="0" i="0" lang="en-US" sz="1500" u="none" cap="none" strike="noStrike">
                <a:solidFill>
                  <a:srgbClr val="FFFFFF"/>
                </a:solidFill>
                <a:latin typeface="Calibri"/>
                <a:ea typeface="Calibri"/>
                <a:cs typeface="Calibri"/>
                <a:sym typeface="Calibri"/>
              </a:rPr>
              <a:t>No había balanza física: el protocolo se probó con una captura sintética.</a:t>
            </a:r>
            <a:endParaRPr/>
          </a:p>
          <a:p>
            <a:pPr indent="-155448" lvl="0" marL="155448" marR="0" rtl="0" algn="l">
              <a:lnSpc>
                <a:spcPct val="100000"/>
              </a:lnSpc>
              <a:spcBef>
                <a:spcPts val="1000"/>
              </a:spcBef>
              <a:spcAft>
                <a:spcPts val="0"/>
              </a:spcAft>
              <a:buClr>
                <a:srgbClr val="D9A441"/>
              </a:buClr>
              <a:buSzPts val="1500"/>
              <a:buFont typeface="Arial"/>
              <a:buChar char="•"/>
            </a:pPr>
            <a:r>
              <a:rPr b="0" i="0" lang="en-US" sz="1500" u="none" cap="none" strike="noStrike">
                <a:solidFill>
                  <a:srgbClr val="FFFFFF"/>
                </a:solidFill>
                <a:latin typeface="Calibri"/>
                <a:ea typeface="Calibri"/>
                <a:cs typeface="Calibri"/>
                <a:sym typeface="Calibri"/>
              </a:rPr>
              <a:t>El ingreso manual de peso quedó declarado como modo soportado permanente.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25"/>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0</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Sprint Backlog</a:t>
            </a:r>
            <a:endParaRPr/>
          </a:p>
        </p:txBody>
      </p:sp>
      <p:sp>
        <p:nvSpPr>
          <p:cNvPr id="395" name="Google Shape;395;p25"/>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17</a:t>
            </a:r>
            <a:endParaRPr/>
          </a:p>
        </p:txBody>
      </p:sp>
      <p:graphicFrame>
        <p:nvGraphicFramePr>
          <p:cNvPr id="396" name="Google Shape;396;p25"/>
          <p:cNvGraphicFramePr/>
          <p:nvPr/>
        </p:nvGraphicFramePr>
        <p:xfrm>
          <a:off x="548615" y="2062020"/>
          <a:ext cx="3000000" cy="3000000"/>
        </p:xfrm>
        <a:graphic>
          <a:graphicData uri="http://schemas.openxmlformats.org/drawingml/2006/table">
            <a:tbl>
              <a:tblPr>
                <a:noFill/>
                <a:tableStyleId>{BA7B9E9C-A63D-41EF-8DED-ABFA5B16292E}</a:tableStyleId>
              </a:tblPr>
              <a:tblGrid>
                <a:gridCol w="1188725"/>
                <a:gridCol w="7616950"/>
                <a:gridCol w="731525"/>
                <a:gridCol w="777250"/>
                <a:gridCol w="7772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Historia de usuario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Puntos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Tareas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Horas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HU-PLT-0001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integrante del equipo de desarrollo, necesito un repositorio con integración continua que ejecute la suite de pruebas en cada cambio, con la finalidad de detectar regresiones antes de integrar el trabajo de cada persona.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HU-PLT-0002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líder técnico, necesito validar la lectura de peso desde una balanza serial real en un arnés aislado, con la finalidad de decidir el modo principal de pesaje antes de construir la pantalla de caja.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HU-PLT-0003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integrante del equipo de desarrollo, necesito el esqueleto multi-tenant del modelo de datos (panadería, sucursal, usuario, producto) y un entorno local que se levante con un solo comando, con la finalidad de que todo el equipo desarrolle sobre la misma base.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HU-PLT-0005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integrante del equipo de desarrollo, necesito desplegar la API y la base de datos en Azure mediante un flujo automatizado, con la finalidad de que el entorno en la nube exista desde el inicio y no en una integración final.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10</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Trabajo transversal del sprint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Total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4 historias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16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73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6"/>
          <p:cNvSpPr txBox="1"/>
          <p:nvPr/>
        </p:nvSpPr>
        <p:spPr>
          <a:xfrm>
            <a:off x="548640" y="320040"/>
            <a:ext cx="11091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0</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Tablero Kanban</a:t>
            </a:r>
            <a:endParaRPr/>
          </a:p>
        </p:txBody>
      </p:sp>
      <p:sp>
        <p:nvSpPr>
          <p:cNvPr id="403" name="Google Shape;403;p26"/>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18</a:t>
            </a:r>
            <a:endParaRPr/>
          </a:p>
        </p:txBody>
      </p:sp>
      <p:sp>
        <p:nvSpPr>
          <p:cNvPr id="404" name="Google Shape;404;p26"/>
          <p:cNvSpPr/>
          <p:nvPr/>
        </p:nvSpPr>
        <p:spPr>
          <a:xfrm>
            <a:off x="548640" y="17830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26"/>
          <p:cNvSpPr txBox="1"/>
          <p:nvPr/>
        </p:nvSpPr>
        <p:spPr>
          <a:xfrm>
            <a:off x="658368" y="18196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T0.01  </a:t>
            </a:r>
            <a:r>
              <a:rPr b="0" i="0" lang="en-US" sz="1100" u="none" cap="none" strike="noStrike">
                <a:solidFill>
                  <a:srgbClr val="2E2318"/>
                </a:solidFill>
                <a:latin typeface="Calibri"/>
                <a:ea typeface="Calibri"/>
                <a:cs typeface="Calibri"/>
                <a:sym typeface="Calibri"/>
              </a:rPr>
              <a:t>Estructura del repositorio, convención de ramas y plantilla de solicitud de integración</a:t>
            </a:r>
            <a:endParaRPr/>
          </a:p>
        </p:txBody>
      </p:sp>
      <p:sp>
        <p:nvSpPr>
          <p:cNvPr id="406" name="Google Shape;406;p26"/>
          <p:cNvSpPr/>
          <p:nvPr/>
        </p:nvSpPr>
        <p:spPr>
          <a:xfrm>
            <a:off x="4291584" y="17830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26"/>
          <p:cNvSpPr txBox="1"/>
          <p:nvPr/>
        </p:nvSpPr>
        <p:spPr>
          <a:xfrm>
            <a:off x="4401312" y="18196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T0.02  </a:t>
            </a:r>
            <a:r>
              <a:rPr b="0" i="0" lang="en-US" sz="1100" u="none" cap="none" strike="noStrike">
                <a:solidFill>
                  <a:srgbClr val="2E2318"/>
                </a:solidFill>
                <a:latin typeface="Calibri"/>
                <a:ea typeface="Calibri"/>
                <a:cs typeface="Calibri"/>
                <a:sym typeface="Calibri"/>
              </a:rPr>
              <a:t>Flujo de integración continua para Gradle (pruebas JVM, Android y backend)</a:t>
            </a:r>
            <a:endParaRPr/>
          </a:p>
        </p:txBody>
      </p:sp>
      <p:sp>
        <p:nvSpPr>
          <p:cNvPr id="408" name="Google Shape;408;p26"/>
          <p:cNvSpPr/>
          <p:nvPr/>
        </p:nvSpPr>
        <p:spPr>
          <a:xfrm>
            <a:off x="8034528" y="17830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26"/>
          <p:cNvSpPr txBox="1"/>
          <p:nvPr/>
        </p:nvSpPr>
        <p:spPr>
          <a:xfrm>
            <a:off x="8144256" y="18196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T0.03  </a:t>
            </a:r>
            <a:r>
              <a:rPr b="0" i="0" lang="en-US" sz="1100" u="none" cap="none" strike="noStrike">
                <a:solidFill>
                  <a:srgbClr val="2E2318"/>
                </a:solidFill>
                <a:latin typeface="Calibri"/>
                <a:ea typeface="Calibri"/>
                <a:cs typeface="Calibri"/>
                <a:sym typeface="Calibri"/>
              </a:rPr>
              <a:t>Flujo de integración continua para la web y el servicio de predicción</a:t>
            </a:r>
            <a:endParaRPr/>
          </a:p>
        </p:txBody>
      </p:sp>
      <p:sp>
        <p:nvSpPr>
          <p:cNvPr id="410" name="Google Shape;410;p26"/>
          <p:cNvSpPr/>
          <p:nvPr/>
        </p:nvSpPr>
        <p:spPr>
          <a:xfrm>
            <a:off x="548640" y="252984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26"/>
          <p:cNvSpPr txBox="1"/>
          <p:nvPr/>
        </p:nvSpPr>
        <p:spPr>
          <a:xfrm>
            <a:off x="658368" y="256641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T0.04  </a:t>
            </a:r>
            <a:r>
              <a:rPr b="0" i="0" lang="en-US" sz="1100" u="none" cap="none" strike="noStrike">
                <a:solidFill>
                  <a:srgbClr val="2E2318"/>
                </a:solidFill>
                <a:latin typeface="Calibri"/>
                <a:ea typeface="Calibri"/>
                <a:cs typeface="Calibri"/>
                <a:sym typeface="Calibri"/>
              </a:rPr>
              <a:t>Protección de la rama principal y regla de revisión por pares</a:t>
            </a:r>
            <a:endParaRPr/>
          </a:p>
        </p:txBody>
      </p:sp>
      <p:sp>
        <p:nvSpPr>
          <p:cNvPr id="412" name="Google Shape;412;p26"/>
          <p:cNvSpPr/>
          <p:nvPr/>
        </p:nvSpPr>
        <p:spPr>
          <a:xfrm>
            <a:off x="4291584" y="252984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26"/>
          <p:cNvSpPr txBox="1"/>
          <p:nvPr/>
        </p:nvSpPr>
        <p:spPr>
          <a:xfrm>
            <a:off x="4401312" y="256641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T0.05  </a:t>
            </a:r>
            <a:r>
              <a:rPr b="0" i="0" lang="en-US" sz="1100" u="none" cap="none" strike="noStrike">
                <a:solidFill>
                  <a:srgbClr val="2E2318"/>
                </a:solidFill>
                <a:latin typeface="Calibri"/>
                <a:ea typeface="Calibri"/>
                <a:cs typeface="Calibri"/>
                <a:sym typeface="Calibri"/>
              </a:rPr>
              <a:t>Arnés de lectura serial (tools/scale-spike): listado de puertos y volcado de tramas</a:t>
            </a:r>
            <a:endParaRPr/>
          </a:p>
        </p:txBody>
      </p:sp>
      <p:sp>
        <p:nvSpPr>
          <p:cNvPr id="414" name="Google Shape;414;p26"/>
          <p:cNvSpPr/>
          <p:nvPr/>
        </p:nvSpPr>
        <p:spPr>
          <a:xfrm>
            <a:off x="8034528" y="252984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26"/>
          <p:cNvSpPr txBox="1"/>
          <p:nvPr/>
        </p:nvSpPr>
        <p:spPr>
          <a:xfrm>
            <a:off x="8144256" y="256641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T0.06  </a:t>
            </a:r>
            <a:r>
              <a:rPr b="0" i="0" lang="en-US" sz="1100" u="none" cap="none" strike="noStrike">
                <a:solidFill>
                  <a:srgbClr val="2E2318"/>
                </a:solidFill>
                <a:latin typeface="Calibri"/>
                <a:ea typeface="Calibri"/>
                <a:cs typeface="Calibri"/>
                <a:sym typeface="Calibri"/>
              </a:rPr>
              <a:t>Gestión del acceso a una balanza serial y captura sintética de tramas según el formato del plan</a:t>
            </a:r>
            <a:endParaRPr/>
          </a:p>
        </p:txBody>
      </p:sp>
      <p:sp>
        <p:nvSpPr>
          <p:cNvPr id="416" name="Google Shape;416;p26"/>
          <p:cNvSpPr/>
          <p:nvPr/>
        </p:nvSpPr>
        <p:spPr>
          <a:xfrm>
            <a:off x="548640" y="327659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26"/>
          <p:cNvSpPr txBox="1"/>
          <p:nvPr/>
        </p:nvSpPr>
        <p:spPr>
          <a:xfrm>
            <a:off x="658368" y="331317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T0.07  </a:t>
            </a:r>
            <a:r>
              <a:rPr b="0" i="0" lang="en-US" sz="1100" u="none" cap="none" strike="noStrike">
                <a:solidFill>
                  <a:srgbClr val="2E2318"/>
                </a:solidFill>
                <a:latin typeface="Calibri"/>
                <a:ea typeface="Calibri"/>
                <a:cs typeface="Calibri"/>
                <a:sym typeface="Calibri"/>
              </a:rPr>
              <a:t>Analizador de tramas configurable y pruebas de reproducción sobre la captura</a:t>
            </a:r>
            <a:endParaRPr/>
          </a:p>
        </p:txBody>
      </p:sp>
      <p:sp>
        <p:nvSpPr>
          <p:cNvPr id="418" name="Google Shape;418;p26"/>
          <p:cNvSpPr/>
          <p:nvPr/>
        </p:nvSpPr>
        <p:spPr>
          <a:xfrm>
            <a:off x="4291584" y="327659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26"/>
          <p:cNvSpPr txBox="1"/>
          <p:nvPr/>
        </p:nvSpPr>
        <p:spPr>
          <a:xfrm>
            <a:off x="4401312" y="331317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T0.08  </a:t>
            </a:r>
            <a:r>
              <a:rPr b="0" i="0" lang="en-US" sz="1100" u="none" cap="none" strike="noStrike">
                <a:solidFill>
                  <a:srgbClr val="2E2318"/>
                </a:solidFill>
                <a:latin typeface="Calibri"/>
                <a:ea typeface="Calibri"/>
                <a:cs typeface="Calibri"/>
                <a:sym typeface="Calibri"/>
              </a:rPr>
              <a:t>Nota de protocolo con la decisión del spike y la lista de dispositivos soportados</a:t>
            </a:r>
            <a:endParaRPr/>
          </a:p>
        </p:txBody>
      </p:sp>
      <p:sp>
        <p:nvSpPr>
          <p:cNvPr id="420" name="Google Shape;420;p26"/>
          <p:cNvSpPr/>
          <p:nvPr/>
        </p:nvSpPr>
        <p:spPr>
          <a:xfrm>
            <a:off x="8034528" y="327659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26"/>
          <p:cNvSpPr txBox="1"/>
          <p:nvPr/>
        </p:nvSpPr>
        <p:spPr>
          <a:xfrm>
            <a:off x="8144256" y="331317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T0.09  </a:t>
            </a:r>
            <a:r>
              <a:rPr b="0" i="0" lang="en-US" sz="1100" u="none" cap="none" strike="noStrike">
                <a:solidFill>
                  <a:srgbClr val="2E2318"/>
                </a:solidFill>
                <a:latin typeface="Calibri"/>
                <a:ea typeface="Calibri"/>
                <a:cs typeface="Calibri"/>
                <a:sym typeface="Calibri"/>
              </a:rPr>
              <a:t>Esquema de datos multi-tenant: panadería, sucursal, usuario, producto, venta</a:t>
            </a:r>
            <a:endParaRPr/>
          </a:p>
        </p:txBody>
      </p:sp>
      <p:sp>
        <p:nvSpPr>
          <p:cNvPr id="422" name="Google Shape;422;p26"/>
          <p:cNvSpPr/>
          <p:nvPr/>
        </p:nvSpPr>
        <p:spPr>
          <a:xfrm>
            <a:off x="548640" y="402335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26"/>
          <p:cNvSpPr txBox="1"/>
          <p:nvPr/>
        </p:nvSpPr>
        <p:spPr>
          <a:xfrm>
            <a:off x="658368" y="405993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T0.10  </a:t>
            </a:r>
            <a:r>
              <a:rPr b="0" i="0" lang="en-US" sz="1100" u="none" cap="none" strike="noStrike">
                <a:solidFill>
                  <a:srgbClr val="2E2318"/>
                </a:solidFill>
                <a:latin typeface="Calibri"/>
                <a:ea typeface="Calibri"/>
                <a:cs typeface="Calibri"/>
                <a:sym typeface="Calibri"/>
              </a:rPr>
              <a:t>Entorno local con Docker Compose (PostgreSQL, RabbitMQ, API)</a:t>
            </a:r>
            <a:endParaRPr/>
          </a:p>
        </p:txBody>
      </p:sp>
      <p:sp>
        <p:nvSpPr>
          <p:cNvPr id="424" name="Google Shape;424;p26"/>
          <p:cNvSpPr/>
          <p:nvPr/>
        </p:nvSpPr>
        <p:spPr>
          <a:xfrm>
            <a:off x="4291584" y="402335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26"/>
          <p:cNvSpPr txBox="1"/>
          <p:nvPr/>
        </p:nvSpPr>
        <p:spPr>
          <a:xfrm>
            <a:off x="4401312" y="405993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T0.11  </a:t>
            </a:r>
            <a:r>
              <a:rPr b="0" i="0" lang="en-US" sz="1100" u="none" cap="none" strike="noStrike">
                <a:solidFill>
                  <a:srgbClr val="2E2318"/>
                </a:solidFill>
                <a:latin typeface="Calibri"/>
                <a:ea typeface="Calibri"/>
                <a:cs typeface="Calibri"/>
                <a:sym typeface="Calibri"/>
              </a:rPr>
              <a:t>Cargador de datos semilla de la panadería de referencia</a:t>
            </a:r>
            <a:endParaRPr/>
          </a:p>
        </p:txBody>
      </p:sp>
      <p:sp>
        <p:nvSpPr>
          <p:cNvPr id="426" name="Google Shape;426;p26"/>
          <p:cNvSpPr/>
          <p:nvPr/>
        </p:nvSpPr>
        <p:spPr>
          <a:xfrm>
            <a:off x="8034528" y="402335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26"/>
          <p:cNvSpPr txBox="1"/>
          <p:nvPr/>
        </p:nvSpPr>
        <p:spPr>
          <a:xfrm>
            <a:off x="8144256" y="405993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T0.12  </a:t>
            </a:r>
            <a:r>
              <a:rPr b="0" i="0" lang="en-US" sz="1100" u="none" cap="none" strike="noStrike">
                <a:solidFill>
                  <a:srgbClr val="2E2318"/>
                </a:solidFill>
                <a:latin typeface="Calibri"/>
                <a:ea typeface="Calibri"/>
                <a:cs typeface="Calibri"/>
                <a:sym typeface="Calibri"/>
              </a:rPr>
              <a:t>Verificación de salud de la API y guía de arranque en el README</a:t>
            </a:r>
            <a:endParaRPr/>
          </a:p>
        </p:txBody>
      </p:sp>
      <p:sp>
        <p:nvSpPr>
          <p:cNvPr id="428" name="Google Shape;428;p26"/>
          <p:cNvSpPr/>
          <p:nvPr/>
        </p:nvSpPr>
        <p:spPr>
          <a:xfrm>
            <a:off x="548640" y="477011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26"/>
          <p:cNvSpPr txBox="1"/>
          <p:nvPr/>
        </p:nvSpPr>
        <p:spPr>
          <a:xfrm>
            <a:off x="658368" y="480669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T0.13  </a:t>
            </a:r>
            <a:r>
              <a:rPr b="0" i="0" lang="en-US" sz="1100" u="none" cap="none" strike="noStrike">
                <a:solidFill>
                  <a:srgbClr val="2E2318"/>
                </a:solidFill>
                <a:latin typeface="Calibri"/>
                <a:ea typeface="Calibri"/>
                <a:cs typeface="Calibri"/>
                <a:sym typeface="Calibri"/>
              </a:rPr>
              <a:t>Pruebas de aislamiento por panadería en los repositorios</a:t>
            </a:r>
            <a:endParaRPr/>
          </a:p>
        </p:txBody>
      </p:sp>
      <p:sp>
        <p:nvSpPr>
          <p:cNvPr id="430" name="Google Shape;430;p26"/>
          <p:cNvSpPr/>
          <p:nvPr/>
        </p:nvSpPr>
        <p:spPr>
          <a:xfrm>
            <a:off x="4291584" y="477011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26"/>
          <p:cNvSpPr txBox="1"/>
          <p:nvPr/>
        </p:nvSpPr>
        <p:spPr>
          <a:xfrm>
            <a:off x="4401312" y="480669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T0.14  </a:t>
            </a:r>
            <a:r>
              <a:rPr b="0" i="0" lang="en-US" sz="1100" u="none" cap="none" strike="noStrike">
                <a:solidFill>
                  <a:srgbClr val="2E2318"/>
                </a:solidFill>
                <a:latin typeface="Calibri"/>
                <a:ea typeface="Calibri"/>
                <a:cs typeface="Calibri"/>
                <a:sym typeface="Calibri"/>
              </a:rPr>
              <a:t>Plantillas Bicep del grupo de recursos en Azure (App Service, PostgreSQL Flexible Server, Service Bus)</a:t>
            </a:r>
            <a:endParaRPr/>
          </a:p>
        </p:txBody>
      </p:sp>
      <p:sp>
        <p:nvSpPr>
          <p:cNvPr id="432" name="Google Shape;432;p26"/>
          <p:cNvSpPr/>
          <p:nvPr/>
        </p:nvSpPr>
        <p:spPr>
          <a:xfrm>
            <a:off x="8034528" y="477011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26"/>
          <p:cNvSpPr txBox="1"/>
          <p:nvPr/>
        </p:nvSpPr>
        <p:spPr>
          <a:xfrm>
            <a:off x="8144256" y="480669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T0.15  </a:t>
            </a:r>
            <a:r>
              <a:rPr b="0" i="0" lang="en-US" sz="1100" u="none" cap="none" strike="noStrike">
                <a:solidFill>
                  <a:srgbClr val="2E2318"/>
                </a:solidFill>
                <a:latin typeface="Calibri"/>
                <a:ea typeface="Calibri"/>
                <a:cs typeface="Calibri"/>
                <a:sym typeface="Calibri"/>
              </a:rPr>
              <a:t>Script de despliegue y flujo manual en GitHub Actions con inicio de sesión federado</a:t>
            </a:r>
            <a:endParaRPr/>
          </a:p>
        </p:txBody>
      </p:sp>
      <p:sp>
        <p:nvSpPr>
          <p:cNvPr id="434" name="Google Shape;434;p26"/>
          <p:cNvSpPr/>
          <p:nvPr/>
        </p:nvSpPr>
        <p:spPr>
          <a:xfrm>
            <a:off x="548640" y="55168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26"/>
          <p:cNvSpPr txBox="1"/>
          <p:nvPr/>
        </p:nvSpPr>
        <p:spPr>
          <a:xfrm>
            <a:off x="658368" y="55534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T0.16  </a:t>
            </a:r>
            <a:r>
              <a:rPr b="0" i="0" lang="en-US" sz="1100" u="none" cap="none" strike="noStrike">
                <a:solidFill>
                  <a:srgbClr val="2E2318"/>
                </a:solidFill>
                <a:latin typeface="Calibri"/>
                <a:ea typeface="Calibri"/>
                <a:cs typeface="Calibri"/>
                <a:sym typeface="Calibri"/>
              </a:rPr>
              <a:t>Preparación de la revisión del sprint y demostración del entorno</a:t>
            </a:r>
            <a:endParaRPr/>
          </a:p>
        </p:txBody>
      </p:sp>
      <p:sp>
        <p:nvSpPr>
          <p:cNvPr id="436" name="Google Shape;436;p26"/>
          <p:cNvSpPr/>
          <p:nvPr/>
        </p:nvSpPr>
        <p:spPr>
          <a:xfrm>
            <a:off x="4297640" y="1172771"/>
            <a:ext cx="1737300" cy="384000"/>
          </a:xfrm>
          <a:prstGeom prst="roundRect">
            <a:avLst>
              <a:gd fmla="val 50000" name="adj"/>
            </a:avLst>
          </a:prstGeom>
          <a:solidFill>
            <a:srgbClr val="FFFFFF"/>
          </a:solidFill>
          <a:ln cap="flat" cmpd="sng" w="9525">
            <a:solidFill>
              <a:srgbClr val="E3B87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26"/>
          <p:cNvSpPr txBox="1"/>
          <p:nvPr/>
        </p:nvSpPr>
        <p:spPr>
          <a:xfrm>
            <a:off x="429764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Hecho:</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16</a:t>
            </a:r>
            <a:endParaRPr/>
          </a:p>
        </p:txBody>
      </p:sp>
      <p:sp>
        <p:nvSpPr>
          <p:cNvPr id="438" name="Google Shape;438;p26"/>
          <p:cNvSpPr/>
          <p:nvPr/>
        </p:nvSpPr>
        <p:spPr>
          <a:xfrm>
            <a:off x="2423160" y="1172759"/>
            <a:ext cx="1737300" cy="38400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26"/>
          <p:cNvSpPr txBox="1"/>
          <p:nvPr/>
        </p:nvSpPr>
        <p:spPr>
          <a:xfrm>
            <a:off x="242316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Calibri"/>
                <a:ea typeface="Calibri"/>
                <a:cs typeface="Calibri"/>
                <a:sym typeface="Calibri"/>
              </a:rPr>
              <a:t>En curso</a:t>
            </a:r>
            <a:r>
              <a:rPr b="1" lang="en-US" sz="1300">
                <a:solidFill>
                  <a:srgbClr val="FFFFFF"/>
                </a:solidFill>
                <a:latin typeface="Calibri"/>
                <a:ea typeface="Calibri"/>
                <a:cs typeface="Calibri"/>
                <a:sym typeface="Calibri"/>
              </a:rPr>
              <a:t>:</a:t>
            </a:r>
            <a:r>
              <a:rPr b="1" i="0" lang="en-US" sz="1300" u="none" cap="none" strike="noStrike">
                <a:solidFill>
                  <a:srgbClr val="FFFFFF"/>
                </a:solidFill>
                <a:latin typeface="Calibri"/>
                <a:ea typeface="Calibri"/>
                <a:cs typeface="Calibri"/>
                <a:sym typeface="Calibri"/>
              </a:rPr>
              <a:t>  </a:t>
            </a:r>
            <a:r>
              <a:rPr b="1" lang="en-US" sz="1300">
                <a:solidFill>
                  <a:srgbClr val="FFFFFF"/>
                </a:solidFill>
                <a:latin typeface="Calibri"/>
                <a:ea typeface="Calibri"/>
                <a:cs typeface="Calibri"/>
                <a:sym typeface="Calibri"/>
              </a:rPr>
              <a:t>0</a:t>
            </a:r>
            <a:endParaRPr/>
          </a:p>
        </p:txBody>
      </p:sp>
      <p:sp>
        <p:nvSpPr>
          <p:cNvPr id="440" name="Google Shape;440;p26"/>
          <p:cNvSpPr/>
          <p:nvPr/>
        </p:nvSpPr>
        <p:spPr>
          <a:xfrm>
            <a:off x="548654" y="1186471"/>
            <a:ext cx="1737300" cy="3840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26"/>
          <p:cNvSpPr txBox="1"/>
          <p:nvPr/>
        </p:nvSpPr>
        <p:spPr>
          <a:xfrm>
            <a:off x="548654" y="1186471"/>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Por hacer:</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27"/>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0</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Impediment Log</a:t>
            </a:r>
            <a:endParaRPr/>
          </a:p>
        </p:txBody>
      </p:sp>
      <p:sp>
        <p:nvSpPr>
          <p:cNvPr id="448" name="Google Shape;448;p27"/>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19</a:t>
            </a:r>
            <a:endParaRPr/>
          </a:p>
        </p:txBody>
      </p:sp>
      <p:graphicFrame>
        <p:nvGraphicFramePr>
          <p:cNvPr id="449" name="Google Shape;449;p27"/>
          <p:cNvGraphicFramePr/>
          <p:nvPr/>
        </p:nvGraphicFramePr>
        <p:xfrm>
          <a:off x="548628" y="1833445"/>
          <a:ext cx="3000000" cy="3000000"/>
        </p:xfrm>
        <a:graphic>
          <a:graphicData uri="http://schemas.openxmlformats.org/drawingml/2006/table">
            <a:tbl>
              <a:tblPr>
                <a:noFill/>
                <a:tableStyleId>{BA7B9E9C-A63D-41EF-8DED-ABFA5B16292E}</a:tableStyleId>
              </a:tblPr>
              <a:tblGrid>
                <a:gridCol w="777250"/>
                <a:gridCol w="1051550"/>
                <a:gridCol w="3703325"/>
                <a:gridCol w="3703325"/>
                <a:gridCol w="804675"/>
                <a:gridCol w="10515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Reporte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Impedimento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Cómo lo solucionamos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Estado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Cierre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se dispone de una balanza con salida serial.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Arnés y analizador probados con una captura sintética; ingreso manual como modo primario.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12/08/2026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./gradlew test no alcanza las tareas de prueba de los módulos multiplataforma.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flujo invoca además jvmTest y testAndroidHostTest; se documenta la restricción en la guía del repositorio.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13/08/2026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12/08/2026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Las pruebas del backend levantan PostgreSQL con Testcontainers y el ejecutor de integración continua no tenía Docker disponible.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Servicio de contenedor configurado en el flujo; las tres compilaciones del backend se ejecutan con la base de datos real.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17/08/2026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Kotlin/Native rechaza comas en los nombres de prueba escritos entre comillas invertidas.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Renombrar las pruebas afectadas; regla anotada en la guía del repositorio.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17/08/2026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19/08/2026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 compilación iOS funciona sin Xcode completo, pero el enlace del binario no; el ejecutor de integración es Linux.</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Decisión registrada en el README: iOS se compila en el equipo del desarrollador y queda fuera del flujo; Android y JVM cubren las pruebas comunes.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19/08/2026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19/08/2026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App Service admite un solo puerto HTTP por contenedor, por lo que el broker AMQP (RabbitMQ) no puede convivir con la API en ese servicio.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backend selecciona RabbitMQ o Azure Service Bus en tiempo de ejecución; ambas familias van en la misma compilación.</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20/08/2026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4" name="Shape 454"/>
        <p:cNvGrpSpPr/>
        <p:nvPr/>
      </p:nvGrpSpPr>
      <p:grpSpPr>
        <a:xfrm>
          <a:off x="0" y="0"/>
          <a:ext cx="0" cy="0"/>
          <a:chOff x="0" y="0"/>
          <a:chExt cx="0" cy="0"/>
        </a:xfrm>
      </p:grpSpPr>
      <p:sp>
        <p:nvSpPr>
          <p:cNvPr id="455" name="Google Shape;455;p28"/>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0</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Burndown </a:t>
            </a:r>
            <a:r>
              <a:rPr b="1" lang="en-US" sz="3000">
                <a:solidFill>
                  <a:srgbClr val="4A2C1A"/>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hart</a:t>
            </a:r>
            <a:endParaRPr/>
          </a:p>
        </p:txBody>
      </p:sp>
      <p:sp>
        <p:nvSpPr>
          <p:cNvPr id="456" name="Google Shape;456;p28"/>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20</a:t>
            </a:r>
            <a:endParaRPr/>
          </a:p>
        </p:txBody>
      </p:sp>
      <p:sp>
        <p:nvSpPr>
          <p:cNvPr id="457" name="Google Shape;457;p28"/>
          <p:cNvSpPr/>
          <p:nvPr/>
        </p:nvSpPr>
        <p:spPr>
          <a:xfrm>
            <a:off x="548640" y="1188720"/>
            <a:ext cx="7680960" cy="5074920"/>
          </a:xfrm>
          <a:prstGeom prst="roundRect">
            <a:avLst>
              <a:gd fmla="val 1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28"/>
          <p:cNvSpPr txBox="1"/>
          <p:nvPr/>
        </p:nvSpPr>
        <p:spPr>
          <a:xfrm>
            <a:off x="731520" y="1261872"/>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Horas restantes al cierre de cada día hábil</a:t>
            </a:r>
            <a:endParaRPr/>
          </a:p>
        </p:txBody>
      </p:sp>
      <p:graphicFrame>
        <p:nvGraphicFramePr>
          <p:cNvPr id="459" name="Google Shape;459;p28"/>
          <p:cNvGraphicFramePr/>
          <p:nvPr/>
        </p:nvGraphicFramePr>
        <p:xfrm>
          <a:off x="640080" y="1645920"/>
          <a:ext cx="7498079" cy="4526280"/>
        </p:xfrm>
        <a:graphic>
          <a:graphicData uri="http://schemas.openxmlformats.org/drawingml/2006/chart">
            <c:chart r:id="rId3"/>
          </a:graphicData>
        </a:graphic>
      </p:graphicFrame>
      <p:sp>
        <p:nvSpPr>
          <p:cNvPr id="460" name="Google Shape;460;p28"/>
          <p:cNvSpPr/>
          <p:nvPr/>
        </p:nvSpPr>
        <p:spPr>
          <a:xfrm>
            <a:off x="8412480" y="1188720"/>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28"/>
          <p:cNvSpPr txBox="1"/>
          <p:nvPr/>
        </p:nvSpPr>
        <p:spPr>
          <a:xfrm>
            <a:off x="8549640" y="1261872"/>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73 h</a:t>
            </a:r>
            <a:endParaRPr/>
          </a:p>
        </p:txBody>
      </p:sp>
      <p:sp>
        <p:nvSpPr>
          <p:cNvPr id="462" name="Google Shape;462;p28"/>
          <p:cNvSpPr txBox="1"/>
          <p:nvPr/>
        </p:nvSpPr>
        <p:spPr>
          <a:xfrm>
            <a:off x="8549640" y="1874520"/>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comprometidas</a:t>
            </a:r>
            <a:endParaRPr/>
          </a:p>
        </p:txBody>
      </p:sp>
      <p:sp>
        <p:nvSpPr>
          <p:cNvPr id="463" name="Google Shape;463;p28"/>
          <p:cNvSpPr/>
          <p:nvPr/>
        </p:nvSpPr>
        <p:spPr>
          <a:xfrm>
            <a:off x="8412480" y="2487168"/>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4" name="Google Shape;464;p28"/>
          <p:cNvSpPr txBox="1"/>
          <p:nvPr/>
        </p:nvSpPr>
        <p:spPr>
          <a:xfrm>
            <a:off x="8549640" y="2560320"/>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73 h</a:t>
            </a:r>
            <a:endParaRPr/>
          </a:p>
        </p:txBody>
      </p:sp>
      <p:sp>
        <p:nvSpPr>
          <p:cNvPr id="465" name="Google Shape;465;p28"/>
          <p:cNvSpPr txBox="1"/>
          <p:nvPr/>
        </p:nvSpPr>
        <p:spPr>
          <a:xfrm>
            <a:off x="8549640" y="3172968"/>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consumidas</a:t>
            </a:r>
            <a:endParaRPr/>
          </a:p>
        </p:txBody>
      </p:sp>
      <p:sp>
        <p:nvSpPr>
          <p:cNvPr id="466" name="Google Shape;466;p28"/>
          <p:cNvSpPr/>
          <p:nvPr/>
        </p:nvSpPr>
        <p:spPr>
          <a:xfrm>
            <a:off x="8412480" y="3785615"/>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28"/>
          <p:cNvSpPr txBox="1"/>
          <p:nvPr/>
        </p:nvSpPr>
        <p:spPr>
          <a:xfrm>
            <a:off x="8549640" y="3858768"/>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+3,8 h</a:t>
            </a:r>
            <a:endParaRPr/>
          </a:p>
        </p:txBody>
      </p:sp>
      <p:sp>
        <p:nvSpPr>
          <p:cNvPr id="468" name="Google Shape;468;p28"/>
          <p:cNvSpPr txBox="1"/>
          <p:nvPr/>
        </p:nvSpPr>
        <p:spPr>
          <a:xfrm>
            <a:off x="8549640" y="4471416"/>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mayor desvío sobre la línea ideal (día 1)</a:t>
            </a:r>
            <a:endParaRPr/>
          </a:p>
        </p:txBody>
      </p:sp>
      <p:sp>
        <p:nvSpPr>
          <p:cNvPr id="469" name="Google Shape;469;p28"/>
          <p:cNvSpPr/>
          <p:nvPr/>
        </p:nvSpPr>
        <p:spPr>
          <a:xfrm>
            <a:off x="8412480" y="5084064"/>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28"/>
          <p:cNvSpPr txBox="1"/>
          <p:nvPr/>
        </p:nvSpPr>
        <p:spPr>
          <a:xfrm>
            <a:off x="8549640" y="5157216"/>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0 h</a:t>
            </a:r>
            <a:endParaRPr/>
          </a:p>
        </p:txBody>
      </p:sp>
      <p:sp>
        <p:nvSpPr>
          <p:cNvPr id="471" name="Google Shape;471;p28"/>
          <p:cNvSpPr txBox="1"/>
          <p:nvPr/>
        </p:nvSpPr>
        <p:spPr>
          <a:xfrm>
            <a:off x="8549640" y="5769864"/>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restantes al cierre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29"/>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0</a:t>
            </a:r>
            <a:r>
              <a:rPr b="1" lang="en-US" sz="3000">
                <a:solidFill>
                  <a:srgbClr val="4A2C1A"/>
                </a:solidFill>
                <a:latin typeface="Calibri"/>
                <a:ea typeface="Calibri"/>
                <a:cs typeface="Calibri"/>
                <a:sym typeface="Calibri"/>
              </a:rPr>
              <a:t>: Acta Sprint Review firmada</a:t>
            </a:r>
            <a:endParaRPr/>
          </a:p>
        </p:txBody>
      </p:sp>
      <p:graphicFrame>
        <p:nvGraphicFramePr>
          <p:cNvPr id="478" name="Google Shape;478;p29"/>
          <p:cNvGraphicFramePr/>
          <p:nvPr/>
        </p:nvGraphicFramePr>
        <p:xfrm>
          <a:off x="548565" y="1793393"/>
          <a:ext cx="3000000" cy="3000000"/>
        </p:xfrm>
        <a:graphic>
          <a:graphicData uri="http://schemas.openxmlformats.org/drawingml/2006/table">
            <a:tbl>
              <a:tblPr>
                <a:noFill/>
                <a:tableStyleId>{BA7B9E9C-A63D-41EF-8DED-ABFA5B16292E}</a:tableStyleId>
              </a:tblPr>
              <a:tblGrid>
                <a:gridCol w="3657600"/>
                <a:gridCol w="2560325"/>
                <a:gridCol w="1737350"/>
                <a:gridCol w="3136400"/>
              </a:tblGrid>
              <a:tr h="392900">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Nombre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Rol / Responsabilidad</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Fecha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Firma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r>
              <a:tr h="561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Diego Maldonado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Product Owner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21/08/2026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omic Sans MS"/>
                          <a:ea typeface="Comic Sans MS"/>
                          <a:cs typeface="Comic Sans MS"/>
                          <a:sym typeface="Comic Sans MS"/>
                        </a:rPr>
                        <a:t>Diego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2252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Propietario(a) de Panadería San Manuel</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Contraparte</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21/08/2026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2252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Rodrigo Mancilla</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Scrum Master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21/08/2026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descr="sig_s0_r2.png" id="479" name="Google Shape;479;p29"/>
          <p:cNvPicPr preferRelativeResize="0"/>
          <p:nvPr/>
        </p:nvPicPr>
        <p:blipFill rotWithShape="1">
          <a:blip r:embed="rId3">
            <a:alphaModFix/>
          </a:blip>
          <a:srcRect b="0" l="0" r="0" t="0"/>
          <a:stretch/>
        </p:blipFill>
        <p:spPr>
          <a:xfrm>
            <a:off x="8577134" y="2892071"/>
            <a:ext cx="1497600" cy="806398"/>
          </a:xfrm>
          <a:prstGeom prst="rect">
            <a:avLst/>
          </a:prstGeom>
          <a:noFill/>
          <a:ln>
            <a:noFill/>
          </a:ln>
        </p:spPr>
      </p:pic>
      <p:pic>
        <p:nvPicPr>
          <p:cNvPr descr="sig_s0_r3.png" id="480" name="Google Shape;480;p29"/>
          <p:cNvPicPr preferRelativeResize="0"/>
          <p:nvPr/>
        </p:nvPicPr>
        <p:blipFill rotWithShape="1">
          <a:blip r:embed="rId4">
            <a:alphaModFix/>
          </a:blip>
          <a:srcRect b="0" l="0" r="0" t="0"/>
          <a:stretch/>
        </p:blipFill>
        <p:spPr>
          <a:xfrm>
            <a:off x="8577134" y="3977415"/>
            <a:ext cx="1186560" cy="9331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31"/>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1</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Resumen</a:t>
            </a:r>
            <a:endParaRPr/>
          </a:p>
        </p:txBody>
      </p:sp>
      <p:sp>
        <p:nvSpPr>
          <p:cNvPr id="487" name="Google Shape;487;p31"/>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23</a:t>
            </a:r>
            <a:endParaRPr/>
          </a:p>
        </p:txBody>
      </p:sp>
      <p:sp>
        <p:nvSpPr>
          <p:cNvPr id="488" name="Google Shape;488;p31"/>
          <p:cNvSpPr/>
          <p:nvPr/>
        </p:nvSpPr>
        <p:spPr>
          <a:xfrm>
            <a:off x="548640"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31"/>
          <p:cNvSpPr txBox="1"/>
          <p:nvPr/>
        </p:nvSpPr>
        <p:spPr>
          <a:xfrm>
            <a:off x="685800"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36 / 36</a:t>
            </a:r>
            <a:endParaRPr/>
          </a:p>
        </p:txBody>
      </p:sp>
      <p:sp>
        <p:nvSpPr>
          <p:cNvPr id="490" name="Google Shape;490;p31"/>
          <p:cNvSpPr txBox="1"/>
          <p:nvPr/>
        </p:nvSpPr>
        <p:spPr>
          <a:xfrm>
            <a:off x="685800"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puntos aceptados</a:t>
            </a:r>
            <a:endParaRPr/>
          </a:p>
        </p:txBody>
      </p:sp>
      <p:sp>
        <p:nvSpPr>
          <p:cNvPr id="491" name="Google Shape;491;p31"/>
          <p:cNvSpPr/>
          <p:nvPr/>
        </p:nvSpPr>
        <p:spPr>
          <a:xfrm>
            <a:off x="3367278"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31"/>
          <p:cNvSpPr txBox="1"/>
          <p:nvPr/>
        </p:nvSpPr>
        <p:spPr>
          <a:xfrm>
            <a:off x="3504438"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79 / 79 h</a:t>
            </a:r>
            <a:endParaRPr/>
          </a:p>
        </p:txBody>
      </p:sp>
      <p:sp>
        <p:nvSpPr>
          <p:cNvPr id="493" name="Google Shape;493;p31"/>
          <p:cNvSpPr txBox="1"/>
          <p:nvPr/>
        </p:nvSpPr>
        <p:spPr>
          <a:xfrm>
            <a:off x="3504438"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horas comprometidas / consumidas</a:t>
            </a:r>
            <a:endParaRPr/>
          </a:p>
        </p:txBody>
      </p:sp>
      <p:sp>
        <p:nvSpPr>
          <p:cNvPr id="494" name="Google Shape;494;p31"/>
          <p:cNvSpPr/>
          <p:nvPr/>
        </p:nvSpPr>
        <p:spPr>
          <a:xfrm>
            <a:off x="6185916"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31"/>
          <p:cNvSpPr txBox="1"/>
          <p:nvPr/>
        </p:nvSpPr>
        <p:spPr>
          <a:xfrm>
            <a:off x="6323076"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17 de 17</a:t>
            </a:r>
            <a:endParaRPr/>
          </a:p>
        </p:txBody>
      </p:sp>
      <p:sp>
        <p:nvSpPr>
          <p:cNvPr id="496" name="Google Shape;496;p31"/>
          <p:cNvSpPr txBox="1"/>
          <p:nvPr/>
        </p:nvSpPr>
        <p:spPr>
          <a:xfrm>
            <a:off x="6323076"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tareas hechas</a:t>
            </a:r>
            <a:endParaRPr/>
          </a:p>
        </p:txBody>
      </p:sp>
      <p:sp>
        <p:nvSpPr>
          <p:cNvPr id="497" name="Google Shape;497;p31"/>
          <p:cNvSpPr/>
          <p:nvPr/>
        </p:nvSpPr>
        <p:spPr>
          <a:xfrm>
            <a:off x="9004554"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31"/>
          <p:cNvSpPr txBox="1"/>
          <p:nvPr/>
        </p:nvSpPr>
        <p:spPr>
          <a:xfrm>
            <a:off x="9141714"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v0.1.0</a:t>
            </a:r>
            <a:endParaRPr/>
          </a:p>
        </p:txBody>
      </p:sp>
      <p:sp>
        <p:nvSpPr>
          <p:cNvPr id="499" name="Google Shape;499;p31"/>
          <p:cNvSpPr txBox="1"/>
          <p:nvPr/>
        </p:nvSpPr>
        <p:spPr>
          <a:xfrm>
            <a:off x="9141714"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release</a:t>
            </a:r>
            <a:endParaRPr/>
          </a:p>
        </p:txBody>
      </p:sp>
      <p:sp>
        <p:nvSpPr>
          <p:cNvPr id="500" name="Google Shape;500;p31"/>
          <p:cNvSpPr/>
          <p:nvPr/>
        </p:nvSpPr>
        <p:spPr>
          <a:xfrm>
            <a:off x="548640" y="2468880"/>
            <a:ext cx="6766560" cy="3154680"/>
          </a:xfrm>
          <a:prstGeom prst="roundRect">
            <a:avLst>
              <a:gd fmla="val 1739"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31"/>
          <p:cNvSpPr txBox="1"/>
          <p:nvPr/>
        </p:nvSpPr>
        <p:spPr>
          <a:xfrm>
            <a:off x="731520" y="2560320"/>
            <a:ext cx="64008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8 historias aceptadas</a:t>
            </a:r>
            <a:endParaRPr/>
          </a:p>
        </p:txBody>
      </p:sp>
      <p:sp>
        <p:nvSpPr>
          <p:cNvPr id="502" name="Google Shape;502;p31"/>
          <p:cNvSpPr txBox="1"/>
          <p:nvPr/>
        </p:nvSpPr>
        <p:spPr>
          <a:xfrm>
            <a:off x="731520" y="3017520"/>
            <a:ext cx="3108960" cy="251460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Enrolamiento y acceso por PIN</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Venta por peso</a:t>
            </a:r>
            <a:r>
              <a:rPr b="0" i="0" lang="en-US" sz="1300" u="none" cap="none" strike="noStrike">
                <a:solidFill>
                  <a:srgbClr val="6E5F50"/>
                </a:solidFill>
                <a:latin typeface="Calibri"/>
                <a:ea typeface="Calibri"/>
                <a:cs typeface="Calibri"/>
                <a:sym typeface="Calibri"/>
              </a:rPr>
              <a:t>  (8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Venta por unidad</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Cierre de venta con medio de pago</a:t>
            </a:r>
            <a:r>
              <a:rPr b="0" i="0" lang="en-US" sz="1300" u="none" cap="none" strike="noStrike">
                <a:solidFill>
                  <a:srgbClr val="6E5F50"/>
                </a:solidFill>
                <a:latin typeface="Calibri"/>
                <a:ea typeface="Calibri"/>
                <a:cs typeface="Calibri"/>
                <a:sym typeface="Calibri"/>
              </a:rPr>
              <a:t>  (3 pts)</a:t>
            </a:r>
            <a:endParaRPr/>
          </a:p>
        </p:txBody>
      </p:sp>
      <p:sp>
        <p:nvSpPr>
          <p:cNvPr id="503" name="Google Shape;503;p31"/>
          <p:cNvSpPr txBox="1"/>
          <p:nvPr/>
        </p:nvSpPr>
        <p:spPr>
          <a:xfrm>
            <a:off x="3931920" y="3017520"/>
            <a:ext cx="3108960" cy="251460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Comprobante impreso</a:t>
            </a:r>
            <a:r>
              <a:rPr b="0" i="0" lang="en-US" sz="1300" u="none" cap="none" strike="noStrike">
                <a:solidFill>
                  <a:srgbClr val="6E5F50"/>
                </a:solidFill>
                <a:latin typeface="Calibri"/>
                <a:ea typeface="Calibri"/>
                <a:cs typeface="Calibri"/>
                <a:sym typeface="Calibri"/>
              </a:rPr>
              <a:t>  (5 pts)</a:t>
            </a:r>
            <a:r>
              <a:rPr b="1" i="0" lang="en-US" sz="1300" u="none" cap="none" strike="noStrike">
                <a:solidFill>
                  <a:srgbClr val="A8461A"/>
                </a:solidFill>
                <a:latin typeface="Calibri"/>
                <a:ea typeface="Calibri"/>
                <a:cs typeface="Calibri"/>
                <a:sym typeface="Calibri"/>
              </a:rPr>
              <a:t>  · con reserva</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Ingreso manual de peso</a:t>
            </a:r>
            <a:r>
              <a:rPr b="0" i="0" lang="en-US" sz="1300" u="none" cap="none" strike="noStrike">
                <a:solidFill>
                  <a:srgbClr val="6E5F50"/>
                </a:solidFill>
                <a:latin typeface="Calibri"/>
                <a:ea typeface="Calibri"/>
                <a:cs typeface="Calibri"/>
                <a:sym typeface="Calibri"/>
              </a:rPr>
              <a:t>  (3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Reporte de ventas del día</a:t>
            </a:r>
            <a:r>
              <a:rPr b="0" i="0" lang="en-US" sz="1300" u="none" cap="none" strike="noStrike">
                <a:solidFill>
                  <a:srgbClr val="6E5F50"/>
                </a:solidFill>
                <a:latin typeface="Calibri"/>
                <a:ea typeface="Calibri"/>
                <a:cs typeface="Calibri"/>
                <a:sym typeface="Calibri"/>
              </a:rPr>
              <a:t>  (2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Lectura serial en la caja</a:t>
            </a:r>
            <a:r>
              <a:rPr b="0" i="0" lang="en-US" sz="1300" u="none" cap="none" strike="noStrike">
                <a:solidFill>
                  <a:srgbClr val="6E5F50"/>
                </a:solidFill>
                <a:latin typeface="Calibri"/>
                <a:ea typeface="Calibri"/>
                <a:cs typeface="Calibri"/>
                <a:sym typeface="Calibri"/>
              </a:rPr>
              <a:t>  (5 pts)</a:t>
            </a:r>
            <a:r>
              <a:rPr b="1" i="0" lang="en-US" sz="1300" u="none" cap="none" strike="noStrike">
                <a:solidFill>
                  <a:srgbClr val="A8461A"/>
                </a:solidFill>
                <a:latin typeface="Calibri"/>
                <a:ea typeface="Calibri"/>
                <a:cs typeface="Calibri"/>
                <a:sym typeface="Calibri"/>
              </a:rPr>
              <a:t>  · con reserva</a:t>
            </a:r>
            <a:endParaRPr/>
          </a:p>
        </p:txBody>
      </p:sp>
      <p:sp>
        <p:nvSpPr>
          <p:cNvPr id="504" name="Google Shape;504;p31"/>
          <p:cNvSpPr/>
          <p:nvPr/>
        </p:nvSpPr>
        <p:spPr>
          <a:xfrm>
            <a:off x="7498079" y="2468880"/>
            <a:ext cx="4142232" cy="3154680"/>
          </a:xfrm>
          <a:prstGeom prst="roundRect">
            <a:avLst>
              <a:gd fmla="val 2318"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31"/>
          <p:cNvSpPr txBox="1"/>
          <p:nvPr/>
        </p:nvSpPr>
        <p:spPr>
          <a:xfrm>
            <a:off x="7699248" y="2578608"/>
            <a:ext cx="3749039"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D9A441"/>
                </a:solidFill>
                <a:latin typeface="Calibri"/>
                <a:ea typeface="Calibri"/>
                <a:cs typeface="Calibri"/>
                <a:sym typeface="Calibri"/>
              </a:rPr>
              <a:t>Prueba CP-POS-01</a:t>
            </a:r>
            <a:endParaRPr/>
          </a:p>
        </p:txBody>
      </p:sp>
      <p:sp>
        <p:nvSpPr>
          <p:cNvPr id="506" name="Google Shape;506;p31"/>
          <p:cNvSpPr txBox="1"/>
          <p:nvPr/>
        </p:nvSpPr>
        <p:spPr>
          <a:xfrm>
            <a:off x="7699248" y="3017520"/>
            <a:ext cx="3749039" cy="256032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FFFFFF"/>
                </a:solidFill>
                <a:latin typeface="Calibri"/>
                <a:ea typeface="Calibri"/>
                <a:cs typeface="Calibri"/>
                <a:sym typeface="Calibri"/>
              </a:rPr>
              <a:t>Venta completa en la caja, por peso y por unidad: 10 de 10 pasos.</a:t>
            </a:r>
            <a:endParaRPr/>
          </a:p>
          <a:p>
            <a:pPr indent="-155448" lvl="0" marL="155448" marR="0" rtl="0" algn="l">
              <a:lnSpc>
                <a:spcPct val="100000"/>
              </a:lnSpc>
              <a:spcBef>
                <a:spcPts val="800"/>
              </a:spcBef>
              <a:spcAft>
                <a:spcPts val="0"/>
              </a:spcAft>
              <a:buClr>
                <a:srgbClr val="D9A441"/>
              </a:buClr>
              <a:buSzPts val="1300"/>
              <a:buFont typeface="Arial"/>
              <a:buChar char="•"/>
            </a:pPr>
            <a:r>
              <a:rPr b="0" i="0" lang="en-US" sz="1300" u="none" cap="none" strike="noStrike">
                <a:solidFill>
                  <a:srgbClr val="FFFFFF"/>
                </a:solidFill>
                <a:latin typeface="Calibri"/>
                <a:ea typeface="Calibri"/>
                <a:cs typeface="Calibri"/>
                <a:sym typeface="Calibri"/>
              </a:rPr>
              <a:t>Reporte de ventas del día verificado con una consulta a la base de datos.</a:t>
            </a:r>
            <a:endParaRPr/>
          </a:p>
        </p:txBody>
      </p:sp>
      <p:sp>
        <p:nvSpPr>
          <p:cNvPr id="507" name="Google Shape;507;p31"/>
          <p:cNvSpPr/>
          <p:nvPr/>
        </p:nvSpPr>
        <p:spPr>
          <a:xfrm>
            <a:off x="548640" y="5760720"/>
            <a:ext cx="11091672" cy="502920"/>
          </a:xfrm>
          <a:prstGeom prst="roundRect">
            <a:avLst>
              <a:gd fmla="val 10909"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31"/>
          <p:cNvSpPr/>
          <p:nvPr/>
        </p:nvSpPr>
        <p:spPr>
          <a:xfrm>
            <a:off x="658368" y="5875020"/>
            <a:ext cx="1051560" cy="27432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31"/>
          <p:cNvSpPr txBox="1"/>
          <p:nvPr/>
        </p:nvSpPr>
        <p:spPr>
          <a:xfrm>
            <a:off x="658368" y="5875020"/>
            <a:ext cx="10515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alibri"/>
                <a:ea typeface="Calibri"/>
                <a:cs typeface="Calibri"/>
                <a:sym typeface="Calibri"/>
              </a:rPr>
              <a:t>Pendiente</a:t>
            </a:r>
            <a:endParaRPr/>
          </a:p>
        </p:txBody>
      </p:sp>
      <p:sp>
        <p:nvSpPr>
          <p:cNvPr id="510" name="Google Shape;510;p31"/>
          <p:cNvSpPr txBox="1"/>
          <p:nvPr/>
        </p:nvSpPr>
        <p:spPr>
          <a:xfrm>
            <a:off x="1847088" y="5797296"/>
            <a:ext cx="9674352"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Comprobante en impresora física (IMP-09).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2"/>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1</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Sprint Backlog</a:t>
            </a:r>
            <a:endParaRPr/>
          </a:p>
        </p:txBody>
      </p:sp>
      <p:sp>
        <p:nvSpPr>
          <p:cNvPr id="517" name="Google Shape;517;p32"/>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24</a:t>
            </a:r>
            <a:endParaRPr/>
          </a:p>
        </p:txBody>
      </p:sp>
      <p:graphicFrame>
        <p:nvGraphicFramePr>
          <p:cNvPr id="518" name="Google Shape;518;p32"/>
          <p:cNvGraphicFramePr/>
          <p:nvPr/>
        </p:nvGraphicFramePr>
        <p:xfrm>
          <a:off x="548565" y="1426545"/>
          <a:ext cx="3000000" cy="3000000"/>
        </p:xfrm>
        <a:graphic>
          <a:graphicData uri="http://schemas.openxmlformats.org/drawingml/2006/table">
            <a:tbl>
              <a:tblPr>
                <a:noFill/>
                <a:tableStyleId>{BA7B9E9C-A63D-41EF-8DED-ABFA5B16292E}</a:tableStyleId>
              </a:tblPr>
              <a:tblGrid>
                <a:gridCol w="1188725"/>
                <a:gridCol w="7616950"/>
                <a:gridCol w="731525"/>
                <a:gridCol w="777250"/>
                <a:gridCol w="7772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Historia de usuario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Puntos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Tareas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Horas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HU-PLT-0004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enrolar el dispositivo una sola vez e ingresar después con un PIN personal, con la finalidad de operar la caja sin depender de la red en cada turno.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HU-POS-0001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seleccionar un tipo de pan y registrar la venta con su peso y el precio por kilo vigente, con la finalidad de que cada venta quede registrada con detalle de producto.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HU-POS-0002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vender productos por unidad, con o sin código de barras, con la finalidad de atender pastelería y productos de reventa en el mismo flujo de venta.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HU-POS-0003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cerrar la venta indicando el medio de pago, con la finalidad de cuadrar la caja al final del turno.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HU-POS-0004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imprimir un comprobante al cerrar la venta, con la finalidad de entregar un respaldo al cliente.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HU-POS-0005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ingresar el peso manualmente cuando no hay balanza conectada, con la finalidad de seguir vendiendo en cualquier circunstancia.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HU-POS-0006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jefe(a) de sucursal, necesito consultar las ventas del día con su detalle por producto, con la finalidad de verificar que la caja registra todo lo vendido.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HU-HWD-0001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que la caja lea el peso estable directamente desde la balanza conectada, con la finalidad de no transcribir pesos a mano.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10</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Trabajo transversal del sprint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Total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8 historias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36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17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79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33"/>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1</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Tablero Kanban</a:t>
            </a:r>
            <a:endParaRPr/>
          </a:p>
        </p:txBody>
      </p:sp>
      <p:sp>
        <p:nvSpPr>
          <p:cNvPr id="525" name="Google Shape;525;p33"/>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25</a:t>
            </a:r>
            <a:endParaRPr/>
          </a:p>
        </p:txBody>
      </p:sp>
      <p:sp>
        <p:nvSpPr>
          <p:cNvPr id="526" name="Google Shape;526;p33"/>
          <p:cNvSpPr/>
          <p:nvPr/>
        </p:nvSpPr>
        <p:spPr>
          <a:xfrm>
            <a:off x="548640" y="17830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33"/>
          <p:cNvSpPr txBox="1"/>
          <p:nvPr/>
        </p:nvSpPr>
        <p:spPr>
          <a:xfrm>
            <a:off x="658368" y="18196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T1.01  </a:t>
            </a:r>
            <a:r>
              <a:rPr b="0" i="0" lang="en-US" sz="1100" u="none" cap="none" strike="noStrike">
                <a:solidFill>
                  <a:srgbClr val="2E2318"/>
                </a:solidFill>
                <a:latin typeface="Calibri"/>
                <a:ea typeface="Calibri"/>
                <a:cs typeface="Calibri"/>
                <a:sym typeface="Calibri"/>
              </a:rPr>
              <a:t>Endpoint de inicio de sesión y emisión de tokens por dispositivo</a:t>
            </a:r>
            <a:endParaRPr/>
          </a:p>
        </p:txBody>
      </p:sp>
      <p:sp>
        <p:nvSpPr>
          <p:cNvPr id="528" name="Google Shape;528;p33"/>
          <p:cNvSpPr/>
          <p:nvPr/>
        </p:nvSpPr>
        <p:spPr>
          <a:xfrm>
            <a:off x="4291584" y="17830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33"/>
          <p:cNvSpPr txBox="1"/>
          <p:nvPr/>
        </p:nvSpPr>
        <p:spPr>
          <a:xfrm>
            <a:off x="4401312" y="18196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T1.02  </a:t>
            </a:r>
            <a:r>
              <a:rPr b="0" i="0" lang="en-US" sz="1100" u="none" cap="none" strike="noStrike">
                <a:solidFill>
                  <a:srgbClr val="2E2318"/>
                </a:solidFill>
                <a:latin typeface="Calibri"/>
                <a:ea typeface="Calibri"/>
                <a:cs typeface="Calibri"/>
                <a:sym typeface="Calibri"/>
              </a:rPr>
              <a:t>Pantalla de enrolamiento y desbloqueo por PIN</a:t>
            </a:r>
            <a:endParaRPr/>
          </a:p>
        </p:txBody>
      </p:sp>
      <p:sp>
        <p:nvSpPr>
          <p:cNvPr id="530" name="Google Shape;530;p33"/>
          <p:cNvSpPr/>
          <p:nvPr/>
        </p:nvSpPr>
        <p:spPr>
          <a:xfrm>
            <a:off x="8034528" y="17830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33"/>
          <p:cNvSpPr txBox="1"/>
          <p:nvPr/>
        </p:nvSpPr>
        <p:spPr>
          <a:xfrm>
            <a:off x="8144256" y="18196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T1.03  </a:t>
            </a:r>
            <a:r>
              <a:rPr b="0" i="0" lang="en-US" sz="1100" u="none" cap="none" strike="noStrike">
                <a:solidFill>
                  <a:srgbClr val="2E2318"/>
                </a:solidFill>
                <a:latin typeface="Calibri"/>
                <a:ea typeface="Calibri"/>
                <a:cs typeface="Calibri"/>
                <a:sym typeface="Calibri"/>
              </a:rPr>
              <a:t>Grilla de productos y carro de venta con flujo de datos unidireccional</a:t>
            </a:r>
            <a:endParaRPr/>
          </a:p>
        </p:txBody>
      </p:sp>
      <p:sp>
        <p:nvSpPr>
          <p:cNvPr id="532" name="Google Shape;532;p33"/>
          <p:cNvSpPr/>
          <p:nvPr/>
        </p:nvSpPr>
        <p:spPr>
          <a:xfrm>
            <a:off x="548640" y="252984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33"/>
          <p:cNvSpPr txBox="1"/>
          <p:nvPr/>
        </p:nvSpPr>
        <p:spPr>
          <a:xfrm>
            <a:off x="658368" y="256641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T1.04  </a:t>
            </a:r>
            <a:r>
              <a:rPr b="0" i="0" lang="en-US" sz="1100" u="none" cap="none" strike="noStrike">
                <a:solidFill>
                  <a:srgbClr val="2E2318"/>
                </a:solidFill>
                <a:latin typeface="Calibri"/>
                <a:ea typeface="Calibri"/>
                <a:cs typeface="Calibri"/>
                <a:sym typeface="Calibri"/>
              </a:rPr>
              <a:t>Línea por peso: subtotal en gramos enteros y precio por kilo</a:t>
            </a:r>
            <a:endParaRPr/>
          </a:p>
        </p:txBody>
      </p:sp>
      <p:sp>
        <p:nvSpPr>
          <p:cNvPr id="534" name="Google Shape;534;p33"/>
          <p:cNvSpPr/>
          <p:nvPr/>
        </p:nvSpPr>
        <p:spPr>
          <a:xfrm>
            <a:off x="4291584" y="252984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33"/>
          <p:cNvSpPr txBox="1"/>
          <p:nvPr/>
        </p:nvSpPr>
        <p:spPr>
          <a:xfrm>
            <a:off x="4401312" y="256641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T1.05  </a:t>
            </a:r>
            <a:r>
              <a:rPr b="0" i="0" lang="en-US" sz="1100" u="none" cap="none" strike="noStrike">
                <a:solidFill>
                  <a:srgbClr val="2E2318"/>
                </a:solidFill>
                <a:latin typeface="Calibri"/>
                <a:ea typeface="Calibri"/>
                <a:cs typeface="Calibri"/>
                <a:sym typeface="Calibri"/>
              </a:rPr>
              <a:t>Pruebas unitarias del cálculo del carro</a:t>
            </a:r>
            <a:endParaRPr/>
          </a:p>
        </p:txBody>
      </p:sp>
      <p:sp>
        <p:nvSpPr>
          <p:cNvPr id="536" name="Google Shape;536;p33"/>
          <p:cNvSpPr/>
          <p:nvPr/>
        </p:nvSpPr>
        <p:spPr>
          <a:xfrm>
            <a:off x="8034528" y="252984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33"/>
          <p:cNvSpPr txBox="1"/>
          <p:nvPr/>
        </p:nvSpPr>
        <p:spPr>
          <a:xfrm>
            <a:off x="8144256" y="256641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T1.06  </a:t>
            </a:r>
            <a:r>
              <a:rPr b="0" i="0" lang="en-US" sz="1100" u="none" cap="none" strike="noStrike">
                <a:solidFill>
                  <a:srgbClr val="2E2318"/>
                </a:solidFill>
                <a:latin typeface="Calibri"/>
                <a:ea typeface="Calibri"/>
                <a:cs typeface="Calibri"/>
                <a:sym typeface="Calibri"/>
              </a:rPr>
              <a:t>Captura del lector de códigos (teclado HID) y búsqueda en el catálogo</a:t>
            </a:r>
            <a:endParaRPr/>
          </a:p>
        </p:txBody>
      </p:sp>
      <p:sp>
        <p:nvSpPr>
          <p:cNvPr id="538" name="Google Shape;538;p33"/>
          <p:cNvSpPr/>
          <p:nvPr/>
        </p:nvSpPr>
        <p:spPr>
          <a:xfrm>
            <a:off x="548640" y="327659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9" name="Google Shape;539;p33"/>
          <p:cNvSpPr txBox="1"/>
          <p:nvPr/>
        </p:nvSpPr>
        <p:spPr>
          <a:xfrm>
            <a:off x="658368" y="331317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T1.07  </a:t>
            </a:r>
            <a:r>
              <a:rPr b="0" i="0" lang="en-US" sz="1100" u="none" cap="none" strike="noStrike">
                <a:solidFill>
                  <a:srgbClr val="2E2318"/>
                </a:solidFill>
                <a:latin typeface="Calibri"/>
                <a:ea typeface="Calibri"/>
                <a:cs typeface="Calibri"/>
                <a:sym typeface="Calibri"/>
              </a:rPr>
              <a:t>Venta por unidad con cantidad editable</a:t>
            </a:r>
            <a:endParaRPr/>
          </a:p>
        </p:txBody>
      </p:sp>
      <p:sp>
        <p:nvSpPr>
          <p:cNvPr id="540" name="Google Shape;540;p33"/>
          <p:cNvSpPr/>
          <p:nvPr/>
        </p:nvSpPr>
        <p:spPr>
          <a:xfrm>
            <a:off x="4291584" y="327659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33"/>
          <p:cNvSpPr txBox="1"/>
          <p:nvPr/>
        </p:nvSpPr>
        <p:spPr>
          <a:xfrm>
            <a:off x="4401312" y="331317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T1.08  </a:t>
            </a:r>
            <a:r>
              <a:rPr b="0" i="0" lang="en-US" sz="1100" u="none" cap="none" strike="noStrike">
                <a:solidFill>
                  <a:srgbClr val="2E2318"/>
                </a:solidFill>
                <a:latin typeface="Calibri"/>
                <a:ea typeface="Calibri"/>
                <a:cs typeface="Calibri"/>
                <a:sym typeface="Calibri"/>
              </a:rPr>
              <a:t>Diálogo de pago y terminal de pago simulado</a:t>
            </a:r>
            <a:endParaRPr/>
          </a:p>
        </p:txBody>
      </p:sp>
      <p:sp>
        <p:nvSpPr>
          <p:cNvPr id="542" name="Google Shape;542;p33"/>
          <p:cNvSpPr/>
          <p:nvPr/>
        </p:nvSpPr>
        <p:spPr>
          <a:xfrm>
            <a:off x="8034528" y="327659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33"/>
          <p:cNvSpPr txBox="1"/>
          <p:nvPr/>
        </p:nvSpPr>
        <p:spPr>
          <a:xfrm>
            <a:off x="8144256" y="331317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T1.09  </a:t>
            </a:r>
            <a:r>
              <a:rPr b="0" i="0" lang="en-US" sz="1100" u="none" cap="none" strike="noStrike">
                <a:solidFill>
                  <a:srgbClr val="2E2318"/>
                </a:solidFill>
                <a:latin typeface="Calibri"/>
                <a:ea typeface="Calibri"/>
                <a:cs typeface="Calibri"/>
                <a:sym typeface="Calibri"/>
              </a:rPr>
              <a:t>Persistencia de la venta y sus líneas en la base local y en la API</a:t>
            </a:r>
            <a:endParaRPr/>
          </a:p>
        </p:txBody>
      </p:sp>
      <p:sp>
        <p:nvSpPr>
          <p:cNvPr id="544" name="Google Shape;544;p33"/>
          <p:cNvSpPr/>
          <p:nvPr/>
        </p:nvSpPr>
        <p:spPr>
          <a:xfrm>
            <a:off x="548640" y="402335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33"/>
          <p:cNvSpPr txBox="1"/>
          <p:nvPr/>
        </p:nvSpPr>
        <p:spPr>
          <a:xfrm>
            <a:off x="658368" y="405993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T1.10  </a:t>
            </a:r>
            <a:r>
              <a:rPr b="0" i="0" lang="en-US" sz="1100" u="none" cap="none" strike="noStrike">
                <a:solidFill>
                  <a:srgbClr val="2E2318"/>
                </a:solidFill>
                <a:latin typeface="Calibri"/>
                <a:ea typeface="Calibri"/>
                <a:cs typeface="Calibri"/>
                <a:sym typeface="Calibri"/>
              </a:rPr>
              <a:t>Documento de comprobante y controlador ESC/POS (API verificada; sin impresora física)</a:t>
            </a:r>
            <a:endParaRPr/>
          </a:p>
        </p:txBody>
      </p:sp>
      <p:sp>
        <p:nvSpPr>
          <p:cNvPr id="546" name="Google Shape;546;p33"/>
          <p:cNvSpPr/>
          <p:nvPr/>
        </p:nvSpPr>
        <p:spPr>
          <a:xfrm>
            <a:off x="4291584" y="402335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33"/>
          <p:cNvSpPr txBox="1"/>
          <p:nvPr/>
        </p:nvSpPr>
        <p:spPr>
          <a:xfrm>
            <a:off x="4401312" y="405993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T1.11  </a:t>
            </a:r>
            <a:r>
              <a:rPr b="0" i="0" lang="en-US" sz="1100" u="none" cap="none" strike="noStrike">
                <a:solidFill>
                  <a:srgbClr val="2E2318"/>
                </a:solidFill>
                <a:latin typeface="Calibri"/>
                <a:ea typeface="Calibri"/>
                <a:cs typeface="Calibri"/>
                <a:sym typeface="Calibri"/>
              </a:rPr>
              <a:t>Comprobante en pantalla para el controlador simulado</a:t>
            </a:r>
            <a:endParaRPr/>
          </a:p>
        </p:txBody>
      </p:sp>
      <p:sp>
        <p:nvSpPr>
          <p:cNvPr id="548" name="Google Shape;548;p33"/>
          <p:cNvSpPr/>
          <p:nvPr/>
        </p:nvSpPr>
        <p:spPr>
          <a:xfrm>
            <a:off x="8034528" y="402335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33"/>
          <p:cNvSpPr txBox="1"/>
          <p:nvPr/>
        </p:nvSpPr>
        <p:spPr>
          <a:xfrm>
            <a:off x="8144256" y="405993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T1.12  </a:t>
            </a:r>
            <a:r>
              <a:rPr b="0" i="0" lang="en-US" sz="1100" u="none" cap="none" strike="noStrike">
                <a:solidFill>
                  <a:srgbClr val="2E2318"/>
                </a:solidFill>
                <a:latin typeface="Calibri"/>
                <a:ea typeface="Calibri"/>
                <a:cs typeface="Calibri"/>
                <a:sym typeface="Calibri"/>
              </a:rPr>
              <a:t>Teclado numérico de peso manual y cambio a manual con un toque</a:t>
            </a:r>
            <a:endParaRPr/>
          </a:p>
        </p:txBody>
      </p:sp>
      <p:sp>
        <p:nvSpPr>
          <p:cNvPr id="550" name="Google Shape;550;p33"/>
          <p:cNvSpPr/>
          <p:nvPr/>
        </p:nvSpPr>
        <p:spPr>
          <a:xfrm>
            <a:off x="548640" y="477011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33"/>
          <p:cNvSpPr txBox="1"/>
          <p:nvPr/>
        </p:nvSpPr>
        <p:spPr>
          <a:xfrm>
            <a:off x="658368" y="480669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T1.13  </a:t>
            </a:r>
            <a:r>
              <a:rPr b="0" i="0" lang="en-US" sz="1100" u="none" cap="none" strike="noStrike">
                <a:solidFill>
                  <a:srgbClr val="2E2318"/>
                </a:solidFill>
                <a:latin typeface="Calibri"/>
                <a:ea typeface="Calibri"/>
                <a:cs typeface="Calibri"/>
                <a:sym typeface="Calibri"/>
              </a:rPr>
              <a:t>Consulta SQL de ventas del día y verificación en la base de datos</a:t>
            </a:r>
            <a:endParaRPr/>
          </a:p>
        </p:txBody>
      </p:sp>
      <p:sp>
        <p:nvSpPr>
          <p:cNvPr id="552" name="Google Shape;552;p33"/>
          <p:cNvSpPr/>
          <p:nvPr/>
        </p:nvSpPr>
        <p:spPr>
          <a:xfrm>
            <a:off x="4291584" y="477011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33"/>
          <p:cNvSpPr txBox="1"/>
          <p:nvPr/>
        </p:nvSpPr>
        <p:spPr>
          <a:xfrm>
            <a:off x="4401312" y="480669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T1.14  </a:t>
            </a:r>
            <a:r>
              <a:rPr b="0" i="0" lang="en-US" sz="1100" u="none" cap="none" strike="noStrike">
                <a:solidFill>
                  <a:srgbClr val="2E2318"/>
                </a:solidFill>
                <a:latin typeface="Calibri"/>
                <a:ea typeface="Calibri"/>
                <a:cs typeface="Calibri"/>
                <a:sym typeface="Calibri"/>
              </a:rPr>
              <a:t>Integración del controlador serial en el panel de peso de la caja</a:t>
            </a:r>
            <a:endParaRPr/>
          </a:p>
        </p:txBody>
      </p:sp>
      <p:sp>
        <p:nvSpPr>
          <p:cNvPr id="554" name="Google Shape;554;p33"/>
          <p:cNvSpPr/>
          <p:nvPr/>
        </p:nvSpPr>
        <p:spPr>
          <a:xfrm>
            <a:off x="8034528" y="4770119"/>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33"/>
          <p:cNvSpPr txBox="1"/>
          <p:nvPr/>
        </p:nvSpPr>
        <p:spPr>
          <a:xfrm>
            <a:off x="8144256" y="4806695"/>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T1.15  </a:t>
            </a:r>
            <a:r>
              <a:rPr b="0" i="0" lang="en-US" sz="1100" u="none" cap="none" strike="noStrike">
                <a:solidFill>
                  <a:srgbClr val="2E2318"/>
                </a:solidFill>
                <a:latin typeface="Calibri"/>
                <a:ea typeface="Calibri"/>
                <a:cs typeface="Calibri"/>
                <a:sym typeface="Calibri"/>
              </a:rPr>
              <a:t>Vigilancia de desconexión y estado del dispositivo en la barra</a:t>
            </a:r>
            <a:endParaRPr/>
          </a:p>
        </p:txBody>
      </p:sp>
      <p:sp>
        <p:nvSpPr>
          <p:cNvPr id="556" name="Google Shape;556;p33"/>
          <p:cNvSpPr/>
          <p:nvPr/>
        </p:nvSpPr>
        <p:spPr>
          <a:xfrm>
            <a:off x="548640" y="55168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33"/>
          <p:cNvSpPr txBox="1"/>
          <p:nvPr/>
        </p:nvSpPr>
        <p:spPr>
          <a:xfrm>
            <a:off x="658368" y="55534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T1.16  </a:t>
            </a:r>
            <a:r>
              <a:rPr b="0" i="0" lang="en-US" sz="1100" u="none" cap="none" strike="noStrike">
                <a:solidFill>
                  <a:srgbClr val="2E2318"/>
                </a:solidFill>
                <a:latin typeface="Calibri"/>
                <a:ea typeface="Calibri"/>
                <a:cs typeface="Calibri"/>
                <a:sym typeface="Calibri"/>
              </a:rPr>
              <a:t>Sesión remota de validación del flujo de venta con la contraparte y ajustes de textos</a:t>
            </a:r>
            <a:endParaRPr/>
          </a:p>
        </p:txBody>
      </p:sp>
      <p:sp>
        <p:nvSpPr>
          <p:cNvPr id="558" name="Google Shape;558;p33"/>
          <p:cNvSpPr/>
          <p:nvPr/>
        </p:nvSpPr>
        <p:spPr>
          <a:xfrm>
            <a:off x="4291584" y="5516880"/>
            <a:ext cx="3605784" cy="655319"/>
          </a:xfrm>
          <a:prstGeom prst="roundRect">
            <a:avLst>
              <a:gd fmla="val 8372"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33"/>
          <p:cNvSpPr txBox="1"/>
          <p:nvPr/>
        </p:nvSpPr>
        <p:spPr>
          <a:xfrm>
            <a:off x="4401312" y="5553456"/>
            <a:ext cx="3386328" cy="582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T1.17  </a:t>
            </a:r>
            <a:r>
              <a:rPr b="0" i="0" lang="en-US" sz="1100" u="none" cap="none" strike="noStrike">
                <a:solidFill>
                  <a:srgbClr val="2E2318"/>
                </a:solidFill>
                <a:latin typeface="Calibri"/>
                <a:ea typeface="Calibri"/>
                <a:cs typeface="Calibri"/>
                <a:sym typeface="Calibri"/>
              </a:rPr>
              <a:t>Preparación de la revisión del sprint y notas de la versión</a:t>
            </a:r>
            <a:endParaRPr/>
          </a:p>
        </p:txBody>
      </p:sp>
      <p:sp>
        <p:nvSpPr>
          <p:cNvPr id="560" name="Google Shape;560;p33"/>
          <p:cNvSpPr/>
          <p:nvPr/>
        </p:nvSpPr>
        <p:spPr>
          <a:xfrm>
            <a:off x="4297640" y="1172771"/>
            <a:ext cx="1737300" cy="384000"/>
          </a:xfrm>
          <a:prstGeom prst="roundRect">
            <a:avLst>
              <a:gd fmla="val 50000" name="adj"/>
            </a:avLst>
          </a:prstGeom>
          <a:solidFill>
            <a:srgbClr val="FFFFFF"/>
          </a:solidFill>
          <a:ln cap="flat" cmpd="sng" w="9525">
            <a:solidFill>
              <a:srgbClr val="E3B87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33"/>
          <p:cNvSpPr txBox="1"/>
          <p:nvPr/>
        </p:nvSpPr>
        <p:spPr>
          <a:xfrm>
            <a:off x="429764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Hecho:</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17</a:t>
            </a:r>
            <a:endParaRPr/>
          </a:p>
        </p:txBody>
      </p:sp>
      <p:sp>
        <p:nvSpPr>
          <p:cNvPr id="562" name="Google Shape;562;p33"/>
          <p:cNvSpPr/>
          <p:nvPr/>
        </p:nvSpPr>
        <p:spPr>
          <a:xfrm>
            <a:off x="2423160" y="1172759"/>
            <a:ext cx="1737300" cy="38400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33"/>
          <p:cNvSpPr txBox="1"/>
          <p:nvPr/>
        </p:nvSpPr>
        <p:spPr>
          <a:xfrm>
            <a:off x="242316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Calibri"/>
                <a:ea typeface="Calibri"/>
                <a:cs typeface="Calibri"/>
                <a:sym typeface="Calibri"/>
              </a:rPr>
              <a:t>En curso</a:t>
            </a:r>
            <a:r>
              <a:rPr b="1" lang="en-US" sz="1300">
                <a:solidFill>
                  <a:srgbClr val="FFFFFF"/>
                </a:solidFill>
                <a:latin typeface="Calibri"/>
                <a:ea typeface="Calibri"/>
                <a:cs typeface="Calibri"/>
                <a:sym typeface="Calibri"/>
              </a:rPr>
              <a:t>:</a:t>
            </a:r>
            <a:r>
              <a:rPr b="1" i="0" lang="en-US" sz="1300" u="none" cap="none" strike="noStrike">
                <a:solidFill>
                  <a:srgbClr val="FFFFFF"/>
                </a:solidFill>
                <a:latin typeface="Calibri"/>
                <a:ea typeface="Calibri"/>
                <a:cs typeface="Calibri"/>
                <a:sym typeface="Calibri"/>
              </a:rPr>
              <a:t>  </a:t>
            </a:r>
            <a:r>
              <a:rPr b="1" lang="en-US" sz="1300">
                <a:solidFill>
                  <a:srgbClr val="FFFFFF"/>
                </a:solidFill>
                <a:latin typeface="Calibri"/>
                <a:ea typeface="Calibri"/>
                <a:cs typeface="Calibri"/>
                <a:sym typeface="Calibri"/>
              </a:rPr>
              <a:t>0</a:t>
            </a:r>
            <a:endParaRPr/>
          </a:p>
        </p:txBody>
      </p:sp>
      <p:sp>
        <p:nvSpPr>
          <p:cNvPr id="564" name="Google Shape;564;p33"/>
          <p:cNvSpPr/>
          <p:nvPr/>
        </p:nvSpPr>
        <p:spPr>
          <a:xfrm>
            <a:off x="548654" y="1186471"/>
            <a:ext cx="1737300" cy="3840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33"/>
          <p:cNvSpPr txBox="1"/>
          <p:nvPr/>
        </p:nvSpPr>
        <p:spPr>
          <a:xfrm>
            <a:off x="548654" y="1186471"/>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Por hacer:</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34"/>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1</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Impediment Log</a:t>
            </a:r>
            <a:endParaRPr/>
          </a:p>
        </p:txBody>
      </p:sp>
      <p:sp>
        <p:nvSpPr>
          <p:cNvPr id="572" name="Google Shape;572;p34"/>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26</a:t>
            </a:r>
            <a:endParaRPr/>
          </a:p>
        </p:txBody>
      </p:sp>
      <p:graphicFrame>
        <p:nvGraphicFramePr>
          <p:cNvPr id="573" name="Google Shape;573;p34"/>
          <p:cNvGraphicFramePr/>
          <p:nvPr/>
        </p:nvGraphicFramePr>
        <p:xfrm>
          <a:off x="548628" y="2112320"/>
          <a:ext cx="3000000" cy="3000000"/>
        </p:xfrm>
        <a:graphic>
          <a:graphicData uri="http://schemas.openxmlformats.org/drawingml/2006/table">
            <a:tbl>
              <a:tblPr>
                <a:noFill/>
                <a:tableStyleId>{BA7B9E9C-A63D-41EF-8DED-ABFA5B16292E}</a:tableStyleId>
              </a:tblPr>
              <a:tblGrid>
                <a:gridCol w="777250"/>
                <a:gridCol w="1051550"/>
                <a:gridCol w="3703325"/>
                <a:gridCol w="3703325"/>
                <a:gridCol w="804675"/>
                <a:gridCol w="10515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Reporte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Impedimento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Cómo lo solucionamos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Estado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Cierre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11/08/2026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se dispone de una balanza con salida serial.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Arnés y analizador probados con una captura sintética; ingreso manual como modo primario.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26/08/2026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 caja de escritorio fallaba al iniciar y nunca cargaba el catálogo.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Corregido el arranque; el catálogo semilla se muestra al enrolar.</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26/08/2026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28/08/2026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enrolamiento proponía por defecto un identificador de panadería que no existía en la semilla.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Identificador reference prellenado; credenciales de prueba documentadas en el README.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28/08/2026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01/09/2026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hay impresora ESC/POS ni servicio de impresión disponible en los equipos del equipo ni en la contraparte.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Controlador ESC/POS verificado contra la API de la biblioteca (context7) y entregado sin validación física; el comprobante en pantalla es modo soportado.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IMP-10</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02/09/2026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almacén de preferencias de la caja se ligaba al directorio de trabajo y no a la máquina, por lo que el enrolamiento se perdía al abrir la caja desde otra carpeta.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Preferencias ligadas a la máquina.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03/09/2026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sp>
        <p:nvSpPr>
          <p:cNvPr id="579" name="Google Shape;579;p35"/>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1</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Burndown </a:t>
            </a:r>
            <a:r>
              <a:rPr b="1" lang="en-US" sz="3000">
                <a:solidFill>
                  <a:srgbClr val="4A2C1A"/>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hart</a:t>
            </a:r>
            <a:endParaRPr/>
          </a:p>
        </p:txBody>
      </p:sp>
      <p:sp>
        <p:nvSpPr>
          <p:cNvPr id="580" name="Google Shape;580;p35"/>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27</a:t>
            </a:r>
            <a:endParaRPr/>
          </a:p>
        </p:txBody>
      </p:sp>
      <p:sp>
        <p:nvSpPr>
          <p:cNvPr id="581" name="Google Shape;581;p35"/>
          <p:cNvSpPr/>
          <p:nvPr/>
        </p:nvSpPr>
        <p:spPr>
          <a:xfrm>
            <a:off x="548640" y="1188720"/>
            <a:ext cx="7680960" cy="5074920"/>
          </a:xfrm>
          <a:prstGeom prst="roundRect">
            <a:avLst>
              <a:gd fmla="val 1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p35"/>
          <p:cNvSpPr txBox="1"/>
          <p:nvPr/>
        </p:nvSpPr>
        <p:spPr>
          <a:xfrm>
            <a:off x="731520" y="1261872"/>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Horas restantes al cierre de cada día hábil</a:t>
            </a:r>
            <a:endParaRPr/>
          </a:p>
        </p:txBody>
      </p:sp>
      <p:graphicFrame>
        <p:nvGraphicFramePr>
          <p:cNvPr id="583" name="Google Shape;583;p35"/>
          <p:cNvGraphicFramePr/>
          <p:nvPr/>
        </p:nvGraphicFramePr>
        <p:xfrm>
          <a:off x="640080" y="1645920"/>
          <a:ext cx="7498079" cy="4526280"/>
        </p:xfrm>
        <a:graphic>
          <a:graphicData uri="http://schemas.openxmlformats.org/drawingml/2006/chart">
            <c:chart r:id="rId3"/>
          </a:graphicData>
        </a:graphic>
      </p:graphicFrame>
      <p:sp>
        <p:nvSpPr>
          <p:cNvPr id="584" name="Google Shape;584;p35"/>
          <p:cNvSpPr/>
          <p:nvPr/>
        </p:nvSpPr>
        <p:spPr>
          <a:xfrm>
            <a:off x="8412480" y="1188720"/>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5" name="Google Shape;585;p35"/>
          <p:cNvSpPr txBox="1"/>
          <p:nvPr/>
        </p:nvSpPr>
        <p:spPr>
          <a:xfrm>
            <a:off x="8549640" y="1261872"/>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79 h</a:t>
            </a:r>
            <a:endParaRPr/>
          </a:p>
        </p:txBody>
      </p:sp>
      <p:sp>
        <p:nvSpPr>
          <p:cNvPr id="586" name="Google Shape;586;p35"/>
          <p:cNvSpPr txBox="1"/>
          <p:nvPr/>
        </p:nvSpPr>
        <p:spPr>
          <a:xfrm>
            <a:off x="8549640" y="1874520"/>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comprometidas</a:t>
            </a:r>
            <a:endParaRPr/>
          </a:p>
        </p:txBody>
      </p:sp>
      <p:sp>
        <p:nvSpPr>
          <p:cNvPr id="587" name="Google Shape;587;p35"/>
          <p:cNvSpPr/>
          <p:nvPr/>
        </p:nvSpPr>
        <p:spPr>
          <a:xfrm>
            <a:off x="8412480" y="2487168"/>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8" name="Google Shape;588;p35"/>
          <p:cNvSpPr txBox="1"/>
          <p:nvPr/>
        </p:nvSpPr>
        <p:spPr>
          <a:xfrm>
            <a:off x="8549640" y="2560320"/>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79 h</a:t>
            </a:r>
            <a:endParaRPr/>
          </a:p>
        </p:txBody>
      </p:sp>
      <p:sp>
        <p:nvSpPr>
          <p:cNvPr id="589" name="Google Shape;589;p35"/>
          <p:cNvSpPr txBox="1"/>
          <p:nvPr/>
        </p:nvSpPr>
        <p:spPr>
          <a:xfrm>
            <a:off x="8549640" y="3172968"/>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consumidas</a:t>
            </a:r>
            <a:endParaRPr/>
          </a:p>
        </p:txBody>
      </p:sp>
      <p:sp>
        <p:nvSpPr>
          <p:cNvPr id="590" name="Google Shape;590;p35"/>
          <p:cNvSpPr/>
          <p:nvPr/>
        </p:nvSpPr>
        <p:spPr>
          <a:xfrm>
            <a:off x="8412480" y="3785615"/>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1" name="Google Shape;591;p35"/>
          <p:cNvSpPr txBox="1"/>
          <p:nvPr/>
        </p:nvSpPr>
        <p:spPr>
          <a:xfrm>
            <a:off x="8549640" y="3858768"/>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+9,2 h</a:t>
            </a:r>
            <a:endParaRPr/>
          </a:p>
        </p:txBody>
      </p:sp>
      <p:sp>
        <p:nvSpPr>
          <p:cNvPr id="592" name="Google Shape;592;p35"/>
          <p:cNvSpPr txBox="1"/>
          <p:nvPr/>
        </p:nvSpPr>
        <p:spPr>
          <a:xfrm>
            <a:off x="8549640" y="4471416"/>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mayor desvío (día 3); bajo la ideal desde el día 7 (−3,7 h)</a:t>
            </a:r>
            <a:endParaRPr/>
          </a:p>
        </p:txBody>
      </p:sp>
      <p:sp>
        <p:nvSpPr>
          <p:cNvPr id="593" name="Google Shape;593;p35"/>
          <p:cNvSpPr/>
          <p:nvPr/>
        </p:nvSpPr>
        <p:spPr>
          <a:xfrm>
            <a:off x="8412480" y="5084064"/>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4" name="Google Shape;594;p35"/>
          <p:cNvSpPr txBox="1"/>
          <p:nvPr/>
        </p:nvSpPr>
        <p:spPr>
          <a:xfrm>
            <a:off x="8549640" y="5157216"/>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0 h</a:t>
            </a:r>
            <a:endParaRPr/>
          </a:p>
        </p:txBody>
      </p:sp>
      <p:sp>
        <p:nvSpPr>
          <p:cNvPr id="595" name="Google Shape;595;p35"/>
          <p:cNvSpPr txBox="1"/>
          <p:nvPr/>
        </p:nvSpPr>
        <p:spPr>
          <a:xfrm>
            <a:off x="8549640" y="5769864"/>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restantes al cierre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0" name="Shape 600"/>
        <p:cNvGrpSpPr/>
        <p:nvPr/>
      </p:nvGrpSpPr>
      <p:grpSpPr>
        <a:xfrm>
          <a:off x="0" y="0"/>
          <a:ext cx="0" cy="0"/>
          <a:chOff x="0" y="0"/>
          <a:chExt cx="0" cy="0"/>
        </a:xfrm>
      </p:grpSpPr>
      <p:sp>
        <p:nvSpPr>
          <p:cNvPr id="601" name="Google Shape;601;p36"/>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1</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Acta de Sprint Review firmada</a:t>
            </a:r>
            <a:endParaRPr/>
          </a:p>
        </p:txBody>
      </p:sp>
      <p:graphicFrame>
        <p:nvGraphicFramePr>
          <p:cNvPr id="602" name="Google Shape;602;p36"/>
          <p:cNvGraphicFramePr/>
          <p:nvPr/>
        </p:nvGraphicFramePr>
        <p:xfrm>
          <a:off x="548628" y="1860243"/>
          <a:ext cx="3000000" cy="3000000"/>
        </p:xfrm>
        <a:graphic>
          <a:graphicData uri="http://schemas.openxmlformats.org/drawingml/2006/table">
            <a:tbl>
              <a:tblPr>
                <a:noFill/>
                <a:tableStyleId>{BA7B9E9C-A63D-41EF-8DED-ABFA5B16292E}</a:tableStyleId>
              </a:tblPr>
              <a:tblGrid>
                <a:gridCol w="3657600"/>
                <a:gridCol w="2560325"/>
                <a:gridCol w="1737350"/>
                <a:gridCol w="3136400"/>
              </a:tblGrid>
              <a:tr h="385300">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Nombre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Rol / Responsabilidad</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Fecha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Firma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r>
              <a:tr h="550450">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Diego Maldonado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Product Owner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04/09/2026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omic Sans MS"/>
                          <a:ea typeface="Comic Sans MS"/>
                          <a:cs typeface="Comic Sans MS"/>
                          <a:sym typeface="Comic Sans MS"/>
                        </a:rPr>
                        <a:t>Diego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008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Propietario(a) de Panadería San Manuel</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Contraparte</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04/09/2026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1008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Rodrigo Mancilla</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Scrum Master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04/09/2026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descr="sig_s0_r2.png" id="603" name="Google Shape;603;p36"/>
          <p:cNvPicPr preferRelativeResize="0"/>
          <p:nvPr/>
        </p:nvPicPr>
        <p:blipFill rotWithShape="1">
          <a:blip r:embed="rId3">
            <a:alphaModFix/>
          </a:blip>
          <a:srcRect b="0" l="0" r="0" t="0"/>
          <a:stretch/>
        </p:blipFill>
        <p:spPr>
          <a:xfrm>
            <a:off x="8577209" y="2878421"/>
            <a:ext cx="1497600" cy="806398"/>
          </a:xfrm>
          <a:prstGeom prst="rect">
            <a:avLst/>
          </a:prstGeom>
          <a:noFill/>
          <a:ln>
            <a:noFill/>
          </a:ln>
        </p:spPr>
      </p:pic>
      <p:pic>
        <p:nvPicPr>
          <p:cNvPr descr="sig_s0_r3.png" id="604" name="Google Shape;604;p36"/>
          <p:cNvPicPr preferRelativeResize="0"/>
          <p:nvPr/>
        </p:nvPicPr>
        <p:blipFill rotWithShape="1">
          <a:blip r:embed="rId4">
            <a:alphaModFix/>
          </a:blip>
          <a:srcRect b="0" l="0" r="0" t="0"/>
          <a:stretch/>
        </p:blipFill>
        <p:spPr>
          <a:xfrm>
            <a:off x="8577209" y="3972690"/>
            <a:ext cx="1186560" cy="9331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9" name="Shape 609"/>
        <p:cNvGrpSpPr/>
        <p:nvPr/>
      </p:nvGrpSpPr>
      <p:grpSpPr>
        <a:xfrm>
          <a:off x="0" y="0"/>
          <a:ext cx="0" cy="0"/>
          <a:chOff x="0" y="0"/>
          <a:chExt cx="0" cy="0"/>
        </a:xfrm>
      </p:grpSpPr>
      <p:sp>
        <p:nvSpPr>
          <p:cNvPr id="610" name="Google Shape;610;p38"/>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2</a:t>
            </a:r>
            <a:r>
              <a:rPr b="1" lang="en-US" sz="3000">
                <a:solidFill>
                  <a:srgbClr val="4A2C1A"/>
                </a:solidFill>
                <a:latin typeface="Calibri"/>
                <a:ea typeface="Calibri"/>
                <a:cs typeface="Calibri"/>
                <a:sym typeface="Calibri"/>
              </a:rPr>
              <a:t>: Resumen</a:t>
            </a:r>
            <a:endParaRPr/>
          </a:p>
        </p:txBody>
      </p:sp>
      <p:sp>
        <p:nvSpPr>
          <p:cNvPr id="611" name="Google Shape;611;p38"/>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30</a:t>
            </a:r>
            <a:endParaRPr/>
          </a:p>
        </p:txBody>
      </p:sp>
      <p:sp>
        <p:nvSpPr>
          <p:cNvPr id="612" name="Google Shape;612;p38"/>
          <p:cNvSpPr/>
          <p:nvPr/>
        </p:nvSpPr>
        <p:spPr>
          <a:xfrm>
            <a:off x="548640"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3" name="Google Shape;613;p38"/>
          <p:cNvSpPr txBox="1"/>
          <p:nvPr/>
        </p:nvSpPr>
        <p:spPr>
          <a:xfrm>
            <a:off x="685800"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24 / 24</a:t>
            </a:r>
            <a:endParaRPr/>
          </a:p>
        </p:txBody>
      </p:sp>
      <p:sp>
        <p:nvSpPr>
          <p:cNvPr id="614" name="Google Shape;614;p38"/>
          <p:cNvSpPr txBox="1"/>
          <p:nvPr/>
        </p:nvSpPr>
        <p:spPr>
          <a:xfrm>
            <a:off x="685800"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puntos aceptados</a:t>
            </a:r>
            <a:endParaRPr/>
          </a:p>
        </p:txBody>
      </p:sp>
      <p:sp>
        <p:nvSpPr>
          <p:cNvPr id="615" name="Google Shape;615;p38"/>
          <p:cNvSpPr/>
          <p:nvPr/>
        </p:nvSpPr>
        <p:spPr>
          <a:xfrm>
            <a:off x="3367278"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6" name="Google Shape;616;p38"/>
          <p:cNvSpPr txBox="1"/>
          <p:nvPr/>
        </p:nvSpPr>
        <p:spPr>
          <a:xfrm>
            <a:off x="3504438"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69 / 69 h</a:t>
            </a:r>
            <a:endParaRPr/>
          </a:p>
        </p:txBody>
      </p:sp>
      <p:sp>
        <p:nvSpPr>
          <p:cNvPr id="617" name="Google Shape;617;p38"/>
          <p:cNvSpPr txBox="1"/>
          <p:nvPr/>
        </p:nvSpPr>
        <p:spPr>
          <a:xfrm>
            <a:off x="3504438"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horas comprometidas / consumidas</a:t>
            </a:r>
            <a:endParaRPr/>
          </a:p>
        </p:txBody>
      </p:sp>
      <p:sp>
        <p:nvSpPr>
          <p:cNvPr id="618" name="Google Shape;618;p38"/>
          <p:cNvSpPr/>
          <p:nvPr/>
        </p:nvSpPr>
        <p:spPr>
          <a:xfrm>
            <a:off x="6185916"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9" name="Google Shape;619;p38"/>
          <p:cNvSpPr txBox="1"/>
          <p:nvPr/>
        </p:nvSpPr>
        <p:spPr>
          <a:xfrm>
            <a:off x="6323076"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15 de 15</a:t>
            </a:r>
            <a:endParaRPr/>
          </a:p>
        </p:txBody>
      </p:sp>
      <p:sp>
        <p:nvSpPr>
          <p:cNvPr id="620" name="Google Shape;620;p38"/>
          <p:cNvSpPr txBox="1"/>
          <p:nvPr/>
        </p:nvSpPr>
        <p:spPr>
          <a:xfrm>
            <a:off x="6323076"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tareas hechas</a:t>
            </a:r>
            <a:endParaRPr/>
          </a:p>
        </p:txBody>
      </p:sp>
      <p:sp>
        <p:nvSpPr>
          <p:cNvPr id="621" name="Google Shape;621;p38"/>
          <p:cNvSpPr/>
          <p:nvPr/>
        </p:nvSpPr>
        <p:spPr>
          <a:xfrm>
            <a:off x="9004554"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2" name="Google Shape;622;p38"/>
          <p:cNvSpPr txBox="1"/>
          <p:nvPr/>
        </p:nvSpPr>
        <p:spPr>
          <a:xfrm>
            <a:off x="9141714"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v0.2.0</a:t>
            </a:r>
            <a:endParaRPr/>
          </a:p>
        </p:txBody>
      </p:sp>
      <p:sp>
        <p:nvSpPr>
          <p:cNvPr id="623" name="Google Shape;623;p38"/>
          <p:cNvSpPr txBox="1"/>
          <p:nvPr/>
        </p:nvSpPr>
        <p:spPr>
          <a:xfrm>
            <a:off x="9141714"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release «Caja resiliente»</a:t>
            </a:r>
            <a:endParaRPr/>
          </a:p>
        </p:txBody>
      </p:sp>
      <p:sp>
        <p:nvSpPr>
          <p:cNvPr id="624" name="Google Shape;624;p38"/>
          <p:cNvSpPr/>
          <p:nvPr/>
        </p:nvSpPr>
        <p:spPr>
          <a:xfrm>
            <a:off x="548640" y="2468880"/>
            <a:ext cx="5394960" cy="3794760"/>
          </a:xfrm>
          <a:prstGeom prst="roundRect">
            <a:avLst>
              <a:gd fmla="val 144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5" name="Google Shape;625;p38"/>
          <p:cNvSpPr txBox="1"/>
          <p:nvPr/>
        </p:nvSpPr>
        <p:spPr>
          <a:xfrm>
            <a:off x="731520" y="2560320"/>
            <a:ext cx="5029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5 historias aceptadas</a:t>
            </a:r>
            <a:endParaRPr/>
          </a:p>
        </p:txBody>
      </p:sp>
      <p:sp>
        <p:nvSpPr>
          <p:cNvPr id="626" name="Google Shape;626;p38"/>
          <p:cNvSpPr txBox="1"/>
          <p:nvPr/>
        </p:nvSpPr>
        <p:spPr>
          <a:xfrm>
            <a:off x="731520" y="3017520"/>
            <a:ext cx="4937760" cy="315468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Cola local de ventas y envío diferido</a:t>
            </a:r>
            <a:r>
              <a:rPr b="0" i="0" lang="en-US" sz="1300" u="none" cap="none" strike="noStrike">
                <a:solidFill>
                  <a:srgbClr val="6E5F50"/>
                </a:solidFill>
                <a:latin typeface="Calibri"/>
                <a:ea typeface="Calibri"/>
                <a:cs typeface="Calibri"/>
                <a:sym typeface="Calibri"/>
              </a:rPr>
              <a:t>  (8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Indicador de estado de red</a:t>
            </a:r>
            <a:r>
              <a:rPr b="0" i="0" lang="en-US" sz="1300" u="none" cap="none" strike="noStrike">
                <a:solidFill>
                  <a:srgbClr val="6E5F50"/>
                </a:solidFill>
                <a:latin typeface="Calibri"/>
                <a:ea typeface="Calibri"/>
                <a:cs typeface="Calibri"/>
                <a:sym typeface="Calibri"/>
              </a:rPr>
              <a:t>  (3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Descarga incremental de configuración</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Política de conflictos para el stock</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Envío idempotente</a:t>
            </a:r>
            <a:r>
              <a:rPr b="0" i="0" lang="en-US" sz="1300" u="none" cap="none" strike="noStrike">
                <a:solidFill>
                  <a:srgbClr val="6E5F50"/>
                </a:solidFill>
                <a:latin typeface="Calibri"/>
                <a:ea typeface="Calibri"/>
                <a:cs typeface="Calibri"/>
                <a:sym typeface="Calibri"/>
              </a:rPr>
              <a:t>  (3 pts)</a:t>
            </a:r>
            <a:endParaRPr/>
          </a:p>
        </p:txBody>
      </p:sp>
      <p:sp>
        <p:nvSpPr>
          <p:cNvPr id="627" name="Google Shape;627;p38"/>
          <p:cNvSpPr txBox="1"/>
          <p:nvPr/>
        </p:nvSpPr>
        <p:spPr>
          <a:xfrm>
            <a:off x="6126480" y="2468880"/>
            <a:ext cx="5513832"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4A2C1A"/>
                </a:solidFill>
                <a:latin typeface="Calibri"/>
                <a:ea typeface="Calibri"/>
                <a:cs typeface="Calibri"/>
                <a:sym typeface="Calibri"/>
              </a:rPr>
              <a:t>Prueba CP-SYN-01 · 17 de septiembre, con un corte real de red</a:t>
            </a:r>
            <a:endParaRPr/>
          </a:p>
        </p:txBody>
      </p:sp>
      <p:sp>
        <p:nvSpPr>
          <p:cNvPr id="628" name="Google Shape;628;p38"/>
          <p:cNvSpPr/>
          <p:nvPr/>
        </p:nvSpPr>
        <p:spPr>
          <a:xfrm>
            <a:off x="6126480" y="2880360"/>
            <a:ext cx="2688336" cy="1600200"/>
          </a:xfrm>
          <a:prstGeom prst="roundRect">
            <a:avLst>
              <a:gd fmla="val 342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9" name="Google Shape;629;p38"/>
          <p:cNvSpPr txBox="1"/>
          <p:nvPr/>
        </p:nvSpPr>
        <p:spPr>
          <a:xfrm>
            <a:off x="6263640" y="2953512"/>
            <a:ext cx="2414016" cy="800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12 de 12</a:t>
            </a:r>
            <a:endParaRPr/>
          </a:p>
        </p:txBody>
      </p:sp>
      <p:sp>
        <p:nvSpPr>
          <p:cNvPr id="630" name="Google Shape;630;p38"/>
          <p:cNvSpPr txBox="1"/>
          <p:nvPr/>
        </p:nvSpPr>
        <p:spPr>
          <a:xfrm>
            <a:off x="6263640" y="3771900"/>
            <a:ext cx="2414016" cy="6629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pasos aprobados</a:t>
            </a:r>
            <a:endParaRPr/>
          </a:p>
        </p:txBody>
      </p:sp>
      <p:sp>
        <p:nvSpPr>
          <p:cNvPr id="631" name="Google Shape;631;p38"/>
          <p:cNvSpPr/>
          <p:nvPr/>
        </p:nvSpPr>
        <p:spPr>
          <a:xfrm>
            <a:off x="8951976" y="2880360"/>
            <a:ext cx="2688336" cy="1600200"/>
          </a:xfrm>
          <a:prstGeom prst="roundRect">
            <a:avLst>
              <a:gd fmla="val 342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2" name="Google Shape;632;p38"/>
          <p:cNvSpPr txBox="1"/>
          <p:nvPr/>
        </p:nvSpPr>
        <p:spPr>
          <a:xfrm>
            <a:off x="9089136" y="2953512"/>
            <a:ext cx="2414016" cy="800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11 → 15</a:t>
            </a:r>
            <a:endParaRPr/>
          </a:p>
        </p:txBody>
      </p:sp>
      <p:sp>
        <p:nvSpPr>
          <p:cNvPr id="633" name="Google Shape;633;p38"/>
          <p:cNvSpPr txBox="1"/>
          <p:nvPr/>
        </p:nvSpPr>
        <p:spPr>
          <a:xfrm>
            <a:off x="9089136" y="3771900"/>
            <a:ext cx="2414016" cy="6629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ventas locales: la caja siguió vendiendo sin red</a:t>
            </a:r>
            <a:endParaRPr/>
          </a:p>
        </p:txBody>
      </p:sp>
      <p:sp>
        <p:nvSpPr>
          <p:cNvPr id="634" name="Google Shape;634;p38"/>
          <p:cNvSpPr/>
          <p:nvPr/>
        </p:nvSpPr>
        <p:spPr>
          <a:xfrm>
            <a:off x="6126480" y="4617720"/>
            <a:ext cx="2688336" cy="1600200"/>
          </a:xfrm>
          <a:prstGeom prst="roundRect">
            <a:avLst>
              <a:gd fmla="val 342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5" name="Google Shape;635;p38"/>
          <p:cNvSpPr txBox="1"/>
          <p:nvPr/>
        </p:nvSpPr>
        <p:spPr>
          <a:xfrm>
            <a:off x="6263640" y="4690872"/>
            <a:ext cx="2414016" cy="800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0</a:t>
            </a:r>
            <a:endParaRPr/>
          </a:p>
        </p:txBody>
      </p:sp>
      <p:sp>
        <p:nvSpPr>
          <p:cNvPr id="636" name="Google Shape;636;p38"/>
          <p:cNvSpPr txBox="1"/>
          <p:nvPr/>
        </p:nvSpPr>
        <p:spPr>
          <a:xfrm>
            <a:off x="6263640" y="5509259"/>
            <a:ext cx="2414016" cy="6629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ventas duplicadas al reconectar</a:t>
            </a:r>
            <a:endParaRPr/>
          </a:p>
        </p:txBody>
      </p:sp>
      <p:sp>
        <p:nvSpPr>
          <p:cNvPr id="637" name="Google Shape;637;p38"/>
          <p:cNvSpPr/>
          <p:nvPr/>
        </p:nvSpPr>
        <p:spPr>
          <a:xfrm>
            <a:off x="8951976" y="4617720"/>
            <a:ext cx="2688336" cy="1600200"/>
          </a:xfrm>
          <a:prstGeom prst="roundRect">
            <a:avLst>
              <a:gd fmla="val 342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8" name="Google Shape;638;p38"/>
          <p:cNvSpPr txBox="1"/>
          <p:nvPr/>
        </p:nvSpPr>
        <p:spPr>
          <a:xfrm>
            <a:off x="9089136" y="4690872"/>
            <a:ext cx="2414016" cy="800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0</a:t>
            </a:r>
            <a:endParaRPr/>
          </a:p>
        </p:txBody>
      </p:sp>
      <p:sp>
        <p:nvSpPr>
          <p:cNvPr id="639" name="Google Shape;639;p38"/>
          <p:cNvSpPr txBox="1"/>
          <p:nvPr/>
        </p:nvSpPr>
        <p:spPr>
          <a:xfrm>
            <a:off x="9089136" y="5509259"/>
            <a:ext cx="2414016" cy="6629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líneas de venta huérfanas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39"/>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2</a:t>
            </a:r>
            <a:r>
              <a:rPr b="1" lang="en-US" sz="3000">
                <a:solidFill>
                  <a:srgbClr val="4A2C1A"/>
                </a:solidFill>
                <a:latin typeface="Calibri"/>
                <a:ea typeface="Calibri"/>
                <a:cs typeface="Calibri"/>
                <a:sym typeface="Calibri"/>
              </a:rPr>
              <a:t>: </a:t>
            </a:r>
            <a:r>
              <a:rPr b="1" i="0" lang="en-US" sz="3000" u="none" cap="none" strike="noStrike">
                <a:solidFill>
                  <a:srgbClr val="4A2C1A"/>
                </a:solidFill>
                <a:latin typeface="Calibri"/>
                <a:ea typeface="Calibri"/>
                <a:cs typeface="Calibri"/>
                <a:sym typeface="Calibri"/>
              </a:rPr>
              <a:t>Sprint Backlog</a:t>
            </a:r>
            <a:endParaRPr/>
          </a:p>
        </p:txBody>
      </p:sp>
      <p:sp>
        <p:nvSpPr>
          <p:cNvPr id="646" name="Google Shape;646;p39"/>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31</a:t>
            </a:r>
            <a:endParaRPr/>
          </a:p>
        </p:txBody>
      </p:sp>
      <p:graphicFrame>
        <p:nvGraphicFramePr>
          <p:cNvPr id="647" name="Google Shape;647;p39"/>
          <p:cNvGraphicFramePr/>
          <p:nvPr/>
        </p:nvGraphicFramePr>
        <p:xfrm>
          <a:off x="548615" y="1950770"/>
          <a:ext cx="3000000" cy="3000000"/>
        </p:xfrm>
        <a:graphic>
          <a:graphicData uri="http://schemas.openxmlformats.org/drawingml/2006/table">
            <a:tbl>
              <a:tblPr>
                <a:noFill/>
                <a:tableStyleId>{BA7B9E9C-A63D-41EF-8DED-ABFA5B16292E}</a:tableStyleId>
              </a:tblPr>
              <a:tblGrid>
                <a:gridCol w="1188725"/>
                <a:gridCol w="7616950"/>
                <a:gridCol w="731525"/>
                <a:gridCol w="777250"/>
                <a:gridCol w="7772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Historia de usuario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Puntos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Tareas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Horas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HU-SYN-0001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que las ventas se guarden localmente y se envíen al servidor cuando exista conexión, con la finalidad de no detener la venta ante un corte de red.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HU-SYN-0002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ver el estado de la conexión y la cantidad de operaciones pendientes de envío, con la finalidad de saber si la información ya llegó al servidor.</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HU-SYN-0003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jefe(a) de sucursal, necesito que los cambios de catálogo y precios realizados en el servidor lleguen a la caja automáticamente, con la finalidad de que todas las cajas vendan con los mismos precios.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HU-SYN-0004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gerente, necesito que un mismo insumo descontado desde dos dispositivos sin conexión se reconcilie sin pérdida, con la finalidad de confiar en el inventario de materias primas.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10</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HU-SYN-0005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que el reenvío de una operación no la duplique en el servidor, con la finalidad de que los reportes no cuenten ventas dos veces.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Trabajo transversal del sprint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Total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5 historias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24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15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69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sp>
        <p:nvSpPr>
          <p:cNvPr id="653" name="Google Shape;653;p40"/>
          <p:cNvSpPr txBox="1"/>
          <p:nvPr/>
        </p:nvSpPr>
        <p:spPr>
          <a:xfrm>
            <a:off x="548640" y="320040"/>
            <a:ext cx="11091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2</a:t>
            </a:r>
            <a:r>
              <a:rPr b="1" lang="en-US" sz="3000">
                <a:solidFill>
                  <a:srgbClr val="4A2C1A"/>
                </a:solidFill>
                <a:latin typeface="Calibri"/>
                <a:ea typeface="Calibri"/>
                <a:cs typeface="Calibri"/>
                <a:sym typeface="Calibri"/>
              </a:rPr>
              <a:t>: </a:t>
            </a:r>
            <a:r>
              <a:rPr b="1" i="0" lang="en-US" sz="3000" u="none" cap="none" strike="noStrike">
                <a:solidFill>
                  <a:srgbClr val="4A2C1A"/>
                </a:solidFill>
                <a:latin typeface="Calibri"/>
                <a:ea typeface="Calibri"/>
                <a:cs typeface="Calibri"/>
                <a:sym typeface="Calibri"/>
              </a:rPr>
              <a:t>Tablero Kanban</a:t>
            </a:r>
            <a:endParaRPr/>
          </a:p>
        </p:txBody>
      </p:sp>
      <p:sp>
        <p:nvSpPr>
          <p:cNvPr id="654" name="Google Shape;654;p40"/>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32</a:t>
            </a:r>
            <a:endParaRPr/>
          </a:p>
        </p:txBody>
      </p:sp>
      <p:sp>
        <p:nvSpPr>
          <p:cNvPr id="655" name="Google Shape;655;p40"/>
          <p:cNvSpPr/>
          <p:nvPr/>
        </p:nvSpPr>
        <p:spPr>
          <a:xfrm>
            <a:off x="548640"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6" name="Google Shape;656;p40"/>
          <p:cNvSpPr txBox="1"/>
          <p:nvPr/>
        </p:nvSpPr>
        <p:spPr>
          <a:xfrm>
            <a:off x="658368"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T2.01  </a:t>
            </a:r>
            <a:r>
              <a:rPr b="0" i="0" lang="en-US" sz="1100" u="none" cap="none" strike="noStrike">
                <a:solidFill>
                  <a:srgbClr val="2E2318"/>
                </a:solidFill>
                <a:latin typeface="Calibri"/>
                <a:ea typeface="Calibri"/>
                <a:cs typeface="Calibri"/>
                <a:sym typeface="Calibri"/>
              </a:rPr>
              <a:t>Tabla de cola de salida y escritura atómica junto con la venta</a:t>
            </a:r>
            <a:endParaRPr/>
          </a:p>
        </p:txBody>
      </p:sp>
      <p:sp>
        <p:nvSpPr>
          <p:cNvPr id="657" name="Google Shape;657;p40"/>
          <p:cNvSpPr/>
          <p:nvPr/>
        </p:nvSpPr>
        <p:spPr>
          <a:xfrm>
            <a:off x="4291584"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8" name="Google Shape;658;p40"/>
          <p:cNvSpPr txBox="1"/>
          <p:nvPr/>
        </p:nvSpPr>
        <p:spPr>
          <a:xfrm>
            <a:off x="4401312"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T2.02  </a:t>
            </a:r>
            <a:r>
              <a:rPr b="0" i="0" lang="en-US" sz="1100" u="none" cap="none" strike="noStrike">
                <a:solidFill>
                  <a:srgbClr val="2E2318"/>
                </a:solidFill>
                <a:latin typeface="Calibri"/>
                <a:ea typeface="Calibri"/>
                <a:cs typeface="Calibri"/>
                <a:sym typeface="Calibri"/>
              </a:rPr>
              <a:t>Trabajador de envío con reintentos y retroceso exponencial</a:t>
            </a:r>
            <a:endParaRPr/>
          </a:p>
        </p:txBody>
      </p:sp>
      <p:sp>
        <p:nvSpPr>
          <p:cNvPr id="659" name="Google Shape;659;p40"/>
          <p:cNvSpPr/>
          <p:nvPr/>
        </p:nvSpPr>
        <p:spPr>
          <a:xfrm>
            <a:off x="8034528"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0" name="Google Shape;660;p40"/>
          <p:cNvSpPr txBox="1"/>
          <p:nvPr/>
        </p:nvSpPr>
        <p:spPr>
          <a:xfrm>
            <a:off x="8144256"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T2.03  </a:t>
            </a:r>
            <a:r>
              <a:rPr b="0" i="0" lang="en-US" sz="1100" u="none" cap="none" strike="noStrike">
                <a:solidFill>
                  <a:srgbClr val="2E2318"/>
                </a:solidFill>
                <a:latin typeface="Calibri"/>
                <a:ea typeface="Calibri"/>
                <a:cs typeface="Calibri"/>
                <a:sym typeface="Calibri"/>
              </a:rPr>
              <a:t>Recuperación de operaciones en vuelo al reiniciar la aplicación</a:t>
            </a:r>
            <a:endParaRPr/>
          </a:p>
        </p:txBody>
      </p:sp>
      <p:sp>
        <p:nvSpPr>
          <p:cNvPr id="661" name="Google Shape;661;p40"/>
          <p:cNvSpPr/>
          <p:nvPr/>
        </p:nvSpPr>
        <p:spPr>
          <a:xfrm>
            <a:off x="548640"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2" name="Google Shape;662;p40"/>
          <p:cNvSpPr txBox="1"/>
          <p:nvPr/>
        </p:nvSpPr>
        <p:spPr>
          <a:xfrm>
            <a:off x="658368"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T2.04  </a:t>
            </a:r>
            <a:r>
              <a:rPr b="0" i="0" lang="en-US" sz="1100" u="none" cap="none" strike="noStrike">
                <a:solidFill>
                  <a:srgbClr val="2E2318"/>
                </a:solidFill>
                <a:latin typeface="Calibri"/>
                <a:ea typeface="Calibri"/>
                <a:cs typeface="Calibri"/>
                <a:sym typeface="Calibri"/>
              </a:rPr>
              <a:t>Pruebas JVM de intercalado sin conexión y reconexión</a:t>
            </a:r>
            <a:endParaRPr/>
          </a:p>
        </p:txBody>
      </p:sp>
      <p:sp>
        <p:nvSpPr>
          <p:cNvPr id="663" name="Google Shape;663;p40"/>
          <p:cNvSpPr/>
          <p:nvPr/>
        </p:nvSpPr>
        <p:spPr>
          <a:xfrm>
            <a:off x="4291584"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4" name="Google Shape;664;p40"/>
          <p:cNvSpPr txBox="1"/>
          <p:nvPr/>
        </p:nvSpPr>
        <p:spPr>
          <a:xfrm>
            <a:off x="4401312"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T2.05  </a:t>
            </a:r>
            <a:r>
              <a:rPr b="0" i="0" lang="en-US" sz="1100" u="none" cap="none" strike="noStrike">
                <a:solidFill>
                  <a:srgbClr val="2E2318"/>
                </a:solidFill>
                <a:latin typeface="Calibri"/>
                <a:ea typeface="Calibri"/>
                <a:cs typeface="Calibri"/>
                <a:sym typeface="Calibri"/>
              </a:rPr>
              <a:t>Monitor de conectividad por plataforma</a:t>
            </a:r>
            <a:endParaRPr/>
          </a:p>
        </p:txBody>
      </p:sp>
      <p:sp>
        <p:nvSpPr>
          <p:cNvPr id="665" name="Google Shape;665;p40"/>
          <p:cNvSpPr/>
          <p:nvPr/>
        </p:nvSpPr>
        <p:spPr>
          <a:xfrm>
            <a:off x="8034528"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6" name="Google Shape;666;p40"/>
          <p:cNvSpPr txBox="1"/>
          <p:nvPr/>
        </p:nvSpPr>
        <p:spPr>
          <a:xfrm>
            <a:off x="8144256"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T2.06  </a:t>
            </a:r>
            <a:r>
              <a:rPr b="0" i="0" lang="en-US" sz="1100" u="none" cap="none" strike="noStrike">
                <a:solidFill>
                  <a:srgbClr val="2E2318"/>
                </a:solidFill>
                <a:latin typeface="Calibri"/>
                <a:ea typeface="Calibri"/>
                <a:cs typeface="Calibri"/>
                <a:sym typeface="Calibri"/>
              </a:rPr>
              <a:t>Indicador de estado y contador de pendientes en la barra de estado</a:t>
            </a:r>
            <a:endParaRPr/>
          </a:p>
        </p:txBody>
      </p:sp>
      <p:sp>
        <p:nvSpPr>
          <p:cNvPr id="667" name="Google Shape;667;p40"/>
          <p:cNvSpPr/>
          <p:nvPr/>
        </p:nvSpPr>
        <p:spPr>
          <a:xfrm>
            <a:off x="548640"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8" name="Google Shape;668;p40"/>
          <p:cNvSpPr txBox="1"/>
          <p:nvPr/>
        </p:nvSpPr>
        <p:spPr>
          <a:xfrm>
            <a:off x="658368"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T2.07  </a:t>
            </a:r>
            <a:r>
              <a:rPr b="0" i="0" lang="en-US" sz="1100" u="none" cap="none" strike="noStrike">
                <a:solidFill>
                  <a:srgbClr val="2E2318"/>
                </a:solidFill>
                <a:latin typeface="Calibri"/>
                <a:ea typeface="Calibri"/>
                <a:cs typeface="Calibri"/>
                <a:sym typeface="Calibri"/>
              </a:rPr>
              <a:t>Endpoint de descarga incremental con cursor por dispositivo</a:t>
            </a:r>
            <a:endParaRPr/>
          </a:p>
        </p:txBody>
      </p:sp>
      <p:sp>
        <p:nvSpPr>
          <p:cNvPr id="669" name="Google Shape;669;p40"/>
          <p:cNvSpPr/>
          <p:nvPr/>
        </p:nvSpPr>
        <p:spPr>
          <a:xfrm>
            <a:off x="4291584"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0" name="Google Shape;670;p40"/>
          <p:cNvSpPr txBox="1"/>
          <p:nvPr/>
        </p:nvSpPr>
        <p:spPr>
          <a:xfrm>
            <a:off x="4401312"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T2.08  </a:t>
            </a:r>
            <a:r>
              <a:rPr b="0" i="0" lang="en-US" sz="1100" u="none" cap="none" strike="noStrike">
                <a:solidFill>
                  <a:srgbClr val="2E2318"/>
                </a:solidFill>
                <a:latin typeface="Calibri"/>
                <a:ea typeface="Calibri"/>
                <a:cs typeface="Calibri"/>
                <a:sym typeface="Calibri"/>
              </a:rPr>
              <a:t>Aplicación de cambios de catálogo y precios en la caja</a:t>
            </a:r>
            <a:endParaRPr/>
          </a:p>
        </p:txBody>
      </p:sp>
      <p:sp>
        <p:nvSpPr>
          <p:cNvPr id="671" name="Google Shape;671;p40"/>
          <p:cNvSpPr/>
          <p:nvPr/>
        </p:nvSpPr>
        <p:spPr>
          <a:xfrm>
            <a:off x="8034528"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2" name="Google Shape;672;p40"/>
          <p:cNvSpPr txBox="1"/>
          <p:nvPr/>
        </p:nvSpPr>
        <p:spPr>
          <a:xfrm>
            <a:off x="8144256"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T2.09  </a:t>
            </a:r>
            <a:r>
              <a:rPr b="0" i="0" lang="en-US" sz="1100" u="none" cap="none" strike="noStrike">
                <a:solidFill>
                  <a:srgbClr val="2E2318"/>
                </a:solidFill>
                <a:latin typeface="Calibri"/>
                <a:ea typeface="Calibri"/>
                <a:cs typeface="Calibri"/>
                <a:sym typeface="Calibri"/>
              </a:rPr>
              <a:t>Sesión de diseño y documento de la política de conflictos</a:t>
            </a:r>
            <a:endParaRPr/>
          </a:p>
        </p:txBody>
      </p:sp>
      <p:sp>
        <p:nvSpPr>
          <p:cNvPr id="673" name="Google Shape;673;p40"/>
          <p:cNvSpPr/>
          <p:nvPr/>
        </p:nvSpPr>
        <p:spPr>
          <a:xfrm>
            <a:off x="548640"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4" name="Google Shape;674;p40"/>
          <p:cNvSpPr txBox="1"/>
          <p:nvPr/>
        </p:nvSpPr>
        <p:spPr>
          <a:xfrm>
            <a:off x="658368"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T2.10  </a:t>
            </a:r>
            <a:r>
              <a:rPr b="0" i="0" lang="en-US" sz="1100" u="none" cap="none" strike="noStrike">
                <a:solidFill>
                  <a:srgbClr val="2E2318"/>
                </a:solidFill>
                <a:latin typeface="Calibri"/>
                <a:ea typeface="Calibri"/>
                <a:cs typeface="Calibri"/>
                <a:sym typeface="Calibri"/>
              </a:rPr>
              <a:t>Movimientos de stock como hechos inmutables y stock derivado por suma</a:t>
            </a:r>
            <a:endParaRPr/>
          </a:p>
        </p:txBody>
      </p:sp>
      <p:sp>
        <p:nvSpPr>
          <p:cNvPr id="675" name="Google Shape;675;p40"/>
          <p:cNvSpPr/>
          <p:nvPr/>
        </p:nvSpPr>
        <p:spPr>
          <a:xfrm>
            <a:off x="4291584"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6" name="Google Shape;676;p40"/>
          <p:cNvSpPr txBox="1"/>
          <p:nvPr/>
        </p:nvSpPr>
        <p:spPr>
          <a:xfrm>
            <a:off x="4401312"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T2.11  </a:t>
            </a:r>
            <a:r>
              <a:rPr b="0" i="0" lang="en-US" sz="1100" u="none" cap="none" strike="noStrike">
                <a:solidFill>
                  <a:srgbClr val="2E2318"/>
                </a:solidFill>
                <a:latin typeface="Calibri"/>
                <a:ea typeface="Calibri"/>
                <a:cs typeface="Calibri"/>
                <a:sym typeface="Calibri"/>
              </a:rPr>
              <a:t>Idempotencia por identificador de venta en el servidor</a:t>
            </a:r>
            <a:endParaRPr/>
          </a:p>
        </p:txBody>
      </p:sp>
      <p:sp>
        <p:nvSpPr>
          <p:cNvPr id="677" name="Google Shape;677;p40"/>
          <p:cNvSpPr/>
          <p:nvPr/>
        </p:nvSpPr>
        <p:spPr>
          <a:xfrm>
            <a:off x="8034528"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8" name="Google Shape;678;p40"/>
          <p:cNvSpPr txBox="1"/>
          <p:nvPr/>
        </p:nvSpPr>
        <p:spPr>
          <a:xfrm>
            <a:off x="8144256"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T2.12  </a:t>
            </a:r>
            <a:r>
              <a:rPr b="0" i="0" lang="en-US" sz="1100" u="none" cap="none" strike="noStrike">
                <a:solidFill>
                  <a:srgbClr val="2E2318"/>
                </a:solidFill>
                <a:latin typeface="Calibri"/>
                <a:ea typeface="Calibri"/>
                <a:cs typeface="Calibri"/>
                <a:sym typeface="Calibri"/>
              </a:rPr>
              <a:t>Pruebas de reenvío y de respuesta perdida</a:t>
            </a:r>
            <a:endParaRPr/>
          </a:p>
        </p:txBody>
      </p:sp>
      <p:sp>
        <p:nvSpPr>
          <p:cNvPr id="679" name="Google Shape;679;p40"/>
          <p:cNvSpPr/>
          <p:nvPr/>
        </p:nvSpPr>
        <p:spPr>
          <a:xfrm>
            <a:off x="548640"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0" name="Google Shape;680;p40"/>
          <p:cNvSpPr txBox="1"/>
          <p:nvPr/>
        </p:nvSpPr>
        <p:spPr>
          <a:xfrm>
            <a:off x="658368"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T2.13  </a:t>
            </a:r>
            <a:r>
              <a:rPr b="0" i="0" lang="en-US" sz="1100" u="none" cap="none" strike="noStrike">
                <a:solidFill>
                  <a:srgbClr val="2E2318"/>
                </a:solidFill>
                <a:latin typeface="Calibri"/>
                <a:ea typeface="Calibri"/>
                <a:cs typeface="Calibri"/>
                <a:sym typeface="Calibri"/>
              </a:rPr>
              <a:t>Plan de pruebas: guion de la prueba de corte de red con reconciliación</a:t>
            </a:r>
            <a:endParaRPr/>
          </a:p>
        </p:txBody>
      </p:sp>
      <p:sp>
        <p:nvSpPr>
          <p:cNvPr id="681" name="Google Shape;681;p40"/>
          <p:cNvSpPr/>
          <p:nvPr/>
        </p:nvSpPr>
        <p:spPr>
          <a:xfrm>
            <a:off x="4291584"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2" name="Google Shape;682;p40"/>
          <p:cNvSpPr txBox="1"/>
          <p:nvPr/>
        </p:nvSpPr>
        <p:spPr>
          <a:xfrm>
            <a:off x="4401312"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T2.14  </a:t>
            </a:r>
            <a:r>
              <a:rPr b="0" i="0" lang="en-US" sz="1100" u="none" cap="none" strike="noStrike">
                <a:solidFill>
                  <a:srgbClr val="2E2318"/>
                </a:solidFill>
                <a:latin typeface="Calibri"/>
                <a:ea typeface="Calibri"/>
                <a:cs typeface="Calibri"/>
                <a:sym typeface="Calibri"/>
              </a:rPr>
              <a:t>Ejecución y registro de la prueba de corte de red</a:t>
            </a:r>
            <a:endParaRPr/>
          </a:p>
        </p:txBody>
      </p:sp>
      <p:sp>
        <p:nvSpPr>
          <p:cNvPr id="683" name="Google Shape;683;p40"/>
          <p:cNvSpPr/>
          <p:nvPr/>
        </p:nvSpPr>
        <p:spPr>
          <a:xfrm>
            <a:off x="8034528"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4" name="Google Shape;684;p40"/>
          <p:cNvSpPr txBox="1"/>
          <p:nvPr/>
        </p:nvSpPr>
        <p:spPr>
          <a:xfrm>
            <a:off x="8144256"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T2.15  </a:t>
            </a:r>
            <a:r>
              <a:rPr b="0" i="0" lang="en-US" sz="1100" u="none" cap="none" strike="noStrike">
                <a:solidFill>
                  <a:srgbClr val="2E2318"/>
                </a:solidFill>
                <a:latin typeface="Calibri"/>
                <a:ea typeface="Calibri"/>
                <a:cs typeface="Calibri"/>
                <a:sym typeface="Calibri"/>
              </a:rPr>
              <a:t>Preparación de la revisión del sprint y notas de la versión</a:t>
            </a:r>
            <a:endParaRPr/>
          </a:p>
        </p:txBody>
      </p:sp>
      <p:sp>
        <p:nvSpPr>
          <p:cNvPr id="685" name="Google Shape;685;p40"/>
          <p:cNvSpPr/>
          <p:nvPr/>
        </p:nvSpPr>
        <p:spPr>
          <a:xfrm>
            <a:off x="4297640" y="1172771"/>
            <a:ext cx="1737300" cy="384000"/>
          </a:xfrm>
          <a:prstGeom prst="roundRect">
            <a:avLst>
              <a:gd fmla="val 50000" name="adj"/>
            </a:avLst>
          </a:prstGeom>
          <a:solidFill>
            <a:srgbClr val="FFFFFF"/>
          </a:solidFill>
          <a:ln cap="flat" cmpd="sng" w="9525">
            <a:solidFill>
              <a:srgbClr val="E3B87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6" name="Google Shape;686;p40"/>
          <p:cNvSpPr txBox="1"/>
          <p:nvPr/>
        </p:nvSpPr>
        <p:spPr>
          <a:xfrm>
            <a:off x="429764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Hecho:</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15</a:t>
            </a:r>
            <a:endParaRPr/>
          </a:p>
        </p:txBody>
      </p:sp>
      <p:sp>
        <p:nvSpPr>
          <p:cNvPr id="687" name="Google Shape;687;p40"/>
          <p:cNvSpPr/>
          <p:nvPr/>
        </p:nvSpPr>
        <p:spPr>
          <a:xfrm>
            <a:off x="2423160" y="1172759"/>
            <a:ext cx="1737300" cy="38400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8" name="Google Shape;688;p40"/>
          <p:cNvSpPr txBox="1"/>
          <p:nvPr/>
        </p:nvSpPr>
        <p:spPr>
          <a:xfrm>
            <a:off x="242316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Calibri"/>
                <a:ea typeface="Calibri"/>
                <a:cs typeface="Calibri"/>
                <a:sym typeface="Calibri"/>
              </a:rPr>
              <a:t>En curso</a:t>
            </a:r>
            <a:r>
              <a:rPr b="1" lang="en-US" sz="1300">
                <a:solidFill>
                  <a:srgbClr val="FFFFFF"/>
                </a:solidFill>
                <a:latin typeface="Calibri"/>
                <a:ea typeface="Calibri"/>
                <a:cs typeface="Calibri"/>
                <a:sym typeface="Calibri"/>
              </a:rPr>
              <a:t>:</a:t>
            </a:r>
            <a:r>
              <a:rPr b="1" i="0" lang="en-US" sz="1300" u="none" cap="none" strike="noStrike">
                <a:solidFill>
                  <a:srgbClr val="FFFFFF"/>
                </a:solidFill>
                <a:latin typeface="Calibri"/>
                <a:ea typeface="Calibri"/>
                <a:cs typeface="Calibri"/>
                <a:sym typeface="Calibri"/>
              </a:rPr>
              <a:t>  </a:t>
            </a:r>
            <a:r>
              <a:rPr b="1" lang="en-US" sz="1300">
                <a:solidFill>
                  <a:srgbClr val="FFFFFF"/>
                </a:solidFill>
                <a:latin typeface="Calibri"/>
                <a:ea typeface="Calibri"/>
                <a:cs typeface="Calibri"/>
                <a:sym typeface="Calibri"/>
              </a:rPr>
              <a:t>0</a:t>
            </a:r>
            <a:endParaRPr/>
          </a:p>
        </p:txBody>
      </p:sp>
      <p:sp>
        <p:nvSpPr>
          <p:cNvPr id="689" name="Google Shape;689;p40"/>
          <p:cNvSpPr/>
          <p:nvPr/>
        </p:nvSpPr>
        <p:spPr>
          <a:xfrm>
            <a:off x="548654" y="1186471"/>
            <a:ext cx="1737300" cy="3840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0" name="Google Shape;690;p40"/>
          <p:cNvSpPr txBox="1"/>
          <p:nvPr/>
        </p:nvSpPr>
        <p:spPr>
          <a:xfrm>
            <a:off x="548654" y="1186471"/>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Por hacer:</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0</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5" name="Shape 695"/>
        <p:cNvGrpSpPr/>
        <p:nvPr/>
      </p:nvGrpSpPr>
      <p:grpSpPr>
        <a:xfrm>
          <a:off x="0" y="0"/>
          <a:ext cx="0" cy="0"/>
          <a:chOff x="0" y="0"/>
          <a:chExt cx="0" cy="0"/>
        </a:xfrm>
      </p:grpSpPr>
      <p:sp>
        <p:nvSpPr>
          <p:cNvPr id="696" name="Google Shape;696;p41"/>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2</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Impediment Log</a:t>
            </a:r>
            <a:endParaRPr/>
          </a:p>
        </p:txBody>
      </p:sp>
      <p:sp>
        <p:nvSpPr>
          <p:cNvPr id="697" name="Google Shape;697;p41"/>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33</a:t>
            </a:r>
            <a:endParaRPr/>
          </a:p>
        </p:txBody>
      </p:sp>
      <p:graphicFrame>
        <p:nvGraphicFramePr>
          <p:cNvPr id="698" name="Google Shape;698;p41"/>
          <p:cNvGraphicFramePr/>
          <p:nvPr/>
        </p:nvGraphicFramePr>
        <p:xfrm>
          <a:off x="548628" y="1364108"/>
          <a:ext cx="3000000" cy="3000000"/>
        </p:xfrm>
        <a:graphic>
          <a:graphicData uri="http://schemas.openxmlformats.org/drawingml/2006/table">
            <a:tbl>
              <a:tblPr>
                <a:noFill/>
                <a:tableStyleId>{BA7B9E9C-A63D-41EF-8DED-ABFA5B16292E}</a:tableStyleId>
              </a:tblPr>
              <a:tblGrid>
                <a:gridCol w="777250"/>
                <a:gridCol w="1051550"/>
                <a:gridCol w="3703325"/>
                <a:gridCol w="3703325"/>
                <a:gridCol w="804675"/>
                <a:gridCol w="10515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Reporte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Impedimento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Cómo lo solucionamos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Estado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Cierre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11/08/2026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se dispone de una balanza con salida serial.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Arnés y analizador probados con una captura sintética; ingreso manual como modo primario.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01/09/2026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hay impresora ESC/POS ni servicio de impresión disponible en los equipos del equipo ni en la contraparte.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Controlador ESC/POS verificado contra la API de la biblioteca (context7) y entregado sin validación física; el comprobante en pantalla es modo soportado.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08/09/2026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envío mandaba marcas de tiempo ISO-8601 donde el servidor esperaba milisegundos desde la época.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Formato corregido en el transporte; prueba de contrato agregada.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08/09/2026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10/09/2026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emulador de Android no alcanza el backend de desarrollo mediante el alias 10.0.2.2.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Se adopta adb reverse tcp:8080 tcp:8080 y una única constante de host (localhost:8080) para todos los clientes; documentado en el README.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10/09/2026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catálogo nunca llegaba al dispositivo.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Cursor avanzado solo tras aplicar; fila omitida reintentada en el siguiente ciclo; pruebas de descarga agregadas.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trabajador de envío reintenta sin límite cuando el servidor responde 401 y el refresco de sesión se dispara en paralelo desde dos ciclos.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Retroceso exponencial con tope, refresco de sesión de vuelo único; la aplicación de cambios de catálogo se posterga un día y el líder técnico se concentra en el envío.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Al cerrar la caja durante un envío, las filas de la cola quedaban en estado en vuelo y nunca se reenviaban.</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Al iniciar, las filas en vuelo vuelven a pendientes; un fallo inesperado del envío deja el lote en cola en lugar de en vuelo.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15/09/2026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Una operación rechazada por el servidor pasaba a estado fallido y ningún componente lo leía, por lo que parecía sincronizada.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estado fallido levanta el indicador de la barra de estado.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15/09/2026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16/09/2026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Con la sesión de dispositivo caducada, la cola quedaba varada y la caja no tenía camino para volver a autenticarse.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Camino de reingreso de la sesión; el ciclo periódico reintenta aun con sesión muerta y el churn de la cola no dispara envíos mientras esté caída.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16/09/2026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3" name="Shape 703"/>
        <p:cNvGrpSpPr/>
        <p:nvPr/>
      </p:nvGrpSpPr>
      <p:grpSpPr>
        <a:xfrm>
          <a:off x="0" y="0"/>
          <a:ext cx="0" cy="0"/>
          <a:chOff x="0" y="0"/>
          <a:chExt cx="0" cy="0"/>
        </a:xfrm>
      </p:grpSpPr>
      <p:sp>
        <p:nvSpPr>
          <p:cNvPr id="704" name="Google Shape;704;p42"/>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2</a:t>
            </a:r>
            <a:r>
              <a:rPr b="1" lang="en-US" sz="3000">
                <a:solidFill>
                  <a:srgbClr val="4A2C1A"/>
                </a:solidFill>
                <a:latin typeface="Calibri"/>
                <a:ea typeface="Calibri"/>
                <a:cs typeface="Calibri"/>
                <a:sym typeface="Calibri"/>
              </a:rPr>
              <a:t>: </a:t>
            </a:r>
            <a:r>
              <a:rPr b="1" i="0" lang="en-US" sz="3000" u="none" cap="none" strike="noStrike">
                <a:solidFill>
                  <a:srgbClr val="4A2C1A"/>
                </a:solidFill>
                <a:latin typeface="Calibri"/>
                <a:ea typeface="Calibri"/>
                <a:cs typeface="Calibri"/>
                <a:sym typeface="Calibri"/>
              </a:rPr>
              <a:t>Burndown </a:t>
            </a:r>
            <a:r>
              <a:rPr b="1" lang="en-US" sz="3000">
                <a:solidFill>
                  <a:srgbClr val="4A2C1A"/>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hart</a:t>
            </a:r>
            <a:endParaRPr/>
          </a:p>
        </p:txBody>
      </p:sp>
      <p:sp>
        <p:nvSpPr>
          <p:cNvPr id="705" name="Google Shape;705;p42"/>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34</a:t>
            </a:r>
            <a:endParaRPr/>
          </a:p>
        </p:txBody>
      </p:sp>
      <p:sp>
        <p:nvSpPr>
          <p:cNvPr id="706" name="Google Shape;706;p42"/>
          <p:cNvSpPr/>
          <p:nvPr/>
        </p:nvSpPr>
        <p:spPr>
          <a:xfrm>
            <a:off x="548640" y="1188720"/>
            <a:ext cx="7680960" cy="5074920"/>
          </a:xfrm>
          <a:prstGeom prst="roundRect">
            <a:avLst>
              <a:gd fmla="val 1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7" name="Google Shape;707;p42"/>
          <p:cNvSpPr txBox="1"/>
          <p:nvPr/>
        </p:nvSpPr>
        <p:spPr>
          <a:xfrm>
            <a:off x="731520" y="1261872"/>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Horas restantes al cierre de cada día hábil</a:t>
            </a:r>
            <a:endParaRPr/>
          </a:p>
        </p:txBody>
      </p:sp>
      <p:graphicFrame>
        <p:nvGraphicFramePr>
          <p:cNvPr id="708" name="Google Shape;708;p42"/>
          <p:cNvGraphicFramePr/>
          <p:nvPr/>
        </p:nvGraphicFramePr>
        <p:xfrm>
          <a:off x="640080" y="1645920"/>
          <a:ext cx="7498079" cy="4526280"/>
        </p:xfrm>
        <a:graphic>
          <a:graphicData uri="http://schemas.openxmlformats.org/drawingml/2006/chart">
            <c:chart r:id="rId3"/>
          </a:graphicData>
        </a:graphic>
      </p:graphicFrame>
      <p:sp>
        <p:nvSpPr>
          <p:cNvPr id="709" name="Google Shape;709;p42"/>
          <p:cNvSpPr/>
          <p:nvPr/>
        </p:nvSpPr>
        <p:spPr>
          <a:xfrm>
            <a:off x="8412480" y="1188720"/>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0" name="Google Shape;710;p42"/>
          <p:cNvSpPr txBox="1"/>
          <p:nvPr/>
        </p:nvSpPr>
        <p:spPr>
          <a:xfrm>
            <a:off x="8549640" y="1261872"/>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69 h</a:t>
            </a:r>
            <a:endParaRPr/>
          </a:p>
        </p:txBody>
      </p:sp>
      <p:sp>
        <p:nvSpPr>
          <p:cNvPr id="711" name="Google Shape;711;p42"/>
          <p:cNvSpPr txBox="1"/>
          <p:nvPr/>
        </p:nvSpPr>
        <p:spPr>
          <a:xfrm>
            <a:off x="8549640" y="1874520"/>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comprometidas, en 9 días hábiles</a:t>
            </a:r>
            <a:endParaRPr/>
          </a:p>
        </p:txBody>
      </p:sp>
      <p:sp>
        <p:nvSpPr>
          <p:cNvPr id="712" name="Google Shape;712;p42"/>
          <p:cNvSpPr/>
          <p:nvPr/>
        </p:nvSpPr>
        <p:spPr>
          <a:xfrm>
            <a:off x="8412480" y="2487168"/>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3" name="Google Shape;713;p42"/>
          <p:cNvSpPr txBox="1"/>
          <p:nvPr/>
        </p:nvSpPr>
        <p:spPr>
          <a:xfrm>
            <a:off x="8549640" y="2560320"/>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69 h</a:t>
            </a:r>
            <a:endParaRPr/>
          </a:p>
        </p:txBody>
      </p:sp>
      <p:sp>
        <p:nvSpPr>
          <p:cNvPr id="714" name="Google Shape;714;p42"/>
          <p:cNvSpPr txBox="1"/>
          <p:nvPr/>
        </p:nvSpPr>
        <p:spPr>
          <a:xfrm>
            <a:off x="8549640" y="3172968"/>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consumidas</a:t>
            </a:r>
            <a:endParaRPr/>
          </a:p>
        </p:txBody>
      </p:sp>
      <p:sp>
        <p:nvSpPr>
          <p:cNvPr id="715" name="Google Shape;715;p42"/>
          <p:cNvSpPr/>
          <p:nvPr/>
        </p:nvSpPr>
        <p:spPr>
          <a:xfrm>
            <a:off x="8412480" y="3785615"/>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6" name="Google Shape;716;p42"/>
          <p:cNvSpPr txBox="1"/>
          <p:nvPr/>
        </p:nvSpPr>
        <p:spPr>
          <a:xfrm>
            <a:off x="8549640" y="3858768"/>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+4,7 h</a:t>
            </a:r>
            <a:endParaRPr/>
          </a:p>
        </p:txBody>
      </p:sp>
      <p:sp>
        <p:nvSpPr>
          <p:cNvPr id="717" name="Google Shape;717;p42"/>
          <p:cNvSpPr txBox="1"/>
          <p:nvPr/>
        </p:nvSpPr>
        <p:spPr>
          <a:xfrm>
            <a:off x="8549640" y="4471416"/>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mayor desvío (día 1); −1,2 h el día 8</a:t>
            </a:r>
            <a:endParaRPr/>
          </a:p>
        </p:txBody>
      </p:sp>
      <p:sp>
        <p:nvSpPr>
          <p:cNvPr id="718" name="Google Shape;718;p42"/>
          <p:cNvSpPr/>
          <p:nvPr/>
        </p:nvSpPr>
        <p:spPr>
          <a:xfrm>
            <a:off x="8412480" y="5084064"/>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9" name="Google Shape;719;p42"/>
          <p:cNvSpPr txBox="1"/>
          <p:nvPr/>
        </p:nvSpPr>
        <p:spPr>
          <a:xfrm>
            <a:off x="8549640" y="5157216"/>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0 h</a:t>
            </a:r>
            <a:endParaRPr/>
          </a:p>
        </p:txBody>
      </p:sp>
      <p:sp>
        <p:nvSpPr>
          <p:cNvPr id="720" name="Google Shape;720;p42"/>
          <p:cNvSpPr txBox="1"/>
          <p:nvPr/>
        </p:nvSpPr>
        <p:spPr>
          <a:xfrm>
            <a:off x="8549640" y="5769864"/>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restantes al cierre, el 17 de septiembre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5" name="Shape 725"/>
        <p:cNvGrpSpPr/>
        <p:nvPr/>
      </p:nvGrpSpPr>
      <p:grpSpPr>
        <a:xfrm>
          <a:off x="0" y="0"/>
          <a:ext cx="0" cy="0"/>
          <a:chOff x="0" y="0"/>
          <a:chExt cx="0" cy="0"/>
        </a:xfrm>
      </p:grpSpPr>
      <p:sp>
        <p:nvSpPr>
          <p:cNvPr id="726" name="Google Shape;726;p43"/>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2</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Acta Sprint Review firmada</a:t>
            </a:r>
            <a:endParaRPr/>
          </a:p>
        </p:txBody>
      </p:sp>
      <p:graphicFrame>
        <p:nvGraphicFramePr>
          <p:cNvPr id="727" name="Google Shape;727;p43"/>
          <p:cNvGraphicFramePr/>
          <p:nvPr/>
        </p:nvGraphicFramePr>
        <p:xfrm>
          <a:off x="548565" y="1865368"/>
          <a:ext cx="3000000" cy="3000000"/>
        </p:xfrm>
        <a:graphic>
          <a:graphicData uri="http://schemas.openxmlformats.org/drawingml/2006/table">
            <a:tbl>
              <a:tblPr>
                <a:noFill/>
                <a:tableStyleId>{BA7B9E9C-A63D-41EF-8DED-ABFA5B16292E}</a:tableStyleId>
              </a:tblPr>
              <a:tblGrid>
                <a:gridCol w="3657600"/>
                <a:gridCol w="2560325"/>
                <a:gridCol w="1737350"/>
                <a:gridCol w="3136400"/>
              </a:tblGrid>
              <a:tr h="384050">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Nombre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Rol / Responsabilidad</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Fecha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Firma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r>
              <a:tr h="548650">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Diego Maldonado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Product Owner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17/09/2026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omic Sans MS"/>
                          <a:ea typeface="Comic Sans MS"/>
                          <a:cs typeface="Comic Sans MS"/>
                          <a:sym typeface="Comic Sans MS"/>
                        </a:rPr>
                        <a:t>Diego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7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Propietario(a) de Panadería San Manuel</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Contraparte</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17/09/2026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7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Rodrigo Mancilla</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Scrum Master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17/09/2026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descr="sig_s0_r2.png" id="728" name="Google Shape;728;p43"/>
          <p:cNvPicPr preferRelativeResize="0"/>
          <p:nvPr/>
        </p:nvPicPr>
        <p:blipFill rotWithShape="1">
          <a:blip r:embed="rId3">
            <a:alphaModFix/>
          </a:blip>
          <a:srcRect b="0" l="0" r="0" t="0"/>
          <a:stretch/>
        </p:blipFill>
        <p:spPr>
          <a:xfrm>
            <a:off x="8587484" y="2878421"/>
            <a:ext cx="1497600" cy="806398"/>
          </a:xfrm>
          <a:prstGeom prst="rect">
            <a:avLst/>
          </a:prstGeom>
          <a:noFill/>
          <a:ln>
            <a:noFill/>
          </a:ln>
        </p:spPr>
      </p:pic>
      <p:pic>
        <p:nvPicPr>
          <p:cNvPr descr="sig_s0_r3.png" id="729" name="Google Shape;729;p43"/>
          <p:cNvPicPr preferRelativeResize="0"/>
          <p:nvPr/>
        </p:nvPicPr>
        <p:blipFill rotWithShape="1">
          <a:blip r:embed="rId4">
            <a:alphaModFix/>
          </a:blip>
          <a:srcRect b="0" l="0" r="0" t="0"/>
          <a:stretch/>
        </p:blipFill>
        <p:spPr>
          <a:xfrm>
            <a:off x="8587484" y="3972715"/>
            <a:ext cx="1186560" cy="93312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4" name="Shape 734"/>
        <p:cNvGrpSpPr/>
        <p:nvPr/>
      </p:nvGrpSpPr>
      <p:grpSpPr>
        <a:xfrm>
          <a:off x="0" y="0"/>
          <a:ext cx="0" cy="0"/>
          <a:chOff x="0" y="0"/>
          <a:chExt cx="0" cy="0"/>
        </a:xfrm>
      </p:grpSpPr>
      <p:sp>
        <p:nvSpPr>
          <p:cNvPr id="735" name="Google Shape;735;p45"/>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3</a:t>
            </a:r>
            <a:r>
              <a:rPr b="1" lang="en-US" sz="3000">
                <a:solidFill>
                  <a:srgbClr val="4A2C1A"/>
                </a:solidFill>
                <a:latin typeface="Calibri"/>
                <a:ea typeface="Calibri"/>
                <a:cs typeface="Calibri"/>
                <a:sym typeface="Calibri"/>
              </a:rPr>
              <a:t>: Resumen</a:t>
            </a:r>
            <a:endParaRPr/>
          </a:p>
        </p:txBody>
      </p:sp>
      <p:sp>
        <p:nvSpPr>
          <p:cNvPr id="736" name="Google Shape;736;p45"/>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37</a:t>
            </a:r>
            <a:endParaRPr/>
          </a:p>
        </p:txBody>
      </p:sp>
      <p:sp>
        <p:nvSpPr>
          <p:cNvPr id="737" name="Google Shape;737;p45"/>
          <p:cNvSpPr/>
          <p:nvPr/>
        </p:nvSpPr>
        <p:spPr>
          <a:xfrm>
            <a:off x="548640"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p45"/>
          <p:cNvSpPr txBox="1"/>
          <p:nvPr/>
        </p:nvSpPr>
        <p:spPr>
          <a:xfrm>
            <a:off x="685800"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21 / 21</a:t>
            </a:r>
            <a:endParaRPr/>
          </a:p>
        </p:txBody>
      </p:sp>
      <p:sp>
        <p:nvSpPr>
          <p:cNvPr id="739" name="Google Shape;739;p45"/>
          <p:cNvSpPr txBox="1"/>
          <p:nvPr/>
        </p:nvSpPr>
        <p:spPr>
          <a:xfrm>
            <a:off x="685800"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puntos aceptados</a:t>
            </a:r>
            <a:endParaRPr/>
          </a:p>
        </p:txBody>
      </p:sp>
      <p:sp>
        <p:nvSpPr>
          <p:cNvPr id="740" name="Google Shape;740;p45"/>
          <p:cNvSpPr/>
          <p:nvPr/>
        </p:nvSpPr>
        <p:spPr>
          <a:xfrm>
            <a:off x="3367278"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1" name="Google Shape;741;p45"/>
          <p:cNvSpPr txBox="1"/>
          <p:nvPr/>
        </p:nvSpPr>
        <p:spPr>
          <a:xfrm>
            <a:off x="3504438"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62,5 h</a:t>
            </a:r>
            <a:endParaRPr/>
          </a:p>
        </p:txBody>
      </p:sp>
      <p:sp>
        <p:nvSpPr>
          <p:cNvPr id="742" name="Google Shape;742;p45"/>
          <p:cNvSpPr txBox="1"/>
          <p:nvPr/>
        </p:nvSpPr>
        <p:spPr>
          <a:xfrm>
            <a:off x="3504438"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consumidas de 66 h comprometidas</a:t>
            </a:r>
            <a:endParaRPr/>
          </a:p>
        </p:txBody>
      </p:sp>
      <p:sp>
        <p:nvSpPr>
          <p:cNvPr id="743" name="Google Shape;743;p45"/>
          <p:cNvSpPr/>
          <p:nvPr/>
        </p:nvSpPr>
        <p:spPr>
          <a:xfrm>
            <a:off x="6185916"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4" name="Google Shape;744;p45"/>
          <p:cNvSpPr txBox="1"/>
          <p:nvPr/>
        </p:nvSpPr>
        <p:spPr>
          <a:xfrm>
            <a:off x="6323076"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14 de 15</a:t>
            </a:r>
            <a:endParaRPr/>
          </a:p>
        </p:txBody>
      </p:sp>
      <p:sp>
        <p:nvSpPr>
          <p:cNvPr id="745" name="Google Shape;745;p45"/>
          <p:cNvSpPr txBox="1"/>
          <p:nvPr/>
        </p:nvSpPr>
        <p:spPr>
          <a:xfrm>
            <a:off x="6323076"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tareas hechas (1 en curso)</a:t>
            </a:r>
            <a:endParaRPr/>
          </a:p>
        </p:txBody>
      </p:sp>
      <p:sp>
        <p:nvSpPr>
          <p:cNvPr id="746" name="Google Shape;746;p45"/>
          <p:cNvSpPr/>
          <p:nvPr/>
        </p:nvSpPr>
        <p:spPr>
          <a:xfrm>
            <a:off x="9004554"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7" name="Google Shape;747;p45"/>
          <p:cNvSpPr txBox="1"/>
          <p:nvPr/>
        </p:nvSpPr>
        <p:spPr>
          <a:xfrm>
            <a:off x="9141714"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5 de 5</a:t>
            </a:r>
            <a:endParaRPr/>
          </a:p>
        </p:txBody>
      </p:sp>
      <p:sp>
        <p:nvSpPr>
          <p:cNvPr id="748" name="Google Shape;748;p45"/>
          <p:cNvSpPr txBox="1"/>
          <p:nvPr/>
        </p:nvSpPr>
        <p:spPr>
          <a:xfrm>
            <a:off x="9141714"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historias aceptadas</a:t>
            </a:r>
            <a:endParaRPr/>
          </a:p>
        </p:txBody>
      </p:sp>
      <p:sp>
        <p:nvSpPr>
          <p:cNvPr id="749" name="Google Shape;749;p45"/>
          <p:cNvSpPr/>
          <p:nvPr/>
        </p:nvSpPr>
        <p:spPr>
          <a:xfrm>
            <a:off x="548640" y="2468880"/>
            <a:ext cx="5394960" cy="3794760"/>
          </a:xfrm>
          <a:prstGeom prst="roundRect">
            <a:avLst>
              <a:gd fmla="val 144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0" name="Google Shape;750;p45"/>
          <p:cNvSpPr txBox="1"/>
          <p:nvPr/>
        </p:nvSpPr>
        <p:spPr>
          <a:xfrm>
            <a:off x="731520" y="2560320"/>
            <a:ext cx="5029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5 historias aceptadas</a:t>
            </a:r>
            <a:endParaRPr/>
          </a:p>
        </p:txBody>
      </p:sp>
      <p:sp>
        <p:nvSpPr>
          <p:cNvPr id="751" name="Google Shape;751;p45"/>
          <p:cNvSpPr txBox="1"/>
          <p:nvPr/>
        </p:nvSpPr>
        <p:spPr>
          <a:xfrm>
            <a:off x="731520" y="3017520"/>
            <a:ext cx="4937760" cy="315468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Administración de catálogo</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Acceso por rol</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Usuarios y roles</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Revisión de operaciones rechazadas</a:t>
            </a:r>
            <a:r>
              <a:rPr b="0" i="0" lang="en-US" sz="1300" u="none" cap="none" strike="noStrike">
                <a:solidFill>
                  <a:srgbClr val="6E5F50"/>
                </a:solidFill>
                <a:latin typeface="Calibri"/>
                <a:ea typeface="Calibri"/>
                <a:cs typeface="Calibri"/>
                <a:sym typeface="Calibri"/>
              </a:rPr>
              <a:t>  (3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Selección de controladores</a:t>
            </a:r>
            <a:r>
              <a:rPr b="0" i="0" lang="en-US" sz="1300" u="none" cap="none" strike="noStrike">
                <a:solidFill>
                  <a:srgbClr val="6E5F50"/>
                </a:solidFill>
                <a:latin typeface="Calibri"/>
                <a:ea typeface="Calibri"/>
                <a:cs typeface="Calibri"/>
                <a:sym typeface="Calibri"/>
              </a:rPr>
              <a:t>  (3 pts)</a:t>
            </a:r>
            <a:r>
              <a:rPr b="1" i="0" lang="en-US" sz="1300" u="none" cap="none" strike="noStrike">
                <a:solidFill>
                  <a:srgbClr val="A8461A"/>
                </a:solidFill>
                <a:latin typeface="Calibri"/>
                <a:ea typeface="Calibri"/>
                <a:cs typeface="Calibri"/>
                <a:sym typeface="Calibri"/>
              </a:rPr>
              <a:t>  · con reserva</a:t>
            </a:r>
            <a:endParaRPr/>
          </a:p>
        </p:txBody>
      </p:sp>
      <p:sp>
        <p:nvSpPr>
          <p:cNvPr id="752" name="Google Shape;752;p45"/>
          <p:cNvSpPr/>
          <p:nvPr/>
        </p:nvSpPr>
        <p:spPr>
          <a:xfrm>
            <a:off x="6126480" y="2468880"/>
            <a:ext cx="5513832" cy="1810512"/>
          </a:xfrm>
          <a:prstGeom prst="roundRect">
            <a:avLst>
              <a:gd fmla="val 303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3" name="Google Shape;753;p45"/>
          <p:cNvSpPr txBox="1"/>
          <p:nvPr/>
        </p:nvSpPr>
        <p:spPr>
          <a:xfrm>
            <a:off x="6309360" y="2560320"/>
            <a:ext cx="5148072"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4A2C1A"/>
                </a:solidFill>
                <a:latin typeface="Calibri"/>
                <a:ea typeface="Calibri"/>
                <a:cs typeface="Calibri"/>
                <a:sym typeface="Calibri"/>
              </a:rPr>
              <a:t>Cambio de precio panel → caja</a:t>
            </a:r>
            <a:endParaRPr/>
          </a:p>
          <a:p>
            <a:pPr indent="0" lvl="0" marL="0" marR="0" rtl="0" algn="l">
              <a:lnSpc>
                <a:spcPct val="100000"/>
              </a:lnSpc>
              <a:spcBef>
                <a:spcPts val="600"/>
              </a:spcBef>
              <a:spcAft>
                <a:spcPts val="0"/>
              </a:spcAft>
              <a:buNone/>
            </a:pPr>
            <a:r>
              <a:rPr b="0" i="0" lang="en-US" sz="1300" u="none" cap="none" strike="noStrike">
                <a:solidFill>
                  <a:srgbClr val="2E2318"/>
                </a:solidFill>
                <a:latin typeface="Calibri"/>
                <a:ea typeface="Calibri"/>
                <a:cs typeface="Calibri"/>
                <a:sym typeface="Calibri"/>
              </a:rPr>
              <a:t>El gerente cambia el precio en el panel web y la caja lo recibe sin reiniciar. Prueba CP-ADM-01 del 1 de octubre: 6 de 6 pasos.</a:t>
            </a:r>
            <a:endParaRPr/>
          </a:p>
        </p:txBody>
      </p:sp>
      <p:sp>
        <p:nvSpPr>
          <p:cNvPr id="754" name="Google Shape;754;p45"/>
          <p:cNvSpPr/>
          <p:nvPr/>
        </p:nvSpPr>
        <p:spPr>
          <a:xfrm>
            <a:off x="6126480" y="4453128"/>
            <a:ext cx="5513832" cy="1810512"/>
          </a:xfrm>
          <a:prstGeom prst="roundRect">
            <a:avLst>
              <a:gd fmla="val 4040"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5" name="Google Shape;755;p45"/>
          <p:cNvSpPr txBox="1"/>
          <p:nvPr/>
        </p:nvSpPr>
        <p:spPr>
          <a:xfrm>
            <a:off x="6309360" y="4544568"/>
            <a:ext cx="5148072" cy="164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D9A441"/>
                </a:solidFill>
                <a:latin typeface="Calibri"/>
                <a:ea typeface="Calibri"/>
                <a:cs typeface="Calibri"/>
                <a:sym typeface="Calibri"/>
              </a:rPr>
              <a:t>Acceso por rol</a:t>
            </a:r>
            <a:endParaRPr/>
          </a:p>
          <a:p>
            <a:pPr indent="0" lvl="0" marL="0" marR="0" rtl="0" algn="l">
              <a:lnSpc>
                <a:spcPct val="100000"/>
              </a:lnSpc>
              <a:spcBef>
                <a:spcPts val="600"/>
              </a:spcBef>
              <a:spcAft>
                <a:spcPts val="0"/>
              </a:spcAft>
              <a:buNone/>
            </a:pPr>
            <a:r>
              <a:rPr b="0" i="0" lang="en-US" sz="1300" u="none" cap="none" strike="noStrike">
                <a:solidFill>
                  <a:srgbClr val="FFFFFF"/>
                </a:solidFill>
                <a:latin typeface="Calibri"/>
                <a:ea typeface="Calibri"/>
                <a:cs typeface="Calibri"/>
                <a:sym typeface="Calibri"/>
              </a:rPr>
              <a:t>Cajero y panadero no entran al panel web; el gerente de sucursal ve su sucursal y el gerente general ve todo, con la administración de usuarios.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p46"/>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3</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Sprint Backlog</a:t>
            </a:r>
            <a:endParaRPr/>
          </a:p>
        </p:txBody>
      </p:sp>
      <p:sp>
        <p:nvSpPr>
          <p:cNvPr id="762" name="Google Shape;762;p46"/>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38</a:t>
            </a:r>
            <a:endParaRPr/>
          </a:p>
        </p:txBody>
      </p:sp>
      <p:graphicFrame>
        <p:nvGraphicFramePr>
          <p:cNvPr id="763" name="Google Shape;763;p46"/>
          <p:cNvGraphicFramePr/>
          <p:nvPr/>
        </p:nvGraphicFramePr>
        <p:xfrm>
          <a:off x="548615" y="1950770"/>
          <a:ext cx="3000000" cy="3000000"/>
        </p:xfrm>
        <a:graphic>
          <a:graphicData uri="http://schemas.openxmlformats.org/drawingml/2006/table">
            <a:tbl>
              <a:tblPr>
                <a:noFill/>
                <a:tableStyleId>{BA7B9E9C-A63D-41EF-8DED-ABFA5B16292E}</a:tableStyleId>
              </a:tblPr>
              <a:tblGrid>
                <a:gridCol w="1188725"/>
                <a:gridCol w="7616950"/>
                <a:gridCol w="731525"/>
                <a:gridCol w="777250"/>
                <a:gridCol w="7772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Historia de usuario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Puntos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Tareas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Horas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HU-ADM-0001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gerente, necesito administrar el catálogo de productos, su tipo de venta y sus precios desde el panel web, con la finalidad de mantener la caja al día sin intervención técnica.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HU-PLT-0006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gerente, necesito que el acceso al panel web y a la API esté protegido por autenticación y permisos por rol, con la finalidad de resguardar la información de cada panadería.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HU-ADM-0004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gerente general, necesito administrar los usuarios de la panadería y su rol, con la finalidad de que cada persona vea solo lo que le corresponde.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HU-SYN-0006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que una operación rechazada por el servidor pueda revisarse y reintentarse desde la caja, con la finalidad de no perder ventas por errores de datos.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HU-HWD-0003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administrador(a), necesito cambiar el controlador de cada periférico (simulado, manual o real) desde la configuración, con la finalidad de operar la misma caja con distinto equipamiento.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Trabajo transversal del sprint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Total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5 historias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21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15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66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8" name="Shape 768"/>
        <p:cNvGrpSpPr/>
        <p:nvPr/>
      </p:nvGrpSpPr>
      <p:grpSpPr>
        <a:xfrm>
          <a:off x="0" y="0"/>
          <a:ext cx="0" cy="0"/>
          <a:chOff x="0" y="0"/>
          <a:chExt cx="0" cy="0"/>
        </a:xfrm>
      </p:grpSpPr>
      <p:sp>
        <p:nvSpPr>
          <p:cNvPr id="769" name="Google Shape;769;p47"/>
          <p:cNvSpPr txBox="1"/>
          <p:nvPr/>
        </p:nvSpPr>
        <p:spPr>
          <a:xfrm>
            <a:off x="548640" y="320040"/>
            <a:ext cx="110916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3</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Tablero Kanban</a:t>
            </a:r>
            <a:endParaRPr/>
          </a:p>
        </p:txBody>
      </p:sp>
      <p:sp>
        <p:nvSpPr>
          <p:cNvPr id="770" name="Google Shape;770;p47"/>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39</a:t>
            </a:r>
            <a:endParaRPr/>
          </a:p>
        </p:txBody>
      </p:sp>
      <p:sp>
        <p:nvSpPr>
          <p:cNvPr id="771" name="Google Shape;771;p47"/>
          <p:cNvSpPr/>
          <p:nvPr/>
        </p:nvSpPr>
        <p:spPr>
          <a:xfrm>
            <a:off x="548640" y="1783080"/>
            <a:ext cx="3605784" cy="804671"/>
          </a:xfrm>
          <a:prstGeom prst="roundRect">
            <a:avLst>
              <a:gd fmla="val 6818" name="adj"/>
            </a:avLst>
          </a:prstGeom>
          <a:solidFill>
            <a:srgbClr val="A8461A"/>
          </a:solidFill>
          <a:ln cap="flat" cmpd="sng" w="9525">
            <a:solidFill>
              <a:srgbClr val="A8461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2" name="Google Shape;772;p47"/>
          <p:cNvSpPr txBox="1"/>
          <p:nvPr/>
        </p:nvSpPr>
        <p:spPr>
          <a:xfrm>
            <a:off x="658368"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chemeClr val="lt1"/>
                </a:solidFill>
                <a:latin typeface="Calibri"/>
                <a:ea typeface="Calibri"/>
                <a:cs typeface="Calibri"/>
                <a:sym typeface="Calibri"/>
              </a:rPr>
              <a:t>T3.12  </a:t>
            </a:r>
            <a:r>
              <a:rPr b="0" i="0" lang="en-US" sz="1100" u="none" cap="none" strike="noStrike">
                <a:solidFill>
                  <a:schemeClr val="lt1"/>
                </a:solidFill>
                <a:latin typeface="Calibri"/>
                <a:ea typeface="Calibri"/>
                <a:cs typeface="Calibri"/>
                <a:sym typeface="Calibri"/>
              </a:rPr>
              <a:t>Pruebas con balanza real: arnés, iteración de baudios y trama, y video de la prueba</a:t>
            </a:r>
            <a:endParaRPr>
              <a:solidFill>
                <a:schemeClr val="lt1"/>
              </a:solidFill>
            </a:endParaRPr>
          </a:p>
        </p:txBody>
      </p:sp>
      <p:sp>
        <p:nvSpPr>
          <p:cNvPr id="773" name="Google Shape;773;p47"/>
          <p:cNvSpPr/>
          <p:nvPr/>
        </p:nvSpPr>
        <p:spPr>
          <a:xfrm>
            <a:off x="4291584"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4" name="Google Shape;774;p47"/>
          <p:cNvSpPr txBox="1"/>
          <p:nvPr/>
        </p:nvSpPr>
        <p:spPr>
          <a:xfrm>
            <a:off x="4401312"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T3.01  </a:t>
            </a:r>
            <a:r>
              <a:rPr b="0" i="0" lang="en-US" sz="1100" u="none" cap="none" strike="noStrike">
                <a:solidFill>
                  <a:srgbClr val="2E2318"/>
                </a:solidFill>
                <a:latin typeface="Calibri"/>
                <a:ea typeface="Calibri"/>
                <a:cs typeface="Calibri"/>
                <a:sym typeface="Calibri"/>
              </a:rPr>
              <a:t>Esqueleto del panel web (React, Vite, TanStack Router y Query) con sesión de gerente</a:t>
            </a:r>
            <a:endParaRPr/>
          </a:p>
        </p:txBody>
      </p:sp>
      <p:sp>
        <p:nvSpPr>
          <p:cNvPr id="775" name="Google Shape;775;p47"/>
          <p:cNvSpPr/>
          <p:nvPr/>
        </p:nvSpPr>
        <p:spPr>
          <a:xfrm>
            <a:off x="8034528"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6" name="Google Shape;776;p47"/>
          <p:cNvSpPr txBox="1"/>
          <p:nvPr/>
        </p:nvSpPr>
        <p:spPr>
          <a:xfrm>
            <a:off x="8144256"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T3.02  </a:t>
            </a:r>
            <a:r>
              <a:rPr b="0" i="0" lang="en-US" sz="1100" u="none" cap="none" strike="noStrike">
                <a:solidFill>
                  <a:srgbClr val="2E2318"/>
                </a:solidFill>
                <a:latin typeface="Calibri"/>
                <a:ea typeface="Calibri"/>
                <a:cs typeface="Calibri"/>
                <a:sym typeface="Calibri"/>
              </a:rPr>
              <a:t>Páginas de lista y edición de productos con tipo de venta y precio</a:t>
            </a:r>
            <a:endParaRPr/>
          </a:p>
        </p:txBody>
      </p:sp>
      <p:sp>
        <p:nvSpPr>
          <p:cNvPr id="777" name="Google Shape;777;p47"/>
          <p:cNvSpPr/>
          <p:nvPr/>
        </p:nvSpPr>
        <p:spPr>
          <a:xfrm>
            <a:off x="548640"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8" name="Google Shape;778;p47"/>
          <p:cNvSpPr txBox="1"/>
          <p:nvPr/>
        </p:nvSpPr>
        <p:spPr>
          <a:xfrm>
            <a:off x="658368"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T3.03  </a:t>
            </a:r>
            <a:r>
              <a:rPr b="0" i="0" lang="en-US" sz="1100" u="none" cap="none" strike="noStrike">
                <a:solidFill>
                  <a:srgbClr val="2E2318"/>
                </a:solidFill>
                <a:latin typeface="Calibri"/>
                <a:ea typeface="Calibri"/>
                <a:cs typeface="Calibri"/>
                <a:sym typeface="Calibri"/>
              </a:rPr>
              <a:t>Endpoint de catálogo: alta y edición con orden de servidor para la descarga incremental</a:t>
            </a:r>
            <a:endParaRPr/>
          </a:p>
        </p:txBody>
      </p:sp>
      <p:sp>
        <p:nvSpPr>
          <p:cNvPr id="779" name="Google Shape;779;p47"/>
          <p:cNvSpPr/>
          <p:nvPr/>
        </p:nvSpPr>
        <p:spPr>
          <a:xfrm>
            <a:off x="4291584"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0" name="Google Shape;780;p47"/>
          <p:cNvSpPr txBox="1"/>
          <p:nvPr/>
        </p:nvSpPr>
        <p:spPr>
          <a:xfrm>
            <a:off x="4401312"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T3.04  </a:t>
            </a:r>
            <a:r>
              <a:rPr b="0" i="0" lang="en-US" sz="1100" u="none" cap="none" strike="noStrike">
                <a:solidFill>
                  <a:srgbClr val="2E2318"/>
                </a:solidFill>
                <a:latin typeface="Calibri"/>
                <a:ea typeface="Calibri"/>
                <a:cs typeface="Calibri"/>
                <a:sym typeface="Calibri"/>
              </a:rPr>
              <a:t>Guardas de permiso por rol y por módulo en las rutas de la API</a:t>
            </a:r>
            <a:endParaRPr/>
          </a:p>
        </p:txBody>
      </p:sp>
      <p:sp>
        <p:nvSpPr>
          <p:cNvPr id="781" name="Google Shape;781;p47"/>
          <p:cNvSpPr/>
          <p:nvPr/>
        </p:nvSpPr>
        <p:spPr>
          <a:xfrm>
            <a:off x="8034528"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2" name="Google Shape;782;p47"/>
          <p:cNvSpPr txBox="1"/>
          <p:nvPr/>
        </p:nvSpPr>
        <p:spPr>
          <a:xfrm>
            <a:off x="8144256"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T3.05  </a:t>
            </a:r>
            <a:r>
              <a:rPr b="0" i="0" lang="en-US" sz="1100" u="none" cap="none" strike="noStrike">
                <a:solidFill>
                  <a:srgbClr val="2E2318"/>
                </a:solidFill>
                <a:latin typeface="Calibri"/>
                <a:ea typeface="Calibri"/>
                <a:cs typeface="Calibri"/>
                <a:sym typeface="Calibri"/>
              </a:rPr>
              <a:t>Renovación de sesión de vuelo único en el panel web</a:t>
            </a:r>
            <a:endParaRPr/>
          </a:p>
        </p:txBody>
      </p:sp>
      <p:sp>
        <p:nvSpPr>
          <p:cNvPr id="783" name="Google Shape;783;p47"/>
          <p:cNvSpPr/>
          <p:nvPr/>
        </p:nvSpPr>
        <p:spPr>
          <a:xfrm>
            <a:off x="548640"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4" name="Google Shape;784;p47"/>
          <p:cNvSpPr txBox="1"/>
          <p:nvPr/>
        </p:nvSpPr>
        <p:spPr>
          <a:xfrm>
            <a:off x="658368"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T3.06  </a:t>
            </a:r>
            <a:r>
              <a:rPr b="0" i="0" lang="en-US" sz="1100" u="none" cap="none" strike="noStrike">
                <a:solidFill>
                  <a:srgbClr val="2E2318"/>
                </a:solidFill>
                <a:latin typeface="Calibri"/>
                <a:ea typeface="Calibri"/>
                <a:cs typeface="Calibri"/>
                <a:sym typeface="Calibri"/>
              </a:rPr>
              <a:t>Menú y rutas del panel filtrados por rol</a:t>
            </a:r>
            <a:endParaRPr/>
          </a:p>
        </p:txBody>
      </p:sp>
      <p:sp>
        <p:nvSpPr>
          <p:cNvPr id="785" name="Google Shape;785;p47"/>
          <p:cNvSpPr/>
          <p:nvPr/>
        </p:nvSpPr>
        <p:spPr>
          <a:xfrm>
            <a:off x="4291584"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6" name="Google Shape;786;p47"/>
          <p:cNvSpPr txBox="1"/>
          <p:nvPr/>
        </p:nvSpPr>
        <p:spPr>
          <a:xfrm>
            <a:off x="4401312"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T3.07  </a:t>
            </a:r>
            <a:r>
              <a:rPr b="0" i="0" lang="en-US" sz="1100" u="none" cap="none" strike="noStrike">
                <a:solidFill>
                  <a:srgbClr val="2E2318"/>
                </a:solidFill>
                <a:latin typeface="Calibri"/>
                <a:ea typeface="Calibri"/>
                <a:cs typeface="Calibri"/>
                <a:sym typeface="Calibri"/>
              </a:rPr>
              <a:t>Endpoint y página de usuarios con rol y PIN inicial</a:t>
            </a:r>
            <a:endParaRPr/>
          </a:p>
        </p:txBody>
      </p:sp>
      <p:sp>
        <p:nvSpPr>
          <p:cNvPr id="787" name="Google Shape;787;p47"/>
          <p:cNvSpPr/>
          <p:nvPr/>
        </p:nvSpPr>
        <p:spPr>
          <a:xfrm>
            <a:off x="8034528"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8" name="Google Shape;788;p47"/>
          <p:cNvSpPr txBox="1"/>
          <p:nvPr/>
        </p:nvSpPr>
        <p:spPr>
          <a:xfrm>
            <a:off x="8144256"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T3.08  </a:t>
            </a:r>
            <a:r>
              <a:rPr b="0" i="0" lang="en-US" sz="1100" u="none" cap="none" strike="noStrike">
                <a:solidFill>
                  <a:srgbClr val="2E2318"/>
                </a:solidFill>
                <a:latin typeface="Calibri"/>
                <a:ea typeface="Calibri"/>
                <a:cs typeface="Calibri"/>
                <a:sym typeface="Calibri"/>
              </a:rPr>
              <a:t>Pruebas de rutas protegidas por rol (MSW en el panel, pruebas de módulo Ktor en la API)</a:t>
            </a:r>
            <a:endParaRPr/>
          </a:p>
        </p:txBody>
      </p:sp>
      <p:sp>
        <p:nvSpPr>
          <p:cNvPr id="789" name="Google Shape;789;p47"/>
          <p:cNvSpPr/>
          <p:nvPr/>
        </p:nvSpPr>
        <p:spPr>
          <a:xfrm>
            <a:off x="548640"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0" name="Google Shape;790;p47"/>
          <p:cNvSpPr txBox="1"/>
          <p:nvPr/>
        </p:nvSpPr>
        <p:spPr>
          <a:xfrm>
            <a:off x="658368"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T3.09  </a:t>
            </a:r>
            <a:r>
              <a:rPr b="0" i="0" lang="en-US" sz="1100" u="none" cap="none" strike="noStrike">
                <a:solidFill>
                  <a:srgbClr val="2E2318"/>
                </a:solidFill>
                <a:latin typeface="Calibri"/>
                <a:ea typeface="Calibri"/>
                <a:cs typeface="Calibri"/>
                <a:sym typeface="Calibri"/>
              </a:rPr>
              <a:t>Sección Operaciones rechazadas en la configuración: motivo, reintentar y descartar</a:t>
            </a:r>
            <a:endParaRPr/>
          </a:p>
        </p:txBody>
      </p:sp>
      <p:sp>
        <p:nvSpPr>
          <p:cNvPr id="791" name="Google Shape;791;p47"/>
          <p:cNvSpPr/>
          <p:nvPr/>
        </p:nvSpPr>
        <p:spPr>
          <a:xfrm>
            <a:off x="4291584"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2" name="Google Shape;792;p47"/>
          <p:cNvSpPr txBox="1"/>
          <p:nvPr/>
        </p:nvSpPr>
        <p:spPr>
          <a:xfrm>
            <a:off x="4401312"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T3.10  </a:t>
            </a:r>
            <a:r>
              <a:rPr b="0" i="0" lang="en-US" sz="1100" u="none" cap="none" strike="noStrike">
                <a:solidFill>
                  <a:srgbClr val="2E2318"/>
                </a:solidFill>
                <a:latin typeface="Calibri"/>
                <a:ea typeface="Calibri"/>
                <a:cs typeface="Calibri"/>
                <a:sym typeface="Calibri"/>
              </a:rPr>
              <a:t>Registro del descarte (estado DISCARDED en la cola) y pruebas del flujo de rechazo</a:t>
            </a:r>
            <a:endParaRPr/>
          </a:p>
        </p:txBody>
      </p:sp>
      <p:sp>
        <p:nvSpPr>
          <p:cNvPr id="793" name="Google Shape;793;p47"/>
          <p:cNvSpPr/>
          <p:nvPr/>
        </p:nvSpPr>
        <p:spPr>
          <a:xfrm>
            <a:off x="8034528"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4" name="Google Shape;794;p47"/>
          <p:cNvSpPr txBox="1"/>
          <p:nvPr/>
        </p:nvSpPr>
        <p:spPr>
          <a:xfrm>
            <a:off x="8144256"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T3.11  </a:t>
            </a:r>
            <a:r>
              <a:rPr b="0" i="0" lang="en-US" sz="1100" u="none" cap="none" strike="noStrike">
                <a:solidFill>
                  <a:srgbClr val="2E2318"/>
                </a:solidFill>
                <a:latin typeface="Calibri"/>
                <a:ea typeface="Calibri"/>
                <a:cs typeface="Calibri"/>
                <a:sym typeface="Calibri"/>
              </a:rPr>
              <a:t>Sección Dispositivos en la configuración de la caja: controlador por periférico</a:t>
            </a:r>
            <a:endParaRPr/>
          </a:p>
        </p:txBody>
      </p:sp>
      <p:sp>
        <p:nvSpPr>
          <p:cNvPr id="795" name="Google Shape;795;p47"/>
          <p:cNvSpPr/>
          <p:nvPr/>
        </p:nvSpPr>
        <p:spPr>
          <a:xfrm>
            <a:off x="548640"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6" name="Google Shape;796;p47"/>
          <p:cNvSpPr txBox="1"/>
          <p:nvPr/>
        </p:nvSpPr>
        <p:spPr>
          <a:xfrm>
            <a:off x="658368"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T3.13  </a:t>
            </a:r>
            <a:r>
              <a:rPr b="0" i="0" lang="en-US" sz="1100" u="none" cap="none" strike="noStrike">
                <a:solidFill>
                  <a:srgbClr val="2E2318"/>
                </a:solidFill>
                <a:latin typeface="Calibri"/>
                <a:ea typeface="Calibri"/>
                <a:cs typeface="Calibri"/>
                <a:sym typeface="Calibri"/>
              </a:rPr>
              <a:t>Guion, ejecución y capturas de pantalla del cambio de precio en el panel reflejado en la caja</a:t>
            </a:r>
            <a:endParaRPr/>
          </a:p>
        </p:txBody>
      </p:sp>
      <p:sp>
        <p:nvSpPr>
          <p:cNvPr id="797" name="Google Shape;797;p47"/>
          <p:cNvSpPr/>
          <p:nvPr/>
        </p:nvSpPr>
        <p:spPr>
          <a:xfrm>
            <a:off x="4291584"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8" name="Google Shape;798;p47"/>
          <p:cNvSpPr txBox="1"/>
          <p:nvPr/>
        </p:nvSpPr>
        <p:spPr>
          <a:xfrm>
            <a:off x="4401312"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T3.15  </a:t>
            </a:r>
            <a:r>
              <a:rPr b="0" i="0" lang="en-US" sz="1100" u="none" cap="none" strike="noStrike">
                <a:solidFill>
                  <a:srgbClr val="2E2318"/>
                </a:solidFill>
                <a:latin typeface="Calibri"/>
                <a:ea typeface="Calibri"/>
                <a:cs typeface="Calibri"/>
                <a:sym typeface="Calibri"/>
              </a:rPr>
              <a:t>Validación remota de la pantalla de catálogo con la contraparte</a:t>
            </a:r>
            <a:endParaRPr/>
          </a:p>
        </p:txBody>
      </p:sp>
      <p:sp>
        <p:nvSpPr>
          <p:cNvPr id="799" name="Google Shape;799;p47"/>
          <p:cNvSpPr/>
          <p:nvPr/>
        </p:nvSpPr>
        <p:spPr>
          <a:xfrm>
            <a:off x="8034528"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0" name="Google Shape;800;p47"/>
          <p:cNvSpPr txBox="1"/>
          <p:nvPr/>
        </p:nvSpPr>
        <p:spPr>
          <a:xfrm>
            <a:off x="8144256"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T3.16  </a:t>
            </a:r>
            <a:r>
              <a:rPr b="0" i="0" lang="en-US" sz="1100" u="none" cap="none" strike="noStrike">
                <a:solidFill>
                  <a:srgbClr val="2E2318"/>
                </a:solidFill>
                <a:latin typeface="Calibri"/>
                <a:ea typeface="Calibri"/>
                <a:cs typeface="Calibri"/>
                <a:sym typeface="Calibri"/>
              </a:rPr>
              <a:t>Preparación de la revisión del sprint y notas de la versión</a:t>
            </a:r>
            <a:endParaRPr/>
          </a:p>
        </p:txBody>
      </p:sp>
      <p:sp>
        <p:nvSpPr>
          <p:cNvPr id="801" name="Google Shape;801;p47"/>
          <p:cNvSpPr/>
          <p:nvPr/>
        </p:nvSpPr>
        <p:spPr>
          <a:xfrm>
            <a:off x="4297640" y="1172771"/>
            <a:ext cx="1737300" cy="384000"/>
          </a:xfrm>
          <a:prstGeom prst="roundRect">
            <a:avLst>
              <a:gd fmla="val 50000" name="adj"/>
            </a:avLst>
          </a:prstGeom>
          <a:solidFill>
            <a:srgbClr val="FFFFFF"/>
          </a:solidFill>
          <a:ln cap="flat" cmpd="sng" w="9525">
            <a:solidFill>
              <a:srgbClr val="E3B87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2" name="Google Shape;802;p47"/>
          <p:cNvSpPr txBox="1"/>
          <p:nvPr/>
        </p:nvSpPr>
        <p:spPr>
          <a:xfrm>
            <a:off x="429764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Hecho:</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14</a:t>
            </a:r>
            <a:endParaRPr/>
          </a:p>
        </p:txBody>
      </p:sp>
      <p:sp>
        <p:nvSpPr>
          <p:cNvPr id="803" name="Google Shape;803;p47"/>
          <p:cNvSpPr/>
          <p:nvPr/>
        </p:nvSpPr>
        <p:spPr>
          <a:xfrm>
            <a:off x="2423160" y="1172759"/>
            <a:ext cx="1737300" cy="38400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4" name="Google Shape;804;p47"/>
          <p:cNvSpPr txBox="1"/>
          <p:nvPr/>
        </p:nvSpPr>
        <p:spPr>
          <a:xfrm>
            <a:off x="242316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Calibri"/>
                <a:ea typeface="Calibri"/>
                <a:cs typeface="Calibri"/>
                <a:sym typeface="Calibri"/>
              </a:rPr>
              <a:t>En curso</a:t>
            </a:r>
            <a:r>
              <a:rPr b="1" lang="en-US" sz="1300">
                <a:solidFill>
                  <a:srgbClr val="FFFFFF"/>
                </a:solidFill>
                <a:latin typeface="Calibri"/>
                <a:ea typeface="Calibri"/>
                <a:cs typeface="Calibri"/>
                <a:sym typeface="Calibri"/>
              </a:rPr>
              <a:t>:</a:t>
            </a:r>
            <a:r>
              <a:rPr b="1" i="0" lang="en-US" sz="1300" u="none" cap="none" strike="noStrike">
                <a:solidFill>
                  <a:srgbClr val="FFFFFF"/>
                </a:solidFill>
                <a:latin typeface="Calibri"/>
                <a:ea typeface="Calibri"/>
                <a:cs typeface="Calibri"/>
                <a:sym typeface="Calibri"/>
              </a:rPr>
              <a:t>  </a:t>
            </a:r>
            <a:r>
              <a:rPr b="1" lang="en-US" sz="1300">
                <a:solidFill>
                  <a:srgbClr val="FFFFFF"/>
                </a:solidFill>
                <a:latin typeface="Calibri"/>
                <a:ea typeface="Calibri"/>
                <a:cs typeface="Calibri"/>
                <a:sym typeface="Calibri"/>
              </a:rPr>
              <a:t>1</a:t>
            </a:r>
            <a:endParaRPr/>
          </a:p>
        </p:txBody>
      </p:sp>
      <p:sp>
        <p:nvSpPr>
          <p:cNvPr id="805" name="Google Shape;805;p47"/>
          <p:cNvSpPr/>
          <p:nvPr/>
        </p:nvSpPr>
        <p:spPr>
          <a:xfrm>
            <a:off x="548654" y="1186471"/>
            <a:ext cx="1737300" cy="3840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6" name="Google Shape;806;p47"/>
          <p:cNvSpPr txBox="1"/>
          <p:nvPr/>
        </p:nvSpPr>
        <p:spPr>
          <a:xfrm>
            <a:off x="548654" y="1186471"/>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Por hacer:</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0</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1" name="Shape 811"/>
        <p:cNvGrpSpPr/>
        <p:nvPr/>
      </p:nvGrpSpPr>
      <p:grpSpPr>
        <a:xfrm>
          <a:off x="0" y="0"/>
          <a:ext cx="0" cy="0"/>
          <a:chOff x="0" y="0"/>
          <a:chExt cx="0" cy="0"/>
        </a:xfrm>
      </p:grpSpPr>
      <p:sp>
        <p:nvSpPr>
          <p:cNvPr id="812" name="Google Shape;812;p48"/>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3</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Impediment Log</a:t>
            </a:r>
            <a:r>
              <a:rPr lang="en-US" sz="1100">
                <a:solidFill>
                  <a:schemeClr val="dk1"/>
                </a:solidFill>
              </a:rPr>
              <a:t> </a:t>
            </a:r>
            <a:endParaRPr/>
          </a:p>
        </p:txBody>
      </p:sp>
      <p:sp>
        <p:nvSpPr>
          <p:cNvPr id="813" name="Google Shape;813;p48"/>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40</a:t>
            </a:r>
            <a:endParaRPr/>
          </a:p>
        </p:txBody>
      </p:sp>
      <p:graphicFrame>
        <p:nvGraphicFramePr>
          <p:cNvPr id="814" name="Google Shape;814;p48"/>
          <p:cNvGraphicFramePr/>
          <p:nvPr/>
        </p:nvGraphicFramePr>
        <p:xfrm>
          <a:off x="548628" y="1443320"/>
          <a:ext cx="3000000" cy="3000000"/>
        </p:xfrm>
        <a:graphic>
          <a:graphicData uri="http://schemas.openxmlformats.org/drawingml/2006/table">
            <a:tbl>
              <a:tblPr>
                <a:noFill/>
                <a:tableStyleId>{BA7B9E9C-A63D-41EF-8DED-ABFA5B16292E}</a:tableStyleId>
              </a:tblPr>
              <a:tblGrid>
                <a:gridCol w="777250"/>
                <a:gridCol w="1051550"/>
                <a:gridCol w="3703325"/>
                <a:gridCol w="3703325"/>
                <a:gridCol w="804675"/>
                <a:gridCol w="10515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Reporte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Impedimento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Cómo lo solucionamos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Estado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Cierre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11/08/2026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se dispone de una balanza con salida serial.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Arnés y analizador probados con una captura sintética; ingreso manual como modo primario.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01/09/2026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hay impresora ESC/POS ni servicio de impresión disponible en los equipos del equipo ni en la contraparte.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Controlador ESC/POS verificado contra la API de la biblioteca (context7) y entregado sin validación física; el comprobante en pantalla es modo soportado.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IMP-19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22/09/2026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cable USB de la balanza fallaba.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Se compra un cable USB nuevo; con él la conexión queda estable y se retoman las pruebas de lectura con el arnés.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24/09/2026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IMP-20</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22/09/2026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Las rutas de la API protegidas por permiso lanzaban una excepción cuando la petición llegaba sin autenticación, en lugar de responder 401.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 guarda de permisos responde 401 sin sesión y 403 sin permiso; pruebas de rutas protegidas agregadas.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22/09/2026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24/09/2026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Los selectores del panel mostraban el valor interno (WEIGHT, un UUID) en lugar de su etiqueta.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Todo Select recibe el mapa de ítems con valor y etiqueta; regla anotada en la guía del repositorio.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24/09/2026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25/09/2026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navegador bloqueaba las peticiones del panel web a la API por política de origen cruzado (CORS).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 API permite explícitamente el origen del panel web; prueba de CORS agregada.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25/09/2026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29/09/2026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Las pruebas del panel web fallaban en bloque porque window.localStorage no estaba definido al ejecutarlas directamente con vitest.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Las pruebas se ejecutan siempre mediante el script de npm, que fija NODE_OPTIONS=--no-experimental-webstorage; regla anotada en la guía del repositorio.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29/09/2026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IMP-24</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28/09/2026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Las acciones del menú de la tabla de usuarios (cambiar rol, restablecer PIN) no hacían nada al elegirlas.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Se usa onClick en todos los ítems de menú; regla anotada en la guía del repositorio.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28/09/2026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9" name="Shape 819"/>
        <p:cNvGrpSpPr/>
        <p:nvPr/>
      </p:nvGrpSpPr>
      <p:grpSpPr>
        <a:xfrm>
          <a:off x="0" y="0"/>
          <a:ext cx="0" cy="0"/>
          <a:chOff x="0" y="0"/>
          <a:chExt cx="0" cy="0"/>
        </a:xfrm>
      </p:grpSpPr>
      <p:sp>
        <p:nvSpPr>
          <p:cNvPr id="820" name="Google Shape;820;p49"/>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3</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Burndown </a:t>
            </a:r>
            <a:r>
              <a:rPr b="1" lang="en-US" sz="3000">
                <a:solidFill>
                  <a:srgbClr val="4A2C1A"/>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hart</a:t>
            </a:r>
            <a:endParaRPr/>
          </a:p>
        </p:txBody>
      </p:sp>
      <p:sp>
        <p:nvSpPr>
          <p:cNvPr id="821" name="Google Shape;821;p49"/>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41</a:t>
            </a:r>
            <a:endParaRPr/>
          </a:p>
        </p:txBody>
      </p:sp>
      <p:sp>
        <p:nvSpPr>
          <p:cNvPr id="822" name="Google Shape;822;p49"/>
          <p:cNvSpPr/>
          <p:nvPr/>
        </p:nvSpPr>
        <p:spPr>
          <a:xfrm>
            <a:off x="548640" y="1188720"/>
            <a:ext cx="7680960" cy="5074920"/>
          </a:xfrm>
          <a:prstGeom prst="roundRect">
            <a:avLst>
              <a:gd fmla="val 1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3" name="Google Shape;823;p49"/>
          <p:cNvSpPr txBox="1"/>
          <p:nvPr/>
        </p:nvSpPr>
        <p:spPr>
          <a:xfrm>
            <a:off x="731520" y="1261872"/>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Horas restantes al cierre de cada día hábil</a:t>
            </a:r>
            <a:endParaRPr/>
          </a:p>
        </p:txBody>
      </p:sp>
      <p:graphicFrame>
        <p:nvGraphicFramePr>
          <p:cNvPr id="824" name="Google Shape;824;p49"/>
          <p:cNvGraphicFramePr/>
          <p:nvPr/>
        </p:nvGraphicFramePr>
        <p:xfrm>
          <a:off x="640080" y="1645920"/>
          <a:ext cx="7498079" cy="4526280"/>
        </p:xfrm>
        <a:graphic>
          <a:graphicData uri="http://schemas.openxmlformats.org/drawingml/2006/chart">
            <c:chart r:id="rId3"/>
          </a:graphicData>
        </a:graphic>
      </p:graphicFrame>
      <p:sp>
        <p:nvSpPr>
          <p:cNvPr id="825" name="Google Shape;825;p49"/>
          <p:cNvSpPr/>
          <p:nvPr/>
        </p:nvSpPr>
        <p:spPr>
          <a:xfrm>
            <a:off x="8412480" y="1188720"/>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6" name="Google Shape;826;p49"/>
          <p:cNvSpPr txBox="1"/>
          <p:nvPr/>
        </p:nvSpPr>
        <p:spPr>
          <a:xfrm>
            <a:off x="8549640" y="1261872"/>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66 h</a:t>
            </a:r>
            <a:endParaRPr/>
          </a:p>
        </p:txBody>
      </p:sp>
      <p:sp>
        <p:nvSpPr>
          <p:cNvPr id="827" name="Google Shape;827;p49"/>
          <p:cNvSpPr txBox="1"/>
          <p:nvPr/>
        </p:nvSpPr>
        <p:spPr>
          <a:xfrm>
            <a:off x="8549640" y="1874520"/>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comprometidas</a:t>
            </a:r>
            <a:endParaRPr/>
          </a:p>
        </p:txBody>
      </p:sp>
      <p:sp>
        <p:nvSpPr>
          <p:cNvPr id="828" name="Google Shape;828;p49"/>
          <p:cNvSpPr/>
          <p:nvPr/>
        </p:nvSpPr>
        <p:spPr>
          <a:xfrm>
            <a:off x="8412480" y="2487168"/>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9" name="Google Shape;829;p49"/>
          <p:cNvSpPr txBox="1"/>
          <p:nvPr/>
        </p:nvSpPr>
        <p:spPr>
          <a:xfrm>
            <a:off x="8549640" y="2560320"/>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62,5 h</a:t>
            </a:r>
            <a:endParaRPr/>
          </a:p>
        </p:txBody>
      </p:sp>
      <p:sp>
        <p:nvSpPr>
          <p:cNvPr id="830" name="Google Shape;830;p49"/>
          <p:cNvSpPr txBox="1"/>
          <p:nvPr/>
        </p:nvSpPr>
        <p:spPr>
          <a:xfrm>
            <a:off x="8549640" y="3172968"/>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consumidas</a:t>
            </a:r>
            <a:endParaRPr/>
          </a:p>
        </p:txBody>
      </p:sp>
      <p:sp>
        <p:nvSpPr>
          <p:cNvPr id="831" name="Google Shape;831;p49"/>
          <p:cNvSpPr/>
          <p:nvPr/>
        </p:nvSpPr>
        <p:spPr>
          <a:xfrm>
            <a:off x="8412480" y="3785615"/>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2" name="Google Shape;832;p49"/>
          <p:cNvSpPr txBox="1"/>
          <p:nvPr/>
        </p:nvSpPr>
        <p:spPr>
          <a:xfrm>
            <a:off x="8549640" y="3858768"/>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+3,5 h</a:t>
            </a:r>
            <a:endParaRPr/>
          </a:p>
        </p:txBody>
      </p:sp>
      <p:sp>
        <p:nvSpPr>
          <p:cNvPr id="833" name="Google Shape;833;p49"/>
          <p:cNvSpPr txBox="1"/>
          <p:nvPr/>
        </p:nvSpPr>
        <p:spPr>
          <a:xfrm>
            <a:off x="8549640" y="4471416"/>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desvío al cierre; bajo la ideal entre los días 4 y 8</a:t>
            </a:r>
            <a:endParaRPr/>
          </a:p>
        </p:txBody>
      </p:sp>
      <p:sp>
        <p:nvSpPr>
          <p:cNvPr id="834" name="Google Shape;834;p49"/>
          <p:cNvSpPr/>
          <p:nvPr/>
        </p:nvSpPr>
        <p:spPr>
          <a:xfrm>
            <a:off x="8412480" y="5084064"/>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5" name="Google Shape;835;p49"/>
          <p:cNvSpPr txBox="1"/>
          <p:nvPr/>
        </p:nvSpPr>
        <p:spPr>
          <a:xfrm>
            <a:off x="8549640" y="5157216"/>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3,5 h</a:t>
            </a:r>
            <a:endParaRPr/>
          </a:p>
        </p:txBody>
      </p:sp>
      <p:sp>
        <p:nvSpPr>
          <p:cNvPr id="836" name="Google Shape;836;p49"/>
          <p:cNvSpPr txBox="1"/>
          <p:nvPr/>
        </p:nvSpPr>
        <p:spPr>
          <a:xfrm>
            <a:off x="8549640" y="5769864"/>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restantes al cierre: la tarea T3.12 pasa al Sprint 4</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1" name="Shape 841"/>
        <p:cNvGrpSpPr/>
        <p:nvPr/>
      </p:nvGrpSpPr>
      <p:grpSpPr>
        <a:xfrm>
          <a:off x="0" y="0"/>
          <a:ext cx="0" cy="0"/>
          <a:chOff x="0" y="0"/>
          <a:chExt cx="0" cy="0"/>
        </a:xfrm>
      </p:grpSpPr>
      <p:sp>
        <p:nvSpPr>
          <p:cNvPr id="842" name="Google Shape;842;p50"/>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3</a:t>
            </a:r>
            <a:r>
              <a:rPr b="1" lang="en-US" sz="3000">
                <a:solidFill>
                  <a:srgbClr val="4A2C1A"/>
                </a:solidFill>
                <a:latin typeface="Calibri"/>
                <a:ea typeface="Calibri"/>
                <a:cs typeface="Calibri"/>
                <a:sym typeface="Calibri"/>
              </a:rPr>
              <a:t>: Acta Sprint Review firmada</a:t>
            </a:r>
            <a:endParaRPr/>
          </a:p>
        </p:txBody>
      </p:sp>
      <p:graphicFrame>
        <p:nvGraphicFramePr>
          <p:cNvPr id="843" name="Google Shape;843;p50"/>
          <p:cNvGraphicFramePr/>
          <p:nvPr/>
        </p:nvGraphicFramePr>
        <p:xfrm>
          <a:off x="548628" y="1865368"/>
          <a:ext cx="3000000" cy="3000000"/>
        </p:xfrm>
        <a:graphic>
          <a:graphicData uri="http://schemas.openxmlformats.org/drawingml/2006/table">
            <a:tbl>
              <a:tblPr>
                <a:noFill/>
                <a:tableStyleId>{BA7B9E9C-A63D-41EF-8DED-ABFA5B16292E}</a:tableStyleId>
              </a:tblPr>
              <a:tblGrid>
                <a:gridCol w="3657600"/>
                <a:gridCol w="2560325"/>
                <a:gridCol w="1737350"/>
                <a:gridCol w="3136400"/>
              </a:tblGrid>
              <a:tr h="384050">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Nombre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Rol / Responsabilidad</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Fecha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Firma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r>
              <a:tr h="548650">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Diego Maldonado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Product Owner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02/10/2026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omic Sans MS"/>
                          <a:ea typeface="Comic Sans MS"/>
                          <a:cs typeface="Comic Sans MS"/>
                          <a:sym typeface="Comic Sans MS"/>
                        </a:rPr>
                        <a:t>Diego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7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Propietario(a) de Panadería San Manuel</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Contraparte</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02/10/2026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7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Rodrigo Mancilla</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Scrum Master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02/10/2026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descr="sig_s0_r2.png" id="844" name="Google Shape;844;p50"/>
          <p:cNvPicPr preferRelativeResize="0"/>
          <p:nvPr/>
        </p:nvPicPr>
        <p:blipFill rotWithShape="1">
          <a:blip r:embed="rId3">
            <a:alphaModFix/>
          </a:blip>
          <a:srcRect b="0" l="0" r="0" t="0"/>
          <a:stretch/>
        </p:blipFill>
        <p:spPr>
          <a:xfrm>
            <a:off x="8566922" y="2943496"/>
            <a:ext cx="1497600" cy="806398"/>
          </a:xfrm>
          <a:prstGeom prst="rect">
            <a:avLst/>
          </a:prstGeom>
          <a:noFill/>
          <a:ln>
            <a:noFill/>
          </a:ln>
        </p:spPr>
      </p:pic>
      <p:pic>
        <p:nvPicPr>
          <p:cNvPr descr="sig_s0_r3.png" id="845" name="Google Shape;845;p50"/>
          <p:cNvPicPr preferRelativeResize="0"/>
          <p:nvPr/>
        </p:nvPicPr>
        <p:blipFill rotWithShape="1">
          <a:blip r:embed="rId4">
            <a:alphaModFix/>
          </a:blip>
          <a:srcRect b="0" l="0" r="0" t="0"/>
          <a:stretch/>
        </p:blipFill>
        <p:spPr>
          <a:xfrm>
            <a:off x="8566922" y="3997990"/>
            <a:ext cx="1186560" cy="9331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0" name="Shape 850"/>
        <p:cNvGrpSpPr/>
        <p:nvPr/>
      </p:nvGrpSpPr>
      <p:grpSpPr>
        <a:xfrm>
          <a:off x="0" y="0"/>
          <a:ext cx="0" cy="0"/>
          <a:chOff x="0" y="0"/>
          <a:chExt cx="0" cy="0"/>
        </a:xfrm>
      </p:grpSpPr>
      <p:sp>
        <p:nvSpPr>
          <p:cNvPr id="851" name="Google Shape;851;p52"/>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4</a:t>
            </a:r>
            <a:r>
              <a:rPr b="1" lang="en-US" sz="3000">
                <a:solidFill>
                  <a:srgbClr val="4A2C1A"/>
                </a:solidFill>
                <a:latin typeface="Calibri"/>
                <a:ea typeface="Calibri"/>
                <a:cs typeface="Calibri"/>
                <a:sym typeface="Calibri"/>
              </a:rPr>
              <a:t>: Resumen</a:t>
            </a:r>
            <a:endParaRPr/>
          </a:p>
        </p:txBody>
      </p:sp>
      <p:sp>
        <p:nvSpPr>
          <p:cNvPr id="852" name="Google Shape;852;p52"/>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44</a:t>
            </a:r>
            <a:endParaRPr/>
          </a:p>
        </p:txBody>
      </p:sp>
      <p:sp>
        <p:nvSpPr>
          <p:cNvPr id="853" name="Google Shape;853;p52"/>
          <p:cNvSpPr/>
          <p:nvPr/>
        </p:nvSpPr>
        <p:spPr>
          <a:xfrm>
            <a:off x="548640"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4" name="Google Shape;854;p52"/>
          <p:cNvSpPr txBox="1"/>
          <p:nvPr/>
        </p:nvSpPr>
        <p:spPr>
          <a:xfrm>
            <a:off x="685800"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20 / 20</a:t>
            </a:r>
            <a:endParaRPr/>
          </a:p>
        </p:txBody>
      </p:sp>
      <p:sp>
        <p:nvSpPr>
          <p:cNvPr id="855" name="Google Shape;855;p52"/>
          <p:cNvSpPr txBox="1"/>
          <p:nvPr/>
        </p:nvSpPr>
        <p:spPr>
          <a:xfrm>
            <a:off x="685800"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puntos aceptados</a:t>
            </a:r>
            <a:endParaRPr/>
          </a:p>
        </p:txBody>
      </p:sp>
      <p:sp>
        <p:nvSpPr>
          <p:cNvPr id="856" name="Google Shape;856;p52"/>
          <p:cNvSpPr/>
          <p:nvPr/>
        </p:nvSpPr>
        <p:spPr>
          <a:xfrm>
            <a:off x="3367278"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7" name="Google Shape;857;p52"/>
          <p:cNvSpPr txBox="1"/>
          <p:nvPr/>
        </p:nvSpPr>
        <p:spPr>
          <a:xfrm>
            <a:off x="3504438"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66 / 66 h</a:t>
            </a:r>
            <a:endParaRPr/>
          </a:p>
        </p:txBody>
      </p:sp>
      <p:sp>
        <p:nvSpPr>
          <p:cNvPr id="858" name="Google Shape;858;p52"/>
          <p:cNvSpPr txBox="1"/>
          <p:nvPr/>
        </p:nvSpPr>
        <p:spPr>
          <a:xfrm>
            <a:off x="3504438"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horas comprometidas / consumidas</a:t>
            </a:r>
            <a:endParaRPr/>
          </a:p>
        </p:txBody>
      </p:sp>
      <p:sp>
        <p:nvSpPr>
          <p:cNvPr id="859" name="Google Shape;859;p52"/>
          <p:cNvSpPr/>
          <p:nvPr/>
        </p:nvSpPr>
        <p:spPr>
          <a:xfrm>
            <a:off x="6185916"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0" name="Google Shape;860;p52"/>
          <p:cNvSpPr txBox="1"/>
          <p:nvPr/>
        </p:nvSpPr>
        <p:spPr>
          <a:xfrm>
            <a:off x="6323076"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15 de 15</a:t>
            </a:r>
            <a:endParaRPr/>
          </a:p>
        </p:txBody>
      </p:sp>
      <p:sp>
        <p:nvSpPr>
          <p:cNvPr id="861" name="Google Shape;861;p52"/>
          <p:cNvSpPr txBox="1"/>
          <p:nvPr/>
        </p:nvSpPr>
        <p:spPr>
          <a:xfrm>
            <a:off x="6323076"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tareas hechas</a:t>
            </a:r>
            <a:endParaRPr/>
          </a:p>
        </p:txBody>
      </p:sp>
      <p:sp>
        <p:nvSpPr>
          <p:cNvPr id="862" name="Google Shape;862;p52"/>
          <p:cNvSpPr/>
          <p:nvPr/>
        </p:nvSpPr>
        <p:spPr>
          <a:xfrm>
            <a:off x="9004554" y="1188720"/>
            <a:ext cx="2635758" cy="1097280"/>
          </a:xfrm>
          <a:prstGeom prst="roundRect">
            <a:avLst>
              <a:gd fmla="val 5000"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3" name="Google Shape;863;p52"/>
          <p:cNvSpPr txBox="1"/>
          <p:nvPr/>
        </p:nvSpPr>
        <p:spPr>
          <a:xfrm>
            <a:off x="9141714" y="1261872"/>
            <a:ext cx="2361438" cy="54864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4A2C1A"/>
                </a:solidFill>
                <a:latin typeface="Calibri"/>
                <a:ea typeface="Calibri"/>
                <a:cs typeface="Calibri"/>
                <a:sym typeface="Calibri"/>
              </a:rPr>
              <a:t>v0.3.0</a:t>
            </a:r>
            <a:endParaRPr/>
          </a:p>
        </p:txBody>
      </p:sp>
      <p:sp>
        <p:nvSpPr>
          <p:cNvPr id="864" name="Google Shape;864;p52"/>
          <p:cNvSpPr txBox="1"/>
          <p:nvPr/>
        </p:nvSpPr>
        <p:spPr>
          <a:xfrm>
            <a:off x="9141714" y="1828800"/>
            <a:ext cx="2361438" cy="41147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E5F50"/>
                </a:solidFill>
                <a:latin typeface="Calibri"/>
                <a:ea typeface="Calibri"/>
                <a:cs typeface="Calibri"/>
                <a:sym typeface="Calibri"/>
              </a:rPr>
              <a:t>release «Gestión y producción»</a:t>
            </a:r>
            <a:endParaRPr/>
          </a:p>
        </p:txBody>
      </p:sp>
      <p:sp>
        <p:nvSpPr>
          <p:cNvPr id="865" name="Google Shape;865;p52"/>
          <p:cNvSpPr/>
          <p:nvPr/>
        </p:nvSpPr>
        <p:spPr>
          <a:xfrm>
            <a:off x="548640" y="2468880"/>
            <a:ext cx="5394960" cy="3154680"/>
          </a:xfrm>
          <a:prstGeom prst="roundRect">
            <a:avLst>
              <a:gd fmla="val 1739"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p52"/>
          <p:cNvSpPr txBox="1"/>
          <p:nvPr/>
        </p:nvSpPr>
        <p:spPr>
          <a:xfrm>
            <a:off x="731520" y="2560320"/>
            <a:ext cx="50292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4 historias aceptadas</a:t>
            </a:r>
            <a:endParaRPr/>
          </a:p>
        </p:txBody>
      </p:sp>
      <p:sp>
        <p:nvSpPr>
          <p:cNvPr id="867" name="Google Shape;867;p52"/>
          <p:cNvSpPr txBox="1"/>
          <p:nvPr/>
        </p:nvSpPr>
        <p:spPr>
          <a:xfrm>
            <a:off x="731520" y="3017520"/>
            <a:ext cx="4937760" cy="251460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Registro de amasijo</a:t>
            </a:r>
            <a:r>
              <a:rPr b="0" i="0" lang="en-US" sz="1300" u="none" cap="none" strike="noStrike">
                <a:solidFill>
                  <a:srgbClr val="6E5F50"/>
                </a:solidFill>
                <a:latin typeface="Calibri"/>
                <a:ea typeface="Calibri"/>
                <a:cs typeface="Calibri"/>
                <a:sym typeface="Calibri"/>
              </a:rPr>
              <a:t>  (8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Lotes sin conexión</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Aviso de lote listo</a:t>
            </a:r>
            <a:r>
              <a:rPr b="0" i="0" lang="en-US" sz="1300" u="none" cap="none" strike="noStrike">
                <a:solidFill>
                  <a:srgbClr val="6E5F50"/>
                </a:solidFill>
                <a:latin typeface="Calibri"/>
                <a:ea typeface="Calibri"/>
                <a:cs typeface="Calibri"/>
                <a:sym typeface="Calibri"/>
              </a:rPr>
              <a:t>  (5 pts)</a:t>
            </a:r>
            <a:endParaRPr/>
          </a:p>
          <a:p>
            <a:pPr indent="-155448" lvl="0" marL="155448" marR="0" rtl="0" algn="l">
              <a:lnSpc>
                <a:spcPct val="100000"/>
              </a:lnSpc>
              <a:spcBef>
                <a:spcPts val="6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Apertura de cajón</a:t>
            </a:r>
            <a:r>
              <a:rPr b="0" i="0" lang="en-US" sz="1300" u="none" cap="none" strike="noStrike">
                <a:solidFill>
                  <a:srgbClr val="6E5F50"/>
                </a:solidFill>
                <a:latin typeface="Calibri"/>
                <a:ea typeface="Calibri"/>
                <a:cs typeface="Calibri"/>
                <a:sym typeface="Calibri"/>
              </a:rPr>
              <a:t>  (2 pts)</a:t>
            </a:r>
            <a:r>
              <a:rPr b="1" i="0" lang="en-US" sz="1300" u="none" cap="none" strike="noStrike">
                <a:solidFill>
                  <a:srgbClr val="A8461A"/>
                </a:solidFill>
                <a:latin typeface="Calibri"/>
                <a:ea typeface="Calibri"/>
                <a:cs typeface="Calibri"/>
                <a:sym typeface="Calibri"/>
              </a:rPr>
              <a:t>  · con reserva</a:t>
            </a:r>
            <a:endParaRPr/>
          </a:p>
        </p:txBody>
      </p:sp>
      <p:sp>
        <p:nvSpPr>
          <p:cNvPr id="868" name="Google Shape;868;p52"/>
          <p:cNvSpPr/>
          <p:nvPr/>
        </p:nvSpPr>
        <p:spPr>
          <a:xfrm>
            <a:off x="6126480" y="2468880"/>
            <a:ext cx="5513832" cy="1508760"/>
          </a:xfrm>
          <a:prstGeom prst="roundRect">
            <a:avLst>
              <a:gd fmla="val 3636"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9" name="Google Shape;869;p52"/>
          <p:cNvSpPr txBox="1"/>
          <p:nvPr/>
        </p:nvSpPr>
        <p:spPr>
          <a:xfrm>
            <a:off x="6309360" y="2542032"/>
            <a:ext cx="5148072"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Prueba CP-PRD-01 · 15 de octubre</a:t>
            </a:r>
            <a:endParaRPr/>
          </a:p>
          <a:p>
            <a:pPr indent="0" lvl="0" marL="0" marR="0" rtl="0" algn="l">
              <a:lnSpc>
                <a:spcPct val="100000"/>
              </a:lnSpc>
              <a:spcBef>
                <a:spcPts val="400"/>
              </a:spcBef>
              <a:spcAft>
                <a:spcPts val="0"/>
              </a:spcAft>
              <a:buNone/>
            </a:pPr>
            <a:r>
              <a:rPr b="0" i="0" lang="en-US" sz="1200" u="none" cap="none" strike="noStrike">
                <a:solidFill>
                  <a:srgbClr val="2E2318"/>
                </a:solidFill>
                <a:latin typeface="Calibri"/>
                <a:ea typeface="Calibri"/>
                <a:cs typeface="Calibri"/>
                <a:sym typeface="Calibri"/>
              </a:rPr>
              <a:t>Lote registrado en el celular del panadero y avisado en la caja: 8 de 8 pasos, un día antes de la revisión.</a:t>
            </a:r>
            <a:endParaRPr/>
          </a:p>
        </p:txBody>
      </p:sp>
      <p:sp>
        <p:nvSpPr>
          <p:cNvPr id="870" name="Google Shape;870;p52"/>
          <p:cNvSpPr/>
          <p:nvPr/>
        </p:nvSpPr>
        <p:spPr>
          <a:xfrm>
            <a:off x="6126480" y="4114800"/>
            <a:ext cx="5513832" cy="1508760"/>
          </a:xfrm>
          <a:prstGeom prst="roundRect">
            <a:avLst>
              <a:gd fmla="val 4848"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1" name="Google Shape;871;p52"/>
          <p:cNvSpPr txBox="1"/>
          <p:nvPr/>
        </p:nvSpPr>
        <p:spPr>
          <a:xfrm>
            <a:off x="6309360" y="4187952"/>
            <a:ext cx="5148072"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D9A441"/>
                </a:solidFill>
                <a:latin typeface="Calibri"/>
                <a:ea typeface="Calibri"/>
                <a:cs typeface="Calibri"/>
                <a:sym typeface="Calibri"/>
              </a:rPr>
              <a:t>Decisión sobre la balanza · 9 de octubre</a:t>
            </a:r>
            <a:endParaRPr/>
          </a:p>
          <a:p>
            <a:pPr indent="0" lvl="0" marL="0" marR="0" rtl="0" algn="l">
              <a:lnSpc>
                <a:spcPct val="100000"/>
              </a:lnSpc>
              <a:spcBef>
                <a:spcPts val="400"/>
              </a:spcBef>
              <a:spcAft>
                <a:spcPts val="0"/>
              </a:spcAft>
              <a:buNone/>
            </a:pPr>
            <a:r>
              <a:rPr b="0" i="0" lang="en-US" sz="1200" u="none" cap="none" strike="noStrike">
                <a:solidFill>
                  <a:srgbClr val="FFFFFF"/>
                </a:solidFill>
                <a:latin typeface="Calibri"/>
                <a:ea typeface="Calibri"/>
                <a:cs typeface="Calibri"/>
                <a:sym typeface="Calibri"/>
              </a:rPr>
              <a:t>La balanza de la panadería es de un fabricante propietario: la lectura se descarta y el ingreso manual de peso queda como modo definitivo.</a:t>
            </a:r>
            <a:endParaRPr/>
          </a:p>
        </p:txBody>
      </p:sp>
      <p:sp>
        <p:nvSpPr>
          <p:cNvPr id="872" name="Google Shape;872;p52"/>
          <p:cNvSpPr/>
          <p:nvPr/>
        </p:nvSpPr>
        <p:spPr>
          <a:xfrm>
            <a:off x="548640" y="5760720"/>
            <a:ext cx="11091672" cy="502920"/>
          </a:xfrm>
          <a:prstGeom prst="roundRect">
            <a:avLst>
              <a:gd fmla="val 10909"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3" name="Google Shape;873;p52"/>
          <p:cNvSpPr/>
          <p:nvPr/>
        </p:nvSpPr>
        <p:spPr>
          <a:xfrm>
            <a:off x="658368" y="5875020"/>
            <a:ext cx="1051560" cy="27432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4" name="Google Shape;874;p52"/>
          <p:cNvSpPr txBox="1"/>
          <p:nvPr/>
        </p:nvSpPr>
        <p:spPr>
          <a:xfrm>
            <a:off x="658368" y="5875020"/>
            <a:ext cx="10515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alibri"/>
                <a:ea typeface="Calibri"/>
                <a:cs typeface="Calibri"/>
                <a:sym typeface="Calibri"/>
              </a:rPr>
              <a:t>Pendiente</a:t>
            </a:r>
            <a:endParaRPr/>
          </a:p>
        </p:txBody>
      </p:sp>
      <p:sp>
        <p:nvSpPr>
          <p:cNvPr id="875" name="Google Shape;875;p52"/>
          <p:cNvSpPr txBox="1"/>
          <p:nvPr/>
        </p:nvSpPr>
        <p:spPr>
          <a:xfrm>
            <a:off x="1847088" y="5797296"/>
            <a:ext cx="9674352"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Impresora de comprobantes y apertura del cajón sin validar en un dispositivo físico (IMP-09).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0" name="Shape 880"/>
        <p:cNvGrpSpPr/>
        <p:nvPr/>
      </p:nvGrpSpPr>
      <p:grpSpPr>
        <a:xfrm>
          <a:off x="0" y="0"/>
          <a:ext cx="0" cy="0"/>
          <a:chOff x="0" y="0"/>
          <a:chExt cx="0" cy="0"/>
        </a:xfrm>
      </p:grpSpPr>
      <p:sp>
        <p:nvSpPr>
          <p:cNvPr id="881" name="Google Shape;881;p53"/>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4</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Sprint Backlog</a:t>
            </a:r>
            <a:endParaRPr/>
          </a:p>
        </p:txBody>
      </p:sp>
      <p:sp>
        <p:nvSpPr>
          <p:cNvPr id="882" name="Google Shape;882;p53"/>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45</a:t>
            </a:r>
            <a:endParaRPr/>
          </a:p>
        </p:txBody>
      </p:sp>
      <p:graphicFrame>
        <p:nvGraphicFramePr>
          <p:cNvPr id="883" name="Google Shape;883;p53"/>
          <p:cNvGraphicFramePr/>
          <p:nvPr/>
        </p:nvGraphicFramePr>
        <p:xfrm>
          <a:off x="548615" y="2145832"/>
          <a:ext cx="3000000" cy="3000000"/>
        </p:xfrm>
        <a:graphic>
          <a:graphicData uri="http://schemas.openxmlformats.org/drawingml/2006/table">
            <a:tbl>
              <a:tblPr>
                <a:noFill/>
                <a:tableStyleId>{BA7B9E9C-A63D-41EF-8DED-ABFA5B16292E}</a:tableStyleId>
              </a:tblPr>
              <a:tblGrid>
                <a:gridCol w="1188725"/>
                <a:gridCol w="7616950"/>
                <a:gridCol w="731525"/>
                <a:gridCol w="777250"/>
                <a:gridCol w="7772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Historia de usuario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Puntos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Tareas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Horas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HU-PRD-0001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panadero(a), necesito registrar cada amasijo con su tipo de pan y peso de mezcla desde el celular, con la finalidad de dejar constancia de la producción sin salir de la cocina.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HU-PRD-0005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panadero(a), necesito registrar lotes sin conexión y que se sincronicen después, con la finalidad de no depender de la red de la cocina.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HU-PRD-0003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recibir un aviso en la caja cuando un lote está listo, con la finalidad de coordinarme con la cocina sin gritos ni traslados.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HU-HWD-0002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Como cajero(a), necesito que el cajón monedero se abra al cerrar una venta en efectivo, con la finalidad de no manipular el cajón a mano.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2</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3</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Trabajo transversal del sprint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ctr">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Total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4 historias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20</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15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c>
                  <a:txBody>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66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E9DECB"/>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8" name="Shape 888"/>
        <p:cNvGrpSpPr/>
        <p:nvPr/>
      </p:nvGrpSpPr>
      <p:grpSpPr>
        <a:xfrm>
          <a:off x="0" y="0"/>
          <a:ext cx="0" cy="0"/>
          <a:chOff x="0" y="0"/>
          <a:chExt cx="0" cy="0"/>
        </a:xfrm>
      </p:grpSpPr>
      <p:sp>
        <p:nvSpPr>
          <p:cNvPr id="889" name="Google Shape;889;p54"/>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4</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Tablero Kanban</a:t>
            </a:r>
            <a:endParaRPr/>
          </a:p>
        </p:txBody>
      </p:sp>
      <p:sp>
        <p:nvSpPr>
          <p:cNvPr id="890" name="Google Shape;890;p54"/>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46</a:t>
            </a:r>
            <a:endParaRPr/>
          </a:p>
        </p:txBody>
      </p:sp>
      <p:sp>
        <p:nvSpPr>
          <p:cNvPr id="891" name="Google Shape;891;p54"/>
          <p:cNvSpPr/>
          <p:nvPr/>
        </p:nvSpPr>
        <p:spPr>
          <a:xfrm>
            <a:off x="548640"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2" name="Google Shape;892;p54"/>
          <p:cNvSpPr txBox="1"/>
          <p:nvPr/>
        </p:nvSpPr>
        <p:spPr>
          <a:xfrm>
            <a:off x="658368"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T4.01  </a:t>
            </a:r>
            <a:r>
              <a:rPr b="0" i="0" lang="en-US" sz="1100" u="none" cap="none" strike="noStrike">
                <a:solidFill>
                  <a:srgbClr val="2E2318"/>
                </a:solidFill>
                <a:latin typeface="Calibri"/>
                <a:ea typeface="Calibri"/>
                <a:cs typeface="Calibri"/>
                <a:sym typeface="Calibri"/>
              </a:rPr>
              <a:t>Módulo de producción del celular en el nivel móvil (api e impl) con selector de productos de la panadería</a:t>
            </a:r>
            <a:endParaRPr/>
          </a:p>
        </p:txBody>
      </p:sp>
      <p:sp>
        <p:nvSpPr>
          <p:cNvPr id="893" name="Google Shape;893;p54"/>
          <p:cNvSpPr/>
          <p:nvPr/>
        </p:nvSpPr>
        <p:spPr>
          <a:xfrm>
            <a:off x="4291584"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4" name="Google Shape;894;p54"/>
          <p:cNvSpPr txBox="1"/>
          <p:nvPr/>
        </p:nvSpPr>
        <p:spPr>
          <a:xfrm>
            <a:off x="4401312"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T4.02  </a:t>
            </a:r>
            <a:r>
              <a:rPr b="0" i="0" lang="en-US" sz="1100" u="none" cap="none" strike="noStrike">
                <a:solidFill>
                  <a:srgbClr val="2E2318"/>
                </a:solidFill>
                <a:latin typeface="Calibri"/>
                <a:ea typeface="Calibri"/>
                <a:cs typeface="Calibri"/>
                <a:sym typeface="Calibri"/>
              </a:rPr>
              <a:t>Pantalla de registro de amasijo: peso en kilos, validación de cero o negativo y confirmación armada fuera de rango</a:t>
            </a:r>
            <a:endParaRPr/>
          </a:p>
        </p:txBody>
      </p:sp>
      <p:sp>
        <p:nvSpPr>
          <p:cNvPr id="895" name="Google Shape;895;p54"/>
          <p:cNvSpPr/>
          <p:nvPr/>
        </p:nvSpPr>
        <p:spPr>
          <a:xfrm>
            <a:off x="8034528" y="1783080"/>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6" name="Google Shape;896;p54"/>
          <p:cNvSpPr txBox="1"/>
          <p:nvPr/>
        </p:nvSpPr>
        <p:spPr>
          <a:xfrm>
            <a:off x="8144256" y="1819656"/>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T4.03  </a:t>
            </a:r>
            <a:r>
              <a:rPr b="0" i="0" lang="en-US" sz="1100" u="none" cap="none" strike="noStrike">
                <a:solidFill>
                  <a:srgbClr val="2E2318"/>
                </a:solidFill>
                <a:latin typeface="Calibri"/>
                <a:ea typeface="Calibri"/>
                <a:cs typeface="Calibri"/>
                <a:sym typeface="Calibri"/>
              </a:rPr>
              <a:t>Registro atómico del lote en la base local (fecha, hora, sucursal y persona) y pruebas del modelo de la pantalla</a:t>
            </a:r>
            <a:endParaRPr/>
          </a:p>
        </p:txBody>
      </p:sp>
      <p:sp>
        <p:nvSpPr>
          <p:cNvPr id="897" name="Google Shape;897;p54"/>
          <p:cNvSpPr/>
          <p:nvPr/>
        </p:nvSpPr>
        <p:spPr>
          <a:xfrm>
            <a:off x="548640"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8" name="Google Shape;898;p54"/>
          <p:cNvSpPr txBox="1"/>
          <p:nvPr/>
        </p:nvSpPr>
        <p:spPr>
          <a:xfrm>
            <a:off x="658368"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T4.04  </a:t>
            </a:r>
            <a:r>
              <a:rPr b="0" i="0" lang="en-US" sz="1100" u="none" cap="none" strike="noStrike">
                <a:solidFill>
                  <a:srgbClr val="2E2318"/>
                </a:solidFill>
                <a:latin typeface="Calibri"/>
                <a:ea typeface="Calibri"/>
                <a:cs typeface="Calibri"/>
                <a:sym typeface="Calibri"/>
              </a:rPr>
              <a:t>Historial del día con el estado de sincronización de cada lote (pendiente y sincronizado)</a:t>
            </a:r>
            <a:endParaRPr/>
          </a:p>
        </p:txBody>
      </p:sp>
      <p:sp>
        <p:nvSpPr>
          <p:cNvPr id="899" name="Google Shape;899;p54"/>
          <p:cNvSpPr/>
          <p:nvPr/>
        </p:nvSpPr>
        <p:spPr>
          <a:xfrm>
            <a:off x="4291584"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0" name="Google Shape;900;p54"/>
          <p:cNvSpPr txBox="1"/>
          <p:nvPr/>
        </p:nvSpPr>
        <p:spPr>
          <a:xfrm>
            <a:off x="4401312"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T4.05  </a:t>
            </a:r>
            <a:r>
              <a:rPr b="0" i="0" lang="en-US" sz="1100" u="none" cap="none" strike="noStrike">
                <a:solidFill>
                  <a:srgbClr val="2E2318"/>
                </a:solidFill>
                <a:latin typeface="Calibri"/>
                <a:ea typeface="Calibri"/>
                <a:cs typeface="Calibri"/>
                <a:sym typeface="Calibri"/>
              </a:rPr>
              <a:t>Envío diferido del lote por la cola de sincronización existente y recuperación al volver la red</a:t>
            </a:r>
            <a:endParaRPr/>
          </a:p>
        </p:txBody>
      </p:sp>
      <p:sp>
        <p:nvSpPr>
          <p:cNvPr id="901" name="Google Shape;901;p54"/>
          <p:cNvSpPr/>
          <p:nvPr/>
        </p:nvSpPr>
        <p:spPr>
          <a:xfrm>
            <a:off x="8034528" y="2679191"/>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2" name="Google Shape;902;p54"/>
          <p:cNvSpPr txBox="1"/>
          <p:nvPr/>
        </p:nvSpPr>
        <p:spPr>
          <a:xfrm>
            <a:off x="8144256" y="2715768"/>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T4.06  </a:t>
            </a:r>
            <a:r>
              <a:rPr b="0" i="0" lang="en-US" sz="1100" u="none" cap="none" strike="noStrike">
                <a:solidFill>
                  <a:srgbClr val="2E2318"/>
                </a:solidFill>
                <a:latin typeface="Calibri"/>
                <a:ea typeface="Calibri"/>
                <a:cs typeface="Calibri"/>
                <a:sym typeface="Calibri"/>
              </a:rPr>
              <a:t>Ingreso del lote en la API de sincronización: validación, idempotencia y respuesta por operación</a:t>
            </a:r>
            <a:endParaRPr/>
          </a:p>
        </p:txBody>
      </p:sp>
      <p:sp>
        <p:nvSpPr>
          <p:cNvPr id="903" name="Google Shape;903;p54"/>
          <p:cNvSpPr/>
          <p:nvPr/>
        </p:nvSpPr>
        <p:spPr>
          <a:xfrm>
            <a:off x="548640"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4" name="Google Shape;904;p54"/>
          <p:cNvSpPr txBox="1"/>
          <p:nvPr/>
        </p:nvSpPr>
        <p:spPr>
          <a:xfrm>
            <a:off x="658368"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T4.07  </a:t>
            </a:r>
            <a:r>
              <a:rPr b="0" i="0" lang="en-US" sz="1100" u="none" cap="none" strike="noStrike">
                <a:solidFill>
                  <a:srgbClr val="2E2318"/>
                </a:solidFill>
                <a:latin typeface="Calibri"/>
                <a:ea typeface="Calibri"/>
                <a:cs typeface="Calibri"/>
                <a:sym typeface="Calibri"/>
              </a:rPr>
              <a:t>Flujo de eventos del servidor (SSE) con latido y evento de lote listo</a:t>
            </a:r>
            <a:endParaRPr/>
          </a:p>
        </p:txBody>
      </p:sp>
      <p:sp>
        <p:nvSpPr>
          <p:cNvPr id="905" name="Google Shape;905;p54"/>
          <p:cNvSpPr/>
          <p:nvPr/>
        </p:nvSpPr>
        <p:spPr>
          <a:xfrm>
            <a:off x="4291584"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6" name="Google Shape;906;p54"/>
          <p:cNvSpPr txBox="1"/>
          <p:nvPr/>
        </p:nvSpPr>
        <p:spPr>
          <a:xfrm>
            <a:off x="4401312"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T4.08  </a:t>
            </a:r>
            <a:r>
              <a:rPr b="0" i="0" lang="en-US" sz="1100" u="none" cap="none" strike="noStrike">
                <a:solidFill>
                  <a:srgbClr val="2E2318"/>
                </a:solidFill>
                <a:latin typeface="Calibri"/>
                <a:ea typeface="Calibri"/>
                <a:cs typeface="Calibri"/>
                <a:sym typeface="Calibri"/>
              </a:rPr>
              <a:t>Franja de lote listo en la caja: producto y peso, agrupación en diez segundos y cierre manual</a:t>
            </a:r>
            <a:endParaRPr/>
          </a:p>
        </p:txBody>
      </p:sp>
      <p:sp>
        <p:nvSpPr>
          <p:cNvPr id="907" name="Google Shape;907;p54"/>
          <p:cNvSpPr/>
          <p:nvPr/>
        </p:nvSpPr>
        <p:spPr>
          <a:xfrm>
            <a:off x="8034528" y="3575303"/>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8" name="Google Shape;908;p54"/>
          <p:cNvSpPr txBox="1"/>
          <p:nvPr/>
        </p:nvSpPr>
        <p:spPr>
          <a:xfrm>
            <a:off x="8144256" y="3611879"/>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T4.09  </a:t>
            </a:r>
            <a:r>
              <a:rPr b="0" i="0" lang="en-US" sz="1100" u="none" cap="none" strike="noStrike">
                <a:solidFill>
                  <a:srgbClr val="2E2318"/>
                </a:solidFill>
                <a:latin typeface="Calibri"/>
                <a:ea typeface="Calibri"/>
                <a:cs typeface="Calibri"/>
                <a:sym typeface="Calibri"/>
              </a:rPr>
              <a:t>Reposición de eventos al reconectar y entrega de los lotes registrados durante una caída de la caja</a:t>
            </a:r>
            <a:endParaRPr/>
          </a:p>
        </p:txBody>
      </p:sp>
      <p:sp>
        <p:nvSpPr>
          <p:cNvPr id="909" name="Google Shape;909;p54"/>
          <p:cNvSpPr/>
          <p:nvPr/>
        </p:nvSpPr>
        <p:spPr>
          <a:xfrm>
            <a:off x="548640"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0" name="Google Shape;910;p54"/>
          <p:cNvSpPr txBox="1"/>
          <p:nvPr/>
        </p:nvSpPr>
        <p:spPr>
          <a:xfrm>
            <a:off x="658368"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T4.10  </a:t>
            </a:r>
            <a:r>
              <a:rPr b="0" i="0" lang="en-US" sz="1100" u="none" cap="none" strike="noStrike">
                <a:solidFill>
                  <a:srgbClr val="2E2318"/>
                </a:solidFill>
                <a:latin typeface="Calibri"/>
                <a:ea typeface="Calibri"/>
                <a:cs typeface="Calibri"/>
                <a:sym typeface="Calibri"/>
              </a:rPr>
              <a:t>Interfaz del cajón, controlador simulado y controlador por pulso de la impresora; apertura al cerrar una venta en efectivo</a:t>
            </a:r>
            <a:endParaRPr/>
          </a:p>
        </p:txBody>
      </p:sp>
      <p:sp>
        <p:nvSpPr>
          <p:cNvPr id="911" name="Google Shape;911;p54"/>
          <p:cNvSpPr/>
          <p:nvPr/>
        </p:nvSpPr>
        <p:spPr>
          <a:xfrm>
            <a:off x="4291584"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2" name="Google Shape;912;p54"/>
          <p:cNvSpPr txBox="1"/>
          <p:nvPr/>
        </p:nvSpPr>
        <p:spPr>
          <a:xfrm>
            <a:off x="4401312"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T4.11  </a:t>
            </a:r>
            <a:r>
              <a:rPr b="0" i="0" lang="en-US" sz="1100" u="none" cap="none" strike="noStrike">
                <a:solidFill>
                  <a:srgbClr val="2E2318"/>
                </a:solidFill>
                <a:latin typeface="Calibri"/>
                <a:ea typeface="Calibri"/>
                <a:cs typeface="Calibri"/>
                <a:sym typeface="Calibri"/>
              </a:rPr>
              <a:t>Decisión sobre la balanza (IMP-01): ingreso manual definitivo y actualización de la nota de protocolo y la lista de dispositivos</a:t>
            </a:r>
            <a:endParaRPr/>
          </a:p>
        </p:txBody>
      </p:sp>
      <p:sp>
        <p:nvSpPr>
          <p:cNvPr id="913" name="Google Shape;913;p54"/>
          <p:cNvSpPr/>
          <p:nvPr/>
        </p:nvSpPr>
        <p:spPr>
          <a:xfrm>
            <a:off x="8034528" y="4471416"/>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4" name="Google Shape;914;p54"/>
          <p:cNvSpPr txBox="1"/>
          <p:nvPr/>
        </p:nvSpPr>
        <p:spPr>
          <a:xfrm>
            <a:off x="8144256" y="4507992"/>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T4.12  </a:t>
            </a:r>
            <a:r>
              <a:rPr b="0" i="0" lang="en-US" sz="1100" u="none" cap="none" strike="noStrike">
                <a:solidFill>
                  <a:srgbClr val="2E2318"/>
                </a:solidFill>
                <a:latin typeface="Calibri"/>
                <a:ea typeface="Calibri"/>
                <a:cs typeface="Calibri"/>
                <a:sym typeface="Calibri"/>
              </a:rPr>
              <a:t>Pruebas del flujo del lote: modelo de la pantalla, ingreso en la API, eventos y apertura del cajón</a:t>
            </a:r>
            <a:endParaRPr/>
          </a:p>
        </p:txBody>
      </p:sp>
      <p:sp>
        <p:nvSpPr>
          <p:cNvPr id="915" name="Google Shape;915;p54"/>
          <p:cNvSpPr/>
          <p:nvPr/>
        </p:nvSpPr>
        <p:spPr>
          <a:xfrm>
            <a:off x="548640"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6" name="Google Shape;916;p54"/>
          <p:cNvSpPr txBox="1"/>
          <p:nvPr/>
        </p:nvSpPr>
        <p:spPr>
          <a:xfrm>
            <a:off x="658368"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T4.13  </a:t>
            </a:r>
            <a:r>
              <a:rPr b="0" i="0" lang="en-US" sz="1100" u="none" cap="none" strike="noStrike">
                <a:solidFill>
                  <a:srgbClr val="2E2318"/>
                </a:solidFill>
                <a:latin typeface="Calibri"/>
                <a:ea typeface="Calibri"/>
                <a:cs typeface="Calibri"/>
                <a:sym typeface="Calibri"/>
              </a:rPr>
              <a:t>Guion, ejecución y capturas de pantalla del lote registrado en el celular y avisado en la caja (CP-PRD-01)</a:t>
            </a:r>
            <a:endParaRPr/>
          </a:p>
        </p:txBody>
      </p:sp>
      <p:sp>
        <p:nvSpPr>
          <p:cNvPr id="917" name="Google Shape;917;p54"/>
          <p:cNvSpPr/>
          <p:nvPr/>
        </p:nvSpPr>
        <p:spPr>
          <a:xfrm>
            <a:off x="4291584"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8" name="Google Shape;918;p54"/>
          <p:cNvSpPr txBox="1"/>
          <p:nvPr/>
        </p:nvSpPr>
        <p:spPr>
          <a:xfrm>
            <a:off x="4401312"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T4.14  </a:t>
            </a:r>
            <a:r>
              <a:rPr b="0" i="0" lang="en-US" sz="1100" u="none" cap="none" strike="noStrike">
                <a:solidFill>
                  <a:srgbClr val="2E2318"/>
                </a:solidFill>
                <a:latin typeface="Calibri"/>
                <a:ea typeface="Calibri"/>
                <a:cs typeface="Calibri"/>
                <a:sym typeface="Calibri"/>
              </a:rPr>
              <a:t>Preparación de la revisión del sprint y de las notas de la versión v0.3.0</a:t>
            </a:r>
            <a:endParaRPr/>
          </a:p>
        </p:txBody>
      </p:sp>
      <p:sp>
        <p:nvSpPr>
          <p:cNvPr id="919" name="Google Shape;919;p54"/>
          <p:cNvSpPr/>
          <p:nvPr/>
        </p:nvSpPr>
        <p:spPr>
          <a:xfrm>
            <a:off x="8034528" y="5367527"/>
            <a:ext cx="3605784" cy="804671"/>
          </a:xfrm>
          <a:prstGeom prst="roundRect">
            <a:avLst>
              <a:gd fmla="val 6818" name="adj"/>
            </a:avLst>
          </a:prstGeom>
          <a:solidFill>
            <a:srgbClr val="FFFFFF"/>
          </a:solidFill>
          <a:ln cap="flat" cmpd="sng" w="9525">
            <a:solidFill>
              <a:srgbClr val="D9A44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0" name="Google Shape;920;p54"/>
          <p:cNvSpPr txBox="1"/>
          <p:nvPr/>
        </p:nvSpPr>
        <p:spPr>
          <a:xfrm>
            <a:off x="8144256" y="5404103"/>
            <a:ext cx="3386328" cy="73151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T4.15  </a:t>
            </a:r>
            <a:r>
              <a:rPr b="0" i="0" lang="en-US" sz="1100" u="none" cap="none" strike="noStrike">
                <a:solidFill>
                  <a:srgbClr val="2E2318"/>
                </a:solidFill>
                <a:latin typeface="Calibri"/>
                <a:ea typeface="Calibri"/>
                <a:cs typeface="Calibri"/>
                <a:sym typeface="Calibri"/>
              </a:rPr>
              <a:t>Validación remota de la pantalla de registro de amasijo con la contraparte</a:t>
            </a:r>
            <a:endParaRPr/>
          </a:p>
        </p:txBody>
      </p:sp>
      <p:sp>
        <p:nvSpPr>
          <p:cNvPr id="921" name="Google Shape;921;p54"/>
          <p:cNvSpPr/>
          <p:nvPr/>
        </p:nvSpPr>
        <p:spPr>
          <a:xfrm>
            <a:off x="4297640" y="1172771"/>
            <a:ext cx="1737300" cy="384000"/>
          </a:xfrm>
          <a:prstGeom prst="roundRect">
            <a:avLst>
              <a:gd fmla="val 50000" name="adj"/>
            </a:avLst>
          </a:prstGeom>
          <a:solidFill>
            <a:srgbClr val="FFFFFF"/>
          </a:solidFill>
          <a:ln cap="flat" cmpd="sng" w="9525">
            <a:solidFill>
              <a:srgbClr val="E3B87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2" name="Google Shape;922;p54"/>
          <p:cNvSpPr txBox="1"/>
          <p:nvPr/>
        </p:nvSpPr>
        <p:spPr>
          <a:xfrm>
            <a:off x="429764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Hecho:</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15</a:t>
            </a:r>
            <a:endParaRPr/>
          </a:p>
        </p:txBody>
      </p:sp>
      <p:sp>
        <p:nvSpPr>
          <p:cNvPr id="923" name="Google Shape;923;p54"/>
          <p:cNvSpPr/>
          <p:nvPr/>
        </p:nvSpPr>
        <p:spPr>
          <a:xfrm>
            <a:off x="2423160" y="1172759"/>
            <a:ext cx="1737300" cy="384000"/>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4" name="Google Shape;924;p54"/>
          <p:cNvSpPr txBox="1"/>
          <p:nvPr/>
        </p:nvSpPr>
        <p:spPr>
          <a:xfrm>
            <a:off x="2423160" y="1172759"/>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Calibri"/>
                <a:ea typeface="Calibri"/>
                <a:cs typeface="Calibri"/>
                <a:sym typeface="Calibri"/>
              </a:rPr>
              <a:t>En curso</a:t>
            </a:r>
            <a:r>
              <a:rPr b="1" lang="en-US" sz="1300">
                <a:solidFill>
                  <a:srgbClr val="FFFFFF"/>
                </a:solidFill>
                <a:latin typeface="Calibri"/>
                <a:ea typeface="Calibri"/>
                <a:cs typeface="Calibri"/>
                <a:sym typeface="Calibri"/>
              </a:rPr>
              <a:t>:</a:t>
            </a:r>
            <a:r>
              <a:rPr b="1" i="0" lang="en-US" sz="1300" u="none" cap="none" strike="noStrike">
                <a:solidFill>
                  <a:srgbClr val="FFFFFF"/>
                </a:solidFill>
                <a:latin typeface="Calibri"/>
                <a:ea typeface="Calibri"/>
                <a:cs typeface="Calibri"/>
                <a:sym typeface="Calibri"/>
              </a:rPr>
              <a:t>  </a:t>
            </a:r>
            <a:r>
              <a:rPr b="1" lang="en-US" sz="1300">
                <a:solidFill>
                  <a:srgbClr val="FFFFFF"/>
                </a:solidFill>
                <a:latin typeface="Calibri"/>
                <a:ea typeface="Calibri"/>
                <a:cs typeface="Calibri"/>
                <a:sym typeface="Calibri"/>
              </a:rPr>
              <a:t>0</a:t>
            </a:r>
            <a:endParaRPr/>
          </a:p>
        </p:txBody>
      </p:sp>
      <p:sp>
        <p:nvSpPr>
          <p:cNvPr id="925" name="Google Shape;925;p54"/>
          <p:cNvSpPr/>
          <p:nvPr/>
        </p:nvSpPr>
        <p:spPr>
          <a:xfrm>
            <a:off x="548654" y="1186471"/>
            <a:ext cx="1737300" cy="3840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54"/>
          <p:cNvSpPr txBox="1"/>
          <p:nvPr/>
        </p:nvSpPr>
        <p:spPr>
          <a:xfrm>
            <a:off x="548654" y="1186471"/>
            <a:ext cx="17373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300">
                <a:solidFill>
                  <a:srgbClr val="4A2C1A"/>
                </a:solidFill>
                <a:latin typeface="Calibri"/>
                <a:ea typeface="Calibri"/>
                <a:cs typeface="Calibri"/>
                <a:sym typeface="Calibri"/>
              </a:rPr>
              <a:t>Por hacer:</a:t>
            </a:r>
            <a:r>
              <a:rPr b="1" i="0" lang="en-US" sz="1300" u="none" cap="none" strike="noStrike">
                <a:solidFill>
                  <a:srgbClr val="4A2C1A"/>
                </a:solidFill>
                <a:latin typeface="Calibri"/>
                <a:ea typeface="Calibri"/>
                <a:cs typeface="Calibri"/>
                <a:sym typeface="Calibri"/>
              </a:rPr>
              <a:t>  </a:t>
            </a:r>
            <a:r>
              <a:rPr b="1" lang="en-US" sz="1300">
                <a:solidFill>
                  <a:srgbClr val="4A2C1A"/>
                </a:solidFill>
                <a:latin typeface="Calibri"/>
                <a:ea typeface="Calibri"/>
                <a:cs typeface="Calibri"/>
                <a:sym typeface="Calibri"/>
              </a:rPr>
              <a:t>0</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1" name="Shape 931"/>
        <p:cNvGrpSpPr/>
        <p:nvPr/>
      </p:nvGrpSpPr>
      <p:grpSpPr>
        <a:xfrm>
          <a:off x="0" y="0"/>
          <a:ext cx="0" cy="0"/>
          <a:chOff x="0" y="0"/>
          <a:chExt cx="0" cy="0"/>
        </a:xfrm>
      </p:grpSpPr>
      <p:sp>
        <p:nvSpPr>
          <p:cNvPr id="932" name="Google Shape;932;p55"/>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4</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a:t>
            </a:r>
            <a:r>
              <a:rPr b="1" lang="en-US" sz="3000">
                <a:solidFill>
                  <a:srgbClr val="4A2C1A"/>
                </a:solidFill>
                <a:latin typeface="Calibri"/>
                <a:ea typeface="Calibri"/>
                <a:cs typeface="Calibri"/>
                <a:sym typeface="Calibri"/>
              </a:rPr>
              <a:t>Impediment Log</a:t>
            </a:r>
            <a:endParaRPr/>
          </a:p>
        </p:txBody>
      </p:sp>
      <p:sp>
        <p:nvSpPr>
          <p:cNvPr id="933" name="Google Shape;933;p55"/>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47</a:t>
            </a:r>
            <a:endParaRPr/>
          </a:p>
        </p:txBody>
      </p:sp>
      <p:graphicFrame>
        <p:nvGraphicFramePr>
          <p:cNvPr id="934" name="Google Shape;934;p55"/>
          <p:cNvGraphicFramePr/>
          <p:nvPr/>
        </p:nvGraphicFramePr>
        <p:xfrm>
          <a:off x="548565" y="1749633"/>
          <a:ext cx="3000000" cy="3000000"/>
        </p:xfrm>
        <a:graphic>
          <a:graphicData uri="http://schemas.openxmlformats.org/drawingml/2006/table">
            <a:tbl>
              <a:tblPr>
                <a:noFill/>
                <a:tableStyleId>{BA7B9E9C-A63D-41EF-8DED-ABFA5B16292E}</a:tableStyleId>
              </a:tblPr>
              <a:tblGrid>
                <a:gridCol w="777250"/>
                <a:gridCol w="1051550"/>
                <a:gridCol w="3703325"/>
                <a:gridCol w="3703325"/>
                <a:gridCol w="804675"/>
                <a:gridCol w="1051550"/>
              </a:tblGrid>
              <a:tr h="347475">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ID</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Reporte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Impedimento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Cómo lo solucionamos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Estado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c>
                  <a:txBody>
                    <a:bodyPr/>
                    <a:lstStyle/>
                    <a:p>
                      <a:pPr indent="0" lvl="0" marL="0" marR="0" rtl="0" algn="l">
                        <a:lnSpc>
                          <a:spcPct val="100000"/>
                        </a:lnSpc>
                        <a:spcBef>
                          <a:spcPts val="0"/>
                        </a:spcBef>
                        <a:spcAft>
                          <a:spcPts val="0"/>
                        </a:spcAft>
                        <a:buNone/>
                      </a:pPr>
                      <a:r>
                        <a:rPr b="1" i="0" lang="en-US" sz="1200" u="none" cap="none" strike="noStrike">
                          <a:solidFill>
                            <a:srgbClr val="D9A441"/>
                          </a:solidFill>
                          <a:latin typeface="Calibri"/>
                          <a:ea typeface="Calibri"/>
                          <a:cs typeface="Calibri"/>
                          <a:sym typeface="Calibri"/>
                        </a:rPr>
                        <a:t>Cierre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4A2C1A"/>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IMP-01</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11/08/2026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se dispone de una balanza con salida serial.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Cerrado como descartado el 9 de octubre, fecha límite: la balanza que usa la panadería es de un fabricante propietario y no puede reproducirse ni mostrarse en una demostración.</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09/10/2026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IMP-09</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01/09/2026</a:t>
                      </a:r>
                      <a:endParaRPr/>
                    </a:p>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(arrastrado)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No hay impresora ESC/POS ni servicio de impresión disponible en los equipos del equipo ni en la contraparte.</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Controlador ESC/POS verificado contra la API de la biblioteca (context7) y entregado sin validación física; el comprobante en pantalla es modo soportado.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A8461A"/>
                          </a:solidFill>
                          <a:latin typeface="Calibri"/>
                          <a:ea typeface="Calibri"/>
                          <a:cs typeface="Calibri"/>
                          <a:sym typeface="Calibri"/>
                        </a:rPr>
                        <a:t>Abierto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IMP-25</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13/10/2026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indicador de sincronización mostraba «sincronizado» mientras quedaban operaciones pendientes en la cola local.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indicador deriva su estado de la cola y no del último envío exitoso; prueba del estado del indicador agregada.</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13/10/2026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13/10/2026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El peso de un lote se redondeaba con reglas distintas en el celular, la caja y el servidor, por lo que un mismo peso podía diferir en un gramo entre clientes.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Una única regla de redondeo del peso en todos los clientes; pruebas de redondeo agregadas.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IMP-27</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Al volver la aplicación del celular a primer plano no se reanudaba la sincronización.</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 sincronización se dispara al volver a primer plano; los lotes en cola pasan a estado pendiente visible en el historial.</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6EFE6"/>
                    </a:solidFill>
                  </a:tcPr>
                </a:tc>
              </a:tr>
              <a:tr h="329175">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IMP-28</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14/10/2026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Al reconectarse el flujo de eventos, la caja reproducía los eventos acumulados y mostraba un aviso de lote listo por cada lote de horas atrás.</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La reposición cubre las últimas 24 horas y no vuelve a levantar el aviso emergente; solo los eventos nuevos lo hacen.</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i="0" lang="en-US" sz="1100" u="none" cap="none" strike="noStrike">
                          <a:solidFill>
                            <a:srgbClr val="4A2C1A"/>
                          </a:solidFill>
                          <a:latin typeface="Calibri"/>
                          <a:ea typeface="Calibri"/>
                          <a:cs typeface="Calibri"/>
                          <a:sym typeface="Calibri"/>
                        </a:rPr>
                        <a:t>Cerrado</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100" u="none" cap="none" strike="noStrike">
                          <a:solidFill>
                            <a:srgbClr val="2E2318"/>
                          </a:solidFill>
                          <a:latin typeface="Calibri"/>
                          <a:ea typeface="Calibri"/>
                          <a:cs typeface="Calibri"/>
                          <a:sym typeface="Calibri"/>
                        </a:rPr>
                        <a:t>15/10/2026</a:t>
                      </a:r>
                      <a:endParaRPr/>
                    </a:p>
                  </a:txBody>
                  <a:tcPr marT="27425" marB="27425" marR="73150" marL="73150" anchor="ctr">
                    <a:lnL cap="flat" cmpd="sng" w="9525">
                      <a:solidFill>
                        <a:srgbClr val="E9DECB"/>
                      </a:solidFill>
                      <a:prstDash val="solid"/>
                      <a:round/>
                      <a:headEnd len="sm" w="sm" type="none"/>
                      <a:tailEnd len="sm" w="sm" type="none"/>
                    </a:lnL>
                    <a:lnR cap="flat" cmpd="sng" w="9525">
                      <a:solidFill>
                        <a:srgbClr val="E9DECB"/>
                      </a:solidFill>
                      <a:prstDash val="solid"/>
                      <a:round/>
                      <a:headEnd len="sm" w="sm" type="none"/>
                      <a:tailEnd len="sm" w="sm" type="none"/>
                    </a:lnR>
                    <a:lnT cap="flat" cmpd="sng" w="9525">
                      <a:solidFill>
                        <a:srgbClr val="E9DECB"/>
                      </a:solidFill>
                      <a:prstDash val="solid"/>
                      <a:round/>
                      <a:headEnd len="sm" w="sm" type="none"/>
                      <a:tailEnd len="sm" w="sm" type="none"/>
                    </a:lnT>
                    <a:lnB cap="flat" cmpd="sng" w="9525">
                      <a:solidFill>
                        <a:srgbClr val="E9DEC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9" name="Shape 939"/>
        <p:cNvGrpSpPr/>
        <p:nvPr/>
      </p:nvGrpSpPr>
      <p:grpSpPr>
        <a:xfrm>
          <a:off x="0" y="0"/>
          <a:ext cx="0" cy="0"/>
          <a:chOff x="0" y="0"/>
          <a:chExt cx="0" cy="0"/>
        </a:xfrm>
      </p:grpSpPr>
      <p:sp>
        <p:nvSpPr>
          <p:cNvPr id="940" name="Google Shape;940;p56"/>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4</a:t>
            </a:r>
            <a:r>
              <a:rPr b="1" lang="en-US" sz="3000">
                <a:solidFill>
                  <a:srgbClr val="4A2C1A"/>
                </a:solidFill>
                <a:latin typeface="Calibri"/>
                <a:ea typeface="Calibri"/>
                <a:cs typeface="Calibri"/>
                <a:sym typeface="Calibri"/>
              </a:rPr>
              <a:t>:</a:t>
            </a:r>
            <a:r>
              <a:rPr b="1" i="0" lang="en-US" sz="3000" u="none" cap="none" strike="noStrike">
                <a:solidFill>
                  <a:srgbClr val="4A2C1A"/>
                </a:solidFill>
                <a:latin typeface="Calibri"/>
                <a:ea typeface="Calibri"/>
                <a:cs typeface="Calibri"/>
                <a:sym typeface="Calibri"/>
              </a:rPr>
              <a:t> Burndown </a:t>
            </a:r>
            <a:r>
              <a:rPr b="1" lang="en-US" sz="3000">
                <a:solidFill>
                  <a:srgbClr val="4A2C1A"/>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hart</a:t>
            </a:r>
            <a:endParaRPr/>
          </a:p>
        </p:txBody>
      </p:sp>
      <p:sp>
        <p:nvSpPr>
          <p:cNvPr id="941" name="Google Shape;941;p56"/>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48</a:t>
            </a:r>
            <a:endParaRPr/>
          </a:p>
        </p:txBody>
      </p:sp>
      <p:sp>
        <p:nvSpPr>
          <p:cNvPr id="942" name="Google Shape;942;p56"/>
          <p:cNvSpPr/>
          <p:nvPr/>
        </p:nvSpPr>
        <p:spPr>
          <a:xfrm>
            <a:off x="548640" y="1188720"/>
            <a:ext cx="7680960" cy="5074920"/>
          </a:xfrm>
          <a:prstGeom prst="roundRect">
            <a:avLst>
              <a:gd fmla="val 1081"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3" name="Google Shape;943;p56"/>
          <p:cNvSpPr txBox="1"/>
          <p:nvPr/>
        </p:nvSpPr>
        <p:spPr>
          <a:xfrm>
            <a:off x="731520" y="1261872"/>
            <a:ext cx="73152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400" u="none" cap="none" strike="noStrike">
                <a:solidFill>
                  <a:srgbClr val="4A2C1A"/>
                </a:solidFill>
                <a:latin typeface="Calibri"/>
                <a:ea typeface="Calibri"/>
                <a:cs typeface="Calibri"/>
                <a:sym typeface="Calibri"/>
              </a:rPr>
              <a:t>Horas restantes al cierre de cada día hábil</a:t>
            </a:r>
            <a:endParaRPr/>
          </a:p>
        </p:txBody>
      </p:sp>
      <p:graphicFrame>
        <p:nvGraphicFramePr>
          <p:cNvPr id="944" name="Google Shape;944;p56"/>
          <p:cNvGraphicFramePr/>
          <p:nvPr/>
        </p:nvGraphicFramePr>
        <p:xfrm>
          <a:off x="640080" y="1645920"/>
          <a:ext cx="7498079" cy="4526280"/>
        </p:xfrm>
        <a:graphic>
          <a:graphicData uri="http://schemas.openxmlformats.org/drawingml/2006/chart">
            <c:chart r:id="rId3"/>
          </a:graphicData>
        </a:graphic>
      </p:graphicFrame>
      <p:sp>
        <p:nvSpPr>
          <p:cNvPr id="945" name="Google Shape;945;p56"/>
          <p:cNvSpPr/>
          <p:nvPr/>
        </p:nvSpPr>
        <p:spPr>
          <a:xfrm>
            <a:off x="8412480" y="1188720"/>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6" name="Google Shape;946;p56"/>
          <p:cNvSpPr txBox="1"/>
          <p:nvPr/>
        </p:nvSpPr>
        <p:spPr>
          <a:xfrm>
            <a:off x="8549640" y="1261872"/>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66 h</a:t>
            </a:r>
            <a:endParaRPr/>
          </a:p>
        </p:txBody>
      </p:sp>
      <p:sp>
        <p:nvSpPr>
          <p:cNvPr id="947" name="Google Shape;947;p56"/>
          <p:cNvSpPr txBox="1"/>
          <p:nvPr/>
        </p:nvSpPr>
        <p:spPr>
          <a:xfrm>
            <a:off x="8549640" y="1874520"/>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comprometidas, en 9 días hábiles</a:t>
            </a:r>
            <a:endParaRPr/>
          </a:p>
        </p:txBody>
      </p:sp>
      <p:sp>
        <p:nvSpPr>
          <p:cNvPr id="948" name="Google Shape;948;p56"/>
          <p:cNvSpPr/>
          <p:nvPr/>
        </p:nvSpPr>
        <p:spPr>
          <a:xfrm>
            <a:off x="8412480" y="2487168"/>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9" name="Google Shape;949;p56"/>
          <p:cNvSpPr txBox="1"/>
          <p:nvPr/>
        </p:nvSpPr>
        <p:spPr>
          <a:xfrm>
            <a:off x="8549640" y="2560320"/>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66 h</a:t>
            </a:r>
            <a:endParaRPr/>
          </a:p>
        </p:txBody>
      </p:sp>
      <p:sp>
        <p:nvSpPr>
          <p:cNvPr id="950" name="Google Shape;950;p56"/>
          <p:cNvSpPr txBox="1"/>
          <p:nvPr/>
        </p:nvSpPr>
        <p:spPr>
          <a:xfrm>
            <a:off x="8549640" y="3172968"/>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consumidas</a:t>
            </a:r>
            <a:endParaRPr/>
          </a:p>
        </p:txBody>
      </p:sp>
      <p:sp>
        <p:nvSpPr>
          <p:cNvPr id="951" name="Google Shape;951;p56"/>
          <p:cNvSpPr/>
          <p:nvPr/>
        </p:nvSpPr>
        <p:spPr>
          <a:xfrm>
            <a:off x="8412480" y="3785615"/>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2" name="Google Shape;952;p56"/>
          <p:cNvSpPr txBox="1"/>
          <p:nvPr/>
        </p:nvSpPr>
        <p:spPr>
          <a:xfrm>
            <a:off x="8549640" y="3858768"/>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+8,2 h</a:t>
            </a:r>
            <a:endParaRPr/>
          </a:p>
        </p:txBody>
      </p:sp>
      <p:sp>
        <p:nvSpPr>
          <p:cNvPr id="953" name="Google Shape;953;p56"/>
          <p:cNvSpPr txBox="1"/>
          <p:nvPr/>
        </p:nvSpPr>
        <p:spPr>
          <a:xfrm>
            <a:off x="8549640" y="4471416"/>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mayor desvío (día 2); bajo la ideal desde el día 7 (−3,2 h)</a:t>
            </a:r>
            <a:endParaRPr/>
          </a:p>
        </p:txBody>
      </p:sp>
      <p:sp>
        <p:nvSpPr>
          <p:cNvPr id="954" name="Google Shape;954;p56"/>
          <p:cNvSpPr/>
          <p:nvPr/>
        </p:nvSpPr>
        <p:spPr>
          <a:xfrm>
            <a:off x="8412480" y="5084064"/>
            <a:ext cx="3227832" cy="1188720"/>
          </a:xfrm>
          <a:prstGeom prst="roundRect">
            <a:avLst>
              <a:gd fmla="val 4615"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5" name="Google Shape;955;p56"/>
          <p:cNvSpPr txBox="1"/>
          <p:nvPr/>
        </p:nvSpPr>
        <p:spPr>
          <a:xfrm>
            <a:off x="8549640" y="5157216"/>
            <a:ext cx="2953512" cy="59436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4A2C1A"/>
                </a:solidFill>
                <a:latin typeface="Calibri"/>
                <a:ea typeface="Calibri"/>
                <a:cs typeface="Calibri"/>
                <a:sym typeface="Calibri"/>
              </a:rPr>
              <a:t>0 h</a:t>
            </a:r>
            <a:endParaRPr/>
          </a:p>
        </p:txBody>
      </p:sp>
      <p:sp>
        <p:nvSpPr>
          <p:cNvPr id="956" name="Google Shape;956;p56"/>
          <p:cNvSpPr txBox="1"/>
          <p:nvPr/>
        </p:nvSpPr>
        <p:spPr>
          <a:xfrm>
            <a:off x="8549640" y="5769864"/>
            <a:ext cx="2953512"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6E5F50"/>
                </a:solidFill>
                <a:latin typeface="Calibri"/>
                <a:ea typeface="Calibri"/>
                <a:cs typeface="Calibri"/>
                <a:sym typeface="Calibri"/>
              </a:rPr>
              <a:t>restantes al cierre, el 16 de octubre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1" name="Shape 961"/>
        <p:cNvGrpSpPr/>
        <p:nvPr/>
      </p:nvGrpSpPr>
      <p:grpSpPr>
        <a:xfrm>
          <a:off x="0" y="0"/>
          <a:ext cx="0" cy="0"/>
          <a:chOff x="0" y="0"/>
          <a:chExt cx="0" cy="0"/>
        </a:xfrm>
      </p:grpSpPr>
      <p:sp>
        <p:nvSpPr>
          <p:cNvPr id="962" name="Google Shape;962;p57"/>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Sprint 4</a:t>
            </a:r>
            <a:r>
              <a:rPr b="1" lang="en-US" sz="3000">
                <a:solidFill>
                  <a:srgbClr val="4A2C1A"/>
                </a:solidFill>
                <a:latin typeface="Calibri"/>
                <a:ea typeface="Calibri"/>
                <a:cs typeface="Calibri"/>
                <a:sym typeface="Calibri"/>
              </a:rPr>
              <a:t>: Acta Sprint Review firmada</a:t>
            </a:r>
            <a:endParaRPr/>
          </a:p>
        </p:txBody>
      </p:sp>
      <p:sp>
        <p:nvSpPr>
          <p:cNvPr id="963" name="Google Shape;963;p57"/>
          <p:cNvSpPr txBox="1"/>
          <p:nvPr/>
        </p:nvSpPr>
        <p:spPr>
          <a:xfrm>
            <a:off x="11457432" y="6419088"/>
            <a:ext cx="457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49</a:t>
            </a:r>
            <a:endParaRPr/>
          </a:p>
        </p:txBody>
      </p:sp>
      <p:graphicFrame>
        <p:nvGraphicFramePr>
          <p:cNvPr id="964" name="Google Shape;964;p57"/>
          <p:cNvGraphicFramePr/>
          <p:nvPr/>
        </p:nvGraphicFramePr>
        <p:xfrm>
          <a:off x="548565" y="1865368"/>
          <a:ext cx="3000000" cy="3000000"/>
        </p:xfrm>
        <a:graphic>
          <a:graphicData uri="http://schemas.openxmlformats.org/drawingml/2006/table">
            <a:tbl>
              <a:tblPr>
                <a:noFill/>
                <a:tableStyleId>{BA7B9E9C-A63D-41EF-8DED-ABFA5B16292E}</a:tableStyleId>
              </a:tblPr>
              <a:tblGrid>
                <a:gridCol w="3657600"/>
                <a:gridCol w="2560325"/>
                <a:gridCol w="1737350"/>
                <a:gridCol w="3136400"/>
              </a:tblGrid>
              <a:tr h="384050">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Nombre</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Rol / Responsabilidad</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Fecha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c>
                  <a:txBody>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Calibri"/>
                          <a:ea typeface="Calibri"/>
                          <a:cs typeface="Calibri"/>
                          <a:sym typeface="Calibri"/>
                        </a:rPr>
                        <a:t>Firma</a:t>
                      </a:r>
                      <a:endParaRPr/>
                    </a:p>
                  </a:txBody>
                  <a:tcPr marT="27425" marB="27425" marR="73150" marL="73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CE6F1"/>
                    </a:solidFill>
                  </a:tcPr>
                </a:tc>
              </a:tr>
              <a:tr h="548650">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Diego Maldonado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Product Owner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16/10/2026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Comic Sans MS"/>
                          <a:ea typeface="Comic Sans MS"/>
                          <a:cs typeface="Comic Sans MS"/>
                          <a:sym typeface="Comic Sans MS"/>
                        </a:rPr>
                        <a:t>Diego</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7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Propietario(a) de Panadería San Manuel</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Contraparte</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16/10/2026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1097275">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Rodrigo Mancilla</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Scrum Master</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i="0" lang="en-US" sz="1300" u="none" cap="none" strike="noStrike">
                          <a:solidFill>
                            <a:srgbClr val="000000"/>
                          </a:solidFill>
                          <a:latin typeface="Calibri"/>
                          <a:ea typeface="Calibri"/>
                          <a:cs typeface="Calibri"/>
                          <a:sym typeface="Calibri"/>
                        </a:rPr>
                        <a:t>16/10/2026</a:t>
                      </a:r>
                      <a:endParaRPr/>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t/>
                      </a:r>
                      <a:endParaRPr sz="1300" u="none" cap="none" strike="noStrike"/>
                    </a:p>
                  </a:txBody>
                  <a:tcPr marT="27425" marB="27425" marR="73150" marL="731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pic>
        <p:nvPicPr>
          <p:cNvPr descr="sig_s0_r2.png" id="965" name="Google Shape;965;p57"/>
          <p:cNvPicPr preferRelativeResize="0"/>
          <p:nvPr/>
        </p:nvPicPr>
        <p:blipFill rotWithShape="1">
          <a:blip r:embed="rId3">
            <a:alphaModFix/>
          </a:blip>
          <a:srcRect b="0" l="0" r="0" t="0"/>
          <a:stretch/>
        </p:blipFill>
        <p:spPr>
          <a:xfrm>
            <a:off x="8597684" y="2943496"/>
            <a:ext cx="1497600" cy="806398"/>
          </a:xfrm>
          <a:prstGeom prst="rect">
            <a:avLst/>
          </a:prstGeom>
          <a:noFill/>
          <a:ln>
            <a:noFill/>
          </a:ln>
        </p:spPr>
      </p:pic>
      <p:pic>
        <p:nvPicPr>
          <p:cNvPr descr="sig_s0_r3.png" id="966" name="Google Shape;966;p57"/>
          <p:cNvPicPr preferRelativeResize="0"/>
          <p:nvPr/>
        </p:nvPicPr>
        <p:blipFill rotWithShape="1">
          <a:blip r:embed="rId4">
            <a:alphaModFix/>
          </a:blip>
          <a:srcRect b="0" l="0" r="0" t="0"/>
          <a:stretch/>
        </p:blipFill>
        <p:spPr>
          <a:xfrm>
            <a:off x="8597684" y="3997990"/>
            <a:ext cx="1186560" cy="9331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1" name="Shape 971"/>
        <p:cNvGrpSpPr/>
        <p:nvPr/>
      </p:nvGrpSpPr>
      <p:grpSpPr>
        <a:xfrm>
          <a:off x="0" y="0"/>
          <a:ext cx="0" cy="0"/>
          <a:chOff x="0" y="0"/>
          <a:chExt cx="0" cy="0"/>
        </a:xfrm>
      </p:grpSpPr>
      <p:sp>
        <p:nvSpPr>
          <p:cNvPr id="972" name="Google Shape;972;p60"/>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Cronograma</a:t>
            </a:r>
            <a:endParaRPr/>
          </a:p>
        </p:txBody>
      </p:sp>
      <p:sp>
        <p:nvSpPr>
          <p:cNvPr id="973" name="Google Shape;973;p60"/>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53</a:t>
            </a:r>
            <a:endParaRPr/>
          </a:p>
        </p:txBody>
      </p:sp>
      <p:graphicFrame>
        <p:nvGraphicFramePr>
          <p:cNvPr id="974" name="Google Shape;974;p60"/>
          <p:cNvGraphicFramePr/>
          <p:nvPr/>
        </p:nvGraphicFramePr>
        <p:xfrm>
          <a:off x="548640" y="1143000"/>
          <a:ext cx="3000000" cy="3000000"/>
        </p:xfrm>
        <a:graphic>
          <a:graphicData uri="http://schemas.openxmlformats.org/drawingml/2006/table">
            <a:tbl>
              <a:tblPr>
                <a:noFill/>
                <a:tableStyleId>{BA7B9E9C-A63D-41EF-8DED-ABFA5B16292E}</a:tableStyleId>
              </a:tblPr>
              <a:tblGrid>
                <a:gridCol w="3703325"/>
                <a:gridCol w="411475"/>
                <a:gridCol w="411475"/>
                <a:gridCol w="411475"/>
                <a:gridCol w="411475"/>
                <a:gridCol w="411475"/>
                <a:gridCol w="411475"/>
                <a:gridCol w="411475"/>
                <a:gridCol w="411475"/>
                <a:gridCol w="411475"/>
                <a:gridCol w="411475"/>
                <a:gridCol w="411475"/>
                <a:gridCol w="411475"/>
                <a:gridCol w="411475"/>
                <a:gridCol w="411475"/>
                <a:gridCol w="411475"/>
                <a:gridCol w="411475"/>
                <a:gridCol w="411475"/>
                <a:gridCol w="411475"/>
              </a:tblGrid>
              <a:tr h="265175">
                <a:tc rowSpan="2">
                  <a:txBody>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Calibri"/>
                          <a:ea typeface="Calibri"/>
                          <a:cs typeface="Calibri"/>
                          <a:sym typeface="Calibri"/>
                        </a:rPr>
                        <a:t>Actividad</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gridSpan="4">
                  <a:txBody>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Calibri"/>
                          <a:ea typeface="Calibri"/>
                          <a:cs typeface="Calibri"/>
                          <a:sym typeface="Calibri"/>
                        </a:rPr>
                        <a:t>Fase 1</a:t>
                      </a:r>
                      <a:endParaRPr/>
                    </a:p>
                  </a:txBody>
                  <a:tcPr marT="27425" marB="27425" marR="18300" marL="183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E2EFD9"/>
                    </a:solidFill>
                  </a:tcPr>
                </a:tc>
                <a:tc hMerge="1"/>
                <a:tc hMerge="1"/>
                <a:tc hMerge="1"/>
                <a:tc gridSpan="12">
                  <a:txBody>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Calibri"/>
                          <a:ea typeface="Calibri"/>
                          <a:cs typeface="Calibri"/>
                          <a:sym typeface="Calibri"/>
                        </a:rPr>
                        <a:t>Fase 2</a:t>
                      </a:r>
                      <a:endParaRPr/>
                    </a:p>
                  </a:txBody>
                  <a:tcPr marT="27425" marB="27425" marR="18300" marL="183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2CB"/>
                    </a:solidFill>
                  </a:tcPr>
                </a:tc>
                <a:tc hMerge="1"/>
                <a:tc hMerge="1"/>
                <a:tc hMerge="1"/>
                <a:tc hMerge="1"/>
                <a:tc hMerge="1"/>
                <a:tc hMerge="1"/>
                <a:tc hMerge="1"/>
                <a:tc hMerge="1"/>
                <a:tc hMerge="1"/>
                <a:tc hMerge="1"/>
                <a:tc hMerge="1"/>
                <a:tc gridSpan="2">
                  <a:txBody>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Calibri"/>
                          <a:ea typeface="Calibri"/>
                          <a:cs typeface="Calibri"/>
                          <a:sym typeface="Calibri"/>
                        </a:rPr>
                        <a:t>Fase 3</a:t>
                      </a:r>
                      <a:endParaRPr/>
                    </a:p>
                  </a:txBody>
                  <a:tcPr marT="27425" marB="27425" marR="18300" marL="183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BE4D5"/>
                    </a:solidFill>
                  </a:tcPr>
                </a:tc>
                <a:tc hMerge="1"/>
              </a:tr>
              <a:tr h="265175">
                <a:tc vMerge="1"/>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2</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3</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4</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5</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6</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7</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8</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9</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10</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11</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12</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13</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14</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15</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16</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17</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S 18</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Análisis del caso y mapas de inicio</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Definición de roles, visión y cuatro pilares</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Impact mapping y verificación del alcance</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Épicas, historias de usuario y user story mapping</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Product backlog priorizado</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0: validación técnica y entorno</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1: venta operativa en caja</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2: continuidad sin conexión</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3: administración de catálogo</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4: producción y disponibilidad</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D9A441"/>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5: inventario de insumos</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6: indicadores de gestión</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7: predicción de demanda</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Sprint 8: multisucursal y cierre</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Validación y verificación del proyecto</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r h="265175">
                <a:tc>
                  <a:txBody>
                    <a:bodyPr/>
                    <a:lstStyle/>
                    <a:p>
                      <a:pPr indent="0" lvl="0" marL="0" marR="0" rtl="0" algn="l">
                        <a:lnSpc>
                          <a:spcPct val="100000"/>
                        </a:lnSpc>
                        <a:spcBef>
                          <a:spcPts val="0"/>
                        </a:spcBef>
                        <a:spcAft>
                          <a:spcPts val="0"/>
                        </a:spcAft>
                        <a:buNone/>
                      </a:pPr>
                      <a:r>
                        <a:rPr b="0" i="0" lang="en-US" sz="1100" u="none" cap="none" strike="noStrike">
                          <a:solidFill>
                            <a:srgbClr val="000000"/>
                          </a:solidFill>
                          <a:latin typeface="Calibri"/>
                          <a:ea typeface="Calibri"/>
                          <a:cs typeface="Calibri"/>
                          <a:sym typeface="Calibri"/>
                        </a:rPr>
                        <a:t>Presentación final y retrospectiva</a:t>
                      </a:r>
                      <a:endParaRPr/>
                    </a:p>
                  </a:txBody>
                  <a:tcPr marT="27425" marB="27425" marR="73150" marL="731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t/>
                      </a:r>
                      <a:endParaRPr sz="1100" u="none" cap="none" strike="noStrike"/>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Calibri"/>
                          <a:ea typeface="Calibri"/>
                          <a:cs typeface="Calibri"/>
                          <a:sym typeface="Calibri"/>
                        </a:rPr>
                        <a:t>X</a:t>
                      </a:r>
                      <a:endParaRPr/>
                    </a:p>
                  </a:txBody>
                  <a:tcPr marT="27425" marB="27425" marR="0" marL="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solidFill>
                      <a:srgbClr val="FFFFFF"/>
                    </a:solidFill>
                  </a:tcPr>
                </a:tc>
              </a:tr>
            </a:tbl>
          </a:graphicData>
        </a:graphic>
      </p:graphicFrame>
      <p:sp>
        <p:nvSpPr>
          <p:cNvPr id="975" name="Google Shape;975;p60"/>
          <p:cNvSpPr/>
          <p:nvPr/>
        </p:nvSpPr>
        <p:spPr>
          <a:xfrm>
            <a:off x="548640" y="6035040"/>
            <a:ext cx="292608" cy="201168"/>
          </a:xfrm>
          <a:prstGeom prst="roundRect">
            <a:avLst>
              <a:gd fmla="val 13636"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6" name="Google Shape;976;p60"/>
          <p:cNvSpPr txBox="1"/>
          <p:nvPr/>
        </p:nvSpPr>
        <p:spPr>
          <a:xfrm>
            <a:off x="932688" y="5989320"/>
            <a:ext cx="29260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2E2318"/>
                </a:solidFill>
                <a:latin typeface="Calibri"/>
                <a:ea typeface="Calibri"/>
                <a:cs typeface="Calibri"/>
                <a:sym typeface="Calibri"/>
              </a:rPr>
              <a:t>Completado (semanas 1 a 10)</a:t>
            </a:r>
            <a:endParaRPr/>
          </a:p>
        </p:txBody>
      </p:sp>
      <p:sp>
        <p:nvSpPr>
          <p:cNvPr id="977" name="Google Shape;977;p60"/>
          <p:cNvSpPr/>
          <p:nvPr/>
        </p:nvSpPr>
        <p:spPr>
          <a:xfrm>
            <a:off x="3657600" y="6035040"/>
            <a:ext cx="292608" cy="201168"/>
          </a:xfrm>
          <a:prstGeom prst="roundRect">
            <a:avLst>
              <a:gd fmla="val 13636" name="adj"/>
            </a:avLst>
          </a:prstGeom>
          <a:solidFill>
            <a:srgbClr val="FFFFFF"/>
          </a:solidFill>
          <a:ln cap="flat" cmpd="sng" w="9525">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8" name="Google Shape;978;p60"/>
          <p:cNvSpPr txBox="1"/>
          <p:nvPr/>
        </p:nvSpPr>
        <p:spPr>
          <a:xfrm>
            <a:off x="4041648" y="5989320"/>
            <a:ext cx="29260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2E2318"/>
                </a:solidFill>
                <a:latin typeface="Calibri"/>
                <a:ea typeface="Calibri"/>
                <a:cs typeface="Calibri"/>
                <a:sym typeface="Calibri"/>
              </a:rPr>
              <a:t>Planificado</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2C1A"/>
        </a:solidFill>
      </p:bgPr>
    </p:bg>
    <p:spTree>
      <p:nvGrpSpPr>
        <p:cNvPr id="983" name="Shape 983"/>
        <p:cNvGrpSpPr/>
        <p:nvPr/>
      </p:nvGrpSpPr>
      <p:grpSpPr>
        <a:xfrm>
          <a:off x="0" y="0"/>
          <a:ext cx="0" cy="0"/>
          <a:chOff x="0" y="0"/>
          <a:chExt cx="0" cy="0"/>
        </a:xfrm>
      </p:grpSpPr>
      <p:sp>
        <p:nvSpPr>
          <p:cNvPr id="984" name="Google Shape;984;p61"/>
          <p:cNvSpPr txBox="1"/>
          <p:nvPr/>
        </p:nvSpPr>
        <p:spPr>
          <a:xfrm>
            <a:off x="822960" y="1051560"/>
            <a:ext cx="10515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4000" u="none" cap="none" strike="noStrike">
                <a:solidFill>
                  <a:srgbClr val="FFFFFF"/>
                </a:solidFill>
                <a:latin typeface="Calibri"/>
                <a:ea typeface="Calibri"/>
                <a:cs typeface="Calibri"/>
                <a:sym typeface="Calibri"/>
              </a:rPr>
              <a:t>Demostración</a:t>
            </a:r>
            <a:endParaRPr/>
          </a:p>
        </p:txBody>
      </p:sp>
      <p:sp>
        <p:nvSpPr>
          <p:cNvPr id="985" name="Google Shape;985;p61"/>
          <p:cNvSpPr/>
          <p:nvPr/>
        </p:nvSpPr>
        <p:spPr>
          <a:xfrm>
            <a:off x="822972" y="2072475"/>
            <a:ext cx="10542900" cy="621900"/>
          </a:xfrm>
          <a:prstGeom prst="roundRect">
            <a:avLst>
              <a:gd fmla="val 11764" name="adj"/>
            </a:avLst>
          </a:prstGeom>
          <a:solidFill>
            <a:srgbClr val="5C3A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6" name="Google Shape;986;p61"/>
          <p:cNvSpPr/>
          <p:nvPr/>
        </p:nvSpPr>
        <p:spPr>
          <a:xfrm>
            <a:off x="960133" y="2227923"/>
            <a:ext cx="1051500" cy="3108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7" name="Google Shape;987;p61"/>
          <p:cNvSpPr txBox="1"/>
          <p:nvPr/>
        </p:nvSpPr>
        <p:spPr>
          <a:xfrm>
            <a:off x="960133" y="2227923"/>
            <a:ext cx="1051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Sprint 1</a:t>
            </a:r>
            <a:endParaRPr/>
          </a:p>
        </p:txBody>
      </p:sp>
      <p:sp>
        <p:nvSpPr>
          <p:cNvPr id="988" name="Google Shape;988;p61"/>
          <p:cNvSpPr txBox="1"/>
          <p:nvPr/>
        </p:nvSpPr>
        <p:spPr>
          <a:xfrm>
            <a:off x="2194572" y="2072475"/>
            <a:ext cx="63093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Venta por peso y por unidad en la caja</a:t>
            </a:r>
            <a:endParaRPr/>
          </a:p>
        </p:txBody>
      </p:sp>
      <p:sp>
        <p:nvSpPr>
          <p:cNvPr id="989" name="Google Shape;989;p61"/>
          <p:cNvSpPr/>
          <p:nvPr/>
        </p:nvSpPr>
        <p:spPr>
          <a:xfrm>
            <a:off x="822972" y="2803995"/>
            <a:ext cx="10542900" cy="621900"/>
          </a:xfrm>
          <a:prstGeom prst="roundRect">
            <a:avLst>
              <a:gd fmla="val 11764" name="adj"/>
            </a:avLst>
          </a:prstGeom>
          <a:solidFill>
            <a:srgbClr val="5C3A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0" name="Google Shape;990;p61"/>
          <p:cNvSpPr/>
          <p:nvPr/>
        </p:nvSpPr>
        <p:spPr>
          <a:xfrm>
            <a:off x="960133" y="2959443"/>
            <a:ext cx="1051500" cy="3108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1" name="Google Shape;991;p61"/>
          <p:cNvSpPr txBox="1"/>
          <p:nvPr/>
        </p:nvSpPr>
        <p:spPr>
          <a:xfrm>
            <a:off x="960133" y="2959443"/>
            <a:ext cx="1051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Sprint 2</a:t>
            </a:r>
            <a:endParaRPr/>
          </a:p>
        </p:txBody>
      </p:sp>
      <p:sp>
        <p:nvSpPr>
          <p:cNvPr id="992" name="Google Shape;992;p61"/>
          <p:cNvSpPr txBox="1"/>
          <p:nvPr/>
        </p:nvSpPr>
        <p:spPr>
          <a:xfrm>
            <a:off x="2194572" y="2803995"/>
            <a:ext cx="63093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Venta sin conexión y sincronización al volver la red</a:t>
            </a:r>
            <a:endParaRPr/>
          </a:p>
        </p:txBody>
      </p:sp>
      <p:sp>
        <p:nvSpPr>
          <p:cNvPr id="993" name="Google Shape;993;p61"/>
          <p:cNvSpPr/>
          <p:nvPr/>
        </p:nvSpPr>
        <p:spPr>
          <a:xfrm>
            <a:off x="822972" y="3535514"/>
            <a:ext cx="10542900" cy="621900"/>
          </a:xfrm>
          <a:prstGeom prst="roundRect">
            <a:avLst>
              <a:gd fmla="val 11764" name="adj"/>
            </a:avLst>
          </a:prstGeom>
          <a:solidFill>
            <a:srgbClr val="5C3A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4" name="Google Shape;994;p61"/>
          <p:cNvSpPr/>
          <p:nvPr/>
        </p:nvSpPr>
        <p:spPr>
          <a:xfrm>
            <a:off x="960133" y="3690962"/>
            <a:ext cx="1051500" cy="3108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5" name="Google Shape;995;p61"/>
          <p:cNvSpPr txBox="1"/>
          <p:nvPr/>
        </p:nvSpPr>
        <p:spPr>
          <a:xfrm>
            <a:off x="960133" y="3690962"/>
            <a:ext cx="1051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Sprint 3</a:t>
            </a:r>
            <a:endParaRPr/>
          </a:p>
        </p:txBody>
      </p:sp>
      <p:sp>
        <p:nvSpPr>
          <p:cNvPr id="996" name="Google Shape;996;p61"/>
          <p:cNvSpPr txBox="1"/>
          <p:nvPr/>
        </p:nvSpPr>
        <p:spPr>
          <a:xfrm>
            <a:off x="2194572" y="3535514"/>
            <a:ext cx="63093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Cambio de precio en el panel web reflejado en la caja</a:t>
            </a:r>
            <a:endParaRPr/>
          </a:p>
        </p:txBody>
      </p:sp>
      <p:sp>
        <p:nvSpPr>
          <p:cNvPr id="997" name="Google Shape;997;p61"/>
          <p:cNvSpPr/>
          <p:nvPr/>
        </p:nvSpPr>
        <p:spPr>
          <a:xfrm>
            <a:off x="822972" y="4267035"/>
            <a:ext cx="10542900" cy="621900"/>
          </a:xfrm>
          <a:prstGeom prst="roundRect">
            <a:avLst>
              <a:gd fmla="val 11764" name="adj"/>
            </a:avLst>
          </a:prstGeom>
          <a:solidFill>
            <a:srgbClr val="5C3A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8" name="Google Shape;998;p61"/>
          <p:cNvSpPr/>
          <p:nvPr/>
        </p:nvSpPr>
        <p:spPr>
          <a:xfrm>
            <a:off x="960133" y="4422483"/>
            <a:ext cx="1051500" cy="3108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9" name="Google Shape;999;p61"/>
          <p:cNvSpPr txBox="1"/>
          <p:nvPr/>
        </p:nvSpPr>
        <p:spPr>
          <a:xfrm>
            <a:off x="960133" y="4422483"/>
            <a:ext cx="1051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Sprint 3</a:t>
            </a:r>
            <a:endParaRPr/>
          </a:p>
        </p:txBody>
      </p:sp>
      <p:sp>
        <p:nvSpPr>
          <p:cNvPr id="1000" name="Google Shape;1000;p61"/>
          <p:cNvSpPr txBox="1"/>
          <p:nvPr/>
        </p:nvSpPr>
        <p:spPr>
          <a:xfrm>
            <a:off x="2194572" y="4267035"/>
            <a:ext cx="63093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Acceso al panel web según el rol</a:t>
            </a:r>
            <a:endParaRPr/>
          </a:p>
        </p:txBody>
      </p:sp>
      <p:sp>
        <p:nvSpPr>
          <p:cNvPr id="1001" name="Google Shape;1001;p61"/>
          <p:cNvSpPr/>
          <p:nvPr/>
        </p:nvSpPr>
        <p:spPr>
          <a:xfrm>
            <a:off x="822972" y="4998555"/>
            <a:ext cx="10542900" cy="621900"/>
          </a:xfrm>
          <a:prstGeom prst="roundRect">
            <a:avLst>
              <a:gd fmla="val 11764" name="adj"/>
            </a:avLst>
          </a:prstGeom>
          <a:solidFill>
            <a:srgbClr val="5C3A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2" name="Google Shape;1002;p61"/>
          <p:cNvSpPr/>
          <p:nvPr/>
        </p:nvSpPr>
        <p:spPr>
          <a:xfrm>
            <a:off x="960133" y="5154003"/>
            <a:ext cx="1051500" cy="310800"/>
          </a:xfrm>
          <a:prstGeom prst="roundRect">
            <a:avLst>
              <a:gd fmla="val 50000" name="adj"/>
            </a:avLst>
          </a:prstGeom>
          <a:solidFill>
            <a:srgbClr val="D9A4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3" name="Google Shape;1003;p61"/>
          <p:cNvSpPr txBox="1"/>
          <p:nvPr/>
        </p:nvSpPr>
        <p:spPr>
          <a:xfrm>
            <a:off x="960133" y="5154003"/>
            <a:ext cx="10515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4A2C1A"/>
                </a:solidFill>
                <a:latin typeface="Calibri"/>
                <a:ea typeface="Calibri"/>
                <a:cs typeface="Calibri"/>
                <a:sym typeface="Calibri"/>
              </a:rPr>
              <a:t>Sprint 4</a:t>
            </a:r>
            <a:endParaRPr/>
          </a:p>
        </p:txBody>
      </p:sp>
      <p:sp>
        <p:nvSpPr>
          <p:cNvPr id="1004" name="Google Shape;1004;p61"/>
          <p:cNvSpPr txBox="1"/>
          <p:nvPr/>
        </p:nvSpPr>
        <p:spPr>
          <a:xfrm>
            <a:off x="2194572" y="4998555"/>
            <a:ext cx="6309300" cy="62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FFFFFF"/>
                </a:solidFill>
                <a:latin typeface="Calibri"/>
                <a:ea typeface="Calibri"/>
                <a:cs typeface="Calibri"/>
                <a:sym typeface="Calibri"/>
              </a:rPr>
              <a:t>Registro del amasijo en el celular y aviso de lote listo en la caja</a:t>
            </a:r>
            <a:endParaRPr/>
          </a:p>
        </p:txBody>
      </p:sp>
      <p:sp>
        <p:nvSpPr>
          <p:cNvPr id="1005" name="Google Shape;1005;p61"/>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E8DCCB"/>
                </a:solidFill>
                <a:latin typeface="Calibri"/>
                <a:ea typeface="Calibri"/>
                <a:cs typeface="Calibri"/>
                <a:sym typeface="Calibri"/>
              </a:rPr>
              <a:t>54</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0" name="Shape 1010"/>
        <p:cNvGrpSpPr/>
        <p:nvPr/>
      </p:nvGrpSpPr>
      <p:grpSpPr>
        <a:xfrm>
          <a:off x="0" y="0"/>
          <a:ext cx="0" cy="0"/>
          <a:chOff x="0" y="0"/>
          <a:chExt cx="0" cy="0"/>
        </a:xfrm>
      </p:grpSpPr>
      <p:sp>
        <p:nvSpPr>
          <p:cNvPr id="1011" name="Google Shape;1011;p63"/>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Conclusiones y </a:t>
            </a:r>
            <a:r>
              <a:rPr b="1" lang="en-US" sz="3000">
                <a:solidFill>
                  <a:srgbClr val="4A2C1A"/>
                </a:solidFill>
                <a:latin typeface="Calibri"/>
                <a:ea typeface="Calibri"/>
                <a:cs typeface="Calibri"/>
                <a:sym typeface="Calibri"/>
              </a:rPr>
              <a:t>P</a:t>
            </a:r>
            <a:r>
              <a:rPr b="1" i="0" lang="en-US" sz="3000" u="none" cap="none" strike="noStrike">
                <a:solidFill>
                  <a:srgbClr val="4A2C1A"/>
                </a:solidFill>
                <a:latin typeface="Calibri"/>
                <a:ea typeface="Calibri"/>
                <a:cs typeface="Calibri"/>
                <a:sym typeface="Calibri"/>
              </a:rPr>
              <a:t>róximos </a:t>
            </a:r>
            <a:r>
              <a:rPr b="1" lang="en-US" sz="3000">
                <a:solidFill>
                  <a:srgbClr val="4A2C1A"/>
                </a:solidFill>
                <a:latin typeface="Calibri"/>
                <a:ea typeface="Calibri"/>
                <a:cs typeface="Calibri"/>
                <a:sym typeface="Calibri"/>
              </a:rPr>
              <a:t>P</a:t>
            </a:r>
            <a:r>
              <a:rPr b="1" i="0" lang="en-US" sz="3000" u="none" cap="none" strike="noStrike">
                <a:solidFill>
                  <a:srgbClr val="4A2C1A"/>
                </a:solidFill>
                <a:latin typeface="Calibri"/>
                <a:ea typeface="Calibri"/>
                <a:cs typeface="Calibri"/>
                <a:sym typeface="Calibri"/>
              </a:rPr>
              <a:t>asos</a:t>
            </a:r>
            <a:endParaRPr/>
          </a:p>
        </p:txBody>
      </p:sp>
      <p:sp>
        <p:nvSpPr>
          <p:cNvPr id="1012" name="Google Shape;1012;p63"/>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56</a:t>
            </a:r>
            <a:endParaRPr/>
          </a:p>
        </p:txBody>
      </p:sp>
      <p:sp>
        <p:nvSpPr>
          <p:cNvPr id="1013" name="Google Shape;1013;p63"/>
          <p:cNvSpPr/>
          <p:nvPr/>
        </p:nvSpPr>
        <p:spPr>
          <a:xfrm>
            <a:off x="548640" y="1188720"/>
            <a:ext cx="5454396" cy="2468880"/>
          </a:xfrm>
          <a:prstGeom prst="roundRect">
            <a:avLst>
              <a:gd fmla="val 2222"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4" name="Google Shape;1014;p63"/>
          <p:cNvSpPr txBox="1"/>
          <p:nvPr/>
        </p:nvSpPr>
        <p:spPr>
          <a:xfrm>
            <a:off x="749808" y="1298448"/>
            <a:ext cx="50520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4A2C1A"/>
                </a:solidFill>
                <a:latin typeface="Calibri"/>
                <a:ea typeface="Calibri"/>
                <a:cs typeface="Calibri"/>
                <a:sym typeface="Calibri"/>
              </a:rPr>
              <a:t>Lo que funcionó</a:t>
            </a:r>
            <a:endParaRPr/>
          </a:p>
        </p:txBody>
      </p:sp>
      <p:sp>
        <p:nvSpPr>
          <p:cNvPr id="1015" name="Google Shape;1015;p63"/>
          <p:cNvSpPr txBox="1"/>
          <p:nvPr/>
        </p:nvSpPr>
        <p:spPr>
          <a:xfrm>
            <a:off x="749808" y="1755648"/>
            <a:ext cx="5052060" cy="182880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Definir en equipo la política de conflictos de sincronización antes de programarla.</a:t>
            </a:r>
            <a:endParaRPr/>
          </a:p>
          <a:p>
            <a:pPr indent="-155448" lvl="0" marL="155448" marR="0" rtl="0" algn="l">
              <a:lnSpc>
                <a:spcPct val="100000"/>
              </a:lnSpc>
              <a:spcBef>
                <a:spcPts val="4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Reutilizar la cola de sincronización para los lotes del panadero: funcionaron sin conexión desde la primera integración.</a:t>
            </a:r>
            <a:endParaRPr/>
          </a:p>
          <a:p>
            <a:pPr indent="-155448" lvl="0" marL="155448" marR="0" rtl="0" algn="l">
              <a:lnSpc>
                <a:spcPct val="100000"/>
              </a:lnSpc>
              <a:spcBef>
                <a:spcPts val="4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Probar el flujo completo (celular, servidor y caja) un día antes de la revisión.</a:t>
            </a:r>
            <a:endParaRPr/>
          </a:p>
          <a:p>
            <a:pPr indent="-155448" lvl="0" marL="155448" marR="0" rtl="0" algn="l">
              <a:lnSpc>
                <a:spcPct val="100000"/>
              </a:lnSpc>
              <a:spcBef>
                <a:spcPts val="4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Repartir el trabajo de sincronización entre dos personas.</a:t>
            </a:r>
            <a:endParaRPr/>
          </a:p>
        </p:txBody>
      </p:sp>
      <p:sp>
        <p:nvSpPr>
          <p:cNvPr id="1016" name="Google Shape;1016;p63"/>
          <p:cNvSpPr/>
          <p:nvPr/>
        </p:nvSpPr>
        <p:spPr>
          <a:xfrm>
            <a:off x="6185916" y="1188720"/>
            <a:ext cx="5454396" cy="2468880"/>
          </a:xfrm>
          <a:prstGeom prst="roundRect">
            <a:avLst>
              <a:gd fmla="val 2222"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7" name="Google Shape;1017;p63"/>
          <p:cNvSpPr txBox="1"/>
          <p:nvPr/>
        </p:nvSpPr>
        <p:spPr>
          <a:xfrm>
            <a:off x="6387084" y="1298448"/>
            <a:ext cx="50520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4A2C1A"/>
                </a:solidFill>
                <a:latin typeface="Calibri"/>
                <a:ea typeface="Calibri"/>
                <a:cs typeface="Calibri"/>
                <a:sym typeface="Calibri"/>
              </a:rPr>
              <a:t>Lo que hay que mejorar</a:t>
            </a:r>
            <a:endParaRPr/>
          </a:p>
        </p:txBody>
      </p:sp>
      <p:sp>
        <p:nvSpPr>
          <p:cNvPr id="1018" name="Google Shape;1018;p63"/>
          <p:cNvSpPr txBox="1"/>
          <p:nvPr/>
        </p:nvSpPr>
        <p:spPr>
          <a:xfrm>
            <a:off x="6387084" y="1755648"/>
            <a:ext cx="5052060" cy="182880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La validación con hardware real no se logró: la lectura con balanza se descartó el 9 de octubre, después de cuatro sprints, y la impresora y el cajón siguen sin probarse.</a:t>
            </a:r>
            <a:endParaRPr/>
          </a:p>
          <a:p>
            <a:pPr indent="-155448" lvl="0" marL="155448" marR="0" rtl="0" algn="l">
              <a:lnSpc>
                <a:spcPct val="100000"/>
              </a:lnSpc>
              <a:spcBef>
                <a:spcPts val="500"/>
              </a:spcBef>
              <a:spcAft>
                <a:spcPts val="0"/>
              </a:spcAft>
              <a:buClr>
                <a:srgbClr val="D9A441"/>
              </a:buClr>
              <a:buSzPts val="1300"/>
              <a:buFont typeface="Arial"/>
              <a:buChar char="•"/>
            </a:pPr>
            <a:r>
              <a:rPr b="0" i="0" lang="en-US" sz="1300" u="none" cap="none" strike="noStrike">
                <a:solidFill>
                  <a:srgbClr val="2E2318"/>
                </a:solidFill>
                <a:latin typeface="Calibri"/>
                <a:ea typeface="Calibri"/>
                <a:cs typeface="Calibri"/>
                <a:sym typeface="Calibri"/>
              </a:rPr>
              <a:t>El responsable de esas pruebas no cumplió con sus compromisos.</a:t>
            </a:r>
            <a:endParaRPr/>
          </a:p>
        </p:txBody>
      </p:sp>
      <p:sp>
        <p:nvSpPr>
          <p:cNvPr id="1019" name="Google Shape;1019;p63"/>
          <p:cNvSpPr/>
          <p:nvPr/>
        </p:nvSpPr>
        <p:spPr>
          <a:xfrm>
            <a:off x="548640" y="3840480"/>
            <a:ext cx="5454396" cy="2468880"/>
          </a:xfrm>
          <a:prstGeom prst="roundRect">
            <a:avLst>
              <a:gd fmla="val 2222"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0" name="Google Shape;1020;p63"/>
          <p:cNvSpPr txBox="1"/>
          <p:nvPr/>
        </p:nvSpPr>
        <p:spPr>
          <a:xfrm>
            <a:off x="749808" y="3950208"/>
            <a:ext cx="50520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4A2C1A"/>
                </a:solidFill>
                <a:latin typeface="Calibri"/>
                <a:ea typeface="Calibri"/>
                <a:cs typeface="Calibri"/>
                <a:sym typeface="Calibri"/>
              </a:rPr>
              <a:t>Acciones comprometidas</a:t>
            </a:r>
            <a:endParaRPr/>
          </a:p>
        </p:txBody>
      </p:sp>
      <p:sp>
        <p:nvSpPr>
          <p:cNvPr id="1021" name="Google Shape;1021;p63"/>
          <p:cNvSpPr/>
          <p:nvPr/>
        </p:nvSpPr>
        <p:spPr>
          <a:xfrm>
            <a:off x="749808" y="4526280"/>
            <a:ext cx="868680" cy="329184"/>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2" name="Google Shape;1022;p63"/>
          <p:cNvSpPr txBox="1"/>
          <p:nvPr/>
        </p:nvSpPr>
        <p:spPr>
          <a:xfrm>
            <a:off x="749808" y="4526280"/>
            <a:ext cx="86868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19 oct</a:t>
            </a:r>
            <a:endParaRPr/>
          </a:p>
        </p:txBody>
      </p:sp>
      <p:sp>
        <p:nvSpPr>
          <p:cNvPr id="1023" name="Google Shape;1023;p63"/>
          <p:cNvSpPr txBox="1"/>
          <p:nvPr/>
        </p:nvSpPr>
        <p:spPr>
          <a:xfrm>
            <a:off x="1737360" y="4453128"/>
            <a:ext cx="4037076"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Fijar el tope de horas del Sprint 5 y un día de reserva antes del 1 de noviembre</a:t>
            </a:r>
            <a:endParaRPr/>
          </a:p>
        </p:txBody>
      </p:sp>
      <p:sp>
        <p:nvSpPr>
          <p:cNvPr id="1024" name="Google Shape;1024;p63"/>
          <p:cNvSpPr/>
          <p:nvPr/>
        </p:nvSpPr>
        <p:spPr>
          <a:xfrm>
            <a:off x="749808" y="5093208"/>
            <a:ext cx="868680" cy="329184"/>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5" name="Google Shape;1025;p63"/>
          <p:cNvSpPr txBox="1"/>
          <p:nvPr/>
        </p:nvSpPr>
        <p:spPr>
          <a:xfrm>
            <a:off x="749808" y="5093208"/>
            <a:ext cx="86868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23 oct</a:t>
            </a:r>
            <a:endParaRPr/>
          </a:p>
        </p:txBody>
      </p:sp>
      <p:sp>
        <p:nvSpPr>
          <p:cNvPr id="1026" name="Google Shape;1026;p63"/>
          <p:cNvSpPr txBox="1"/>
          <p:nvPr/>
        </p:nvSpPr>
        <p:spPr>
          <a:xfrm>
            <a:off x="1737360" y="5020056"/>
            <a:ext cx="4037076"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Acordar con la contraparte el hardware que se mantiene</a:t>
            </a:r>
            <a:endParaRPr/>
          </a:p>
        </p:txBody>
      </p:sp>
      <p:sp>
        <p:nvSpPr>
          <p:cNvPr id="1027" name="Google Shape;1027;p63"/>
          <p:cNvSpPr/>
          <p:nvPr/>
        </p:nvSpPr>
        <p:spPr>
          <a:xfrm>
            <a:off x="749808" y="5660136"/>
            <a:ext cx="868680" cy="329184"/>
          </a:xfrm>
          <a:prstGeom prst="roundRect">
            <a:avLst>
              <a:gd fmla="val 50000" name="adj"/>
            </a:avLst>
          </a:prstGeom>
          <a:solidFill>
            <a:srgbClr val="A846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8" name="Google Shape;1028;p63"/>
          <p:cNvSpPr txBox="1"/>
          <p:nvPr/>
        </p:nvSpPr>
        <p:spPr>
          <a:xfrm>
            <a:off x="749808" y="5660136"/>
            <a:ext cx="86868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Calibri"/>
                <a:ea typeface="Calibri"/>
                <a:cs typeface="Calibri"/>
                <a:sym typeface="Calibri"/>
              </a:rPr>
              <a:t>Diferida</a:t>
            </a:r>
            <a:endParaRPr/>
          </a:p>
        </p:txBody>
      </p:sp>
      <p:sp>
        <p:nvSpPr>
          <p:cNvPr id="1029" name="Google Shape;1029;p63"/>
          <p:cNvSpPr txBox="1"/>
          <p:nvPr/>
        </p:nvSpPr>
        <p:spPr>
          <a:xfrm>
            <a:off x="1737360" y="5586984"/>
            <a:ext cx="4037076"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2E2318"/>
                </a:solidFill>
                <a:latin typeface="Calibri"/>
                <a:ea typeface="Calibri"/>
                <a:cs typeface="Calibri"/>
                <a:sym typeface="Calibri"/>
              </a:rPr>
              <a:t>Probar la impresora y el cajón en un dispositivo real</a:t>
            </a:r>
            <a:endParaRPr/>
          </a:p>
        </p:txBody>
      </p:sp>
      <p:sp>
        <p:nvSpPr>
          <p:cNvPr id="1030" name="Google Shape;1030;p63"/>
          <p:cNvSpPr/>
          <p:nvPr/>
        </p:nvSpPr>
        <p:spPr>
          <a:xfrm>
            <a:off x="6185916" y="3840480"/>
            <a:ext cx="5454396" cy="2468880"/>
          </a:xfrm>
          <a:prstGeom prst="roundRect">
            <a:avLst>
              <a:gd fmla="val 2962" name="adj"/>
            </a:avLst>
          </a:prstGeom>
          <a:solidFill>
            <a:srgbClr val="4A2C1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1" name="Google Shape;1031;p63"/>
          <p:cNvSpPr txBox="1"/>
          <p:nvPr/>
        </p:nvSpPr>
        <p:spPr>
          <a:xfrm>
            <a:off x="6387084" y="3950208"/>
            <a:ext cx="50520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D9A441"/>
                </a:solidFill>
                <a:latin typeface="Calibri"/>
                <a:ea typeface="Calibri"/>
                <a:cs typeface="Calibri"/>
                <a:sym typeface="Calibri"/>
              </a:rPr>
              <a:t>Lo que viene: Sprint 5</a:t>
            </a:r>
            <a:endParaRPr/>
          </a:p>
        </p:txBody>
      </p:sp>
      <p:sp>
        <p:nvSpPr>
          <p:cNvPr id="1032" name="Google Shape;1032;p63"/>
          <p:cNvSpPr txBox="1"/>
          <p:nvPr/>
        </p:nvSpPr>
        <p:spPr>
          <a:xfrm>
            <a:off x="6387084" y="4407408"/>
            <a:ext cx="5052060" cy="182880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D9A441"/>
              </a:buClr>
              <a:buSzPts val="1300"/>
              <a:buFont typeface="Arial"/>
              <a:buChar char="•"/>
            </a:pPr>
            <a:r>
              <a:rPr b="0" i="0" lang="en-US" sz="1300" u="none" cap="none" strike="noStrike">
                <a:solidFill>
                  <a:srgbClr val="FFFFFF"/>
                </a:solidFill>
                <a:latin typeface="Calibri"/>
                <a:ea typeface="Calibri"/>
                <a:cs typeface="Calibri"/>
                <a:sym typeface="Calibri"/>
              </a:rPr>
              <a:t>Inventario de insumos, del 19 de octubre al 1 de noviembre.</a:t>
            </a:r>
            <a:endParaRPr/>
          </a:p>
          <a:p>
            <a:pPr indent="-155448" lvl="0" marL="155448" marR="0" rtl="0" algn="l">
              <a:lnSpc>
                <a:spcPct val="100000"/>
              </a:lnSpc>
              <a:spcBef>
                <a:spcPts val="500"/>
              </a:spcBef>
              <a:spcAft>
                <a:spcPts val="0"/>
              </a:spcAft>
              <a:buClr>
                <a:srgbClr val="D9A441"/>
              </a:buClr>
              <a:buSzPts val="1300"/>
              <a:buFont typeface="Arial"/>
              <a:buChar char="•"/>
            </a:pPr>
            <a:r>
              <a:rPr b="0" i="0" lang="en-US" sz="1300" u="none" cap="none" strike="noStrike">
                <a:solidFill>
                  <a:srgbClr val="FFFFFF"/>
                </a:solidFill>
                <a:latin typeface="Calibri"/>
                <a:ea typeface="Calibri"/>
                <a:cs typeface="Calibri"/>
                <a:sym typeface="Calibri"/>
              </a:rPr>
              <a:t>Descuento automático de insumos por fórmula, registro de existencias y alertas de nivel mínimo.</a:t>
            </a:r>
            <a:endParaRPr/>
          </a:p>
          <a:p>
            <a:pPr indent="-155448" lvl="0" marL="155448" marR="0" rtl="0" algn="l">
              <a:lnSpc>
                <a:spcPct val="100000"/>
              </a:lnSpc>
              <a:spcBef>
                <a:spcPts val="500"/>
              </a:spcBef>
              <a:spcAft>
                <a:spcPts val="0"/>
              </a:spcAft>
              <a:buClr>
                <a:srgbClr val="D9A441"/>
              </a:buClr>
              <a:buSzPts val="1300"/>
              <a:buFont typeface="Arial"/>
              <a:buChar char="•"/>
            </a:pPr>
            <a:r>
              <a:rPr b="0" i="0" lang="en-US" sz="1300" u="none" cap="none" strike="noStrike">
                <a:solidFill>
                  <a:srgbClr val="FFFFFF"/>
                </a:solidFill>
                <a:latin typeface="Calibri"/>
                <a:ea typeface="Calibri"/>
                <a:cs typeface="Calibri"/>
                <a:sym typeface="Calibri"/>
              </a:rPr>
              <a:t>Su cierre coincide con el hito «Inventario integrado» del 1 de noviembre.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sp>
        <p:nvSpPr>
          <p:cNvPr id="1038" name="Google Shape;1038;p64"/>
          <p:cNvSpPr txBox="1"/>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4A2C1A"/>
                </a:solidFill>
                <a:latin typeface="Calibri"/>
                <a:ea typeface="Calibri"/>
                <a:cs typeface="Calibri"/>
                <a:sym typeface="Calibri"/>
              </a:rPr>
              <a:t>Reflexión </a:t>
            </a:r>
            <a:r>
              <a:rPr b="1" lang="en-US" sz="3000">
                <a:solidFill>
                  <a:srgbClr val="4A2C1A"/>
                </a:solidFill>
                <a:latin typeface="Calibri"/>
                <a:ea typeface="Calibri"/>
                <a:cs typeface="Calibri"/>
                <a:sym typeface="Calibri"/>
              </a:rPr>
              <a:t>F</a:t>
            </a:r>
            <a:r>
              <a:rPr b="1" i="0" lang="en-US" sz="3000" u="none" cap="none" strike="noStrike">
                <a:solidFill>
                  <a:srgbClr val="4A2C1A"/>
                </a:solidFill>
                <a:latin typeface="Calibri"/>
                <a:ea typeface="Calibri"/>
                <a:cs typeface="Calibri"/>
                <a:sym typeface="Calibri"/>
              </a:rPr>
              <a:t>inal</a:t>
            </a:r>
            <a:endParaRPr/>
          </a:p>
        </p:txBody>
      </p:sp>
      <p:sp>
        <p:nvSpPr>
          <p:cNvPr id="1039" name="Google Shape;1039;p64"/>
          <p:cNvSpPr txBox="1"/>
          <p:nvPr/>
        </p:nvSpPr>
        <p:spPr>
          <a:xfrm>
            <a:off x="11457432" y="6419088"/>
            <a:ext cx="4572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050" u="none" cap="none" strike="noStrike">
                <a:solidFill>
                  <a:srgbClr val="6E5F50"/>
                </a:solidFill>
                <a:latin typeface="Calibri"/>
                <a:ea typeface="Calibri"/>
                <a:cs typeface="Calibri"/>
                <a:sym typeface="Calibri"/>
              </a:rPr>
              <a:t>57</a:t>
            </a:r>
            <a:endParaRPr/>
          </a:p>
        </p:txBody>
      </p:sp>
      <p:sp>
        <p:nvSpPr>
          <p:cNvPr id="1040" name="Google Shape;1040;p64"/>
          <p:cNvSpPr/>
          <p:nvPr/>
        </p:nvSpPr>
        <p:spPr>
          <a:xfrm>
            <a:off x="548640" y="1188720"/>
            <a:ext cx="5454396" cy="2423160"/>
          </a:xfrm>
          <a:prstGeom prst="roundRect">
            <a:avLst>
              <a:gd fmla="val 3018" name="adj"/>
            </a:avLst>
          </a:prstGeom>
          <a:solidFill>
            <a:srgbClr val="F7EF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1" name="Google Shape;1041;p64"/>
          <p:cNvSpPr txBox="1"/>
          <p:nvPr/>
        </p:nvSpPr>
        <p:spPr>
          <a:xfrm>
            <a:off x="822959" y="1417320"/>
            <a:ext cx="490575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u="none" cap="none" strike="noStrike">
                <a:solidFill>
                  <a:srgbClr val="4C2C1C"/>
                </a:solidFill>
                <a:latin typeface="Calibri"/>
                <a:ea typeface="Calibri"/>
                <a:cs typeface="Calibri"/>
                <a:sym typeface="Calibri"/>
              </a:rPr>
              <a:t>Comunicarnos a tiempo</a:t>
            </a:r>
            <a:endParaRPr>
              <a:solidFill>
                <a:srgbClr val="4C2C1C"/>
              </a:solidFill>
            </a:endParaRPr>
          </a:p>
        </p:txBody>
      </p:sp>
      <p:sp>
        <p:nvSpPr>
          <p:cNvPr id="1042" name="Google Shape;1042;p64"/>
          <p:cNvSpPr txBox="1"/>
          <p:nvPr/>
        </p:nvSpPr>
        <p:spPr>
          <a:xfrm>
            <a:off x="822959" y="2011680"/>
            <a:ext cx="4905756"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4A2C1A"/>
                </a:solidFill>
                <a:latin typeface="Calibri"/>
                <a:ea typeface="Calibri"/>
                <a:cs typeface="Calibri"/>
                <a:sym typeface="Calibri"/>
              </a:rPr>
              <a:t>Avisar un problema apenas aparece, sin esperar a la reunión siguiente, le da al equipo margen para reaccionar y buscar una solución juntos.</a:t>
            </a:r>
            <a:endParaRPr>
              <a:solidFill>
                <a:srgbClr val="4A2C1A"/>
              </a:solidFill>
            </a:endParaRPr>
          </a:p>
        </p:txBody>
      </p:sp>
      <p:sp>
        <p:nvSpPr>
          <p:cNvPr id="1043" name="Google Shape;1043;p64"/>
          <p:cNvSpPr/>
          <p:nvPr/>
        </p:nvSpPr>
        <p:spPr>
          <a:xfrm>
            <a:off x="6185916" y="1188720"/>
            <a:ext cx="5454396" cy="2423160"/>
          </a:xfrm>
          <a:prstGeom prst="roundRect">
            <a:avLst>
              <a:gd fmla="val 301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4" name="Google Shape;1044;p64"/>
          <p:cNvSpPr txBox="1"/>
          <p:nvPr/>
        </p:nvSpPr>
        <p:spPr>
          <a:xfrm>
            <a:off x="6460236" y="1417320"/>
            <a:ext cx="490575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u="none" cap="none" strike="noStrike">
                <a:solidFill>
                  <a:srgbClr val="4A2C1A"/>
                </a:solidFill>
                <a:latin typeface="Calibri"/>
                <a:ea typeface="Calibri"/>
                <a:cs typeface="Calibri"/>
                <a:sym typeface="Calibri"/>
              </a:rPr>
              <a:t>Responsabilidad compartida</a:t>
            </a:r>
            <a:endParaRPr/>
          </a:p>
        </p:txBody>
      </p:sp>
      <p:sp>
        <p:nvSpPr>
          <p:cNvPr id="1045" name="Google Shape;1045;p64"/>
          <p:cNvSpPr txBox="1"/>
          <p:nvPr/>
        </p:nvSpPr>
        <p:spPr>
          <a:xfrm>
            <a:off x="6460236" y="2011680"/>
            <a:ext cx="4905756"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2E2318"/>
                </a:solidFill>
                <a:latin typeface="Calibri"/>
                <a:ea typeface="Calibri"/>
                <a:cs typeface="Calibri"/>
                <a:sym typeface="Calibri"/>
              </a:rPr>
              <a:t>El avance de todos depende de que cada integrante cumpla su parte en el plazo acordado y pida ayuda cuando la necesite.</a:t>
            </a:r>
            <a:endParaRPr/>
          </a:p>
        </p:txBody>
      </p:sp>
      <p:sp>
        <p:nvSpPr>
          <p:cNvPr id="1046" name="Google Shape;1046;p64"/>
          <p:cNvSpPr/>
          <p:nvPr/>
        </p:nvSpPr>
        <p:spPr>
          <a:xfrm>
            <a:off x="548640" y="3794760"/>
            <a:ext cx="5454396" cy="2423160"/>
          </a:xfrm>
          <a:prstGeom prst="roundRect">
            <a:avLst>
              <a:gd fmla="val 3018" name="adj"/>
            </a:avLst>
          </a:prstGeom>
          <a:solidFill>
            <a:srgbClr val="F6EF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7" name="Google Shape;1047;p64"/>
          <p:cNvSpPr txBox="1"/>
          <p:nvPr/>
        </p:nvSpPr>
        <p:spPr>
          <a:xfrm>
            <a:off x="822959" y="4023360"/>
            <a:ext cx="490575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u="none" cap="none" strike="noStrike">
                <a:solidFill>
                  <a:srgbClr val="4A2C1A"/>
                </a:solidFill>
                <a:latin typeface="Calibri"/>
                <a:ea typeface="Calibri"/>
                <a:cs typeface="Calibri"/>
                <a:sym typeface="Calibri"/>
              </a:rPr>
              <a:t>Organizarnos y priorizar</a:t>
            </a:r>
            <a:endParaRPr/>
          </a:p>
        </p:txBody>
      </p:sp>
      <p:sp>
        <p:nvSpPr>
          <p:cNvPr id="1048" name="Google Shape;1048;p64"/>
          <p:cNvSpPr txBox="1"/>
          <p:nvPr/>
        </p:nvSpPr>
        <p:spPr>
          <a:xfrm>
            <a:off x="822959" y="4617720"/>
            <a:ext cx="4905756"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2E2318"/>
                </a:solidFill>
                <a:latin typeface="Calibri"/>
                <a:ea typeface="Calibri"/>
                <a:cs typeface="Calibri"/>
                <a:sym typeface="Calibri"/>
              </a:rPr>
              <a:t>Dividir el trabajo en metas cortas y decidir qué es lo más importante nos permitió avanzar junto con la carga académica y laboral de cada uno.</a:t>
            </a:r>
            <a:endParaRPr/>
          </a:p>
        </p:txBody>
      </p:sp>
      <p:sp>
        <p:nvSpPr>
          <p:cNvPr id="1049" name="Google Shape;1049;p64"/>
          <p:cNvSpPr/>
          <p:nvPr/>
        </p:nvSpPr>
        <p:spPr>
          <a:xfrm>
            <a:off x="6185916" y="3794760"/>
            <a:ext cx="5454396" cy="2423160"/>
          </a:xfrm>
          <a:prstGeom prst="roundRect">
            <a:avLst>
              <a:gd fmla="val 3018" name="adj"/>
            </a:avLst>
          </a:prstGeom>
          <a:solidFill>
            <a:srgbClr val="F7EF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0" name="Google Shape;1050;p64"/>
          <p:cNvSpPr txBox="1"/>
          <p:nvPr/>
        </p:nvSpPr>
        <p:spPr>
          <a:xfrm>
            <a:off x="6460236" y="4023360"/>
            <a:ext cx="490575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00" u="none" cap="none" strike="noStrike">
                <a:solidFill>
                  <a:srgbClr val="4C2C1C"/>
                </a:solidFill>
                <a:latin typeface="Calibri"/>
                <a:ea typeface="Calibri"/>
                <a:cs typeface="Calibri"/>
                <a:sym typeface="Calibri"/>
              </a:rPr>
              <a:t>Ponernos en el lugar del cliente</a:t>
            </a:r>
            <a:endParaRPr>
              <a:solidFill>
                <a:srgbClr val="4C2C1C"/>
              </a:solidFill>
            </a:endParaRPr>
          </a:p>
        </p:txBody>
      </p:sp>
      <p:sp>
        <p:nvSpPr>
          <p:cNvPr id="1051" name="Google Shape;1051;p64"/>
          <p:cNvSpPr txBox="1"/>
          <p:nvPr/>
        </p:nvSpPr>
        <p:spPr>
          <a:xfrm>
            <a:off x="6460236" y="4617720"/>
            <a:ext cx="4905756"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4A2C1A"/>
                </a:solidFill>
                <a:latin typeface="Calibri"/>
                <a:ea typeface="Calibri"/>
                <a:cs typeface="Calibri"/>
                <a:sym typeface="Calibri"/>
              </a:rPr>
              <a:t>Mostrar el avance a la panadería en cada revisión nos enseñó a escuchar lo que realmente necesita y a ajustar el trabajo a eso.</a:t>
            </a:r>
            <a:endParaRPr>
              <a:solidFill>
                <a:srgbClr val="4A2C1A"/>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2C1A"/>
        </a:solidFill>
      </p:bgPr>
    </p:bg>
    <p:spTree>
      <p:nvGrpSpPr>
        <p:cNvPr id="1056" name="Shape 1056"/>
        <p:cNvGrpSpPr/>
        <p:nvPr/>
      </p:nvGrpSpPr>
      <p:grpSpPr>
        <a:xfrm>
          <a:off x="0" y="0"/>
          <a:ext cx="0" cy="0"/>
          <a:chOff x="0" y="0"/>
          <a:chExt cx="0" cy="0"/>
        </a:xfrm>
      </p:grpSpPr>
      <p:sp>
        <p:nvSpPr>
          <p:cNvPr id="1057" name="Google Shape;1057;p16"/>
          <p:cNvSpPr/>
          <p:nvPr/>
        </p:nvSpPr>
        <p:spPr>
          <a:xfrm>
            <a:off x="5591556" y="2423155"/>
            <a:ext cx="1005900" cy="1005900"/>
          </a:xfrm>
          <a:prstGeom prst="ellipse">
            <a:avLst/>
          </a:prstGeom>
          <a:solidFill>
            <a:srgbClr val="D9A44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58" name="Google Shape;1058;p16"/>
          <p:cNvPicPr preferRelativeResize="0"/>
          <p:nvPr/>
        </p:nvPicPr>
        <p:blipFill rotWithShape="1">
          <a:blip r:embed="rId3">
            <a:alphaModFix/>
          </a:blip>
          <a:srcRect b="0" l="0" r="0" t="0"/>
          <a:stretch/>
        </p:blipFill>
        <p:spPr>
          <a:xfrm>
            <a:off x="5853074" y="2684673"/>
            <a:ext cx="482803" cy="482803"/>
          </a:xfrm>
          <a:prstGeom prst="rect">
            <a:avLst/>
          </a:prstGeom>
          <a:noFill/>
          <a:ln>
            <a:noFill/>
          </a:ln>
        </p:spPr>
      </p:pic>
      <p:sp>
        <p:nvSpPr>
          <p:cNvPr id="1059" name="Google Shape;1059;p16"/>
          <p:cNvSpPr/>
          <p:nvPr/>
        </p:nvSpPr>
        <p:spPr>
          <a:xfrm>
            <a:off x="-25" y="3520448"/>
            <a:ext cx="12189000" cy="914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5800"/>
              <a:buFont typeface="Cambria"/>
              <a:buNone/>
            </a:pPr>
            <a:r>
              <a:rPr b="1" i="0" lang="en-US" sz="5800" u="none" cap="none" strike="noStrike">
                <a:solidFill>
                  <a:srgbClr val="FFFFFF"/>
                </a:solidFill>
                <a:latin typeface="Calibri"/>
                <a:ea typeface="Calibri"/>
                <a:cs typeface="Calibri"/>
                <a:sym typeface="Calibri"/>
              </a:rPr>
              <a:t>Muchas gracias</a:t>
            </a:r>
            <a:endParaRPr b="1" i="0" sz="5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2026-08-28T02:15:31Z</dcterms:created>
  <dc:creator>PptxGenJS</dc:creator>
</cp:coreProperties>
</file>